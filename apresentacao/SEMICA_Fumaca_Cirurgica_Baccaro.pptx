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8" r:id="rId2"/>
    <p:sldId id="261" r:id="rId10"/>
    <p:sldId id="262" r:id="rId11"/>
    <p:sldId id="263" r:id="rId9"/>
    <p:sldId id="264" r:id="rId8"/>
    <p:sldId id="265" r:id="rId7"/>
    <p:sldId id="266" r:id="rId6"/>
    <p:sldId id="267" r:id="rId5"/>
    <p:sldId id="268" r:id="rId4"/>
    <p:sldId id="269" r:id="rId3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60" r:id="rId12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01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0" d="100"/>
          <a:sy n="60" d="100"/>
        </p:scale>
        <p:origin x="370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11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2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openxmlformats.org/officeDocument/2006/relationships/notesMaster" Target="notesMasters/notesMaster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lávia Alves" userId="b26f7b41b6da3d18" providerId="LiveId" clId="{48279B96-E656-47C8-AE37-55BD5486B1B4}"/>
    <pc:docChg chg="modSld">
      <pc:chgData name="Flávia Alves" userId="b26f7b41b6da3d18" providerId="LiveId" clId="{48279B96-E656-47C8-AE37-55BD5486B1B4}" dt="2026-10-02T15:48:52.725" v="25" actId="20577"/>
      <pc:docMkLst>
        <pc:docMk/>
      </pc:docMkLst>
      <pc:sldChg chg="modSp mod">
        <pc:chgData name="Flávia Alves" userId="b26f7b41b6da3d18" providerId="LiveId" clId="{48279B96-E656-47C8-AE37-55BD5486B1B4}" dt="2026-10-02T15:48:52.725" v="25" actId="20577"/>
        <pc:sldMkLst>
          <pc:docMk/>
          <pc:sldMk cId="0" sldId="258"/>
        </pc:sldMkLst>
        <pc:spChg chg="mod">
          <ac:chgData name="Flávia Alves" userId="b26f7b41b6da3d18" providerId="LiveId" clId="{48279B96-E656-47C8-AE37-55BD5486B1B4}" dt="2026-10-02T15:48:52.725" v="25" actId="20577"/>
          <ac:spMkLst>
            <pc:docMk/>
            <pc:sldMk cId="0" sldId="258"/>
            <ac:spMk id="5" creationId="{13EED535-3E35-9C1D-2B6B-5464675B12C6}"/>
          </ac:spMkLst>
        </pc:spChg>
        <pc:spChg chg="mod">
          <ac:chgData name="Flávia Alves" userId="b26f7b41b6da3d18" providerId="LiveId" clId="{48279B96-E656-47C8-AE37-55BD5486B1B4}" dt="2026-10-02T15:47:38.326" v="12" actId="20577"/>
          <ac:spMkLst>
            <pc:docMk/>
            <pc:sldMk cId="0" sldId="258"/>
            <ac:spMk id="7" creationId="{17DF7FDA-FA4B-CFC4-F048-39EA88B7B7C3}"/>
          </ac:spMkLst>
        </pc:spChg>
      </pc:sldChg>
      <pc:sldChg chg="modSp mod">
        <pc:chgData name="Flávia Alves" userId="b26f7b41b6da3d18" providerId="LiveId" clId="{48279B96-E656-47C8-AE37-55BD5486B1B4}" dt="2026-10-02T15:47:14.136" v="11" actId="20577"/>
        <pc:sldMkLst>
          <pc:docMk/>
          <pc:sldMk cId="43250430" sldId="260"/>
        </pc:sldMkLst>
        <pc:spChg chg="mod">
          <ac:chgData name="Flávia Alves" userId="b26f7b41b6da3d18" providerId="LiveId" clId="{48279B96-E656-47C8-AE37-55BD5486B1B4}" dt="2026-10-02T15:47:14.136" v="11" actId="20577"/>
          <ac:spMkLst>
            <pc:docMk/>
            <pc:sldMk cId="43250430" sldId="260"/>
            <ac:spMk id="10" creationId="{F7C5D084-7D27-940F-6996-698E06882E08}"/>
          </ac:spMkLst>
        </pc:spChg>
      </pc:sldChg>
      <pc:sldChg chg="modSp mod">
        <pc:chgData name="Flávia Alves" userId="b26f7b41b6da3d18" providerId="LiveId" clId="{48279B96-E656-47C8-AE37-55BD5486B1B4}" dt="2026-10-02T15:47:01.268" v="10" actId="1035"/>
        <pc:sldMkLst>
          <pc:docMk/>
          <pc:sldMk cId="333493163" sldId="280"/>
        </pc:sldMkLst>
        <pc:spChg chg="mod">
          <ac:chgData name="Flávia Alves" userId="b26f7b41b6da3d18" providerId="LiveId" clId="{48279B96-E656-47C8-AE37-55BD5486B1B4}" dt="2026-10-02T15:46:56.449" v="8" actId="14100"/>
          <ac:spMkLst>
            <pc:docMk/>
            <pc:sldMk cId="333493163" sldId="280"/>
            <ac:spMk id="3" creationId="{D367EA2F-EAAF-7687-9AFE-7DBE4216341E}"/>
          </ac:spMkLst>
        </pc:spChg>
        <pc:picChg chg="mod">
          <ac:chgData name="Flávia Alves" userId="b26f7b41b6da3d18" providerId="LiveId" clId="{48279B96-E656-47C8-AE37-55BD5486B1B4}" dt="2026-10-02T15:47:01.268" v="10" actId="1035"/>
          <ac:picMkLst>
            <pc:docMk/>
            <pc:sldMk cId="333493163" sldId="280"/>
            <ac:picMk id="2" creationId="{1E344D4C-B05B-36E8-6A59-3414AE69FCF3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Registros</c:v>
                </c:pt>
              </c:strCache>
            </c:strRef>
          </c:tx>
          <c:spPr>
            <a:solidFill>
              <a:srgbClr val="002060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400">
                        <a:solidFill>
                          <a:srgbClr val="1F2433"/>
                        </a:solidFill>
                        <a:latin typeface="Arial"/>
                      </a:rPr>
                      <a:t>4.522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400">
                        <a:solidFill>
                          <a:srgbClr val="1F2433"/>
                        </a:solidFill>
                        <a:latin typeface="Arial"/>
                      </a:rPr>
                      <a:t>4.660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400">
                        <a:solidFill>
                          <a:srgbClr val="1F2433"/>
                        </a:solidFill>
                        <a:latin typeface="Arial"/>
                      </a:rPr>
                      <a:t>3.629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400">
                        <a:solidFill>
                          <a:srgbClr val="1F2433"/>
                        </a:solidFill>
                        <a:latin typeface="Arial"/>
                      </a:rPr>
                      <a:t>2.639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400">
                        <a:solidFill>
                          <a:srgbClr val="1F2433"/>
                        </a:solidFill>
                        <a:latin typeface="Arial"/>
                      </a:rPr>
                      <a:t>1.229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400">
                        <a:solidFill>
                          <a:srgbClr val="1F2433"/>
                        </a:solidFill>
                        <a:latin typeface="Arial"/>
                      </a:rPr>
                      <a:t>50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400">
                        <a:solidFill>
                          <a:srgbClr val="1F2433"/>
                        </a:solidFill>
                        <a:latin typeface="Arial"/>
                      </a:rPr>
                      <a:t>28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400">
                        <a:solidFill>
                          <a:srgbClr val="1F2433"/>
                        </a:solidFill>
                        <a:latin typeface="Arial"/>
                      </a:rPr>
                      <a:t>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1400">
                        <a:solidFill>
                          <a:srgbClr val="1F2433"/>
                        </a:solidFill>
                        <a:latin typeface="Arial"/>
                      </a:rPr>
                      <a:t>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PubMed/MEDLINE</c:v>
                </c:pt>
                <c:pt idx="1">
                  <c:v>Embase</c:v>
                </c:pt>
                <c:pt idx="2">
                  <c:v>Web of Science</c:v>
                </c:pt>
                <c:pt idx="3">
                  <c:v>Scopus</c:v>
                </c:pt>
                <c:pt idx="4">
                  <c:v>BVS (LILACS/IBECS)</c:v>
                </c:pt>
                <c:pt idx="5">
                  <c:v>Google Scholar</c:v>
                </c:pt>
                <c:pt idx="6">
                  <c:v>SciELO</c:v>
                </c:pt>
                <c:pt idx="7">
                  <c:v>Cochrane CENTRAL</c:v>
                </c:pt>
                <c:pt idx="8">
                  <c:v>Catálogo CAPES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4522</c:v>
                </c:pt>
                <c:pt idx="1">
                  <c:v>4660</c:v>
                </c:pt>
                <c:pt idx="2">
                  <c:v>3629</c:v>
                </c:pt>
                <c:pt idx="3">
                  <c:v>2639</c:v>
                </c:pt>
                <c:pt idx="4">
                  <c:v>1229</c:v>
                </c:pt>
                <c:pt idx="5">
                  <c:v>50</c:v>
                </c:pt>
                <c:pt idx="6">
                  <c:v>28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400">
                  <a:solidFill>
                    <a:srgbClr val="1F2433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CFDA"/>
            </a:solidFill>
          </a:ln>
        </c:spPr>
        <c:txPr>
          <a:bodyPr/>
          <a:lstStyle/>
          <a:p>
            <a:pPr>
              <a:defRPr sz="14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85.2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1F24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[0:00–0:15] CAPA</a:t>
            </a:r>
          </a:p>
          <a:p>
            <a:r>
              <a:t>Bom dia a todos. Meu nome é Theo Báccaro, sou aluno de Medicina da São Leopoldo Mandic de Araras. Vou apresentar a Iniciação Científica que desenvolvi ao longo de um ano, sob orientação da Profa. Lisie Tocci Justo, com a colaboração do Luiz Henrique Ledesma Pereira e da Dra. Mariana Matera Veras, do LIM05 da USP.</a:t>
            </a:r>
          </a:p>
          <a:p>
            <a:r>
              <a:t>O trabalho é uma revisão sistemática com metanálise de prevalência sobre os efeitos à saúde da exposição ocupacional à fumaça cirúrgica na equipe de centro cirúrgico.</a:t>
            </a:r>
          </a:p>
          <a:p/>
          <a:p>
            <a:r>
              <a:t>DICA: fale o título de forma natural, sem ler palavra por palavra. Respire e vá para 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[0:15–1:05] INTRODUÇÃO (~50 s)</a:t>
            </a:r>
          </a:p>
          <a:p>
            <a:r>
              <a:t>Fumaça cirúrgica é o subproduto da destruição térmica dos tecidos pelo eletrocautério, pelo laser e pelo bisturi ultrassônico. Ela não é só "fumaça": contém hidrocarbonetos aromáticos policíclicos, compostos orgânicos voláteis como benzeno, tolueno e xileno, material particulado fino, o PM2,5, e partículas ultrafinas, que chegam às vias aéreas inferiores, e até material genético viral, como o HPV.</a:t>
            </a:r>
          </a:p>
          <a:p>
            <a:r>
              <a:t>(Se perguntarem: PM2,5 é a fração fina, com diâmetro aerodinâmico abaixo de 2,5 µm; "ultrafina" é abaixo de 0,1 µm. O manuscrito cita as duas.)</a:t>
            </a:r>
          </a:p>
          <a:p>
            <a:r>
              <a:t>Quem trabalha no centro cirúrgico relata com frequência irritação ocular, tosse, irritação de mucosas, cefaleia e náusea. O que não sabemos é o efeito de longo prazo: há plausibilidade biológica para câncer e doença respiratória, mas a relação causal nunca foi estabelecida, e revisões recentes chegam a dizer que o risco pode estar superestimado.</a:t>
            </a:r>
          </a:p>
          <a:p>
            <a:r>
              <a:t>Enquanto isso, exaustão de fumaça e máscaras de alta filtração ainda são pouco adotadas. E a literatura prévia era descritiva, sem metanálise. Por isso desenhamos uma síntese em camadas: metanálise de prevalência dos sintomas e síntese narrativa, com GRADE, dos desfechos objetivos.</a:t>
            </a:r>
          </a:p>
          <a:p/>
          <a:p>
            <a:r>
              <a:t>PONTO-CHAVE: a palavra "controvérsia" justifica a revisão. Se a banca perguntar "por que mais uma revisão?", a resposta é: nenhuma anterior quantificou a prevalência com intervalo de predição e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[1:05–1:35] OBJETIVOS (~30 s)</a:t>
            </a:r>
          </a:p>
          <a:p>
            <a:r>
              <a:t>O objetivo foi avaliar os desfechos de saúde associados à exposição ocupacional à fumaça cirúrgica na equipe de centro cirúrgico, com ênfase em três coisas: prevalência de sintomas, desfechos objetivos e biomarcadores.</a:t>
            </a:r>
          </a:p>
          <a:p>
            <a:r>
              <a:t>A pergunta foi estruturada em PECO: população é a equipe de centro cirúrgico; exposição é a fumaça dos dispositivos de energia; comparador são os não expostos ou protegidos; desfecho são os efeitos à saúde. Para a parte de prevalência usamos o esquema CoCoPop, condição, contexto e população, que é o recomendado pelo JBI para metanálises de proporção.</a:t>
            </a:r>
          </a:p>
          <a:p>
            <a:r>
              <a:t>Um ponto que gosto de deixar claro desde o início: metanálise de proporção estima frequência, não efeito causal. Isso vai ser importante na hora de interpretar.</a:t>
            </a:r>
          </a:p>
          <a:p/>
          <a:p>
            <a:r>
              <a:t>SE PERGUNTAREM "por que PECO e não PICO?": porque é exposição, não intervenção; não houve alocação de intervenção.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[1:35–2:05] METODOLOGIA – MAPA (~30 s)</a:t>
            </a:r>
          </a:p>
          <a:p>
            <a:r>
              <a:t>A parte que mais me orgulho é o método, então vou apresentá-lo como um passo a passo, do jeito que o PRISMA 2020 recomenda. São sete passos.</a:t>
            </a:r>
          </a:p>
          <a:p>
            <a:r>
              <a:t>Um: a pergunta e o protocolo, registrado no PROSPERO antes da extração de dados, e a dispensa do Comitê de Ética, por ser revisão de literatura. Dois: a busca em sete bases, mais literatura cinzenta e busca por citação. Três: a seleção, com deduplicação, triagem e leitura na íntegra. Quatro: a extração padronizada. Cinco: o risco de viés com as ferramentas do JBI. Seis: a síntese, que é a metanálise de proporções. Sete: a certeza da evidência pelo GRADE.</a:t>
            </a:r>
          </a:p>
          <a:p>
            <a:r>
              <a:t>Tudo foi feito com ferramentas abertas: Zotero, Rayyan, OpenAlex e análise em Python. Um assistente de IA teve função só operacional: ajudou a priorizar a ordem de leitura na triagem, na leitura assistida de resumos e na organização do fluxo de trabalho. Toda decisão de elegibilidade, a extração, a interpretação e a redação foram minhas, e nada gerado por IA entrou sem verificação humana; isso está declarado conforme a Portaria do CNPq. O código e as planilhas estão públicos no OSF.</a:t>
            </a:r>
          </a:p>
          <a:p/>
          <a:p>
            <a:r>
              <a:t>DICA: não detalhe nada aqui; é só o mapa. Os próximos cinco slides percorrem os passos.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[2:05–2:40] PASSOS 1 E 2 (~35 s)</a:t>
            </a:r>
          </a:p>
          <a:p>
            <a:r>
              <a:t>Os critérios de elegibilidade foram definidos no protocolo, e os ajustes feitos depois do registro estão declarados no manuscrito. Incluímos estudos observacionais primários com profissionais de centro cirúrgico expostos, com qualquer efeito à saúde ou marcador de exposição como desfecho, em português, inglês ou espanhol, sem restrição de data. Resumos de congresso só entraram quando traziam população, cenário, definição do desfecho, eventos e denominador; essa admissão foi uma decisão posterior ao registro, declarada, e esses resumos receberam preocupação alta com viés e análise de sensibilidade. Excluímos estudos em animais, populações fora do centro cirúrgico, desfechos só no paciente, medições de ar sem desfecho humano e exposições não atribuíveis à fumaça.</a:t>
            </a:r>
          </a:p>
          <a:p>
            <a:r>
              <a:t>A busca foi desenhada para sensibilidade máxima: dois blocos, população e exposição, sem bloco de desfecho, sem filtro de idioma nem de data. Rodamos em sete bases, mais literatura cinzenta e busca por citação automatizada no OpenAlex. Resultado: 16.757 registros, mais 443 referências rastreadas por citação. PubMed e Embase trouxeram quase metade.</a:t>
            </a:r>
          </a:p>
          <a:p/>
          <a:p>
            <a:r>
              <a:t>SE PERGUNTAREM por que a Cochrane CENTRAL deu zero: ela indexa ensaios clínicos e a revisão só incluiu observacionais; era esperado.</a:t>
            </a:r>
          </a:p>
          <a:p>
            <a:r>
              <a:t>SE PERGUNTAREM por que sem bloco de desfecho: porque os desfechos eram heterogêneos (sintomas, espirometria, HPV...) e um bloco de desfecho reduziria a sensibilidade.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[2:40–3:15] PASSO 3 – SELEÇÃO (~35 s)</a:t>
            </a:r>
          </a:p>
          <a:p>
            <a:r>
              <a:t>Da esquerda para a direita: 16.757 registros entraram no Zotero e foram importados no Rayyan, que removeu 5.839 duplicatas por DOI, PMID e similaridade de título. Sobraram 10.910 registros únicos, e eu li o título e o resumo de todos eles. Um script em Python com regras por palavras-chave e um assistente de IA tiveram papel operacional: reordenaram a fila de leitura, apoiaram a leitura assistida de resumos e a organização do fluxo. Quem decidia a elegibilidade era eu, com os critérios.</a:t>
            </a:r>
          </a:p>
          <a:p>
            <a:r>
              <a:t>Vinte e oito foram para texto completo, mais quatro vindos da busca por citação, total de 32; seis não foram recuperados apesar de tentativas por acesso institucional e contato com autores; 26 foram avaliados na íntegra e 22 incluídos.</a:t>
            </a:r>
          </a:p>
          <a:p>
            <a:r>
              <a:t>Um cuidado importante: sete publicações vêm do mesmo grupo brasileiro, com amostras sobrepostas. Para não contar ninguém duas vezes, cada agrupamento recebeu só um representante desse cluster, o Bieniek 2022, que era o relato mais completo.</a:t>
            </a:r>
          </a:p>
          <a:p/>
          <a:p>
            <a:r>
              <a:t>HONESTIDADE METODOLÓGICA: a triagem foi feita por um único revisor. Isso está declarado como limitação. Cuidado com a terminologia: o PRISMA 2020 é um guia de RELATO (diz o que deve constar no texto); a seleção independente por dois revisores é uma recomendação METODOLÓGICA importante (manuais do JBI e da Cochrane; Diretrizes do MS). Se perguntarem, diga que as decisões foram registradas com justificativa e que a replicação em duplicata está nas perspectivas.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[3:15–3:45] PASSOS 4 E 5 (~30 s)</a:t>
            </a:r>
          </a:p>
          <a:p>
            <a:r>
              <a:t>A extração foi feita em planilha padronizada: identificação, desenho, população, dispositivo gerador, comparador, instrumento e definição do desfecho, taxa de resposta e, para a metanálise, o número de eventos e o denominador de cada estudo. Por exemplo, no İlçe 2017, 33 de 81 profissionais relataram lacrimejamento.</a:t>
            </a:r>
          </a:p>
          <a:p>
            <a:r>
              <a:t>O risco de viés foi avaliado com as ferramentas do Joanna Briggs Institute, escolhidas pela função de cada estudo: a lista de prevalência, com nove itens, para os sete estudos das metanálises; a de transversal analítico para os comparativos; e a de coorte para os três longitudinais. O julgamento global foi qualitativo, guiado pelos domínios críticos: amostragem, tamanho amostral, validade da mensuração e taxa de resposta.</a:t>
            </a:r>
          </a:p>
          <a:p>
            <a:r>
              <a:t>O semáforo resume: a preocupação foi moderada ou alta em todos, principalmente por amostragem não probabilística, taxa de resposta não relatada e desfecho autorrelatado. Nenhum estudo teve preocupação baixa, e isso vai pesar no GRADE.</a:t>
            </a:r>
          </a:p>
          <a:p/>
          <a:p>
            <a:r>
              <a:t>SE PERGUNTAREM por que JBI e não Newcastle-Ottawa ou ROBINS-E: o JBI tem lista específica para estudos de prevalência, alinhada ao CoCoPop; NOS não cobre prevalência e ROBINS-E é para exposição comparativa.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[3:45–4:35] PASSO 6 – METANÁLISE (~50 s)  ← o coração da apresentação</a:t>
            </a:r>
          </a:p>
          <a:p>
            <a:r>
              <a:t>Vou explicar a metanálise em cinco passos. Primeiro, cada estudo vira uma proporção: eventos dividido pelo n. Segundo, aplicamos a transformação logito, o logaritmo da chance: isso tira a proporção da escala de zero a um, aproxima da distribuição normal e garante que a estimativa combinada e os intervalos fiquem entre 0 e 100%. Terceiro, usamos modelo de efeitos aleatórios, porque não faz sentido supor uma única prevalência verdadeira em hospitais da Turquia, da Malásia e do Brasil; a variância entre estudos, o tau-quadrado, foi estimada por Paule-Mandel. Quarto, o intervalo de confiança da estimativa combinada recebeu o ajuste de Hartung-Knapp, que usa a distribuição t e é mais honesto quando há poucos estudos e muita heterogeneidade. Quinto, voltamos para porcentagem e reportamos o I² e o intervalo de predição, que diz onde cairia a prevalência de um novo estudo.</a:t>
            </a:r>
          </a:p>
          <a:p>
            <a:r>
              <a:t>Para testar a robustez, repetimos tudo com a transformação de Freeman-Tukey e com um modelo logístico misto, fizemos leave-one-out, gráfico de Baujat e subgrupo por país.</a:t>
            </a:r>
          </a:p>
          <a:p>
            <a:r>
              <a:t>Não fizemos gráfico de funil nem Egger, porque em proporções o erro-padrão depende da própria proporção, o que cria assimetria falsa, e seriam necessários dez estudos.</a:t>
            </a:r>
          </a:p>
          <a:p/>
          <a:p>
            <a:r>
              <a:t>ANALOGIA se precisar: efeitos fixos = "todos os estudos medem a mesma coisa com ruído"; efeitos aleatórios = "cada estudo mede a sua prevalência, e queremos a média dessas prevalências e a dispersão delas".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[4:35–5:05] PASSO 7 – GRADE (~30 s)</a:t>
            </a:r>
          </a:p>
          <a:p>
            <a:r>
              <a:t>O último passo foi graduar a certeza da evidência pelo GRADE, nos cinco domínios: risco de viés, inconsistência, evidência indireta, imprecisão e viés de publicação. Como não existe adaptação universal do GRADE para prevalência, explicitamos os critérios em cada domínio.</a:t>
            </a:r>
          </a:p>
          <a:p>
            <a:r>
              <a:t>Partimos de certeza baixa, por ser evidência observacional, e qualquer domínio grave leva a muito baixa. Um detalhe que mostra cuidado: a evidência indireta não foi rebaixada nos sintomas, porque o sintoma autorrelatado é exatamente o desfecho da pergunta de frequência; já nos biomarcadores foi rebaixada, por coexposição e desfecho substituto. E evitamos dupla contagem: o intervalo de predição entrou em inconsistência, e a largura do IC em imprecisão.</a:t>
            </a:r>
          </a:p>
          <a:p>
            <a:r>
              <a:t>À direita estão as decisões tomadas depois do registro no PROSPERO, todas declaradas no manuscrito.</a:t>
            </a:r>
          </a:p>
          <a:p/>
          <a:p>
            <a:r>
              <a:t>SE PERGUNTAREM "se começasse em alta, mudaria?": não. Com inconsistência muito grave, risco de viés grave e imprecisão grave, a certeza cairia três níveis e chegaria igualmente a muito baixa.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[5:05–5:25] RESULTADOS – SELEÇÃO E CARACTERÍSTICAS (~20 s)</a:t>
            </a:r>
          </a:p>
          <a:p>
            <a:r>
              <a:t>Este é o fluxograma PRISMA completo, que vocês já viram em números. Ficaram 22 relatórios de estudos observacionais, de nove países, a maioria transversal; três eram coortes prospectivas.</a:t>
            </a:r>
          </a:p>
          <a:p>
            <a:r>
              <a:t>Depois do controle de sobreposição, seis amostras independentes, com 756 profissionais, entraram na metanálise ocular, e sete amostras, com 1.428, na respiratória.</a:t>
            </a:r>
          </a:p>
          <a:p>
            <a:r>
              <a:t>No risco de viés, a preocupação foi moderada a alta nos inquéritos de prevalência, e moderada nos estudos de desfechos objetivos. Nenhum estudo teve preocupação baixa.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[5:25–6:15] RESULTADO PRINCIPAL – OCULAR (~50 s)  ← dê tempo a este slide; é o que mais mostra análise crítica</a:t>
            </a:r>
          </a:p>
          <a:p>
            <a:r>
              <a:t>Este é o resultado principal. A prevalência combinada de sintoma ocular, irritação ou lacrimejamento, foi de 37,6%, com intervalo de confiança de 21,9 a 56,5%. São seis amostras independentes, 756 profissionais.</a:t>
            </a:r>
          </a:p>
          <a:p>
            <a:r>
              <a:t>No gráfico de floresta, cada quadrado é a prevalência de um estudo, com o tamanho proporcional ao peso; a linha preta é o intervalo de confiança de Wilson; o losango vermelho é a estimativa combinada e a linha vermelha mais longa é o intervalo de predição, de 7 a 83%.</a:t>
            </a:r>
          </a:p>
          <a:p>
            <a:r>
              <a:t>Essa linha longa é a mensagem honesta do trabalho. A heterogeneidade é de 93%, os estudos vão de 19% na Malásia a 56% na Turquia, e um novo estudo, em outro hospital, poderia encontrar quase qualquer valor. Por isso eu não apresento o 37,6% como "a prevalência", e sim como a média de uma distribuição ampla, que o intervalo de predição descreve melhor do que o intervalo de confiança.</a:t>
            </a:r>
          </a:p>
          <a:p>
            <a:r>
              <a:t>Dois cuidados de interpretação: isto é a proporção de profissionais que relataram o sintoma e o atribuíram à fumaça, conforme a definição de cada estudo, não uma prevalência com período de recordatório homogêneo; e não há grupo não exposto no agrupamento, então o número descreve a carga de sintomas, não um excesso atribuível.</a:t>
            </a:r>
          </a:p>
          <a:p/>
          <a:p>
            <a:r>
              <a:t>SE PERGUNTAREM "I² de 93% não invalida a metanálise?": em prevalência, I² alto é a regra, não a exceção (Barker et al., 2021). Por isso reportamos o intervalo de predição e investigamos as fontes (país, definição), em vez de esconder a heterogeneidade num único número.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[6:15–6:40] RESPIRATÓRIO E ROBUSTEZ (~25 s)  ← aponte a tabela, não leia linha por linha</a:t>
            </a:r>
          </a:p>
          <a:p>
            <a:r>
              <a:t>O desfecho respiratório, tratado como exploratório porque as definições variam muito, deu 41,7%, com intervalo de predição de 15 a 74%, em sete amostras e 1.428 profissionais.</a:t>
            </a:r>
          </a:p>
          <a:p>
            <a:r>
              <a:t>A tabela resume a robustez, e a mensagem é uma só: três modelos diferentes, retirar um estudo por vez ou excluir o resumo de congresso não mudam a leitura. O achado mais interessante é que, restringindo a definições específicas de sintoma respiratório, o I² cai de 91 para 61%: boa parte da heterogeneidade vem de como cada estudo definiu o sintoma.</a:t>
            </a:r>
          </a:p>
          <a:p>
            <a:r>
              <a:t>Na análise por país, Turquia e Malásia diferem bastante, mas com dois ou três estudos por país isso é hipótese, não conclusão.</a:t>
            </a:r>
          </a:p>
          <a:p/>
          <a:p>
            <a:r>
              <a:t>SE PEDIREM DETALHE DA TABELA: logito-HK 37,6/41,7; Freeman-Tukey 38,1/41,7; GLMM 37,5/42,0; leave-one-out 34,3–42,1 e 38,9–45,5; sem resumo de congresso 42,1/42,4; definições específicas 36,5 (I² 94%)/35,8 (I² 61%).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[6:40–7:20] DESFECHOS OBJETIVOS E GRADE (~40 s)</a:t>
            </a:r>
          </a:p>
          <a:p>
            <a:r>
              <a:t>Além dos sintomas, quatro estudos, um por desfecho, trouxeram medidas objetivas, e todos apontam na mesma direção, desfavorável aos expostos.</a:t>
            </a:r>
          </a:p>
          <a:p>
            <a:r>
              <a:t>Espirometria no Sudão: VEF1, CVF e pico de fluxo menores nos expostos, com gradiente pelo tempo de atuação; mas a relação VEF1/CVF foi normal e o pico de fluxo depende de esforço, então lemos com cautela. Biomarcadores urinários no Brasil: metabólitos de benzeno e xileno e malondialdeído muito mais altos nos expostos; note que os denominadores diferem: 52 expostos contra 49 controles para os metabólitos, porque três amostras do grupo controle se perderam, e 52 contra 52 para o perfil oxidativo. Biópsia nasal numa coorte mexicana de quatro anos: metaplasia em 70% dos expostos contra 5%, risco relativo de 13,9, com intervalo muito amplo. E DNA de HPV na mucosa nasal de ginecologistas chineses: 9% contra 1,7%, risco relativo de 5,2.</a:t>
            </a:r>
          </a:p>
          <a:p>
            <a:r>
              <a:t>Pelo GRADE, a certeza foi muito baixa em todos os desfechos. E talvez o achado mais importante seja o que não encontramos: nenhum estudo avaliou diretamente câncer ou DPOC na equipe cirúrgica. Isso é um vazio de evidência, não evidência de ausência de risco.</a:t>
            </a:r>
          </a:p>
          <a:p/>
          <a:p>
            <a:r>
              <a:t>NÚMEROS para decorar: 37,6% ocular; 41,7% respiratório; RR 13,9 metaplasia; RR 5,2 HPV; 0 estudos de câncer/DPOC.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[7:20–7:50] DISCUSSÃO – INTERPRETAÇÃO (~30 s)</a:t>
            </a:r>
          </a:p>
          <a:p>
            <a:r>
              <a:t>Três leituras. Primeira: a carga de sintomas é alta e coerente com a literatura; a novidade é ter uma estimativa combinada com intervalo de predição, subgrupo e GRADE. Segunda: a heterogeneidade acima de 90% é esperada em prevalência; em vez de escondê-la, mostramos o intervalo de predição e as fontes prováveis: definição do sintoma, composição da equipe, tempo de exposição e contexto, como exaustão e EPI. Terceira: os desfechos objetivos têm gradiente dose-resposta, temporalidade e plausibilidade, mas são um estudo por desfecho, com intervalos amplos e coexposições. São marcadores, não doença.</a:t>
            </a:r>
          </a:p>
          <a:p>
            <a:r>
              <a:t>E o achado mais relevante é o que não foi encontrado: nenhum estudo de câncer ou DPOC. A controvérsia sobre o risco real só se resolve com estudos longitudinais que ainda não existem.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[7:50–8:15] PONTOS FORTES E LIMITAÇÕES (~25 s)</a:t>
            </a:r>
          </a:p>
          <a:p>
            <a:r>
              <a:t>Como pontos fortes: busca ampla e sem filtro de idioma, protocolo registrado, risco de viés padronizado, síntese com intervalo de predição e três modelos concordantes, GRADE por desfecho e tudo reprodutível no OSF.</a:t>
            </a:r>
          </a:p>
          <a:p>
            <a:r>
              <a:t>As limitações estão todas declaradas. As principais: os estudos são transversais, com exposição por ocupação e sintomas autorrelatados, e o respondente sabia que o questionário era sobre fumaça; não há grupo não exposto nos agrupamentos, então não estimamos o excesso atribuível; existe o efeito do trabalhador sadio, que subestima a prevalência; a heterogeneidade é alta; e a triagem, a extração e o risco de viés foram feitos por um único revisor, sem duplicata.</a:t>
            </a:r>
          </a:p>
          <a:p/>
          <a:p>
            <a:r>
              <a:t>ATITUDE: fale as limitações com segurança. Banca valoriza quem conhece as fraquezas do próprio trabalho mais do que quem as esconde.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[8:15–8:40] CONCLUSÃO (~25 s)</a:t>
            </a:r>
          </a:p>
          <a:p>
            <a:r>
              <a:t>Concluindo. O que se sabe: sintomas oculares e respiratórios são frequentes na equipe exposta, com grande variação entre contextos, e os desfechos objetivos sinalizam alterações além do incômodo agudo. O que não se sabe: não há evidência direta de câncer ou DPOC atribuíveis à fumaça, a certeza é muito baixa e as coexposições limitam a atribuição causal.</a:t>
            </a:r>
          </a:p>
          <a:p>
            <a:r>
              <a:t>A implicação prática é clara: pelo princípio da precaução e pela carga de sintomas, a exaustão local na fonte, os respiradores N95 e a educação da equipe se justificam hoje. E medir o risco de longo prazo é tarefa de estudos longitudinais.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[8:40–8:55] PERSPECTIVAS FUTURAS (~15 s)</a:t>
            </a:r>
          </a:p>
          <a:p>
            <a:r>
              <a:t>Para o campo, a agenda é clara: coortes com medição objetiva da exposição e controle de coexposições, definições padronizadas de sintoma, desfechos crônicos como câncer e DPOC, e estudos de efetividade da exaustão e das máscaras.</a:t>
            </a:r>
          </a:p>
          <a:p>
            <a:r>
              <a:t>Para este trabalho: submeter o manuscrito, atualizar a busca, replicar a triagem em duplicata e levar uma proposta de proteção para o nosso centro cirúrgico.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[8:55–9:00] REFERÊNCIAS (~5 s)</a:t>
            </a:r>
          </a:p>
          <a:p>
            <a:r>
              <a:t>Estas são as principais referências metodológicas e dos estudos incluídos; a lista completa, com mais de 60 itens, está no manuscrito. (Não leia; apenas mencione e avance.)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[9:00–9:10] AGRADECIMENTOS (~10 s)</a:t>
            </a:r>
          </a:p>
          <a:p>
            <a:r>
              <a:t>Agradeço à Profa. Lisie pela orientação, ao Luiz Henrique e à Dra. Mariana pela revisão crítica, e à Faculdade São Leopoldo Mandic e ao PIC pelo apoio. O protocolo está no PROSPERO e todo o código e as planilhas estão abertos no OSF. Obrigado. Estou à disposição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ENCERRAMENTO</a:t>
            </a:r>
          </a:p>
          <a:p>
            <a:r>
              <a:t>Deixe este slide na tela durante as perguntas. Respire, ouça a pergunta inteira, repita-a em uma frase ("a pergunta é sobre…") e responda em no máximo 30–40 segundos. Se não souber, diga o que o estudo permite afirmar e o que seria necessário para responder.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chart" Target="../charts/chart1.xml"/><Relationship Id="rId7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9.png"/><Relationship Id="rId8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34.png"/><Relationship Id="rId5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Relationship Id="rId8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41.png"/><Relationship Id="rId5" Type="http://schemas.openxmlformats.org/officeDocument/2006/relationships/image" Target="../media/image29.png"/><Relationship Id="rId6" Type="http://schemas.openxmlformats.org/officeDocument/2006/relationships/image" Target="../media/image39.png"/><Relationship Id="rId7" Type="http://schemas.openxmlformats.org/officeDocument/2006/relationships/image" Target="../media/image42.png"/><Relationship Id="rId8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43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13.png"/><Relationship Id="rId8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54.png"/><Relationship Id="rId12" Type="http://schemas.openxmlformats.org/officeDocument/2006/relationships/image" Target="../media/image55.png"/><Relationship Id="rId1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24.png"/><Relationship Id="rId7" Type="http://schemas.openxmlformats.org/officeDocument/2006/relationships/image" Target="../media/image58.png"/><Relationship Id="rId8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14142676" y="8191500"/>
            <a:ext cx="4174632" cy="1959689"/>
          </a:xfrm>
          <a:custGeom>
            <a:avLst/>
            <a:gdLst/>
            <a:ahLst/>
            <a:cxnLst/>
            <a:rect l="l" t="t" r="r" b="b"/>
            <a:pathLst>
              <a:path w="4174632" h="1959689">
                <a:moveTo>
                  <a:pt x="0" y="0"/>
                </a:moveTo>
                <a:lnTo>
                  <a:pt x="4174632" y="0"/>
                </a:lnTo>
                <a:lnTo>
                  <a:pt x="4174632" y="1959690"/>
                </a:lnTo>
                <a:lnTo>
                  <a:pt x="0" y="19596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3EED535-3E35-9C1D-2B6B-5464675B12C6}"/>
              </a:ext>
            </a:extLst>
          </p:cNvPr>
          <p:cNvSpPr txBox="1"/>
          <p:nvPr/>
        </p:nvSpPr>
        <p:spPr>
          <a:xfrm>
            <a:off x="3657600" y="6675120"/>
            <a:ext cx="10972800" cy="12801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800" b="1" i="0">
                <a:solidFill>
                  <a:srgbClr val="1F2433"/>
                </a:solidFill>
                <a:latin typeface="Tahoma"/>
              </a:rPr>
              <a:t>Autor: </a:t>
            </a:r>
            <a:r>
              <a:rPr sz="1800" b="0" i="0">
                <a:solidFill>
                  <a:srgbClr val="1F2433"/>
                </a:solidFill>
                <a:latin typeface="Tahoma"/>
              </a:rPr>
              <a:t>Theo Augusto Lopes de Moraes Báccaro</a:t>
            </a:r>
            <a:endParaRPr lang="pt-BR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800" b="1" i="0">
                <a:solidFill>
                  <a:srgbClr val="1F2433"/>
                </a:solidFill>
                <a:latin typeface="Tahoma"/>
              </a:rPr>
              <a:t>Orientadora: </a:t>
            </a:r>
            <a:r>
              <a:rPr sz="1800" b="0" i="0">
                <a:solidFill>
                  <a:srgbClr val="1F2433"/>
                </a:solidFill>
                <a:latin typeface="Tahoma"/>
              </a:rPr>
              <a:t>Profa. Lisie Tocci Justo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None/>
            </a:pPr>
            <a:r>
              <a:rPr sz="1600" b="0" i="0">
                <a:solidFill>
                  <a:srgbClr val="5A6270"/>
                </a:solidFill>
                <a:latin typeface="Tahoma"/>
              </a:rPr>
              <a:t>Coautores: Luiz Henrique Ledesma Pereira; Mariana Matera Veras (LIM05, HC-FMUSP)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5B56E3E-8734-A45C-A55E-A28633526BAC}"/>
              </a:ext>
            </a:extLst>
          </p:cNvPr>
          <p:cNvSpPr txBox="1"/>
          <p:nvPr/>
        </p:nvSpPr>
        <p:spPr>
          <a:xfrm>
            <a:off x="2377440" y="4892040"/>
            <a:ext cx="13533120" cy="1600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3200" b="1" i="0">
                <a:solidFill>
                  <a:srgbClr val="002060"/>
                </a:solidFill>
                <a:latin typeface="Calibri"/>
              </a:rPr>
              <a:t>Sintomas, desfechos objetivos e biomarcadores em profissionais de centro cirúrgico ocupacionalmente expostos à fumaça cirúrgica: revisão sistemática e metanálise de prevalência</a:t>
            </a:r>
            <a:endParaRPr lang="pt-BR" sz="3200" dirty="0">
              <a:cs typeface="Arial" panose="020B0604020202020204" pitchFamily="34" charset="0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7DF7FDA-FA4B-CFC4-F048-39EA88B7B7C3}"/>
              </a:ext>
            </a:extLst>
          </p:cNvPr>
          <p:cNvSpPr txBox="1"/>
          <p:nvPr/>
        </p:nvSpPr>
        <p:spPr>
          <a:xfrm>
            <a:off x="3581400" y="3978106"/>
            <a:ext cx="13258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>
                <a:latin typeface="Arial" panose="020B0604020202020204" pitchFamily="34" charset="0"/>
                <a:cs typeface="Arial" panose="020B0604020202020204" pitchFamily="34" charset="0"/>
              </a:rPr>
              <a:t>VIII SEMICA – SEMINÁRIO DE INICIAÇÃO CIENTÍFICA</a:t>
            </a:r>
          </a:p>
        </p:txBody>
      </p:sp>
      <p:sp>
        <p:nvSpPr>
          <p:cNvPr id="11" name="Freeform 7">
            <a:extLst>
              <a:ext uri="{FF2B5EF4-FFF2-40B4-BE49-F238E27FC236}">
                <a16:creationId xmlns:a16="http://schemas.microsoft.com/office/drawing/2014/main" id="{7B7C3954-A502-B216-C1D2-7F55EE788122}"/>
              </a:ext>
            </a:extLst>
          </p:cNvPr>
          <p:cNvSpPr/>
          <p:nvPr/>
        </p:nvSpPr>
        <p:spPr>
          <a:xfrm rot="-10800000">
            <a:off x="0" y="0"/>
            <a:ext cx="18288000" cy="1968910"/>
          </a:xfrm>
          <a:custGeom>
            <a:avLst/>
            <a:gdLst/>
            <a:ahLst/>
            <a:cxnLst/>
            <a:rect l="l" t="t" r="r" b="b"/>
            <a:pathLst>
              <a:path w="7315200" h="3274807">
                <a:moveTo>
                  <a:pt x="0" y="0"/>
                </a:moveTo>
                <a:lnTo>
                  <a:pt x="7315200" y="0"/>
                </a:lnTo>
                <a:lnTo>
                  <a:pt x="7315200" y="3274807"/>
                </a:lnTo>
                <a:lnTo>
                  <a:pt x="0" y="327480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9812" t="-3" r="-15473" b="-66323"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26" name="Picture 2" descr="Uma nova SLMANDIC de Araras para você - São Leopoldo Mandic Araras">
            <a:extLst>
              <a:ext uri="{FF2B5EF4-FFF2-40B4-BE49-F238E27FC236}">
                <a16:creationId xmlns:a16="http://schemas.microsoft.com/office/drawing/2014/main" id="{F41A3293-2A1D-554E-AE84-E597AB7A832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63" t="7525" r="19809" b="7525"/>
          <a:stretch>
            <a:fillRect/>
          </a:stretch>
        </p:blipFill>
        <p:spPr bwMode="auto">
          <a:xfrm>
            <a:off x="381000" y="7448739"/>
            <a:ext cx="2156252" cy="2672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F5B3B6FD-A9BC-8FFA-D352-065DF936FD8C}"/>
              </a:ext>
            </a:extLst>
          </p:cNvPr>
          <p:cNvCxnSpPr>
            <a:cxnSpLocks/>
          </p:cNvCxnSpPr>
          <p:nvPr/>
        </p:nvCxnSpPr>
        <p:spPr>
          <a:xfrm>
            <a:off x="11035412" y="2091778"/>
            <a:ext cx="0" cy="5334000"/>
          </a:xfrm>
          <a:prstGeom prst="line">
            <a:avLst/>
          </a:prstGeom>
          <a:ln w="28575">
            <a:solidFill>
              <a:srgbClr val="1A01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7C5D084-7D27-940F-6996-698E06882E08}"/>
              </a:ext>
            </a:extLst>
          </p:cNvPr>
          <p:cNvSpPr txBox="1"/>
          <p:nvPr/>
        </p:nvSpPr>
        <p:spPr>
          <a:xfrm>
            <a:off x="5347855" y="3600743"/>
            <a:ext cx="5562600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720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VIII SEMICA </a:t>
            </a:r>
          </a:p>
          <a:p>
            <a:pPr algn="ctr"/>
            <a:r>
              <a:rPr lang="pt-BR" sz="320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SEMINÁRIO DE INICIAÇÃO CIENTÍFICA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FA55075D-6FAB-04F6-9FAF-94B1098B5FAD}"/>
              </a:ext>
            </a:extLst>
          </p:cNvPr>
          <p:cNvSpPr txBox="1"/>
          <p:nvPr/>
        </p:nvSpPr>
        <p:spPr>
          <a:xfrm>
            <a:off x="11734800" y="4480647"/>
            <a:ext cx="5867395" cy="769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OBRIGADO (A)!</a:t>
            </a:r>
          </a:p>
        </p:txBody>
      </p:sp>
      <p:pic>
        <p:nvPicPr>
          <p:cNvPr id="17" name="Imagem 16" descr="Logotipo&#10;&#10;O conteúdo gerado por IA pode estar incorreto.">
            <a:extLst>
              <a:ext uri="{FF2B5EF4-FFF2-40B4-BE49-F238E27FC236}">
                <a16:creationId xmlns:a16="http://schemas.microsoft.com/office/drawing/2014/main" id="{0D0FC99C-AA58-7690-EFFA-687CC2A3FC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5" b="4779"/>
          <a:stretch>
            <a:fillRect/>
          </a:stretch>
        </p:blipFill>
        <p:spPr>
          <a:xfrm>
            <a:off x="177979" y="2213031"/>
            <a:ext cx="5205045" cy="4558867"/>
          </a:xfrm>
          <a:prstGeom prst="rect">
            <a:avLst/>
          </a:prstGeom>
        </p:spPr>
      </p:pic>
      <p:sp>
        <p:nvSpPr>
          <p:cNvPr id="18" name="Freeform 2">
            <a:extLst>
              <a:ext uri="{FF2B5EF4-FFF2-40B4-BE49-F238E27FC236}">
                <a16:creationId xmlns:a16="http://schemas.microsoft.com/office/drawing/2014/main" id="{D8AB2630-64AC-CEF6-D4B2-14914D6C4709}"/>
              </a:ext>
            </a:extLst>
          </p:cNvPr>
          <p:cNvSpPr/>
          <p:nvPr/>
        </p:nvSpPr>
        <p:spPr>
          <a:xfrm>
            <a:off x="0" y="8879943"/>
            <a:ext cx="18288000" cy="1064157"/>
          </a:xfrm>
          <a:custGeom>
            <a:avLst/>
            <a:gdLst/>
            <a:ahLst/>
            <a:cxnLst/>
            <a:rect l="l" t="t" r="r" b="b"/>
            <a:pathLst>
              <a:path w="10648950" h="612315">
                <a:moveTo>
                  <a:pt x="0" y="0"/>
                </a:moveTo>
                <a:lnTo>
                  <a:pt x="10648950" y="0"/>
                </a:lnTo>
                <a:lnTo>
                  <a:pt x="10648950" y="612315"/>
                </a:lnTo>
                <a:lnTo>
                  <a:pt x="0" y="612315"/>
                </a:lnTo>
                <a:lnTo>
                  <a:pt x="0" y="0"/>
                </a:lnTo>
                <a:close/>
              </a:path>
            </a:pathLst>
          </a:custGeom>
          <a:solidFill>
            <a:srgbClr val="002060"/>
          </a:solidFill>
        </p:spPr>
        <p:txBody>
          <a:bodyPr/>
          <a:lstStyle/>
          <a:p>
            <a:endParaRPr lang="pt-BR" dirty="0">
              <a:highlight>
                <a:srgbClr val="1A015F"/>
              </a:highlight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B0992EB5-ED4B-5892-9C40-AF7B65CAB4FD}"/>
              </a:ext>
            </a:extLst>
          </p:cNvPr>
          <p:cNvSpPr txBox="1"/>
          <p:nvPr/>
        </p:nvSpPr>
        <p:spPr>
          <a:xfrm>
            <a:off x="177979" y="9193411"/>
            <a:ext cx="179320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APOIO: PROGRAMA DE INICIAÇÃO CIENTÍFICA (PIC)</a:t>
            </a:r>
          </a:p>
        </p:txBody>
      </p:sp>
      <p:pic>
        <p:nvPicPr>
          <p:cNvPr id="20" name="Picture 2" descr="Uma nova SLMANDIC de Araras para você - São Leopoldo Mandic Araras">
            <a:extLst>
              <a:ext uri="{FF2B5EF4-FFF2-40B4-BE49-F238E27FC236}">
                <a16:creationId xmlns:a16="http://schemas.microsoft.com/office/drawing/2014/main" id="{76927D54-1347-A313-62EA-D31EE40AB0C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63" t="7525" r="19809" b="7525"/>
          <a:stretch>
            <a:fillRect/>
          </a:stretch>
        </p:blipFill>
        <p:spPr bwMode="auto">
          <a:xfrm>
            <a:off x="15953769" y="261047"/>
            <a:ext cx="2156252" cy="2672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250430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INTRODUÇÃO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Fumaça cirúrgica: o que é e por que importa</a:t>
            </a:r>
          </a:p>
        </p:txBody>
      </p:sp>
      <p:pic>
        <p:nvPicPr>
          <p:cNvPr id="7" name="Foto centro cirúrgico" descr="centro_cirurgico_fuma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1737360"/>
            <a:ext cx="7589520" cy="424651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6035040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Imagem ilustrativa (gerada por IA): pluma de fumaça do eletrocautério no campo cirúrgico.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6446520"/>
            <a:ext cx="7589520" cy="2240280"/>
          </a:xfrm>
          <a:prstGeom prst="roundRect">
            <a:avLst>
              <a:gd name="adj" fmla="val 6000"/>
            </a:avLst>
          </a:prstGeom>
          <a:solidFill>
            <a:srgbClr val="E6EBF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417320" y="6583680"/>
            <a:ext cx="7040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Sintomas agudos relatados pela equipe exposta</a:t>
            </a:r>
          </a:p>
        </p:txBody>
      </p:sp>
      <p:pic>
        <p:nvPicPr>
          <p:cNvPr id="11" name="icone eye" descr="eye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040" y="7104888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11680" y="708660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0" i="0">
                <a:solidFill>
                  <a:srgbClr val="1F2433"/>
                </a:solidFill>
                <a:latin typeface="Arial"/>
              </a:rPr>
              <a:t>Irritação ocular e lacrimejamento</a:t>
            </a:r>
          </a:p>
        </p:txBody>
      </p:sp>
      <p:pic>
        <p:nvPicPr>
          <p:cNvPr id="13" name="icone lungs" descr="lung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3040" y="7607808"/>
            <a:ext cx="365760" cy="365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11680" y="75895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0" i="0">
                <a:solidFill>
                  <a:srgbClr val="1F2433"/>
                </a:solidFill>
                <a:latin typeface="Arial"/>
              </a:rPr>
              <a:t>Tosse e irritação das vias aéreas e mucosas</a:t>
            </a:r>
          </a:p>
        </p:txBody>
      </p:sp>
      <p:pic>
        <p:nvPicPr>
          <p:cNvPr id="15" name="icone exclaim" descr="exclaim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63040" y="8110727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11680" y="80924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0" i="0">
                <a:solidFill>
                  <a:srgbClr val="1F2433"/>
                </a:solidFill>
                <a:latin typeface="Arial"/>
              </a:rPr>
              <a:t>Cefaleia e náusea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0" y="1737360"/>
            <a:ext cx="822960" cy="82296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18" name="icone smoke" descr="smok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49740" y="1943100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241280" y="1719072"/>
            <a:ext cx="75438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002060"/>
                </a:solidFill>
                <a:latin typeface="Arial"/>
              </a:rPr>
              <a:t>O que 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2148840"/>
            <a:ext cx="7543800" cy="1325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  <a:buNone/>
            </a:pPr>
            <a:r>
              <a:rPr sz="1800" b="0" i="0">
                <a:solidFill>
                  <a:srgbClr val="1F2433"/>
                </a:solidFill>
                <a:latin typeface="Arial"/>
              </a:rPr>
              <a:t>Subproduto da destruição térmica dos tecidos por dispositivos de energia: eletrocautério (bisturi elétrico), laser e bisturi ultrassônico (Benaim; Jaspers, 2024).</a:t>
            </a:r>
          </a:p>
        </p:txBody>
      </p:sp>
      <p:sp>
        <p:nvSpPr>
          <p:cNvPr id="21" name="Oval 20"/>
          <p:cNvSpPr/>
          <p:nvPr/>
        </p:nvSpPr>
        <p:spPr>
          <a:xfrm>
            <a:off x="9144000" y="3493007"/>
            <a:ext cx="822960" cy="82296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2" name="icone flask" descr="flask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49740" y="3698748"/>
            <a:ext cx="411480" cy="4114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241280" y="3474720"/>
            <a:ext cx="75438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002060"/>
                </a:solidFill>
                <a:latin typeface="Arial"/>
              </a:rPr>
              <a:t>O que contém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3904487"/>
            <a:ext cx="7543800" cy="1325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  <a:buNone/>
            </a:pPr>
            <a:r>
              <a:rPr sz="1800" b="0" i="0">
                <a:solidFill>
                  <a:srgbClr val="1F2433"/>
                </a:solidFill>
                <a:latin typeface="Arial"/>
              </a:rPr>
              <a:t>Hidrocarbonetos aromáticos policíclicos, compostos orgânicos voláteis (benzeno, tolueno, xileno), material particulado fino (PM2,5) e ultrafino, e material genético viral, como o HPV.</a:t>
            </a:r>
          </a:p>
        </p:txBody>
      </p:sp>
      <p:sp>
        <p:nvSpPr>
          <p:cNvPr id="25" name="Oval 24"/>
          <p:cNvSpPr/>
          <p:nvPr/>
        </p:nvSpPr>
        <p:spPr>
          <a:xfrm>
            <a:off x="9144000" y="5248656"/>
            <a:ext cx="822960" cy="82296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6" name="icone warning" descr="warning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49740" y="5454396"/>
            <a:ext cx="411480" cy="4114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241280" y="5230368"/>
            <a:ext cx="75438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002060"/>
                </a:solidFill>
                <a:latin typeface="Arial"/>
              </a:rPr>
              <a:t>O que se sabe (e o que não se sabe)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5660136"/>
            <a:ext cx="7543800" cy="1325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  <a:buNone/>
            </a:pPr>
            <a:r>
              <a:rPr sz="1800" b="0" i="0">
                <a:solidFill>
                  <a:srgbClr val="1F2433"/>
                </a:solidFill>
                <a:latin typeface="Arial"/>
              </a:rPr>
              <a:t>Sintomas agudos são frequentes. Efeitos crônicos (neoplasias, doença respiratória) são plausíveis, mas sem relação causal estabelecida; o tema é controverso (Hurst; Stewart, 2024).</a:t>
            </a:r>
          </a:p>
        </p:txBody>
      </p:sp>
      <p:sp>
        <p:nvSpPr>
          <p:cNvPr id="29" name="Oval 28"/>
          <p:cNvSpPr/>
          <p:nvPr/>
        </p:nvSpPr>
        <p:spPr>
          <a:xfrm>
            <a:off x="9144000" y="7004303"/>
            <a:ext cx="822960" cy="82296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30" name="icone shield" descr="shield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49740" y="7210044"/>
            <a:ext cx="411480" cy="4114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241280" y="6986016"/>
            <a:ext cx="75438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002060"/>
                </a:solidFill>
                <a:latin typeface="Arial"/>
              </a:rPr>
              <a:t>Por que importa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7415783"/>
            <a:ext cx="7543800" cy="1325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  <a:buNone/>
            </a:pPr>
            <a:r>
              <a:rPr sz="1800" b="0" i="0">
                <a:solidFill>
                  <a:srgbClr val="1F2433"/>
                </a:solidFill>
                <a:latin typeface="Arial"/>
              </a:rPr>
              <a:t>Exaustão de fumaça e máscaras de alta filtração ainda são pouco adotadas e não há diretrizes harmonizadas. As revisões anteriores eram descritivas, sem síntese quantitativa.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0" y="8778240"/>
            <a:ext cx="8641080" cy="1005840"/>
          </a:xfrm>
          <a:prstGeom prst="roundRect">
            <a:avLst>
              <a:gd name="adj" fmla="val 6000"/>
            </a:avLst>
          </a:prstGeom>
          <a:solidFill>
            <a:srgbClr val="FBF5E3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72600" y="8851392"/>
            <a:ext cx="82296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8B0000"/>
                </a:solidFill>
                <a:latin typeface="Arial"/>
              </a:rPr>
              <a:t>Lacuna → </a:t>
            </a:r>
            <a:r>
              <a:rPr sz="1600" b="1" i="0">
                <a:solidFill>
                  <a:srgbClr val="1F2433"/>
                </a:solidFill>
                <a:latin typeface="Arial"/>
              </a:rPr>
              <a:t>síntese em camadas: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metanálise da prevalência de sintomas + síntese narrativa, com GRADE, dos desfechos objetivos e biomarcadores.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OBJETIVOS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Pergunta estruturada: PECO para os desfechos comparativos e CoCoPop para a prevalência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783080"/>
            <a:ext cx="16642080" cy="123444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417320" y="1828800"/>
            <a:ext cx="1609344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100" b="1" i="0">
                <a:solidFill>
                  <a:srgbClr val="C8A951"/>
                </a:solidFill>
                <a:latin typeface="Arial"/>
              </a:rPr>
              <a:t>Objetivo geral: </a:t>
            </a:r>
            <a:r>
              <a:rPr sz="2100" b="0" i="0">
                <a:solidFill>
                  <a:srgbClr val="FFFFFF"/>
                </a:solidFill>
                <a:latin typeface="Arial"/>
              </a:rPr>
              <a:t>avaliar os desfechos de saúde associados à exposição ocupacional à fumaça cirúrgica na equipe de centro cirúrgico, com ênfase na prevalência de sintomas, nos desfechos objetivos e nos biomarcadores de exposição ou de possível efeito.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291840"/>
            <a:ext cx="3941063" cy="25146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1394460" y="3360420"/>
            <a:ext cx="685800" cy="68580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600" b="1" i="0">
                <a:solidFill>
                  <a:srgbClr val="FFFFFF"/>
                </a:solidFill>
                <a:latin typeface="Arial"/>
              </a:rPr>
              <a:t>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456432"/>
            <a:ext cx="2660903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002060"/>
                </a:solidFill>
                <a:latin typeface="Arial"/>
              </a:rPr>
              <a:t>População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4206240"/>
            <a:ext cx="3392423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Equipe de centro cirúrgico: cirurgiões, residentes, enfermagem perioperatória, instrumentadores e profissionais de anestesia.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85816" y="3291840"/>
            <a:ext cx="3941063" cy="25146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5637276" y="3360420"/>
            <a:ext cx="685800" cy="68580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600" b="1" i="0">
                <a:solidFill>
                  <a:srgbClr val="FFFFFF"/>
                </a:solidFill>
                <a:latin typeface="Arial"/>
              </a:rPr>
              <a:t>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3456432"/>
            <a:ext cx="2660903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002060"/>
                </a:solidFill>
                <a:latin typeface="Arial"/>
              </a:rPr>
              <a:t>Exposição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0136" y="4206240"/>
            <a:ext cx="3392423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Exposição ocupacional à fumaça gerada por dispositivos de energia (eletrocautério, laser, bisturi ultrassônico).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28632" y="3291840"/>
            <a:ext cx="3941063" cy="25146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880092" y="3360420"/>
            <a:ext cx="685800" cy="68580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600" b="1" i="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1" y="3456432"/>
            <a:ext cx="2660903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002060"/>
                </a:solidFill>
                <a:latin typeface="Arial"/>
              </a:rPr>
              <a:t>Comparador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2952" y="4206240"/>
            <a:ext cx="3392423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Não expostos, minimamente expostos ou com medidas de proteção (exaustão local, máscaras de alta filtração).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871447" y="3291840"/>
            <a:ext cx="3941063" cy="25146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14122907" y="3360420"/>
            <a:ext cx="685800" cy="68580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600" b="1" i="0">
                <a:solidFill>
                  <a:srgbClr val="FFFFFF"/>
                </a:solidFill>
                <a:latin typeface="Arial"/>
              </a:rPr>
              <a:t>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968727" y="3456432"/>
            <a:ext cx="2660903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002060"/>
                </a:solidFill>
                <a:latin typeface="Arial"/>
              </a:rPr>
              <a:t>Outcome (desfecho)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45767" y="4206240"/>
            <a:ext cx="3392423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Efeitos à saúde: sintomas, função pulmonar, biomarcadores urinários, mucosa nasal, HPV-DNA nas vias aéreas.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6035040"/>
            <a:ext cx="16642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Para a prevalência (metanálise de proporções): </a:t>
            </a:r>
            <a:r>
              <a:rPr sz="1800" b="0" i="0">
                <a:solidFill>
                  <a:srgbClr val="5A6270"/>
                </a:solidFill>
                <a:latin typeface="Arial"/>
              </a:rPr>
              <a:t>esquema CoCoPop (Munn et al., 2015)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6446520"/>
            <a:ext cx="5367528" cy="1188720"/>
          </a:xfrm>
          <a:prstGeom prst="roundRect">
            <a:avLst>
              <a:gd name="adj" fmla="val 6000"/>
            </a:avLst>
          </a:prstGeom>
          <a:solidFill>
            <a:srgbClr val="E3F3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417320" y="6510528"/>
            <a:ext cx="481888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E7C86"/>
                </a:solidFill>
                <a:latin typeface="Arial"/>
              </a:rPr>
              <a:t>Condição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6858000"/>
            <a:ext cx="4818888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Sintomas oculares e respiratórios autorrelatados, relacionados à exposição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84848" y="6446520"/>
            <a:ext cx="5367528" cy="1188720"/>
          </a:xfrm>
          <a:prstGeom prst="roundRect">
            <a:avLst>
              <a:gd name="adj" fmla="val 6000"/>
            </a:avLst>
          </a:prstGeom>
          <a:solidFill>
            <a:srgbClr val="E3F3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059168" y="6510528"/>
            <a:ext cx="481888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E7C86"/>
                </a:solidFill>
                <a:latin typeface="Arial"/>
              </a:rPr>
              <a:t>Contexto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9168" y="6858000"/>
            <a:ext cx="4818888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Centro cirúrgico com uso de dispositivos de energia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426696" y="6446520"/>
            <a:ext cx="5367528" cy="1188720"/>
          </a:xfrm>
          <a:prstGeom prst="roundRect">
            <a:avLst>
              <a:gd name="adj" fmla="val 6000"/>
            </a:avLst>
          </a:prstGeom>
          <a:solidFill>
            <a:srgbClr val="E3F3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701016" y="6510528"/>
            <a:ext cx="481888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E7C86"/>
                </a:solidFill>
                <a:latin typeface="Arial"/>
              </a:rPr>
              <a:t>População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701016" y="6858000"/>
            <a:ext cx="4818888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Equipe de centro cirúrgico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7909560"/>
            <a:ext cx="9692640" cy="1828800"/>
          </a:xfrm>
          <a:prstGeom prst="roundRect">
            <a:avLst>
              <a:gd name="adj" fmla="val 6000"/>
            </a:avLst>
          </a:prstGeom>
          <a:solidFill>
            <a:srgbClr val="FBF5E3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417320" y="7973568"/>
            <a:ext cx="914400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Objetivos específicos</a:t>
            </a:r>
          </a:p>
          <a:p>
            <a:pPr algn="l" marL="274320" indent="-274320">
              <a:lnSpc>
                <a:spcPct val="100000"/>
              </a:lnSpc>
              <a:spcAft>
                <a:spcPts val="200"/>
              </a:spcAft>
              <a:buFont typeface="Arial"/>
              <a:buChar char="1."/>
            </a:pPr>
            <a:r>
              <a:rPr sz="1600" b="0" i="0">
                <a:solidFill>
                  <a:srgbClr val="1F2433"/>
                </a:solidFill>
                <a:latin typeface="Arial"/>
              </a:rPr>
              <a:t>Estimar por metanálise a prevalência de sintoma ocular (principal) e respiratório (exploratório);</a:t>
            </a:r>
          </a:p>
          <a:p>
            <a:pPr algn="l" marL="274320" indent="-274320">
              <a:lnSpc>
                <a:spcPct val="100000"/>
              </a:lnSpc>
              <a:spcAft>
                <a:spcPts val="200"/>
              </a:spcAft>
              <a:buFont typeface="Arial"/>
              <a:buChar char="2."/>
            </a:pPr>
            <a:r>
              <a:rPr sz="1600" b="0" i="0">
                <a:solidFill>
                  <a:srgbClr val="1F2433"/>
                </a:solidFill>
                <a:latin typeface="Arial"/>
              </a:rPr>
              <a:t>Sintetizar narrativamente os desfechos objetivos e biomarcadores;</a:t>
            </a:r>
          </a:p>
          <a:p>
            <a:pPr algn="l" marL="274320" indent="-274320">
              <a:lnSpc>
                <a:spcPct val="100000"/>
              </a:lnSpc>
              <a:spcAft>
                <a:spcPts val="200"/>
              </a:spcAft>
              <a:buFont typeface="Arial"/>
              <a:buChar char="3."/>
            </a:pPr>
            <a:r>
              <a:rPr sz="1600" b="0" i="0">
                <a:solidFill>
                  <a:srgbClr val="1F2433"/>
                </a:solidFill>
                <a:latin typeface="Arial"/>
              </a:rPr>
              <a:t>Graduar a certeza da evidência por desfecho (GRADE).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109960" y="7909560"/>
            <a:ext cx="6675120" cy="1828800"/>
          </a:xfrm>
          <a:prstGeom prst="roundRect">
            <a:avLst>
              <a:gd name="adj" fmla="val 6000"/>
            </a:avLst>
          </a:prstGeom>
          <a:solidFill>
            <a:srgbClr val="F9E9E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38" name="icone warning" descr="warning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80" y="8138160"/>
            <a:ext cx="502920" cy="50292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2024360" y="8001000"/>
            <a:ext cx="5623560" cy="1645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8B0000"/>
                </a:solidFill>
                <a:latin typeface="Arial"/>
              </a:rPr>
              <a:t>Atenção: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a metanálise de proporções estima a </a:t>
            </a:r>
            <a:r>
              <a:rPr sz="1600" b="1" i="0">
                <a:solidFill>
                  <a:srgbClr val="1F2433"/>
                </a:solidFill>
                <a:latin typeface="Arial"/>
              </a:rPr>
              <a:t>frequência</a:t>
            </a:r>
            <a:r>
              <a:rPr sz="1600" b="0" i="0">
                <a:solidFill>
                  <a:srgbClr val="1F2433"/>
                </a:solidFill>
                <a:latin typeface="Arial"/>
              </a:rPr>
              <a:t> de sintomas em populações expostas, não o efeito causal atribuível à fumaça. A inferência causal depende dos estudos comparativos e dos desfechos objetivos.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METODOLOGIA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Mapa da revisão: 7 passos, do protocolo à certeza da evidência (PRISMA 2020)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31720" y="2286000"/>
            <a:ext cx="14264639" cy="0"/>
          </a:xfrm>
          <a:prstGeom prst="line">
            <a:avLst/>
          </a:prstGeom>
          <a:ln w="50800">
            <a:solidFill>
              <a:srgbClr val="C9CFDA"/>
            </a:solidFill>
          </a:ln>
        </p:spPr>
      </p:cxnSp>
      <p:sp>
        <p:nvSpPr>
          <p:cNvPr id="8" name="Oval 7"/>
          <p:cNvSpPr/>
          <p:nvPr/>
        </p:nvSpPr>
        <p:spPr>
          <a:xfrm>
            <a:off x="1897379" y="1851660"/>
            <a:ext cx="868680" cy="86868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19" y="2880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Pergunta e protocolo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16151" y="3611880"/>
            <a:ext cx="2231136" cy="27889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25879" y="3703320"/>
            <a:ext cx="2011680" cy="2651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PECO e CoCoPop</a:t>
            </a:r>
          </a:p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PRISMA 2020 e Diretrizes do MS</a:t>
            </a:r>
          </a:p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PROSPERO CRD420251238727</a:t>
            </a:r>
          </a:p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Dispensa do CEP 2025/0743</a:t>
            </a:r>
          </a:p>
        </p:txBody>
      </p:sp>
      <p:sp>
        <p:nvSpPr>
          <p:cNvPr id="12" name="Oval 11"/>
          <p:cNvSpPr/>
          <p:nvPr/>
        </p:nvSpPr>
        <p:spPr>
          <a:xfrm>
            <a:off x="4274820" y="1851660"/>
            <a:ext cx="868680" cy="86868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880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Busca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93592" y="3611880"/>
            <a:ext cx="2231136" cy="27889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03320" y="3703320"/>
            <a:ext cx="2011680" cy="2651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7 bases + literatura cinzenta</a:t>
            </a:r>
          </a:p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Busca por citação (OpenAlex)</a:t>
            </a:r>
          </a:p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Sem filtro de idioma ou data</a:t>
            </a:r>
          </a:p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Última busca: 09/07/2026</a:t>
            </a:r>
          </a:p>
        </p:txBody>
      </p:sp>
      <p:sp>
        <p:nvSpPr>
          <p:cNvPr id="16" name="Oval 15"/>
          <p:cNvSpPr/>
          <p:nvPr/>
        </p:nvSpPr>
        <p:spPr>
          <a:xfrm>
            <a:off x="6652260" y="1851660"/>
            <a:ext cx="868680" cy="86868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880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Seleção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71032" y="3611880"/>
            <a:ext cx="2231136" cy="27889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080760" y="3703320"/>
            <a:ext cx="2011680" cy="2651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Zotero → Rayyan</a:t>
            </a:r>
          </a:p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Deduplicação automática</a:t>
            </a:r>
          </a:p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Triagem e leitura na íntegra</a:t>
            </a:r>
          </a:p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Controle de sobreposição</a:t>
            </a:r>
          </a:p>
        </p:txBody>
      </p:sp>
      <p:sp>
        <p:nvSpPr>
          <p:cNvPr id="20" name="Oval 19"/>
          <p:cNvSpPr/>
          <p:nvPr/>
        </p:nvSpPr>
        <p:spPr>
          <a:xfrm>
            <a:off x="9029700" y="1851660"/>
            <a:ext cx="868680" cy="86868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880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Extração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48471" y="3611880"/>
            <a:ext cx="2231136" cy="27889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458199" y="3703320"/>
            <a:ext cx="2011680" cy="2651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Planilha padronizada</a:t>
            </a:r>
          </a:p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Eventos e denominadores</a:t>
            </a:r>
          </a:p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Definição do desfecho</a:t>
            </a:r>
          </a:p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Taxa de resposta</a:t>
            </a:r>
          </a:p>
        </p:txBody>
      </p:sp>
      <p:sp>
        <p:nvSpPr>
          <p:cNvPr id="24" name="Oval 23"/>
          <p:cNvSpPr/>
          <p:nvPr/>
        </p:nvSpPr>
        <p:spPr>
          <a:xfrm>
            <a:off x="11407140" y="1851660"/>
            <a:ext cx="868680" cy="86868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2880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Risco de viés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725912" y="3611880"/>
            <a:ext cx="2231136" cy="27889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835640" y="3703320"/>
            <a:ext cx="2011680" cy="2651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Ferramentas JBI</a:t>
            </a:r>
          </a:p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Prevalência (9 itens)</a:t>
            </a:r>
          </a:p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Transversal (8) e coorte (11)</a:t>
            </a:r>
          </a:p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Domínios críticos</a:t>
            </a:r>
          </a:p>
        </p:txBody>
      </p:sp>
      <p:sp>
        <p:nvSpPr>
          <p:cNvPr id="28" name="Oval 27"/>
          <p:cNvSpPr/>
          <p:nvPr/>
        </p:nvSpPr>
        <p:spPr>
          <a:xfrm>
            <a:off x="13784580" y="1851660"/>
            <a:ext cx="868680" cy="8686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8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075920" y="2880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Síntese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03352" y="3611880"/>
            <a:ext cx="2231136" cy="27889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3213080" y="3703320"/>
            <a:ext cx="2011680" cy="2651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Metanálise de proporções</a:t>
            </a:r>
          </a:p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Logito + efeitos aleatórios</a:t>
            </a:r>
          </a:p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Hartung-Knapp</a:t>
            </a:r>
          </a:p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IP e sensibilidade</a:t>
            </a:r>
          </a:p>
        </p:txBody>
      </p:sp>
      <p:sp>
        <p:nvSpPr>
          <p:cNvPr id="32" name="Oval 31"/>
          <p:cNvSpPr/>
          <p:nvPr/>
        </p:nvSpPr>
        <p:spPr>
          <a:xfrm>
            <a:off x="16162020" y="1851660"/>
            <a:ext cx="868680" cy="86868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8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453360" y="2880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Certeza (GRADE)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480792" y="3611880"/>
            <a:ext cx="2231136" cy="27889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5590520" y="3703320"/>
            <a:ext cx="2011680" cy="2651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GRADE adaptado</a:t>
            </a:r>
          </a:p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à prevalência</a:t>
            </a:r>
          </a:p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5 domínios</a:t>
            </a:r>
          </a:p>
          <a:p>
            <a:pPr algn="l">
              <a:lnSpc>
                <a:spcPct val="102000"/>
              </a:lnSpc>
              <a:spcAft>
                <a:spcPts val="5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Ponto de partida: baixa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6629400"/>
            <a:ext cx="16642080" cy="1280160"/>
          </a:xfrm>
          <a:prstGeom prst="roundRect">
            <a:avLst>
              <a:gd name="adj" fmla="val 6000"/>
            </a:avLst>
          </a:prstGeom>
          <a:solidFill>
            <a:srgbClr val="E6EBF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417320" y="6720840"/>
            <a:ext cx="2651760" cy="10972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Ferramentas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(função operacional)</a:t>
            </a:r>
          </a:p>
        </p:txBody>
      </p:sp>
      <p:pic>
        <p:nvPicPr>
          <p:cNvPr id="38" name="icone database" descr="databas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80" y="6995160"/>
            <a:ext cx="502920" cy="50292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709160" y="678484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Zotero 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09160" y="71780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gestão de referências</a:t>
            </a:r>
          </a:p>
        </p:txBody>
      </p:sp>
      <p:pic>
        <p:nvPicPr>
          <p:cNvPr id="41" name="icone filter" descr="filter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6995160"/>
            <a:ext cx="502920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452360" y="678484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Rayyan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52360" y="71780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deduplicação e triagem</a:t>
            </a:r>
          </a:p>
        </p:txBody>
      </p:sp>
      <p:pic>
        <p:nvPicPr>
          <p:cNvPr id="44" name="icone link" descr="link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55480" y="6995160"/>
            <a:ext cx="502920" cy="5029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195559" y="678484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OpenAlex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95559" y="71780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metadados e citações</a:t>
            </a:r>
          </a:p>
        </p:txBody>
      </p:sp>
      <p:pic>
        <p:nvPicPr>
          <p:cNvPr id="47" name="icone code" descr="code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98680" y="6995160"/>
            <a:ext cx="502920" cy="5029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2938759" y="678484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Python 3.13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938759" y="71780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NumPy, SciPy, statsmodels</a:t>
            </a:r>
          </a:p>
        </p:txBody>
      </p:sp>
      <p:pic>
        <p:nvPicPr>
          <p:cNvPr id="50" name="icone robot" descr="robot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41880" y="6995160"/>
            <a:ext cx="502920" cy="5029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681959" y="678484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Assistente de IA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681959" y="71780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apoio operacional (abaixo)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43000" y="8092440"/>
            <a:ext cx="16642080" cy="1691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Uso de IA (declarado, Portaria CNPq nº 2.664/2026):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apoio operacional na priorização da ordem de leitura, na leitura assistida de resumos e na organização do fluxo de trabalho. Elegibilidade, extração, interpretação e redação: decisões humanas, nada incorporado sem verificação.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Transparência e reprodutibilidade: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checklist PRISMA 2020 (27 itens) preenchido; estratégias completas por base (Anexo A); extração, risco de viés e perfil GRADE em anexos; códigos, figuras e planilhas abertos no OSF (osf.io/jktmn).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METODOLOGIA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Passos 1 e 2 · Critérios de elegibilidade e busca de alta sensibilidade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10097" y="9454896"/>
            <a:ext cx="14107885" cy="0"/>
          </a:xfrm>
          <a:prstGeom prst="line">
            <a:avLst/>
          </a:prstGeom>
          <a:ln w="31750">
            <a:solidFill>
              <a:srgbClr val="C9CFDA"/>
            </a:solidFill>
          </a:ln>
        </p:spPr>
      </p:cxnSp>
      <p:sp>
        <p:nvSpPr>
          <p:cNvPr id="8" name="Oval 7"/>
          <p:cNvSpPr/>
          <p:nvPr/>
        </p:nvSpPr>
        <p:spPr>
          <a:xfrm>
            <a:off x="2208929" y="9253728"/>
            <a:ext cx="402336" cy="402336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39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Pergunta e protocolo</a:t>
            </a:r>
          </a:p>
        </p:txBody>
      </p:sp>
      <p:sp>
        <p:nvSpPr>
          <p:cNvPr id="10" name="Oval 9"/>
          <p:cNvSpPr/>
          <p:nvPr/>
        </p:nvSpPr>
        <p:spPr>
          <a:xfrm>
            <a:off x="4560243" y="9253728"/>
            <a:ext cx="402336" cy="402336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5754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Busca</a:t>
            </a:r>
          </a:p>
        </p:txBody>
      </p:sp>
      <p:sp>
        <p:nvSpPr>
          <p:cNvPr id="12" name="Oval 11"/>
          <p:cNvSpPr/>
          <p:nvPr/>
        </p:nvSpPr>
        <p:spPr>
          <a:xfrm>
            <a:off x="6948133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7068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Seleção</a:t>
            </a:r>
          </a:p>
        </p:txBody>
      </p:sp>
      <p:sp>
        <p:nvSpPr>
          <p:cNvPr id="14" name="Oval 13"/>
          <p:cNvSpPr/>
          <p:nvPr/>
        </p:nvSpPr>
        <p:spPr>
          <a:xfrm>
            <a:off x="9299447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8382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Extração</a:t>
            </a:r>
          </a:p>
        </p:txBody>
      </p:sp>
      <p:sp>
        <p:nvSpPr>
          <p:cNvPr id="16" name="Oval 15"/>
          <p:cNvSpPr/>
          <p:nvPr/>
        </p:nvSpPr>
        <p:spPr>
          <a:xfrm>
            <a:off x="11650762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39697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Risco de viés</a:t>
            </a:r>
          </a:p>
        </p:txBody>
      </p:sp>
      <p:sp>
        <p:nvSpPr>
          <p:cNvPr id="18" name="Oval 17"/>
          <p:cNvSpPr/>
          <p:nvPr/>
        </p:nvSpPr>
        <p:spPr>
          <a:xfrm>
            <a:off x="14002076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91011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Síntese</a:t>
            </a:r>
          </a:p>
        </p:txBody>
      </p:sp>
      <p:sp>
        <p:nvSpPr>
          <p:cNvPr id="20" name="Oval 19"/>
          <p:cNvSpPr/>
          <p:nvPr/>
        </p:nvSpPr>
        <p:spPr>
          <a:xfrm>
            <a:off x="16353390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42325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Certeza (GRADE)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1783080"/>
            <a:ext cx="7680960" cy="72237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417320" y="1874519"/>
            <a:ext cx="71323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Critérios de elegibilidade e ajustes posteriores declarados</a:t>
            </a:r>
          </a:p>
        </p:txBody>
      </p:sp>
      <p:pic>
        <p:nvPicPr>
          <p:cNvPr id="24" name="icone check" descr="check_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320" y="2395728"/>
            <a:ext cx="365760" cy="365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920240" y="2350008"/>
            <a:ext cx="66751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E7C86"/>
                </a:solidFill>
                <a:latin typeface="Arial"/>
              </a:rPr>
              <a:t>Incluímos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2788920"/>
            <a:ext cx="7132320" cy="2926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E7C86"/>
              </a:buClr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Estudos observacionais primários (transversais, caso-controle, coorte);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E7C86"/>
              </a:buClr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Profissionais de centro cirúrgico expostos à fumaça cirúrgica;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E7C86"/>
              </a:buClr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Efeitos à saúde ou marcadores de exposição como desfecho;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E7C86"/>
              </a:buClr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Português, inglês ou espanhol; sem restrição de data;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E7C86"/>
              </a:buClr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Resumos de congresso com dados completos: admitidos com preocupação alta </a:t>
            </a:r>
            <a:r>
              <a:rPr sz="1800" b="1" i="0">
                <a:solidFill>
                  <a:srgbClr val="8A6D1F"/>
                </a:solidFill>
                <a:latin typeface="Arial"/>
              </a:rPr>
              <a:t>(ajuste posterior ao registro, declarado no manuscrito).</a:t>
            </a:r>
          </a:p>
        </p:txBody>
      </p:sp>
      <p:pic>
        <p:nvPicPr>
          <p:cNvPr id="27" name="icone xmark" descr="xmark_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7320" y="5715000"/>
            <a:ext cx="365760" cy="3657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920240" y="5669280"/>
            <a:ext cx="66751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8B0000"/>
                </a:solidFill>
                <a:latin typeface="Arial"/>
              </a:rPr>
              <a:t>Excluímos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6108192"/>
            <a:ext cx="7132320" cy="2834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8B0000"/>
              </a:buClr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Estudos in vitro ou em animais;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8B0000"/>
              </a:buClr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População fora do centro cirúrgico (ex.: ambulatórios);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8B0000"/>
              </a:buClr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Desfecho apenas no paciente;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8B0000"/>
              </a:buClr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Medição físico-química do ar sem desfecho humano;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8B0000"/>
              </a:buClr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Revisões, editoriais, cartas e comentários;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8B0000"/>
              </a:buClr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Exposição não atribuível à fumaça (só gases anestésicos ou radiação).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98280" y="1783080"/>
            <a:ext cx="868680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CFDA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0" y="184708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Registros recuperados por fonte (busca em 09/07/2026)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9144000" y="2240280"/>
          <a:ext cx="6126480" cy="3977639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15407640" y="2377440"/>
            <a:ext cx="2286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sz="4000" b="1" i="0">
                <a:solidFill>
                  <a:srgbClr val="8B0000"/>
                </a:solidFill>
                <a:latin typeface="Arial"/>
              </a:rPr>
              <a:t>16.757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407640" y="3030728"/>
            <a:ext cx="2286000" cy="828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5A6270"/>
                </a:solidFill>
                <a:latin typeface="Arial"/>
              </a:rPr>
              <a:t>registros identificados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407640" y="3977639"/>
            <a:ext cx="2286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sz="3200" b="1" i="0">
                <a:solidFill>
                  <a:srgbClr val="002060"/>
                </a:solidFill>
                <a:latin typeface="Arial"/>
              </a:rPr>
              <a:t>+ 443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407640" y="4503927"/>
            <a:ext cx="2286000" cy="955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5A6270"/>
                </a:solidFill>
                <a:latin typeface="Arial"/>
              </a:rPr>
              <a:t>referências avaliadas na busca por citação (OpenAlex)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407640" y="544068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Cinzenta: Google Scholar (4 estratégias × 50 resultados) e Catálogo CAPES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98280" y="6446520"/>
            <a:ext cx="8686800" cy="2560320"/>
          </a:xfrm>
          <a:prstGeom prst="roundRect">
            <a:avLst>
              <a:gd name="adj" fmla="val 6000"/>
            </a:avLst>
          </a:prstGeom>
          <a:solidFill>
            <a:srgbClr val="FBF5E3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326880" y="65105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Como a estratégia foi construída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6903720"/>
            <a:ext cx="8229600" cy="2103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C8A951"/>
              </a:buClr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Dois blocos: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(equipe cirúrgica) AND (fumaça OU dispositivos de energia); termos MeSH/Emtree e texto livre; sem bloco de desfecho.</a:t>
            </a:r>
          </a:p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C8A951"/>
              </a:buClr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Sem filtro de idioma ou data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→ alta sensibilidade (estratégias completas no Anexo A).</a:t>
            </a:r>
          </a:p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C8A951"/>
              </a:buClr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Busca por citação automatizada (OpenAlex):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referências dos incluídos e artigos que os citam.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METODOLOGIA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Passo 3 · Seleção dos estudos: do registro bruto ao relatório incluído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10097" y="9454896"/>
            <a:ext cx="14107885" cy="0"/>
          </a:xfrm>
          <a:prstGeom prst="line">
            <a:avLst/>
          </a:prstGeom>
          <a:ln w="31750">
            <a:solidFill>
              <a:srgbClr val="C9CFDA"/>
            </a:solidFill>
          </a:ln>
        </p:spPr>
      </p:cxnSp>
      <p:sp>
        <p:nvSpPr>
          <p:cNvPr id="8" name="Oval 7"/>
          <p:cNvSpPr/>
          <p:nvPr/>
        </p:nvSpPr>
        <p:spPr>
          <a:xfrm>
            <a:off x="2245505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39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Pergunta e protocolo</a:t>
            </a:r>
          </a:p>
        </p:txBody>
      </p:sp>
      <p:sp>
        <p:nvSpPr>
          <p:cNvPr id="10" name="Oval 9"/>
          <p:cNvSpPr/>
          <p:nvPr/>
        </p:nvSpPr>
        <p:spPr>
          <a:xfrm>
            <a:off x="4596819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5754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Busca</a:t>
            </a:r>
          </a:p>
        </p:txBody>
      </p:sp>
      <p:sp>
        <p:nvSpPr>
          <p:cNvPr id="12" name="Oval 11"/>
          <p:cNvSpPr/>
          <p:nvPr/>
        </p:nvSpPr>
        <p:spPr>
          <a:xfrm>
            <a:off x="6911557" y="9253728"/>
            <a:ext cx="402336" cy="402336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7068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Seleção</a:t>
            </a:r>
          </a:p>
        </p:txBody>
      </p:sp>
      <p:sp>
        <p:nvSpPr>
          <p:cNvPr id="14" name="Oval 13"/>
          <p:cNvSpPr/>
          <p:nvPr/>
        </p:nvSpPr>
        <p:spPr>
          <a:xfrm>
            <a:off x="9299447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8382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Extração</a:t>
            </a:r>
          </a:p>
        </p:txBody>
      </p:sp>
      <p:sp>
        <p:nvSpPr>
          <p:cNvPr id="16" name="Oval 15"/>
          <p:cNvSpPr/>
          <p:nvPr/>
        </p:nvSpPr>
        <p:spPr>
          <a:xfrm>
            <a:off x="11650762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39697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Risco de viés</a:t>
            </a:r>
          </a:p>
        </p:txBody>
      </p:sp>
      <p:sp>
        <p:nvSpPr>
          <p:cNvPr id="18" name="Oval 17"/>
          <p:cNvSpPr/>
          <p:nvPr/>
        </p:nvSpPr>
        <p:spPr>
          <a:xfrm>
            <a:off x="14002076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91011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Síntese</a:t>
            </a:r>
          </a:p>
        </p:txBody>
      </p:sp>
      <p:sp>
        <p:nvSpPr>
          <p:cNvPr id="20" name="Oval 19"/>
          <p:cNvSpPr/>
          <p:nvPr/>
        </p:nvSpPr>
        <p:spPr>
          <a:xfrm>
            <a:off x="16353390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42325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Certeza (GRADE)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1828800"/>
            <a:ext cx="2468880" cy="19659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80160" y="1901952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4000" b="1" i="0">
                <a:solidFill>
                  <a:srgbClr val="002060"/>
                </a:solidFill>
                <a:latin typeface="Arial"/>
              </a:rPr>
              <a:t>16.757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2651760"/>
            <a:ext cx="219456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registros identificados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(bases + literatura cinzenta)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685032" y="2514600"/>
            <a:ext cx="928116" cy="0"/>
          </a:xfrm>
          <a:prstGeom prst="line">
            <a:avLst/>
          </a:prstGeom>
          <a:ln w="31750">
            <a:solidFill>
              <a:srgbClr val="002060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4686300" y="1828800"/>
            <a:ext cx="2468880" cy="19659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823460" y="1901952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4000" b="1" i="0">
                <a:solidFill>
                  <a:srgbClr val="002060"/>
                </a:solidFill>
                <a:latin typeface="Arial"/>
              </a:rPr>
              <a:t>10.910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23460" y="2651760"/>
            <a:ext cx="219456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registros únicos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(5.839 duplicatas; 8 não exportados)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228332" y="2514600"/>
            <a:ext cx="928116" cy="0"/>
          </a:xfrm>
          <a:prstGeom prst="line">
            <a:avLst/>
          </a:prstGeom>
          <a:ln w="31750">
            <a:solidFill>
              <a:srgbClr val="002060"/>
            </a:solidFill>
            <a:tailEnd type="triangle" w="med" len="med"/>
          </a:ln>
        </p:spPr>
      </p:cxnSp>
      <p:sp>
        <p:nvSpPr>
          <p:cNvPr id="30" name="TextBox 29"/>
          <p:cNvSpPr txBox="1"/>
          <p:nvPr/>
        </p:nvSpPr>
        <p:spPr>
          <a:xfrm>
            <a:off x="7173468" y="2697480"/>
            <a:ext cx="1037844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A6270"/>
                </a:solidFill>
                <a:latin typeface="Arial"/>
              </a:rPr>
              <a:t>10.882</a:t>
            </a:r>
          </a:p>
          <a:p>
            <a:pPr algn="ctr">
              <a:lnSpc>
                <a:spcPct val="9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A6270"/>
                </a:solidFill>
                <a:latin typeface="Arial"/>
              </a:rPr>
              <a:t>excluídos</a:t>
            </a:r>
          </a:p>
          <a:p>
            <a:pPr algn="ctr">
              <a:lnSpc>
                <a:spcPct val="9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A6270"/>
                </a:solidFill>
                <a:latin typeface="Arial"/>
              </a:rPr>
              <a:t>na triagem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1828800"/>
            <a:ext cx="2468880" cy="19659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366760" y="1901952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4000" b="1" i="0">
                <a:solidFill>
                  <a:srgbClr val="002060"/>
                </a:solidFill>
                <a:latin typeface="Arial"/>
              </a:rP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2651760"/>
            <a:ext cx="219456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relatórios buscados na íntegra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(28 da triagem + 4 por citação)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771632" y="2514600"/>
            <a:ext cx="928116" cy="0"/>
          </a:xfrm>
          <a:prstGeom prst="line">
            <a:avLst/>
          </a:prstGeom>
          <a:ln w="31750">
            <a:solidFill>
              <a:srgbClr val="002060"/>
            </a:solidFill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10716767" y="2697480"/>
            <a:ext cx="1037844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A6270"/>
                </a:solidFill>
                <a:latin typeface="Arial"/>
              </a:rPr>
              <a:t>6 não</a:t>
            </a:r>
          </a:p>
          <a:p>
            <a:pPr algn="ctr">
              <a:lnSpc>
                <a:spcPct val="9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A6270"/>
                </a:solidFill>
                <a:latin typeface="Arial"/>
              </a:rPr>
              <a:t>recuperados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72900" y="1828800"/>
            <a:ext cx="2468880" cy="19659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1910060" y="1901952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4000" b="1" i="0">
                <a:solidFill>
                  <a:srgbClr val="002060"/>
                </a:solidFill>
                <a:latin typeface="Arial"/>
              </a:rPr>
              <a:t>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910060" y="2651760"/>
            <a:ext cx="219456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avaliados para elegibilidade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(6 não recuperados)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314932" y="2514600"/>
            <a:ext cx="928116" cy="0"/>
          </a:xfrm>
          <a:prstGeom prst="line">
            <a:avLst/>
          </a:prstGeom>
          <a:ln w="31750">
            <a:solidFill>
              <a:srgbClr val="002060"/>
            </a:solidFill>
            <a:tailEnd type="triangle" w="med" len="med"/>
          </a:ln>
        </p:spPr>
      </p:cxnSp>
      <p:sp>
        <p:nvSpPr>
          <p:cNvPr id="40" name="TextBox 39"/>
          <p:cNvSpPr txBox="1"/>
          <p:nvPr/>
        </p:nvSpPr>
        <p:spPr>
          <a:xfrm>
            <a:off x="14260067" y="2697480"/>
            <a:ext cx="1037844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A6270"/>
                </a:solidFill>
                <a:latin typeface="Arial"/>
              </a:rPr>
              <a:t>4 excluídos</a:t>
            </a:r>
          </a:p>
          <a:p>
            <a:pPr algn="ctr">
              <a:lnSpc>
                <a:spcPct val="9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A6270"/>
                </a:solidFill>
                <a:latin typeface="Arial"/>
              </a:rPr>
              <a:t>na íntegra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5316200" y="1828800"/>
            <a:ext cx="2468880" cy="1965960"/>
          </a:xfrm>
          <a:prstGeom prst="roundRect">
            <a:avLst>
              <a:gd name="adj" fmla="val 6000"/>
            </a:avLst>
          </a:prstGeom>
          <a:solidFill>
            <a:srgbClr val="F9E9E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5453359" y="1901952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4000" b="1" i="0">
                <a:solidFill>
                  <a:srgbClr val="8B0000"/>
                </a:solidFill>
                <a:latin typeface="Arial"/>
              </a:rPr>
              <a:t>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453359" y="2651760"/>
            <a:ext cx="219456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relatórios incluídos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(4 excluídos na íntegra)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4069080"/>
            <a:ext cx="5367528" cy="3749039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1417320" y="434340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46" name="icone filter" descr="filt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4526280"/>
            <a:ext cx="365760" cy="36576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2377440" y="4343400"/>
            <a:ext cx="3858768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002060"/>
                </a:solidFill>
                <a:latin typeface="Arial"/>
              </a:rPr>
              <a:t>Deduplicação e triagem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5212080"/>
            <a:ext cx="4818888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Zotero → Rayyan; duplicatas por DOI, PMID e similaridade de título.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Título e resumo dos 10.910 registros lidos por um único revisor.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Script em Python e assistente de IA: apoio operacional (ordem de leitura, leitura assistida de resumos, fluxo). Elegibilidade decidida por humano.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784848" y="4069080"/>
            <a:ext cx="5367528" cy="3749039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7059167" y="434340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51" name="icone book" descr="boo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2047" y="4526280"/>
            <a:ext cx="365760" cy="36576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019288" y="4343400"/>
            <a:ext cx="3858768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002060"/>
                </a:solidFill>
                <a:latin typeface="Arial"/>
              </a:rPr>
              <a:t>Leitura na íntegra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59168" y="5212080"/>
            <a:ext cx="4818888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Critérios definitivos; motivo de exclusão registrado (Anexo C).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Excluídos: 1 resumo sem dados e 3 por população ou contexto.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Sintoma-índice: o mais específico de cada via (lacrimejamento ou irritação ocular; tosse ou irritação de vias aéreas).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426696" y="4069080"/>
            <a:ext cx="5367528" cy="3749039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12701016" y="434340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56" name="icone people" descr="peopl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83896" y="4526280"/>
            <a:ext cx="365760" cy="36576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3661136" y="4343400"/>
            <a:ext cx="3858767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002060"/>
                </a:solidFill>
                <a:latin typeface="Arial"/>
              </a:rPr>
              <a:t>Sobreposição amostral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701016" y="5212080"/>
            <a:ext cx="4818888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7 publicações do mesmo grupo (Paraná) com amostras sobrepostas.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1 representante por desfecho, definido antes da síntese: Bieniek et al., 2022.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Nenhum participante contado duas vezes.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143000" y="8001000"/>
            <a:ext cx="16642080" cy="1005840"/>
          </a:xfrm>
          <a:prstGeom prst="roundRect">
            <a:avLst>
              <a:gd name="adj" fmla="val 6000"/>
            </a:avLst>
          </a:prstGeom>
          <a:solidFill>
            <a:srgbClr val="FBF5E3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60" name="icone exclaim" descr="exclaim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71600" y="8257031"/>
            <a:ext cx="502920" cy="50292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2057400" y="8065008"/>
            <a:ext cx="1563624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500" b="1" i="0">
                <a:solidFill>
                  <a:srgbClr val="002060"/>
                </a:solidFill>
                <a:latin typeface="Arial"/>
              </a:rPr>
              <a:t>6 relatórios não recuperados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apesar de acesso institucional, repositórios, páginas dos autores, comutação e contato com autores. Entre eles, 2 inquéritos de sintomas e 1 estudo de olho seco → possível impacto na prevalência, declarado como limitação.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METODOLOGIA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Passos 4 e 5 · Extração padronizada e avaliação do risco de viés (JBI)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10097" y="9454896"/>
            <a:ext cx="14107885" cy="0"/>
          </a:xfrm>
          <a:prstGeom prst="line">
            <a:avLst/>
          </a:prstGeom>
          <a:ln w="31750">
            <a:solidFill>
              <a:srgbClr val="C9CFDA"/>
            </a:solidFill>
          </a:ln>
        </p:spPr>
      </p:cxnSp>
      <p:sp>
        <p:nvSpPr>
          <p:cNvPr id="8" name="Oval 7"/>
          <p:cNvSpPr/>
          <p:nvPr/>
        </p:nvSpPr>
        <p:spPr>
          <a:xfrm>
            <a:off x="2245505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39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Pergunta e protocolo</a:t>
            </a:r>
          </a:p>
        </p:txBody>
      </p:sp>
      <p:sp>
        <p:nvSpPr>
          <p:cNvPr id="10" name="Oval 9"/>
          <p:cNvSpPr/>
          <p:nvPr/>
        </p:nvSpPr>
        <p:spPr>
          <a:xfrm>
            <a:off x="4596819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5754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Busca</a:t>
            </a:r>
          </a:p>
        </p:txBody>
      </p:sp>
      <p:sp>
        <p:nvSpPr>
          <p:cNvPr id="12" name="Oval 11"/>
          <p:cNvSpPr/>
          <p:nvPr/>
        </p:nvSpPr>
        <p:spPr>
          <a:xfrm>
            <a:off x="6948133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7068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Seleção</a:t>
            </a:r>
          </a:p>
        </p:txBody>
      </p:sp>
      <p:sp>
        <p:nvSpPr>
          <p:cNvPr id="14" name="Oval 13"/>
          <p:cNvSpPr/>
          <p:nvPr/>
        </p:nvSpPr>
        <p:spPr>
          <a:xfrm>
            <a:off x="9262871" y="9253728"/>
            <a:ext cx="402336" cy="402336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8382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Extração</a:t>
            </a:r>
          </a:p>
        </p:txBody>
      </p:sp>
      <p:sp>
        <p:nvSpPr>
          <p:cNvPr id="16" name="Oval 15"/>
          <p:cNvSpPr/>
          <p:nvPr/>
        </p:nvSpPr>
        <p:spPr>
          <a:xfrm>
            <a:off x="11614186" y="9253728"/>
            <a:ext cx="402336" cy="402336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39697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Risco de viés</a:t>
            </a:r>
          </a:p>
        </p:txBody>
      </p:sp>
      <p:sp>
        <p:nvSpPr>
          <p:cNvPr id="18" name="Oval 17"/>
          <p:cNvSpPr/>
          <p:nvPr/>
        </p:nvSpPr>
        <p:spPr>
          <a:xfrm>
            <a:off x="14002076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91011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Síntese</a:t>
            </a:r>
          </a:p>
        </p:txBody>
      </p:sp>
      <p:sp>
        <p:nvSpPr>
          <p:cNvPr id="20" name="Oval 19"/>
          <p:cNvSpPr/>
          <p:nvPr/>
        </p:nvSpPr>
        <p:spPr>
          <a:xfrm>
            <a:off x="16353390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42325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Certeza (GRADE)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1783080"/>
            <a:ext cx="6675120" cy="73152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1417320" y="205740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4" name="icone table" descr="tabl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2240279"/>
            <a:ext cx="365760" cy="365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77440" y="2057400"/>
            <a:ext cx="516635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002060"/>
                </a:solidFill>
                <a:latin typeface="Arial"/>
              </a:rPr>
              <a:t>Extração dos dados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2926080"/>
            <a:ext cx="6126480" cy="5952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Planilha padronizada: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autor, ano, país; desenho; população; dispositivo; comparador; instrumento e definição do desfecho; taxa de resposta; resultados.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Para a metanálise: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eventos e denominador de cada grupo (Anexo D). Ex.: İlçe 2017, lacrimejamento: 33/81 = 40,7%.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Recordatório, validação do instrumento e taxa de resposta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raramente informados → “não relatado” (limitação dos inquéritos).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Sem contato com autores;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planilha completa pública no OSF.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626364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500" b="1" i="0">
                <a:solidFill>
                  <a:srgbClr val="002060"/>
                </a:solidFill>
                <a:latin typeface="Arial"/>
              </a:rPr>
              <a:t>Exemplo de linhas extraídas (Anexo D, sintoma ocular)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417320" y="6675120"/>
          <a:ext cx="6126480" cy="1920240"/>
        </p:xfrm>
        <a:graphic>
          <a:graphicData uri="http://schemas.openxmlformats.org/drawingml/2006/table">
            <a:tbl>
              <a:tblPr firstRow="0" bandRow="0"/>
              <a:tblGrid>
                <a:gridCol w="2240280"/>
                <a:gridCol w="868680"/>
                <a:gridCol w="548640"/>
                <a:gridCol w="777240"/>
                <a:gridCol w="1691640"/>
              </a:tblGrid>
              <a:tr h="38404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Estudo</a:t>
                      </a:r>
                    </a:p>
                  </a:txBody>
                  <a:tcPr marL="91440" marR="91440" marT="36576" marB="36576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Eventos</a:t>
                      </a:r>
                    </a:p>
                  </a:txBody>
                  <a:tcPr marL="91440" marR="91440" marT="36576" marB="36576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marL="91440" marR="91440" marT="36576" marB="36576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Prev.</a:t>
                      </a:r>
                    </a:p>
                  </a:txBody>
                  <a:tcPr marL="91440" marR="91440" marT="36576" marB="36576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Definição</a:t>
                      </a:r>
                    </a:p>
                  </a:txBody>
                  <a:tcPr marL="91440" marR="91440" marT="36576" marB="36576" anchor="ctr">
                    <a:solidFill>
                      <a:srgbClr val="002060"/>
                    </a:solidFill>
                  </a:tcPr>
                </a:tc>
              </a:tr>
              <a:tr h="38404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İlçe et al., 2017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lacrimejamento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Usta et al., 2019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54,3%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lacrimejamento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Mohd Fikri Rosely; Titi Rahmawati, 2019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irritação ocular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Bieniek et al., 2022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43,2%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escala (sistema ocular)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8092440" y="1783080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Risco de viés: ferramenta JBI escolhida pela função de cada estudo na síntese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2286000"/>
            <a:ext cx="3108960" cy="13258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275319" y="234086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Prevalência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26974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1F2433"/>
                </a:solidFill>
                <a:latin typeface="Arial"/>
              </a:rPr>
              <a:t>9 itens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19" y="31089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estudos das metanálises (k = 7)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384280" y="2286000"/>
            <a:ext cx="3108960" cy="13258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1567159" y="234086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E7C86"/>
                </a:solidFill>
                <a:latin typeface="Arial"/>
              </a:rPr>
              <a:t>Transversal analítico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567159" y="26974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1F2433"/>
                </a:solidFill>
                <a:latin typeface="Arial"/>
              </a:rPr>
              <a:t>8 itens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67159" y="31089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comparativos e desfechos objetivos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676120" y="2286000"/>
            <a:ext cx="3108960" cy="13258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4859000" y="234086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8A6D1F"/>
                </a:solidFill>
                <a:latin typeface="Arial"/>
              </a:rPr>
              <a:t>Coorte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859000" y="26974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1F2433"/>
                </a:solidFill>
                <a:latin typeface="Arial"/>
              </a:rPr>
              <a:t>11 itens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859000" y="31089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3 coortes prospectivas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2440" y="3749039"/>
            <a:ext cx="96926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500" b="1" i="0">
                <a:solidFill>
                  <a:srgbClr val="002060"/>
                </a:solidFill>
                <a:latin typeface="Arial"/>
              </a:rPr>
              <a:t>Julgamento global: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qualitativo, pelos domínios críticos (amostragem, tamanho amostral, validade da mensuração, taxa de resposta), não por corte percentual; “não” pesou mais que “incerto”; pontuações não combinadas entre instrumentos. Todos os estudos foram mantidos e a classificação alimentou o GRADE.</a:t>
            </a:r>
          </a:p>
        </p:txBody>
      </p:sp>
      <p:pic>
        <p:nvPicPr>
          <p:cNvPr id="43" name="Figura E1 JBI" descr="figE1_jbi_prev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9406" y="4663440"/>
            <a:ext cx="7618706" cy="34747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92440" y="8211312"/>
            <a:ext cx="96926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400" b="1" i="0">
                <a:solidFill>
                  <a:srgbClr val="1F2433"/>
                </a:solidFill>
                <a:latin typeface="Arial"/>
              </a:rPr>
              <a:t>Figura E1. </a:t>
            </a:r>
            <a:r>
              <a:rPr sz="1400" b="0" i="0">
                <a:solidFill>
                  <a:srgbClr val="1F2433"/>
                </a:solidFill>
                <a:latin typeface="Arial"/>
              </a:rPr>
              <a:t>Sete estudos das metanálises. </a:t>
            </a:r>
            <a:r>
              <a:rPr sz="1400" b="1" i="0">
                <a:solidFill>
                  <a:srgbClr val="2E7D32"/>
                </a:solidFill>
                <a:latin typeface="Arial"/>
              </a:rPr>
              <a:t>+ sim  </a:t>
            </a:r>
            <a:r>
              <a:rPr sz="1400" b="1" i="0">
                <a:solidFill>
                  <a:srgbClr val="E08A1E"/>
                </a:solidFill>
                <a:latin typeface="Arial"/>
              </a:rPr>
              <a:t>? incerto  </a:t>
            </a:r>
            <a:r>
              <a:rPr sz="1400" b="1" i="0">
                <a:solidFill>
                  <a:srgbClr val="8B0000"/>
                </a:solidFill>
                <a:latin typeface="Arial"/>
              </a:rPr>
              <a:t>− não.  </a:t>
            </a:r>
            <a:r>
              <a:rPr sz="1400" b="0" i="0">
                <a:solidFill>
                  <a:srgbClr val="1F2433"/>
                </a:solidFill>
                <a:latin typeface="Arial"/>
              </a:rPr>
              <a:t>Preocupação global: moderada ou alta em todos; nenhum com preocupação baixa.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Itens: </a:t>
            </a:r>
            <a:r>
              <a:rPr sz="1400" b="0" i="0">
                <a:solidFill>
                  <a:srgbClr val="1F2433"/>
                </a:solidFill>
                <a:latin typeface="Arial"/>
              </a:rPr>
              <a:t>1 marco amostral · 2 amostragem · 3 tamanho amostral · 4 sujeitos e cenário · 5 cobertura · 6 validade do desfecho · 7 padronização · 8 análise · 9 taxa de resposta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METODOLOGIA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Passo 6 · Metanálise de prevalência explicada: de 7 proporções a uma estimativa combinada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10097" y="9454896"/>
            <a:ext cx="14107885" cy="0"/>
          </a:xfrm>
          <a:prstGeom prst="line">
            <a:avLst/>
          </a:prstGeom>
          <a:ln w="31750">
            <a:solidFill>
              <a:srgbClr val="C9CFDA"/>
            </a:solidFill>
          </a:ln>
        </p:spPr>
      </p:cxnSp>
      <p:sp>
        <p:nvSpPr>
          <p:cNvPr id="8" name="Oval 7"/>
          <p:cNvSpPr/>
          <p:nvPr/>
        </p:nvSpPr>
        <p:spPr>
          <a:xfrm>
            <a:off x="2245505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39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Pergunta e protocolo</a:t>
            </a:r>
          </a:p>
        </p:txBody>
      </p:sp>
      <p:sp>
        <p:nvSpPr>
          <p:cNvPr id="10" name="Oval 9"/>
          <p:cNvSpPr/>
          <p:nvPr/>
        </p:nvSpPr>
        <p:spPr>
          <a:xfrm>
            <a:off x="4596819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5754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Busca</a:t>
            </a:r>
          </a:p>
        </p:txBody>
      </p:sp>
      <p:sp>
        <p:nvSpPr>
          <p:cNvPr id="12" name="Oval 11"/>
          <p:cNvSpPr/>
          <p:nvPr/>
        </p:nvSpPr>
        <p:spPr>
          <a:xfrm>
            <a:off x="6948133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7068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Seleção</a:t>
            </a:r>
          </a:p>
        </p:txBody>
      </p:sp>
      <p:sp>
        <p:nvSpPr>
          <p:cNvPr id="14" name="Oval 13"/>
          <p:cNvSpPr/>
          <p:nvPr/>
        </p:nvSpPr>
        <p:spPr>
          <a:xfrm>
            <a:off x="9299447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8382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Extração</a:t>
            </a:r>
          </a:p>
        </p:txBody>
      </p:sp>
      <p:sp>
        <p:nvSpPr>
          <p:cNvPr id="16" name="Oval 15"/>
          <p:cNvSpPr/>
          <p:nvPr/>
        </p:nvSpPr>
        <p:spPr>
          <a:xfrm>
            <a:off x="11650762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39697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Risco de viés</a:t>
            </a:r>
          </a:p>
        </p:txBody>
      </p:sp>
      <p:sp>
        <p:nvSpPr>
          <p:cNvPr id="18" name="Oval 17"/>
          <p:cNvSpPr/>
          <p:nvPr/>
        </p:nvSpPr>
        <p:spPr>
          <a:xfrm>
            <a:off x="13965500" y="9253728"/>
            <a:ext cx="402336" cy="402336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91011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Síntese</a:t>
            </a:r>
          </a:p>
        </p:txBody>
      </p:sp>
      <p:sp>
        <p:nvSpPr>
          <p:cNvPr id="20" name="Oval 19"/>
          <p:cNvSpPr/>
          <p:nvPr/>
        </p:nvSpPr>
        <p:spPr>
          <a:xfrm>
            <a:off x="16353390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42325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Certeza (GRADE)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1783080"/>
            <a:ext cx="3108960" cy="43434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1325880" y="1874520"/>
            <a:ext cx="548640" cy="54864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1874519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Proporção de cada estudo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25880" y="2606040"/>
            <a:ext cx="27432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CFDA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371600" y="260604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8B0000"/>
                </a:solidFill>
                <a:latin typeface="Arial"/>
              </a:rPr>
              <a:t>p = eventos ÷ 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291840"/>
            <a:ext cx="2743200" cy="278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Ex.: 33/81 = 40,7%.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IC95% de cada estudo pelo método de Wilson.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270248" y="3931920"/>
            <a:ext cx="237744" cy="0"/>
          </a:xfrm>
          <a:prstGeom prst="line">
            <a:avLst/>
          </a:prstGeom>
          <a:ln w="31750">
            <a:solidFill>
              <a:srgbClr val="002060"/>
            </a:solidFill>
            <a:tailEnd type="triangle" w="med" len="med"/>
          </a:ln>
        </p:spPr>
      </p:cxnSp>
      <p:sp>
        <p:nvSpPr>
          <p:cNvPr id="29" name="Rounded Rectangle 28"/>
          <p:cNvSpPr/>
          <p:nvPr/>
        </p:nvSpPr>
        <p:spPr>
          <a:xfrm>
            <a:off x="4526279" y="1783080"/>
            <a:ext cx="3108960" cy="43434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4709159" y="1874520"/>
            <a:ext cx="548640" cy="54864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59" y="1874519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Transformação logito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9159" y="2606040"/>
            <a:ext cx="27432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CFDA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754879" y="260604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8B0000"/>
                </a:solidFill>
                <a:latin typeface="Arial"/>
              </a:rPr>
              <a:t>ln[ p ÷ (1 − p) 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9159" y="3291840"/>
            <a:ext cx="2743200" cy="278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Leva a proporção (0 a 1) para a escala −∞ a +∞.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Aproxima da normal e mantém estimativa e IC entre 0 e 100%.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Sem 0% ou 100% → sem correção de continuidade.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653527" y="3931920"/>
            <a:ext cx="237744" cy="0"/>
          </a:xfrm>
          <a:prstGeom prst="line">
            <a:avLst/>
          </a:prstGeom>
          <a:ln w="31750">
            <a:solidFill>
              <a:srgbClr val="002060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7909559" y="1783080"/>
            <a:ext cx="3108960" cy="43434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8092439" y="1874520"/>
            <a:ext cx="548640" cy="54864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39" y="1874519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Modelo de efeitos aleatórios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92439" y="2606040"/>
            <a:ext cx="27432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CFDA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138159" y="260604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8B0000"/>
                </a:solidFill>
                <a:latin typeface="Arial"/>
              </a:rPr>
              <a:t>τ² por Paule-Mandel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2439" y="3291840"/>
            <a:ext cx="2743200" cy="278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A prevalência verdadeira varia entre estudos.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τ² = variância entre estudos; peso = 1 ÷ (variância + τ²).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Paule-Mandel: mais estável que DerSimonian-Laird com poucos estudos.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1036807" y="3931920"/>
            <a:ext cx="237744" cy="0"/>
          </a:xfrm>
          <a:prstGeom prst="line">
            <a:avLst/>
          </a:prstGeom>
          <a:ln w="31750">
            <a:solidFill>
              <a:srgbClr val="002060"/>
            </a:solidFill>
            <a:tailEnd type="triangle" w="med" len="med"/>
          </a:ln>
        </p:spPr>
      </p:cxnSp>
      <p:sp>
        <p:nvSpPr>
          <p:cNvPr id="43" name="Rounded Rectangle 42"/>
          <p:cNvSpPr/>
          <p:nvPr/>
        </p:nvSpPr>
        <p:spPr>
          <a:xfrm>
            <a:off x="11292840" y="1783080"/>
            <a:ext cx="3108960" cy="43434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11475719" y="1874520"/>
            <a:ext cx="548640" cy="54864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161519" y="1874519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Ajuste de Hartung-Knapp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75719" y="2606040"/>
            <a:ext cx="27432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CFDA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11521440" y="260604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8B0000"/>
                </a:solidFill>
                <a:latin typeface="Arial"/>
              </a:rPr>
              <a:t>IC pela distribuição 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19" y="3291840"/>
            <a:ext cx="2743200" cy="278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Usa t com k − 1 graus de liberdade.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IC mais honesto (em geral mais largo) com poucos estudos e alta heterogeneidade (IntHout et al., 2014).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4420088" y="3931920"/>
            <a:ext cx="237744" cy="0"/>
          </a:xfrm>
          <a:prstGeom prst="line">
            <a:avLst/>
          </a:prstGeom>
          <a:ln w="31750">
            <a:solidFill>
              <a:srgbClr val="002060"/>
            </a:solidFill>
            <a:tailEnd type="triangle" w="med" len="med"/>
          </a:ln>
        </p:spPr>
      </p:cxnSp>
      <p:sp>
        <p:nvSpPr>
          <p:cNvPr id="50" name="Rounded Rectangle 49"/>
          <p:cNvSpPr/>
          <p:nvPr/>
        </p:nvSpPr>
        <p:spPr>
          <a:xfrm>
            <a:off x="14676119" y="1783080"/>
            <a:ext cx="3108960" cy="43434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14858999" y="1874520"/>
            <a:ext cx="548640" cy="54864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544799" y="1874519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Voltar para % e interpretar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858999" y="2606040"/>
            <a:ext cx="27432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CFDA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4904719" y="260604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8B0000"/>
                </a:solidFill>
                <a:latin typeface="Arial"/>
              </a:rPr>
              <a:t>I²  +  intervalo de predição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858999" y="3291840"/>
            <a:ext cx="2743200" cy="278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Retrotransformação para porcentagem.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I² = % da variação devida à heterogeneidade.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Intervalo de predição: faixa esperada para um novo estudo; instável com k &lt; 10.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6309360"/>
            <a:ext cx="16642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Verificando a robustez </a:t>
            </a:r>
            <a:r>
              <a:rPr sz="1800" b="0" i="0">
                <a:solidFill>
                  <a:srgbClr val="5A6270"/>
                </a:solidFill>
                <a:latin typeface="Arial"/>
              </a:rPr>
              <a:t>(análises de sensibilidade, influência e subgrupo)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3000" y="6720840"/>
            <a:ext cx="2651760" cy="1051560"/>
          </a:xfrm>
          <a:prstGeom prst="roundRect">
            <a:avLst>
              <a:gd name="adj" fmla="val 6000"/>
            </a:avLst>
          </a:prstGeom>
          <a:solidFill>
            <a:srgbClr val="E3F3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280160" y="67665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E7C86"/>
                </a:solidFill>
                <a:latin typeface="Arial"/>
              </a:rPr>
              <a:t>Freeman-Tukey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80160" y="71323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F2433"/>
                </a:solidFill>
                <a:latin typeface="Arial"/>
              </a:rPr>
              <a:t>duplo-arcoseno (DerSimonian-Laird)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41064" y="6720840"/>
            <a:ext cx="2651760" cy="1051560"/>
          </a:xfrm>
          <a:prstGeom prst="roundRect">
            <a:avLst>
              <a:gd name="adj" fmla="val 6000"/>
            </a:avLst>
          </a:prstGeom>
          <a:solidFill>
            <a:srgbClr val="E3F3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4078224" y="67665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E7C86"/>
                </a:solidFill>
                <a:latin typeface="Arial"/>
              </a:rPr>
              <a:t>GLMM logístico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078224" y="71323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F2433"/>
                </a:solidFill>
                <a:latin typeface="Arial"/>
              </a:rPr>
              <a:t>intercepto aleatório por estudo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739128" y="6720840"/>
            <a:ext cx="2651760" cy="1051560"/>
          </a:xfrm>
          <a:prstGeom prst="roundRect">
            <a:avLst>
              <a:gd name="adj" fmla="val 6000"/>
            </a:avLst>
          </a:prstGeom>
          <a:solidFill>
            <a:srgbClr val="E3F3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876288" y="67665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E7C86"/>
                </a:solidFill>
                <a:latin typeface="Arial"/>
              </a:rPr>
              <a:t>Leave-one-out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76288" y="71323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F2433"/>
                </a:solidFill>
                <a:latin typeface="Arial"/>
              </a:rPr>
              <a:t>retira 1 estudo por vez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537192" y="6720840"/>
            <a:ext cx="2651760" cy="1051560"/>
          </a:xfrm>
          <a:prstGeom prst="roundRect">
            <a:avLst>
              <a:gd name="adj" fmla="val 6000"/>
            </a:avLst>
          </a:prstGeom>
          <a:solidFill>
            <a:srgbClr val="E3F3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674352" y="67665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E7C86"/>
                </a:solidFill>
                <a:latin typeface="Arial"/>
              </a:rPr>
              <a:t>Gráfico de Baujat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74352" y="71323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F2433"/>
                </a:solidFill>
                <a:latin typeface="Arial"/>
              </a:rPr>
              <a:t>quem puxa a heterogeneidade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2335256" y="6720840"/>
            <a:ext cx="2651760" cy="1051560"/>
          </a:xfrm>
          <a:prstGeom prst="roundRect">
            <a:avLst>
              <a:gd name="adj" fmla="val 6000"/>
            </a:avLst>
          </a:prstGeom>
          <a:solidFill>
            <a:srgbClr val="E3F3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12472416" y="67665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E7C86"/>
                </a:solidFill>
                <a:latin typeface="Arial"/>
              </a:rPr>
              <a:t>Subgrupo por país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2472416" y="71323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F2433"/>
                </a:solidFill>
                <a:latin typeface="Arial"/>
              </a:rPr>
              <a:t>exploratório; teste Q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5133320" y="6720840"/>
            <a:ext cx="2651760" cy="1051560"/>
          </a:xfrm>
          <a:prstGeom prst="roundRect">
            <a:avLst>
              <a:gd name="adj" fmla="val 6000"/>
            </a:avLst>
          </a:prstGeom>
          <a:solidFill>
            <a:srgbClr val="E3F3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15270480" y="67665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E7C86"/>
                </a:solidFill>
                <a:latin typeface="Arial"/>
              </a:rPr>
              <a:t>Sensibilidade extra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270480" y="71323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F2433"/>
                </a:solidFill>
                <a:latin typeface="Arial"/>
              </a:rPr>
              <a:t>sem resumo de congresso; definições específicas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143000" y="7955279"/>
            <a:ext cx="16642080" cy="1051560"/>
          </a:xfrm>
          <a:prstGeom prst="roundRect">
            <a:avLst>
              <a:gd name="adj" fmla="val 6000"/>
            </a:avLst>
          </a:prstGeom>
          <a:solidFill>
            <a:srgbClr val="FBF5E3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76" name="icone question" descr="question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8211312"/>
            <a:ext cx="548640" cy="54864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2103120" y="8001000"/>
            <a:ext cx="1563624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Sem gráfico de funil nem teste de Egger: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em proporções o erro-padrão depende da própria proporção (assimetria espúria) e os testes exigem ≥ 10 estudos; viés de relato apreciado qualitativamente. </a:t>
            </a:r>
            <a:r>
              <a:rPr sz="1600" b="1" i="0">
                <a:solidFill>
                  <a:srgbClr val="1F2433"/>
                </a:solidFill>
                <a:latin typeface="Arial"/>
              </a:rPr>
              <a:t>Sem metarregressão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(poucos estudos por covariável). </a:t>
            </a:r>
            <a:r>
              <a:rPr sz="1600" b="1" i="0">
                <a:solidFill>
                  <a:srgbClr val="1F2433"/>
                </a:solidFill>
                <a:latin typeface="Arial"/>
              </a:rPr>
              <a:t>Riscos relativos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na escala log pelo método de Wald.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METODOLOGIA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Passo 7 · Certeza da evidência: GRADE adaptado a desfechos de prevalência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10097" y="9454896"/>
            <a:ext cx="14107885" cy="0"/>
          </a:xfrm>
          <a:prstGeom prst="line">
            <a:avLst/>
          </a:prstGeom>
          <a:ln w="31750">
            <a:solidFill>
              <a:srgbClr val="C9CFDA"/>
            </a:solidFill>
          </a:ln>
        </p:spPr>
      </p:cxnSp>
      <p:sp>
        <p:nvSpPr>
          <p:cNvPr id="8" name="Oval 7"/>
          <p:cNvSpPr/>
          <p:nvPr/>
        </p:nvSpPr>
        <p:spPr>
          <a:xfrm>
            <a:off x="2245505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39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Pergunta e protocolo</a:t>
            </a:r>
          </a:p>
        </p:txBody>
      </p:sp>
      <p:sp>
        <p:nvSpPr>
          <p:cNvPr id="10" name="Oval 9"/>
          <p:cNvSpPr/>
          <p:nvPr/>
        </p:nvSpPr>
        <p:spPr>
          <a:xfrm>
            <a:off x="4596819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5754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Busca</a:t>
            </a:r>
          </a:p>
        </p:txBody>
      </p:sp>
      <p:sp>
        <p:nvSpPr>
          <p:cNvPr id="12" name="Oval 11"/>
          <p:cNvSpPr/>
          <p:nvPr/>
        </p:nvSpPr>
        <p:spPr>
          <a:xfrm>
            <a:off x="6948133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7068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Seleção</a:t>
            </a:r>
          </a:p>
        </p:txBody>
      </p:sp>
      <p:sp>
        <p:nvSpPr>
          <p:cNvPr id="14" name="Oval 13"/>
          <p:cNvSpPr/>
          <p:nvPr/>
        </p:nvSpPr>
        <p:spPr>
          <a:xfrm>
            <a:off x="9299447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8382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Extração</a:t>
            </a:r>
          </a:p>
        </p:txBody>
      </p:sp>
      <p:sp>
        <p:nvSpPr>
          <p:cNvPr id="16" name="Oval 15"/>
          <p:cNvSpPr/>
          <p:nvPr/>
        </p:nvSpPr>
        <p:spPr>
          <a:xfrm>
            <a:off x="11650762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39697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Risco de viés</a:t>
            </a:r>
          </a:p>
        </p:txBody>
      </p:sp>
      <p:sp>
        <p:nvSpPr>
          <p:cNvPr id="18" name="Oval 17"/>
          <p:cNvSpPr/>
          <p:nvPr/>
        </p:nvSpPr>
        <p:spPr>
          <a:xfrm>
            <a:off x="14002076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91011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Síntese</a:t>
            </a:r>
          </a:p>
        </p:txBody>
      </p:sp>
      <p:sp>
        <p:nvSpPr>
          <p:cNvPr id="20" name="Oval 19"/>
          <p:cNvSpPr/>
          <p:nvPr/>
        </p:nvSpPr>
        <p:spPr>
          <a:xfrm>
            <a:off x="16316814" y="9253728"/>
            <a:ext cx="402336" cy="402336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42325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Certeza (GRADE)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1783080"/>
            <a:ext cx="3108960" cy="31546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1371600" y="201168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4" name="icone balance" descr="balanc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2194560"/>
            <a:ext cx="365760" cy="365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31720" y="2011680"/>
            <a:ext cx="169164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Risco de viés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2880360"/>
            <a:ext cx="2651760" cy="18745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Do JBI: amostragem não probabilística, taxa de resposta não relatada, desfecho autorrelatado; nos objetivos, sem ajuste para confundidores.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26279" y="1783080"/>
            <a:ext cx="3108960" cy="31546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4754879" y="201168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9" name="icone spiral" descr="spiral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59" y="2194560"/>
            <a:ext cx="365760" cy="365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714999" y="2011680"/>
            <a:ext cx="169164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Inconsistência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79" y="2880360"/>
            <a:ext cx="2651760" cy="18745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I² acima de 90%, prevalências de 19% a 56% e intervalo de predição amplo → muito grave na prevalência.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09559" y="1783080"/>
            <a:ext cx="3108960" cy="31546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138159" y="201168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34" name="icone compass" descr="compas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0" y="2194560"/>
            <a:ext cx="365760" cy="3657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098280" y="2011680"/>
            <a:ext cx="16916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Evidência indireta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59" y="2880360"/>
            <a:ext cx="2651760" cy="18745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Não rebaixada na prevalência: o sintoma autorrelatado é o próprio desfecho. Rebaixada nos biomarcadores: coexposições e desfechos substitutos.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292840" y="1783080"/>
            <a:ext cx="3108960" cy="31546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11521440" y="201168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39" name="icone target" descr="targe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04320" y="2194560"/>
            <a:ext cx="365760" cy="36576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481560" y="2011680"/>
            <a:ext cx="16916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Imprecisão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521440" y="2880360"/>
            <a:ext cx="2651760" cy="18745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IC95% amplo (ex.: 21,9–56,5) ou ausente no estudo original; poucos eventos nos desfechos objetivos.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676119" y="1783080"/>
            <a:ext cx="3108960" cy="31546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14904719" y="201168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44" name="icone search" descr="search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87599" y="2194560"/>
            <a:ext cx="365760" cy="36576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5864839" y="2011680"/>
            <a:ext cx="16916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Viés de publicação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904719" y="2880360"/>
            <a:ext cx="2651760" cy="18745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Apreciação qualitativa: busca ampla, mas poucos estudos pequenos e 6 relatórios não recuperados → não excluível, sem base formal para rebaixar.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43000" y="5166360"/>
            <a:ext cx="9692640" cy="3840480"/>
          </a:xfrm>
          <a:prstGeom prst="roundRect">
            <a:avLst>
              <a:gd name="adj" fmla="val 6000"/>
            </a:avLst>
          </a:prstGeom>
          <a:solidFill>
            <a:srgbClr val="E6EBF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417320" y="5257800"/>
            <a:ext cx="9144000" cy="3657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Como a certeza foi graduada</a:t>
            </a:r>
          </a:p>
          <a:p>
            <a:pPr algn="l" marL="274320" indent="-274320">
              <a:lnSpc>
                <a:spcPct val="100000"/>
              </a:lnSpc>
              <a:spcAft>
                <a:spcPts val="700"/>
              </a:spcAft>
              <a:buClr>
                <a:srgbClr val="002060"/>
              </a:buClr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Ponto de partida: certeza BAIXA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para evidência observacional (decisão metodológica dos autores; parte da literatura sugere iniciar em alta para prevalência, Murad et al., 2017).</a:t>
            </a:r>
          </a:p>
          <a:p>
            <a:pPr algn="l" marL="274320" indent="-274320">
              <a:lnSpc>
                <a:spcPct val="100000"/>
              </a:lnSpc>
              <a:spcAft>
                <a:spcPts val="700"/>
              </a:spcAft>
              <a:buClr>
                <a:srgbClr val="002060"/>
              </a:buClr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Regra: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um domínio grave já leva a MUITO BAIXA; a certeza final não muda com o ponto de partida alternativo.</a:t>
            </a:r>
          </a:p>
          <a:p>
            <a:pPr algn="l" marL="274320" indent="-274320">
              <a:lnSpc>
                <a:spcPct val="100000"/>
              </a:lnSpc>
              <a:spcAft>
                <a:spcPts val="700"/>
              </a:spcAft>
              <a:buClr>
                <a:srgbClr val="002060"/>
              </a:buClr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Sem dupla contagem: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o intervalo de predição entrou em inconsistência; a amplitude do IC95%, em imprecisão.</a:t>
            </a:r>
          </a:p>
          <a:p>
            <a:pPr algn="l" marL="274320" indent="-274320">
              <a:lnSpc>
                <a:spcPct val="100000"/>
              </a:lnSpc>
              <a:spcAft>
                <a:spcPts val="700"/>
              </a:spcAft>
              <a:buClr>
                <a:srgbClr val="002060"/>
              </a:buClr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Desfechos com um único estudo: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inconsistência não aplicável; viés de publicação não avaliável.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70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●●●● alta   ●●●○ moderada   ●●○○ baixa   ●○○○ muito baixa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109960" y="5166360"/>
            <a:ext cx="6675120" cy="3840480"/>
          </a:xfrm>
          <a:prstGeom prst="roundRect">
            <a:avLst>
              <a:gd name="adj" fmla="val 6000"/>
            </a:avLst>
          </a:prstGeom>
          <a:solidFill>
            <a:srgbClr val="FBF5E3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50" name="icone clipboard" descr="clipboard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38560" y="5303520"/>
            <a:ext cx="457200" cy="4572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932920" y="525780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Decisões posteriores ao registro (transparência)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38560" y="5852160"/>
            <a:ext cx="6263640" cy="3108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C8A951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Ocular como desfecho principal; respiratório exploratório (maior variação na definição);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C8A951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Modelo principal: logito com efeitos aleatórios e Hartung-Knapp;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C8A951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1 publicação por desfecho no cluster com sobreposição; análises por país e de influência exploratórias;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C8A951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Resumos de congresso com dados suficientes admitidos (preocupação alta);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C8A951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Durante a análise: regra do sintoma-índice e sensibilidade por definição específica, independentes dos resultados.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RESULTADOS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Seleção (PRISMA 2020) e características dos 22 relatórios incluídos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1783080"/>
            <a:ext cx="4572000" cy="105156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286000" y="1828800"/>
            <a:ext cx="4206240" cy="9601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1" i="0">
                <a:solidFill>
                  <a:srgbClr val="1F2433"/>
                </a:solidFill>
                <a:latin typeface="Arial"/>
              </a:rPr>
              <a:t>Registros identificados (n = 16.757)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Bases eletrônicas: 16.707 · Cinzenta: 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1783080"/>
            <a:ext cx="2697480" cy="1051560"/>
          </a:xfrm>
          <a:prstGeom prst="roundRect">
            <a:avLst>
              <a:gd name="adj" fmla="val 8000"/>
            </a:avLst>
          </a:prstGeom>
          <a:solidFill>
            <a:srgbClr val="FBF5E3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086600" y="1828800"/>
            <a:ext cx="2423160" cy="9601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1F2433"/>
                </a:solidFill>
                <a:latin typeface="Arial"/>
              </a:rPr>
              <a:t>Busca por citação (OpenAlex)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F2433"/>
                </a:solidFill>
                <a:latin typeface="Arial"/>
              </a:rPr>
              <a:t>443 referências avaliadas → 4 relatórios para texto completo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6693407" y="2308860"/>
            <a:ext cx="256033" cy="0"/>
          </a:xfrm>
          <a:prstGeom prst="line">
            <a:avLst/>
          </a:prstGeom>
          <a:ln w="25400">
            <a:solidFill>
              <a:srgbClr val="8A6D1F"/>
            </a:solidFill>
            <a:tailEnd type="triangle" w="med" len="med"/>
          </a:ln>
        </p:spPr>
      </p:cxnSp>
      <p:cxnSp>
        <p:nvCxnSpPr>
          <p:cNvPr id="12" name="Connector 11"/>
          <p:cNvCxnSpPr/>
          <p:nvPr/>
        </p:nvCxnSpPr>
        <p:spPr>
          <a:xfrm>
            <a:off x="4389120" y="2834639"/>
            <a:ext cx="0" cy="210313"/>
          </a:xfrm>
          <a:prstGeom prst="line">
            <a:avLst/>
          </a:prstGeom>
          <a:ln w="25400">
            <a:solidFill>
              <a:srgbClr val="002060"/>
            </a:solidFill>
            <a:tailEnd type="triangle" w="med" len="med"/>
          </a:ln>
        </p:spPr>
      </p:cxnSp>
      <p:sp>
        <p:nvSpPr>
          <p:cNvPr id="13" name="Rounded Rectangle 12"/>
          <p:cNvSpPr/>
          <p:nvPr/>
        </p:nvSpPr>
        <p:spPr>
          <a:xfrm>
            <a:off x="2103120" y="3063240"/>
            <a:ext cx="4572000" cy="86868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286000" y="3108960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Importados: 16.749 (8 não exportados)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1" i="0">
                <a:solidFill>
                  <a:srgbClr val="1F2433"/>
                </a:solidFill>
                <a:latin typeface="Arial"/>
              </a:rPr>
              <a:t>Duplicatas removidas: 5.839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389120" y="3931920"/>
            <a:ext cx="0" cy="210312"/>
          </a:xfrm>
          <a:prstGeom prst="line">
            <a:avLst/>
          </a:prstGeom>
          <a:ln w="25400">
            <a:solidFill>
              <a:srgbClr val="002060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2103120" y="4160520"/>
            <a:ext cx="4572000" cy="86868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286000" y="4206240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1" i="0">
                <a:solidFill>
                  <a:srgbClr val="1F2433"/>
                </a:solidFill>
                <a:latin typeface="Arial"/>
              </a:rPr>
              <a:t>Triados por título e resumo (n = 10.910)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revisor único; IA como apoio operacional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4160520"/>
            <a:ext cx="2697480" cy="86868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086600" y="4206240"/>
            <a:ext cx="24231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1F2433"/>
                </a:solidFill>
                <a:latin typeface="Arial"/>
              </a:rPr>
              <a:t>Excluídos na triagem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F2433"/>
                </a:solidFill>
                <a:latin typeface="Arial"/>
              </a:rPr>
              <a:t>n = 10.882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75120" y="4594859"/>
            <a:ext cx="256032" cy="0"/>
          </a:xfrm>
          <a:prstGeom prst="line">
            <a:avLst/>
          </a:prstGeom>
          <a:ln w="25400">
            <a:solidFill>
              <a:srgbClr val="002060"/>
            </a:solidFill>
            <a:tailEnd type="triangle" w="med" len="med"/>
          </a:ln>
        </p:spPr>
      </p:cxnSp>
      <p:cxnSp>
        <p:nvCxnSpPr>
          <p:cNvPr id="21" name="Connector 20"/>
          <p:cNvCxnSpPr/>
          <p:nvPr/>
        </p:nvCxnSpPr>
        <p:spPr>
          <a:xfrm>
            <a:off x="4389120" y="5029200"/>
            <a:ext cx="0" cy="210312"/>
          </a:xfrm>
          <a:prstGeom prst="line">
            <a:avLst/>
          </a:prstGeom>
          <a:ln w="25400">
            <a:solidFill>
              <a:srgbClr val="002060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2103120" y="5257800"/>
            <a:ext cx="4572000" cy="86868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286000" y="5303520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1" i="0">
                <a:solidFill>
                  <a:srgbClr val="1F2433"/>
                </a:solidFill>
                <a:latin typeface="Arial"/>
              </a:rPr>
              <a:t>Buscados para texto completo (n = 32)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28 da triagem + 4 por citação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0" y="5257800"/>
            <a:ext cx="2697480" cy="86868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086600" y="5303520"/>
            <a:ext cx="24231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1F2433"/>
                </a:solidFill>
                <a:latin typeface="Arial"/>
              </a:rPr>
              <a:t>Não recuperados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F2433"/>
                </a:solidFill>
                <a:latin typeface="Arial"/>
              </a:rPr>
              <a:t>n = 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675120" y="5692140"/>
            <a:ext cx="256032" cy="0"/>
          </a:xfrm>
          <a:prstGeom prst="line">
            <a:avLst/>
          </a:prstGeom>
          <a:ln w="25400">
            <a:solidFill>
              <a:srgbClr val="002060"/>
            </a:solidFill>
            <a:tailEnd type="triangle" w="med" len="med"/>
          </a:ln>
        </p:spPr>
      </p:cxnSp>
      <p:cxnSp>
        <p:nvCxnSpPr>
          <p:cNvPr id="27" name="Connector 26"/>
          <p:cNvCxnSpPr/>
          <p:nvPr/>
        </p:nvCxnSpPr>
        <p:spPr>
          <a:xfrm>
            <a:off x="4389120" y="6126480"/>
            <a:ext cx="0" cy="210312"/>
          </a:xfrm>
          <a:prstGeom prst="line">
            <a:avLst/>
          </a:prstGeom>
          <a:ln w="25400">
            <a:solidFill>
              <a:srgbClr val="002060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2103120" y="6355080"/>
            <a:ext cx="4572000" cy="86868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286000" y="6400800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1" i="0">
                <a:solidFill>
                  <a:srgbClr val="1F2433"/>
                </a:solidFill>
                <a:latin typeface="Arial"/>
              </a:rPr>
              <a:t>Avaliados para elegibilidade (n = 26)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0" y="6355080"/>
            <a:ext cx="2697480" cy="86868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086600" y="6400800"/>
            <a:ext cx="24231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1F2433"/>
                </a:solidFill>
                <a:latin typeface="Arial"/>
              </a:rPr>
              <a:t>Excluídos na íntegra (n = 4)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F2433"/>
                </a:solidFill>
                <a:latin typeface="Arial"/>
              </a:rPr>
              <a:t>1 resumo sem dados; 3 população ou contexto inelegível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675120" y="6789420"/>
            <a:ext cx="256032" cy="0"/>
          </a:xfrm>
          <a:prstGeom prst="line">
            <a:avLst/>
          </a:prstGeom>
          <a:ln w="25400">
            <a:solidFill>
              <a:srgbClr val="002060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>
            <a:off x="4389120" y="7223760"/>
            <a:ext cx="0" cy="210312"/>
          </a:xfrm>
          <a:prstGeom prst="line">
            <a:avLst/>
          </a:prstGeom>
          <a:ln w="25400">
            <a:solidFill>
              <a:srgbClr val="002060"/>
            </a:solidFill>
            <a:tailEnd type="triangle" w="med" len="med"/>
          </a:ln>
        </p:spPr>
      </p:cxnSp>
      <p:sp>
        <p:nvSpPr>
          <p:cNvPr id="34" name="Rounded Rectangle 33"/>
          <p:cNvSpPr/>
          <p:nvPr/>
        </p:nvSpPr>
        <p:spPr>
          <a:xfrm>
            <a:off x="2103120" y="7452360"/>
            <a:ext cx="4572000" cy="1463040"/>
          </a:xfrm>
          <a:prstGeom prst="roundRect">
            <a:avLst>
              <a:gd name="adj" fmla="val 8000"/>
            </a:avLst>
          </a:prstGeom>
          <a:solidFill>
            <a:srgbClr val="E7F3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2286000" y="7498080"/>
            <a:ext cx="4206240" cy="1371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700" b="1" i="0">
                <a:solidFill>
                  <a:srgbClr val="2E7D32"/>
                </a:solidFill>
                <a:latin typeface="Arial"/>
              </a:rPr>
              <a:t>Relatórios incluídos (n = 22)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Metanálise de prevalência: 6 (ocular) e 7 (respiratório) amostras independentes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Síntese narrativa + GRADE: desfechos objetivos e biomarcadores</a:t>
            </a:r>
          </a:p>
        </p:txBody>
      </p:sp>
      <p:sp>
        <p:nvSpPr>
          <p:cNvPr id="36" name="TextBox 35"/>
          <p:cNvSpPr txBox="1"/>
          <p:nvPr/>
        </p:nvSpPr>
        <p:spPr>
          <a:xfrm rot="16200000">
            <a:off x="548639" y="267462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002060"/>
                </a:solidFill>
                <a:latin typeface="Arial"/>
              </a:rPr>
              <a:t>Identificação</a:t>
            </a:r>
          </a:p>
        </p:txBody>
      </p:sp>
      <p:sp>
        <p:nvSpPr>
          <p:cNvPr id="37" name="TextBox 36"/>
          <p:cNvSpPr txBox="1"/>
          <p:nvPr/>
        </p:nvSpPr>
        <p:spPr>
          <a:xfrm rot="16200000">
            <a:off x="548639" y="496062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002060"/>
                </a:solidFill>
                <a:latin typeface="Arial"/>
              </a:rPr>
              <a:t>Triagem</a:t>
            </a:r>
          </a:p>
        </p:txBody>
      </p:sp>
      <p:sp>
        <p:nvSpPr>
          <p:cNvPr id="38" name="TextBox 37"/>
          <p:cNvSpPr txBox="1"/>
          <p:nvPr/>
        </p:nvSpPr>
        <p:spPr>
          <a:xfrm rot="16200000">
            <a:off x="548639" y="66065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002060"/>
                </a:solidFill>
                <a:latin typeface="Arial"/>
              </a:rPr>
              <a:t>Elegibilidade</a:t>
            </a:r>
          </a:p>
        </p:txBody>
      </p:sp>
      <p:sp>
        <p:nvSpPr>
          <p:cNvPr id="39" name="TextBox 38"/>
          <p:cNvSpPr txBox="1"/>
          <p:nvPr/>
        </p:nvSpPr>
        <p:spPr>
          <a:xfrm rot="16200000">
            <a:off x="548639" y="800100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002060"/>
                </a:solidFill>
                <a:latin typeface="Arial"/>
              </a:rPr>
              <a:t>Incluídos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03120" y="9006840"/>
            <a:ext cx="7543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A6270"/>
                </a:solidFill>
                <a:latin typeface="Arial"/>
              </a:rPr>
              <a:t>Fluxograma PRISMA 2020 (Figura 1 do manuscrito); não recuperados e excluídos listados no Anexo C.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21240" y="1783080"/>
            <a:ext cx="3794760" cy="16002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0104119" y="1892807"/>
            <a:ext cx="3429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sz="4400" b="1" i="0">
                <a:solidFill>
                  <a:srgbClr val="002060"/>
                </a:solidFill>
                <a:latin typeface="Arial"/>
              </a:rPr>
              <a:t>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119" y="2609596"/>
            <a:ext cx="3429000" cy="7188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5A6270"/>
                </a:solidFill>
                <a:latin typeface="Arial"/>
              </a:rPr>
              <a:t>relatórios de estudos observacionais incluídos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3990320" y="1783080"/>
            <a:ext cx="3794760" cy="16002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4173200" y="1892807"/>
            <a:ext cx="3429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sz="4400" b="1" i="0">
                <a:solidFill>
                  <a:srgbClr val="002060"/>
                </a:solidFill>
                <a:latin typeface="Arial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173200" y="2609596"/>
            <a:ext cx="3429000" cy="7188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países: Turquia, Malásia, Brasil, Paquistão, China, México, EUA, Sudão e Tailândia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21240" y="3657600"/>
            <a:ext cx="3794760" cy="16002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0104119" y="3767328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sz="3600" b="1" i="0">
                <a:solidFill>
                  <a:srgbClr val="002060"/>
                </a:solidFill>
                <a:latin typeface="Arial"/>
              </a:rPr>
              <a:t>19 + 3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04119" y="4357116"/>
            <a:ext cx="3429000" cy="8458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transversais + coortes prospectivas (Navarro 2016; Stanganelli 2019; Stanganelli Caus 2025)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3990320" y="3657600"/>
            <a:ext cx="3794760" cy="1600200"/>
          </a:xfrm>
          <a:prstGeom prst="roundRect">
            <a:avLst>
              <a:gd name="adj" fmla="val 6000"/>
            </a:avLst>
          </a:prstGeom>
          <a:solidFill>
            <a:srgbClr val="F9E9E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14173200" y="3767328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sz="3600" b="1" i="0">
                <a:solidFill>
                  <a:srgbClr val="8B0000"/>
                </a:solidFill>
                <a:latin typeface="Arial"/>
              </a:rPr>
              <a:t>6 | 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0" y="4357116"/>
            <a:ext cx="3429000" cy="8458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amostras independentes na metanálise ocular (n = 756) | respiratória (n = 1.428)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21240" y="5532120"/>
            <a:ext cx="7863840" cy="420624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10195560" y="580644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55" name="icone balance" descr="balanc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5989320"/>
            <a:ext cx="365760" cy="36576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1155680" y="5806440"/>
            <a:ext cx="635507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002060"/>
                </a:solidFill>
                <a:latin typeface="Arial"/>
              </a:rPr>
              <a:t>Risco de viés (JBI): resumo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95560" y="6675120"/>
            <a:ext cx="7315200" cy="2843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500" b="1" i="0">
                <a:solidFill>
                  <a:srgbClr val="1F2433"/>
                </a:solidFill>
                <a:latin typeface="Arial"/>
              </a:rPr>
              <a:t>Prevalência: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preocupação moderada a alta (amostragem não probabilística, tamanho amostral não justificado, taxa de resposta não informada, autorrelato). Só Mohd Fikri Rosely e Titi Rahmawati (2019) usaram amostragem aleatória estratificada.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500" b="1" i="0">
                <a:solidFill>
                  <a:srgbClr val="1F2433"/>
                </a:solidFill>
                <a:latin typeface="Arial"/>
              </a:rPr>
              <a:t>Resumo de congresso (2022):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alta preocupação por relato incompleto.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500" b="1" i="0">
                <a:solidFill>
                  <a:srgbClr val="1F2433"/>
                </a:solidFill>
                <a:latin typeface="Arial"/>
              </a:rPr>
              <a:t>Comparativos e desfechos objetivos: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preocupação moderada: exposição medida pela ocupação, sem estimativas ajustadas, confundidores pouco controlados.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500" b="1" i="0">
                <a:solidFill>
                  <a:srgbClr val="8B0000"/>
                </a:solidFill>
                <a:latin typeface="Arial"/>
              </a:rPr>
              <a:t>Nenhum estudo com preocupação baixa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→ análise restrita a baixo risco não foi factível.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RESULTADOS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Desfecho principal · Prevalência combinada de sintoma ocular (irritação ou lacrimejamento)</a:t>
            </a:r>
          </a:p>
        </p:txBody>
      </p:sp>
      <p:pic>
        <p:nvPicPr>
          <p:cNvPr id="7" name="Figura 2 forest plot ocular" descr="fig2_forest_ocul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1783080"/>
            <a:ext cx="11247120" cy="58021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76352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5A6270"/>
                </a:solidFill>
                <a:latin typeface="Arial"/>
              </a:rPr>
              <a:t>Figura 2. </a:t>
            </a:r>
            <a:r>
              <a:rPr sz="1400" b="0" i="0">
                <a:solidFill>
                  <a:srgbClr val="5A6270"/>
                </a:solidFill>
                <a:latin typeface="Arial"/>
              </a:rPr>
              <a:t>Modelo logito, Paule-Mandel e Hartung-Knapp. Quadrado = prevalência do estudo (tamanho ∝ peso); linha preta = IC95% de Wilson; losango = estimativa combinada; linha vermelha = intervalo de predição.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8183879"/>
            <a:ext cx="11247120" cy="1554480"/>
          </a:xfrm>
          <a:prstGeom prst="roundRect">
            <a:avLst>
              <a:gd name="adj" fmla="val 6000"/>
            </a:avLst>
          </a:prstGeom>
          <a:solidFill>
            <a:srgbClr val="E6EBF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417320" y="8247888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Como ler: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cerca de 4 em cada 10 profissionais relataram irritação ou lacrimejamento ocular; os estudos variam de 19% (Malásia) a 56% (Turquia), e um novo estudo poderia encontrar qualquer valor entre 7% e 83%. </a:t>
            </a:r>
            <a:r>
              <a:rPr sz="1600" b="0" i="0">
                <a:solidFill>
                  <a:srgbClr val="5A6270"/>
                </a:solidFill>
                <a:latin typeface="Arial"/>
              </a:rPr>
              <a:t>É a proporção que relatou o sintoma segundo a definição de cada estudo, não uma prevalência com recordatório homogêneo.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64440" y="1783080"/>
            <a:ext cx="5120640" cy="3657600"/>
          </a:xfrm>
          <a:prstGeom prst="roundRect">
            <a:avLst>
              <a:gd name="adj" fmla="val 6000"/>
            </a:avLst>
          </a:prstGeom>
          <a:solidFill>
            <a:srgbClr val="F9E9E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893040" y="1828800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sz="7200" b="1" i="0">
                <a:solidFill>
                  <a:srgbClr val="8B0000"/>
                </a:solidFill>
                <a:latin typeface="Arial"/>
              </a:rPr>
              <a:t>37,6%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93040" y="3035808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5A6270"/>
                </a:solidFill>
                <a:latin typeface="Arial"/>
              </a:rPr>
              <a:t>prevalência combinada de sintoma ocular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93040" y="3703320"/>
            <a:ext cx="4663440" cy="1691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1700" b="1" i="0">
                <a:solidFill>
                  <a:srgbClr val="1F2433"/>
                </a:solidFill>
                <a:latin typeface="Arial"/>
              </a:rPr>
              <a:t>IC95%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21,9 – 56,5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1700" b="1" i="0">
                <a:solidFill>
                  <a:srgbClr val="1F2433"/>
                </a:solidFill>
                <a:latin typeface="Arial"/>
              </a:rPr>
              <a:t>Intervalo de predição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7 – 83%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1700" b="1" i="0">
                <a:solidFill>
                  <a:srgbClr val="1F2433"/>
                </a:solidFill>
                <a:latin typeface="Arial"/>
              </a:rPr>
              <a:t>I² = 93% · k = 6 · n = 756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664440" y="5669280"/>
            <a:ext cx="5120640" cy="40690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938760" y="5943600"/>
            <a:ext cx="4571999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002060"/>
                </a:solidFill>
                <a:latin typeface="Arial"/>
              </a:rPr>
              <a:t>Características do agrupamento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38760" y="6446520"/>
            <a:ext cx="4572000" cy="3072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1F2433"/>
                </a:solidFill>
                <a:latin typeface="Arial"/>
              </a:rPr>
              <a:t>6 inquéritos transversais: Turquia (3), Malásia (2) e Brasil (1).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1F2433"/>
                </a:solidFill>
                <a:latin typeface="Arial"/>
              </a:rPr>
              <a:t>Preocupação com viés moderada ou alta em todos.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1F2433"/>
                </a:solidFill>
                <a:latin typeface="Arial"/>
              </a:rPr>
              <a:t>Definições: lacrimejamento, irritação ocular ou escala do sistema ocular.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1F2433"/>
                </a:solidFill>
                <a:latin typeface="Arial"/>
              </a:rPr>
              <a:t>O maior inquérito (Van Giersbergen 2019, n = 672) não entrou: sem numerador e denominador ocular extraíveis.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RESULTADOS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Desfecho exploratório · Sintoma respiratório ou de vias aéreas, e robustez das estimativas</a:t>
            </a:r>
          </a:p>
        </p:txBody>
      </p:sp>
      <p:pic>
        <p:nvPicPr>
          <p:cNvPr id="7" name="Figura 3 forest plot respiratório" descr="fig3_forest_res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1783080"/>
            <a:ext cx="9326880" cy="53397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7223760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5A6270"/>
                </a:solidFill>
                <a:latin typeface="Arial"/>
              </a:rPr>
              <a:t>Figura 3. </a:t>
            </a:r>
            <a:r>
              <a:rPr sz="1400" b="0" i="0">
                <a:solidFill>
                  <a:srgbClr val="5A6270"/>
                </a:solidFill>
                <a:latin typeface="Arial"/>
              </a:rPr>
              <a:t>Sete amostras independentes (n = 1.428). Definições variam: tosse, ardência de garganta, irritação de vias aéreas superiores, escala por sistema.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7772400"/>
            <a:ext cx="9326880" cy="1965960"/>
          </a:xfrm>
          <a:prstGeom prst="roundRect">
            <a:avLst>
              <a:gd name="adj" fmla="val 6000"/>
            </a:avLst>
          </a:prstGeom>
          <a:solidFill>
            <a:srgbClr val="E6EBF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417320" y="7836408"/>
            <a:ext cx="8778240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sz="1500" b="1" i="0">
                <a:solidFill>
                  <a:srgbClr val="002060"/>
                </a:solidFill>
                <a:latin typeface="Arial"/>
              </a:rPr>
              <a:t>Subgrupo por país (sintoma ocular; exploratório)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1500" b="1" i="0">
                <a:solidFill>
                  <a:srgbClr val="8B0000"/>
                </a:solidFill>
                <a:latin typeface="Arial"/>
              </a:rPr>
              <a:t>Turquia 50,5%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(k = 3; n = 268; I² = 57%)   ·   </a:t>
            </a:r>
            <a:r>
              <a:rPr sz="1500" b="1" i="0">
                <a:solidFill>
                  <a:srgbClr val="8B0000"/>
                </a:solidFill>
                <a:latin typeface="Arial"/>
              </a:rPr>
              <a:t>Malásia 19,8%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(k = 2; n = 333; I² = 0%)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1500" b="1" i="0">
                <a:solidFill>
                  <a:srgbClr val="1F2433"/>
                </a:solidFill>
                <a:latin typeface="Arial"/>
              </a:rPr>
              <a:t>Brasil 43,2%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(k = 1; estrato descritivo)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1500" b="1" i="0">
                <a:solidFill>
                  <a:srgbClr val="1F2433"/>
                </a:solidFill>
                <a:latin typeface="Arial"/>
              </a:rPr>
              <a:t>Teste entre subgrupos p &lt; 0,001, mas: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poucos estudos por país e um resumo de congresso no estrato da Malásia → gera hipótese (contexto, exaustão, EPI, forma de aferir), não prova moderação causal.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835640" y="1783080"/>
            <a:ext cx="6949440" cy="2148840"/>
          </a:xfrm>
          <a:prstGeom prst="roundRect">
            <a:avLst>
              <a:gd name="adj" fmla="val 6000"/>
            </a:avLst>
          </a:prstGeom>
          <a:solidFill>
            <a:srgbClr val="F9E9E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1064240" y="1828800"/>
            <a:ext cx="64922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sz="5000" b="1" i="0">
                <a:solidFill>
                  <a:srgbClr val="8B0000"/>
                </a:solidFill>
                <a:latin typeface="Arial"/>
              </a:rPr>
              <a:t>41,7%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2670048"/>
            <a:ext cx="6492240" cy="4571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5A6270"/>
                </a:solidFill>
                <a:latin typeface="Arial"/>
              </a:rPr>
              <a:t>prevalência combinada de sintoma respiratório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3154680"/>
            <a:ext cx="649224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1" i="0">
                <a:solidFill>
                  <a:srgbClr val="1F2433"/>
                </a:solidFill>
                <a:latin typeface="Arial"/>
              </a:rPr>
              <a:t>IC95%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30,4 – 53,9   ·   </a:t>
            </a:r>
            <a:r>
              <a:rPr sz="1500" b="1" i="0">
                <a:solidFill>
                  <a:srgbClr val="1F2433"/>
                </a:solidFill>
                <a:latin typeface="Arial"/>
              </a:rPr>
              <a:t>Intervalo de predição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15 – 74%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1" i="0">
                <a:solidFill>
                  <a:srgbClr val="1F2433"/>
                </a:solidFill>
                <a:latin typeface="Arial"/>
              </a:rPr>
              <a:t>I² = 91% · k = 7 · n = 1.428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35640" y="411480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Robustez: estável entre modelos e estudos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10835640" y="4526280"/>
          <a:ext cx="6949440" cy="2816352"/>
        </p:xfrm>
        <a:graphic>
          <a:graphicData uri="http://schemas.openxmlformats.org/drawingml/2006/table">
            <a:tbl>
              <a:tblPr firstRow="0" bandRow="0"/>
              <a:tblGrid>
                <a:gridCol w="3931920"/>
                <a:gridCol w="1417320"/>
                <a:gridCol w="1600200"/>
              </a:tblGrid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Análise</a:t>
                      </a:r>
                    </a:p>
                  </a:txBody>
                  <a:tcPr marL="91440" marR="91440" marT="36576" marB="36576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Ocular</a:t>
                      </a:r>
                    </a:p>
                  </a:txBody>
                  <a:tcPr marL="91440" marR="91440" marT="36576" marB="36576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Respiratório</a:t>
                      </a:r>
                    </a:p>
                  </a:txBody>
                  <a:tcPr marL="91440" marR="91440" marT="36576" marB="36576" anchor="ctr">
                    <a:solidFill>
                      <a:srgbClr val="002060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1F2433"/>
                          </a:solidFill>
                          <a:latin typeface="Arial"/>
                        </a:rPr>
                        <a:t>Logito + Hartung-Knapp (principal)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1F2433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1F2433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Freeman-Tukey (DerSimonian-Laird)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GLMM logístico (intercepto aleatório)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Leave-one-out (faixa)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34,3–42,1%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38,9–45,5%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Sem o resumo de congresso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42,4%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Só definições específicas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36,5% (I² 94%)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35,8% (I² 61%)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0835640" y="7388352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1F2433"/>
                </a:solidFill>
                <a:latin typeface="Arial"/>
              </a:rPr>
              <a:t>Sem o estudo de definição mais divergente (Van Giersbergen 2019): </a:t>
            </a:r>
            <a:r>
              <a:rPr sz="1400" b="0" i="0">
                <a:solidFill>
                  <a:srgbClr val="1F2433"/>
                </a:solidFill>
                <a:latin typeface="Arial"/>
              </a:rPr>
              <a:t>38,9%, sem mudar a conclusão.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35640" y="7863840"/>
            <a:ext cx="6949440" cy="1874519"/>
          </a:xfrm>
          <a:prstGeom prst="roundRect">
            <a:avLst>
              <a:gd name="adj" fmla="val 6000"/>
            </a:avLst>
          </a:prstGeom>
          <a:solidFill>
            <a:srgbClr val="FBF5E3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11018519" y="8046719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0" name="icone lightbulb" descr="lightbulb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1400" y="8229600"/>
            <a:ext cx="365760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978640" y="8046719"/>
            <a:ext cx="562355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002060"/>
                </a:solidFill>
                <a:latin typeface="Arial"/>
              </a:rPr>
              <a:t>O que a sensibilidade ensina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18519" y="8915399"/>
            <a:ext cx="6583679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1F2433"/>
                </a:solidFill>
                <a:latin typeface="Arial"/>
              </a:rPr>
              <a:t>Definições específicas: I² respiratório cai de 91% para 61%; a definição do desfecho explica parte da heterogeneidade.</a:t>
            </a:r>
          </a:p>
          <a:p>
            <a:pPr algn="l" marL="274320" indent="-274320">
              <a:lnSpc>
                <a:spcPct val="100000"/>
              </a:lnSpc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1F2433"/>
                </a:solidFill>
                <a:latin typeface="Arial"/>
              </a:rPr>
              <a:t>No ocular, nenhum estudo sozinho explica a heterogeneidade (Baujat: Mohd Fikri Rosely 2022 é o mais influente).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RESULTADOS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Desfechos objetivos e biomarcadores: sinais além do incômodo agudo (1 estudo por desfecho)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783080"/>
            <a:ext cx="8183879" cy="26974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371600" y="196596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9" name="icone lungs" descr="lungs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2148839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286000" y="1920240"/>
            <a:ext cx="6857999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Função pulmonar (espirometria)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313432"/>
            <a:ext cx="685799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Ibrahim et al., 2025 · Sudão · 92 expostos vs 92 não expostos pareados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70632"/>
            <a:ext cx="7635240" cy="160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002060"/>
              </a:buClr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VEF1 2,78 vs 3,14 L · CVF 3,02 vs 3,45 L · PFE 327,5 vs 483,5 L/min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(p = 0,001)</a:t>
            </a:r>
          </a:p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Gradiente: mais tempo em centro cirúrgico → menores valores (ajuste por idade e IMC).</a:t>
            </a:r>
          </a:p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002060"/>
              </a:buClr>
              <a:buFont typeface="Arial"/>
              <a:buChar char="•"/>
            </a:pPr>
            <a:r>
              <a:rPr sz="1600" b="1" i="0">
                <a:solidFill>
                  <a:srgbClr val="8B0000"/>
                </a:solidFill>
                <a:latin typeface="Arial"/>
              </a:rPr>
              <a:t>Cautela: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VEF1/CVF ≈ 91% nos dois grupos; PFE depende do esforço do participante.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0" y="1783080"/>
            <a:ext cx="8183879" cy="26974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829800" y="196596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15" name="icone vial" descr="vial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2680" y="2148839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744200" y="1920240"/>
            <a:ext cx="6857999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Biomarcadores urinários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2313432"/>
            <a:ext cx="685799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Canicoba, 2025 · Brasil · 52 vs 49 (metabólitos); 52 vs 52 (oxidativo)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2770632"/>
            <a:ext cx="7635240" cy="160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002060"/>
              </a:buClr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Ác. t,t-mucônico 202,9 vs 46,1 µg/L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(benzeno) · </a:t>
            </a:r>
            <a:r>
              <a:rPr sz="1600" b="1" i="0">
                <a:solidFill>
                  <a:srgbClr val="1F2433"/>
                </a:solidFill>
                <a:latin typeface="Arial"/>
              </a:rPr>
              <a:t>ác. metil-hipúrico 468,2 vs 184,4 µg/L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(xileno)</a:t>
            </a:r>
          </a:p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002060"/>
              </a:buClr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Malondialdeído 9,33 vs 3,22 nmol/mg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(estresse oxidativo); todos p &lt; 0,001</a:t>
            </a:r>
          </a:p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002060"/>
              </a:buClr>
              <a:buFont typeface="Arial"/>
              <a:buChar char="•"/>
            </a:pPr>
            <a:r>
              <a:rPr sz="1600" b="1" i="0">
                <a:solidFill>
                  <a:srgbClr val="8B0000"/>
                </a:solidFill>
                <a:latin typeface="Arial"/>
              </a:rPr>
              <a:t>Cautela: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sem IC95%; t,t-mucônico não é específico (dieta, tabagismo).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4709160"/>
            <a:ext cx="8183879" cy="26974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1371600" y="489204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1" name="icone biotech" descr="biotech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54480" y="5074920"/>
            <a:ext cx="365760" cy="365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4846320"/>
            <a:ext cx="6857999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Mucosa nasal (biópsia)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5239512"/>
            <a:ext cx="685799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Navarro et al., 2016 · México · coorte de 4 anos · 23 vs 20 residentes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696712"/>
            <a:ext cx="7635240" cy="160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002060"/>
              </a:buClr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Metaplasia ou hiperplasia: 70% (16/23) vs 5% (1/20)</a:t>
            </a:r>
          </a:p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002060"/>
              </a:buClr>
              <a:buFont typeface="Arial"/>
              <a:buChar char="•"/>
            </a:pPr>
            <a:r>
              <a:rPr sz="1600" b="1" i="0">
                <a:solidFill>
                  <a:srgbClr val="8B0000"/>
                </a:solidFill>
                <a:latin typeface="Arial"/>
              </a:rPr>
              <a:t>RR 13,9 (IC95% 2,0 – 95,8)</a:t>
            </a:r>
            <a:r>
              <a:rPr sz="1600" b="0" i="0">
                <a:solidFill>
                  <a:srgbClr val="1F2433"/>
                </a:solidFill>
                <a:latin typeface="Arial"/>
              </a:rPr>
              <a:t>: 1 evento no grupo não exposto → IC amplo</a:t>
            </a:r>
          </a:p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002060"/>
              </a:buClr>
              <a:buFont typeface="Arial"/>
              <a:buChar char="•"/>
            </a:pPr>
            <a:r>
              <a:rPr sz="1600" b="1" i="0">
                <a:solidFill>
                  <a:srgbClr val="8B0000"/>
                </a:solidFill>
                <a:latin typeface="Arial"/>
              </a:rPr>
              <a:t>Cautela: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resposta inespecífica a irritantes inalados; exposição por proxy.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01200" y="4709160"/>
            <a:ext cx="8183879" cy="26974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829800" y="489204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7" name="icone virus" descr="virus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12680" y="5074920"/>
            <a:ext cx="365760" cy="3657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744200" y="4846320"/>
            <a:ext cx="6857999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HPV-DNA na mucosa nasal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44200" y="5239512"/>
            <a:ext cx="685799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Hu et al., 2021 · China · 700 ginecologistas (469 com eletrocirurgia vs 231 sem)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5696712"/>
            <a:ext cx="7635240" cy="160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002060"/>
              </a:buClr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8,96% (42/469) com eletrocirurgia vs 1,73% (4/231) sem</a:t>
            </a:r>
          </a:p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002060"/>
              </a:buClr>
              <a:buFont typeface="Arial"/>
              <a:buChar char="•"/>
            </a:pPr>
            <a:r>
              <a:rPr sz="1600" b="1" i="0">
                <a:solidFill>
                  <a:srgbClr val="8B0000"/>
                </a:solidFill>
                <a:latin typeface="Arial"/>
              </a:rPr>
              <a:t>RR 5,2 (IC95% 1,9 – 14,2)</a:t>
            </a:r>
            <a:r>
              <a:rPr sz="1600" b="0" i="0">
                <a:solidFill>
                  <a:srgbClr val="1F2433"/>
                </a:solidFill>
                <a:latin typeface="Arial"/>
              </a:rPr>
              <a:t> · maior com mais tempo de eletrocirurgia</a:t>
            </a:r>
          </a:p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002060"/>
              </a:buClr>
              <a:buFont typeface="Arial"/>
              <a:buChar char="•"/>
            </a:pPr>
            <a:r>
              <a:rPr sz="1600" b="1" i="0">
                <a:solidFill>
                  <a:srgbClr val="8B0000"/>
                </a:solidFill>
                <a:latin typeface="Arial"/>
              </a:rPr>
              <a:t>Cautela: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DNA detectado ≠ infecção ou doença; N95 (0/196) é subgrupo sem ajuste.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" y="7680960"/>
            <a:ext cx="16642080" cy="169164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417320" y="781812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C8A951"/>
                </a:solidFill>
                <a:latin typeface="Arial"/>
              </a:rPr>
              <a:t>●○○○  Certeza MUITO BAIXA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8275320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FFFFFF"/>
                </a:solidFill>
                <a:latin typeface="Arial"/>
              </a:rPr>
              <a:t>em todos os desfechos (GRADE); medidas comparativas não combinadas (desenhos e desfechos heterogêneos).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781812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C8A951"/>
                </a:solidFill>
                <a:latin typeface="Arial"/>
              </a:rPr>
              <a:t>0 estudos sobre câncer ou DPOC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8275320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FFFFFF"/>
                </a:solidFill>
                <a:latin typeface="Arial"/>
              </a:rPr>
              <a:t>vazio de evidência: ausência de estudos ≠ ausência de risco.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978640" y="7818120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C8A951"/>
                </a:solidFill>
                <a:latin typeface="Arial"/>
              </a:rPr>
              <a:t>Direção consistente, mas…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978640" y="8275320"/>
            <a:ext cx="566928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FFFFFF"/>
                </a:solidFill>
                <a:latin typeface="Arial"/>
              </a:rPr>
              <a:t>coexposições (gases anestésicos, radiação), 1 estudo por desfecho e IC amplos: marcadores de exposição/efeito, não doença crônica atribuível.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DISCUSSÃO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O que os achados significam e como interpretá-los com cautela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783080"/>
            <a:ext cx="5367528" cy="489204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417320" y="205740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9" name="icone chart" descr="char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2240279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377440" y="2057400"/>
            <a:ext cx="3858768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Carga de sintomas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926080"/>
            <a:ext cx="4818888" cy="35295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900"/>
              </a:spcAft>
              <a:buFont typeface="Arial"/>
              <a:buChar char="•"/>
            </a:pPr>
            <a:r>
              <a:rPr sz="1700" b="0" i="0">
                <a:solidFill>
                  <a:srgbClr val="1F2433"/>
                </a:solidFill>
                <a:latin typeface="Arial"/>
              </a:rPr>
              <a:t>Sintomas frequentes: ocular 37,6%, respiratório 41,7%, qualquer sintoma entre 55,6% e 73,2%.</a:t>
            </a:r>
          </a:p>
          <a:p>
            <a:pPr algn="l" marL="274320" indent="-274320">
              <a:lnSpc>
                <a:spcPct val="100000"/>
              </a:lnSpc>
              <a:spcAft>
                <a:spcPts val="900"/>
              </a:spcAft>
              <a:buFont typeface="Arial"/>
              <a:buChar char="•"/>
            </a:pPr>
            <a:r>
              <a:rPr sz="1700" b="0" i="0">
                <a:solidFill>
                  <a:srgbClr val="1F2433"/>
                </a:solidFill>
                <a:latin typeface="Arial"/>
              </a:rPr>
              <a:t>Coerente com a literatura prévia, que era transversal e sem síntese quantitativa (Mowbray 2013; Dixon 2023).</a:t>
            </a:r>
          </a:p>
          <a:p>
            <a:pPr algn="l" marL="274320" indent="-274320">
              <a:lnSpc>
                <a:spcPct val="100000"/>
              </a:lnSpc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Contribuição: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primeira estimativa combinada com intervalo de predição, subgrupo por país e GRADE para este corpo de literatura.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84848" y="1783080"/>
            <a:ext cx="5367528" cy="489204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059167" y="205740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14" name="icone spiral" descr="spiral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2047" y="2240279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19288" y="2057400"/>
            <a:ext cx="3858768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Heterogeneidade: esperada, não ignorada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2926080"/>
            <a:ext cx="4818888" cy="35295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900"/>
              </a:spcAft>
              <a:buFont typeface="Arial"/>
              <a:buChar char="•"/>
            </a:pPr>
            <a:r>
              <a:rPr sz="1700" b="0" i="0">
                <a:solidFill>
                  <a:srgbClr val="1F2433"/>
                </a:solidFill>
                <a:latin typeface="Arial"/>
              </a:rPr>
              <a:t>I² &gt; 90% é típico em metanálise de prevalência → interpretar pelo intervalo de predição.</a:t>
            </a:r>
          </a:p>
          <a:p>
            <a:pPr algn="l" marL="274320" indent="-274320">
              <a:lnSpc>
                <a:spcPct val="100000"/>
              </a:lnSpc>
              <a:spcAft>
                <a:spcPts val="900"/>
              </a:spcAft>
              <a:buFont typeface="Arial"/>
              <a:buChar char="•"/>
            </a:pPr>
            <a:r>
              <a:rPr sz="1700" b="0" i="0">
                <a:solidFill>
                  <a:srgbClr val="1F2433"/>
                </a:solidFill>
                <a:latin typeface="Arial"/>
              </a:rPr>
              <a:t>Fontes plausíveis: definição do sintoma e recordatório, composição profissional, tempo de exposição, disponibilidade de exaustão e EPI, condições ambientais.</a:t>
            </a:r>
          </a:p>
          <a:p>
            <a:pPr algn="l" marL="274320" indent="-274320">
              <a:lnSpc>
                <a:spcPct val="100000"/>
              </a:lnSpc>
              <a:spcAft>
                <a:spcPts val="900"/>
              </a:spcAft>
              <a:buFont typeface="Arial"/>
              <a:buChar char="•"/>
            </a:pPr>
            <a:r>
              <a:rPr sz="1700" b="0" i="0">
                <a:solidFill>
                  <a:srgbClr val="1F2433"/>
                </a:solidFill>
                <a:latin typeface="Arial"/>
              </a:rPr>
              <a:t>País reduziu o I² intragrupo (Turquia 57%, Malásia 0%), mas com 2–3 estudos por estrato é geração de hipótese.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426696" y="1783080"/>
            <a:ext cx="5367528" cy="489204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12701016" y="205740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19" name="icone biotech" descr="biotech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83896" y="2240279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661136" y="2057400"/>
            <a:ext cx="3858767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Sinais além do incômodo agudo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701016" y="2926080"/>
            <a:ext cx="4818888" cy="35295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A favor da causalidade: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gradiente com o tempo de exposição (espirometria, HPV), temporalidade (coorte) e plausibilidade biológica.</a:t>
            </a:r>
          </a:p>
          <a:p>
            <a:pPr algn="l" marL="274320" indent="-274320">
              <a:lnSpc>
                <a:spcPct val="100000"/>
              </a:lnSpc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Contra: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um estudo por desfecho, intervalos amplos, especificidade comprometida por coexposições (gases anestésicos, radiação).</a:t>
            </a:r>
          </a:p>
          <a:p>
            <a:pPr algn="l" marL="274320" indent="-274320">
              <a:lnSpc>
                <a:spcPct val="100000"/>
              </a:lnSpc>
              <a:spcAft>
                <a:spcPts val="900"/>
              </a:spcAft>
              <a:buFont typeface="Arial"/>
              <a:buChar char="•"/>
            </a:pPr>
            <a:r>
              <a:rPr sz="1700" b="0" i="0">
                <a:solidFill>
                  <a:srgbClr val="1F2433"/>
                </a:solidFill>
                <a:latin typeface="Arial"/>
              </a:rPr>
              <a:t>Metabólitos = exposição recente; metaplasia = resposta inespecífica; HPV-DNA = detecção, não infecção.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6949440"/>
            <a:ext cx="16642080" cy="210312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23" name="icone question" descr="question_gol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63040" y="7616952"/>
            <a:ext cx="777240" cy="7772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514600" y="7040880"/>
            <a:ext cx="15179040" cy="1920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C8A951"/>
                </a:solidFill>
                <a:latin typeface="Arial"/>
              </a:rPr>
              <a:t>O achado talvez mais relevante é o que não foi encontrado. </a:t>
            </a:r>
            <a:r>
              <a:rPr sz="1600" b="0" i="0">
                <a:solidFill>
                  <a:srgbClr val="FFFFFF"/>
                </a:solidFill>
                <a:latin typeface="Arial"/>
              </a:rPr>
              <a:t>Nenhum estudo elegível estimou câncer ou DPOC atribuíveis à fumaça. Relatos de caso de papilomatose laríngea e carcinoma orofaríngeo por HPV em cirurgiões (Hallmo; Naess, 1991; Rioux et al., 2013) reforçam a plausibilidade, mas não estimam risco. A controvérsia (Hurst; Stewart, 2024) não se resolve com os estudos existentes, e sim com estudos longitudinais ainda por realizar.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DISCUSSÃO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Pontos fortes e limitações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783080"/>
            <a:ext cx="6766560" cy="7680960"/>
          </a:xfrm>
          <a:prstGeom prst="roundRect">
            <a:avLst>
              <a:gd name="adj" fmla="val 6000"/>
            </a:avLst>
          </a:prstGeom>
          <a:solidFill>
            <a:srgbClr val="E7F3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417320" y="2057400"/>
            <a:ext cx="731520" cy="7315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9" name="icone thumbsup" descr="thumbsup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2240279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377440" y="2057400"/>
            <a:ext cx="525780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002060"/>
                </a:solidFill>
                <a:latin typeface="Arial"/>
              </a:rPr>
              <a:t>Pontos fortes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926080"/>
            <a:ext cx="6217920" cy="6318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Busca abrangente: 7 bases, literatura cinzenta e busca por citação, sem filtro de idioma na busca.</a:t>
            </a:r>
          </a:p>
          <a:p>
            <a:pPr algn="l" marL="274320" indent="-274320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Protocolo registrado (PROSPERO) e relato PRISMA 2020 com checklist de 27 itens.</a:t>
            </a:r>
          </a:p>
          <a:p>
            <a:pPr algn="l" marL="274320" indent="-274320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Risco de viés padronizado com ferramentas JBI escolhidas pela função de cada estudo.</a:t>
            </a:r>
          </a:p>
          <a:p>
            <a:pPr algn="l" marL="274320" indent="-274320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Síntese com intervalo de predição, 3 modelos concordantes, leave-one-out, Baujat e subgrupo.</a:t>
            </a:r>
          </a:p>
          <a:p>
            <a:pPr algn="l" marL="274320" indent="-274320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Certeza graduada por desfecho (GRADE), com justificativa por domínio.</a:t>
            </a:r>
          </a:p>
          <a:p>
            <a:pPr algn="l" marL="274320" indent="-274320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Tratamento explícito da sobreposição amostral e do uso de IA (apenas operacional).</a:t>
            </a:r>
          </a:p>
          <a:p>
            <a:pPr algn="l" marL="274320" indent="-274320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Reprodutibilidade: código em Python, planilhas e figuras abertos no OSF.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783080"/>
            <a:ext cx="9601200" cy="7680960"/>
          </a:xfrm>
          <a:prstGeom prst="roundRect">
            <a:avLst>
              <a:gd name="adj" fmla="val 6000"/>
            </a:avLst>
          </a:prstGeom>
          <a:solidFill>
            <a:srgbClr val="F9E9E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458200" y="2057400"/>
            <a:ext cx="731520" cy="73152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14" name="icone warning" descr="warning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2240279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418320" y="2057400"/>
            <a:ext cx="80924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002060"/>
                </a:solidFill>
                <a:latin typeface="Arial"/>
              </a:rPr>
              <a:t>Limitações (declaradas no manuscrito)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926080"/>
            <a:ext cx="9052560" cy="6318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Transversais, exposição por proxy (ocupação) e desfechos autorrelatados;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viés de atribuição: o respondente sabe que o questionário é sobre fumaça.</a:t>
            </a:r>
          </a:p>
          <a:p>
            <a:pPr algn="l" marL="274320" indent="-274320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Sem grupo não exposto nos agrupamentos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→ não se estima o excesso atribuível à exposição.</a:t>
            </a:r>
          </a:p>
          <a:p>
            <a:pPr algn="l" marL="274320" indent="-274320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Efeito do trabalhador sadio: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quem adoece sai do centro cirúrgico → prevalência subestimada.</a:t>
            </a:r>
          </a:p>
          <a:p>
            <a:pPr algn="l" marL="274320" indent="-274320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Heterogeneidade alta; subgrupo exploratório;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o maior inquérito (n = 672) ficou fora do agrupamento ocular; vários estudos em periódicos de indexação limitada.</a:t>
            </a:r>
          </a:p>
          <a:p>
            <a:pPr algn="l" marL="274320" indent="-274320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Sobreposição amostral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tratada com 1 publicação por desfecho; 1 resumo de congresso na síntese.</a:t>
            </a:r>
          </a:p>
          <a:p>
            <a:pPr algn="l" marL="274320" indent="-274320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Revisor único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na triagem, extração, JBI e GRADE; 6 relatórios não recuperados; elegibilidade em 3 idiomas.</a:t>
            </a:r>
          </a:p>
          <a:p>
            <a:pPr algn="l" marL="274320" indent="-274320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Instrumentos sem validação relatada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e período de recordatório quase nunca informado; taxa de resposta raramente relatada.</a:t>
            </a:r>
          </a:p>
          <a:p>
            <a:pPr algn="l" marL="274320" indent="-274320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700" b="1" i="0">
                <a:solidFill>
                  <a:srgbClr val="8B0000"/>
                </a:solidFill>
                <a:latin typeface="Arial"/>
              </a:rPr>
              <a:t>A metanálise estima prevalência em expostos, não risco causal.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CONCLUSÃO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Síntese da mensagem da revisão</a:t>
            </a:r>
          </a:p>
        </p:txBody>
      </p:sp>
      <p:pic>
        <p:nvPicPr>
          <p:cNvPr id="7" name="Foto exaustão e N95" descr="exaustao_n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1783080"/>
            <a:ext cx="7315200" cy="40930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59436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Imagem ilustrativa (gerada por IA): exaustão local na fonte e respirador N95.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6355080"/>
            <a:ext cx="7315200" cy="1691640"/>
          </a:xfrm>
          <a:prstGeom prst="roundRect">
            <a:avLst>
              <a:gd name="adj" fmla="val 6000"/>
            </a:avLst>
          </a:prstGeom>
          <a:solidFill>
            <a:srgbClr val="E6EBF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417320" y="6419088"/>
            <a:ext cx="6766560" cy="160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Proteção recomendada (NIOSH, 1996; NR-32)</a:t>
            </a:r>
          </a:p>
          <a:p>
            <a:pPr algn="l" marL="274320" indent="-274320">
              <a:lnSpc>
                <a:spcPct val="100000"/>
              </a:lnSpc>
              <a:spcAft>
                <a:spcPts val="2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Evacuação local da fumaça na fonte (medida principal);</a:t>
            </a:r>
          </a:p>
          <a:p>
            <a:pPr algn="l" marL="274320" indent="-274320">
              <a:lnSpc>
                <a:spcPct val="100000"/>
              </a:lnSpc>
              <a:spcAft>
                <a:spcPts val="2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Respiradores N95/PFF2 (retêm partículas, não substituem a exaustão);</a:t>
            </a:r>
          </a:p>
          <a:p>
            <a:pPr algn="l" marL="274320" indent="-274320">
              <a:lnSpc>
                <a:spcPct val="100000"/>
              </a:lnSpc>
              <a:spcAft>
                <a:spcPts val="2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Educação da equipe. Efetividade não avaliada nesta revisão.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15400" y="1783080"/>
            <a:ext cx="8869680" cy="1920240"/>
          </a:xfrm>
          <a:prstGeom prst="roundRect">
            <a:avLst>
              <a:gd name="adj" fmla="val 6000"/>
            </a:avLst>
          </a:prstGeom>
          <a:solidFill>
            <a:srgbClr val="E7F3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052560" y="1920240"/>
            <a:ext cx="731520" cy="7315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13" name="icone check" descr="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0" y="2103120"/>
            <a:ext cx="365760" cy="365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012680" y="192024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2E7D32"/>
                </a:solidFill>
                <a:latin typeface="Arial"/>
              </a:rPr>
              <a:t>O que se sabe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651760"/>
            <a:ext cx="8412480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Sintomas oculares e respiratórios são frequentemente relatados pela equipe exposta, com ampla variação entre contextos (ocular 37,6%, IP 7–83%; respiratório 41,7%, IP 15–74%). Desfechos objetivos (função pulmonar, biomarcadores, mucosa nasal, HPV) sinalizam alterações além do incômodo agudo.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3886200"/>
            <a:ext cx="8869680" cy="1920240"/>
          </a:xfrm>
          <a:prstGeom prst="roundRect">
            <a:avLst>
              <a:gd name="adj" fmla="val 6000"/>
            </a:avLst>
          </a:prstGeom>
          <a:solidFill>
            <a:srgbClr val="FBF5E3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9052560" y="4023359"/>
            <a:ext cx="731520" cy="731520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18" name="icone question" descr="question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0" y="4206240"/>
            <a:ext cx="365760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012680" y="402336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8A6D1F"/>
                </a:solidFill>
                <a:latin typeface="Arial"/>
              </a:rPr>
              <a:t>O que não se sabe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754880"/>
            <a:ext cx="8412480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Não há evidência direta de câncer ou DPOC atribuíveis à fumaça; a certeza é muito baixa; a exposição múltipla limita a atribuição causal; a evidência é heterogênea e majoritariamente transversal.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15400" y="5989320"/>
            <a:ext cx="8869680" cy="1920240"/>
          </a:xfrm>
          <a:prstGeom prst="roundRect">
            <a:avLst>
              <a:gd name="adj" fmla="val 6000"/>
            </a:avLst>
          </a:prstGeom>
          <a:solidFill>
            <a:srgbClr val="E6EBF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052560" y="6126479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3" name="icone shield" descr="shield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6309359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012680" y="612648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Implicação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6858000"/>
            <a:ext cx="8412480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A proteção da equipe parece justificada pela carga sintomática e pelo princípio da precaução; a quantificação do risco de longo prazo depende de estudos longitudinais específicos.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8275320"/>
            <a:ext cx="16642080" cy="146304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508760" y="8321040"/>
            <a:ext cx="15910559" cy="1371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C8A951"/>
                </a:solidFill>
                <a:latin typeface="Arial"/>
              </a:rPr>
              <a:t>Mensagem final: </a:t>
            </a:r>
            <a:r>
              <a:rPr sz="1800" b="0" i="0">
                <a:solidFill>
                  <a:srgbClr val="FFFFFF"/>
                </a:solidFill>
                <a:latin typeface="Arial"/>
              </a:rPr>
              <a:t>a fumaça cirúrgica está associada a uma carga sintomática relevante e a sinais biológicos precoces; proteger a equipe hoje é prudente, e medir o risco crônico é a tarefa dos próximos estudos.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PERSPECTIVAS FUTURAS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Agenda de pesquisa e próximos passos deste trabalho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783080"/>
            <a:ext cx="10058400" cy="7955279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417320" y="1874519"/>
            <a:ext cx="95097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Para o campo: o que falta para responder à pergunta do risco crônico</a:t>
            </a:r>
          </a:p>
        </p:txBody>
      </p:sp>
      <p:sp>
        <p:nvSpPr>
          <p:cNvPr id="9" name="Oval 8"/>
          <p:cNvSpPr/>
          <p:nvPr/>
        </p:nvSpPr>
        <p:spPr>
          <a:xfrm>
            <a:off x="1440180" y="2583180"/>
            <a:ext cx="777240" cy="77724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10" name="icone timeline" descr="timelin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4490" y="2777490"/>
            <a:ext cx="388620" cy="3886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514600" y="2514600"/>
            <a:ext cx="86868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Estudos longitudinais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926080"/>
            <a:ext cx="841248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Coortes com aferição objetiva da exposição (PM2,5, COV, tempo de dispositivo) e controle de coexposições (gases anestésicos, radiação) e tabagismo.</a:t>
            </a:r>
          </a:p>
        </p:txBody>
      </p:sp>
      <p:sp>
        <p:nvSpPr>
          <p:cNvPr id="13" name="Oval 12"/>
          <p:cNvSpPr/>
          <p:nvPr/>
        </p:nvSpPr>
        <p:spPr>
          <a:xfrm>
            <a:off x="1440180" y="4366260"/>
            <a:ext cx="777240" cy="77724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14" name="icone list" descr="lis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4490" y="4560570"/>
            <a:ext cx="388620" cy="3886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514600" y="4297680"/>
            <a:ext cx="86868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Definições padronizadas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4709160"/>
            <a:ext cx="841248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Sintoma-índice, período de recordatório e instrumentos validados, com taxa de resposta relatada, para reduzir a heterogeneidade entre inquéritos.</a:t>
            </a:r>
          </a:p>
        </p:txBody>
      </p:sp>
      <p:sp>
        <p:nvSpPr>
          <p:cNvPr id="17" name="Oval 16"/>
          <p:cNvSpPr/>
          <p:nvPr/>
        </p:nvSpPr>
        <p:spPr>
          <a:xfrm>
            <a:off x="1440180" y="6149340"/>
            <a:ext cx="777240" cy="77724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18" name="icone dna" descr="dna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4490" y="6343650"/>
            <a:ext cx="388620" cy="3886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514600" y="6080760"/>
            <a:ext cx="86868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Desfechos crônicos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6492240"/>
            <a:ext cx="841248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Incidência de câncer e DPOC na equipe cirúrgica; seguimento de marcadores (mucosa nasal, HPV, função pulmonar) ao longo do tempo.</a:t>
            </a:r>
          </a:p>
        </p:txBody>
      </p:sp>
      <p:sp>
        <p:nvSpPr>
          <p:cNvPr id="21" name="Oval 20"/>
          <p:cNvSpPr/>
          <p:nvPr/>
        </p:nvSpPr>
        <p:spPr>
          <a:xfrm>
            <a:off x="1440180" y="7932419"/>
            <a:ext cx="777240" cy="77724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2" name="icone fan" descr="fa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34490" y="8126729"/>
            <a:ext cx="388620" cy="3886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514600" y="7863840"/>
            <a:ext cx="86868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Efetividade das medidas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8275319"/>
            <a:ext cx="841248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Estudos de intervenção sobre exaustão local, respiradores N95/PFF2 e educação, com medição de exposição antes e depois.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75720" y="1783080"/>
            <a:ext cx="6309360" cy="7955279"/>
          </a:xfrm>
          <a:prstGeom prst="roundRect">
            <a:avLst>
              <a:gd name="adj" fmla="val 6000"/>
            </a:avLst>
          </a:prstGeom>
          <a:solidFill>
            <a:srgbClr val="FBF5E3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1750040" y="1874519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Para este trabalho</a:t>
            </a:r>
          </a:p>
        </p:txBody>
      </p:sp>
      <p:pic>
        <p:nvPicPr>
          <p:cNvPr id="27" name="icone upload" descr="upload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50040" y="260604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435840" y="2514600"/>
            <a:ext cx="5120640" cy="1325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Submissão do manuscrito a periódico indexado (versão final v5 concluída).</a:t>
            </a:r>
          </a:p>
        </p:txBody>
      </p:sp>
      <p:pic>
        <p:nvPicPr>
          <p:cNvPr id="29" name="icone calendar" descr="calendar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750040" y="4023359"/>
            <a:ext cx="502920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435840" y="3931920"/>
            <a:ext cx="5120640" cy="1325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Atualização da busca antes da publicação e vigilância dos 6 relatórios não recuperados.</a:t>
            </a:r>
          </a:p>
        </p:txBody>
      </p:sp>
      <p:pic>
        <p:nvPicPr>
          <p:cNvPr id="31" name="icone people" descr="people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750040" y="5440679"/>
            <a:ext cx="502920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2435840" y="5349240"/>
            <a:ext cx="5120640" cy="1325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Replicação da triagem e extração em duplicata, com segundo revisor independente.</a:t>
            </a:r>
          </a:p>
        </p:txBody>
      </p:sp>
      <p:pic>
        <p:nvPicPr>
          <p:cNvPr id="33" name="icone hospital" descr="hospital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750040" y="6858000"/>
            <a:ext cx="502920" cy="502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2435840" y="6766560"/>
            <a:ext cx="5120640" cy="1325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Devolutiva institucional: proposta de protocolo de proteção à fumaça no centro cirúrgico.</a:t>
            </a:r>
          </a:p>
        </p:txBody>
      </p:sp>
      <p:pic>
        <p:nvPicPr>
          <p:cNvPr id="35" name="icone graduation" descr="graduation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750040" y="8275319"/>
            <a:ext cx="502920" cy="5029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435840" y="8183879"/>
            <a:ext cx="5120640" cy="1325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Formação do aluno em síntese de evidências: do protocolo ao GRADE, com código aberto.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REFERÊNCIAS BIBLIOGRÁFICAS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Principais referências metodológicas e dos estudos incluídos (lista completa no manuscrito)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783080"/>
            <a:ext cx="8138160" cy="79552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PAGE, M. J. et al. The PRISMA 2020 statement: an updated guideline for reporting systematic reviews. BMJ, v. 372, n71, 2021.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BARKER, T. H. et al. Conducting proportional meta-analysis in different types of systematic reviews: a guide for synthesisers of evidence. BMC Med Res Methodol, v. 21, p. 189, 2021.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INTHOUT, J.; IOANNIDIS, J. P. A.; BORM, G. F. The Hartung-Knapp-Sidik-Jonkman method for random effects meta-analysis is straightforward and considerably outperforms the standard DerSimonian-Laird method. BMC Med Res Methodol, v. 14, p. 25, 2014.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RILEY, R. D.; HIGGINS, J. P. T.; DEEKS, J. J. Interpretation of random effects meta-analyses. BMJ, v. 342, d549, 2011.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AROMATARIS, E.; MUNN, Z. (Ed.). JBI Manual for Evidence Synthesis. Adelaide: JBI, 2020.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MUNN, Z. et al. Methodological guidance for systematic reviews of observational epidemiological studies reporting prevalence and cumulative incidence data. Int J Evid Based Healthc, v. 13, n. 3, p. 147-153, 2015.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BRASIL. Ministério da Saúde. Diretrizes metodológicas: Sistema GRADE. Brasília: Ministério da Saúde, 2014.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HURST, R. D.; STEWART, C. L. Hazards of surgical smoke from electrocautery: a critical review of the data. Am J Surg, v. 233, p. 29-36, 2024.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6920" y="1783080"/>
            <a:ext cx="8138160" cy="79552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BENAIM, E. H.; JASPERS, I. Surgical smoke and its components, effects, and mitigation: a contemporary review. Toxicol Sci, v. 198, n. 2, p. 157-168, 2024.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DIXON, K.; DASGUPTA, P.; VASDEV, N. A systematic review of the harmful effects of surgical smoke inhalation on operating room personnel. Health Sci Rev, v. 6, 100077, 2023.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İLÇE, A.; YUZDEN, G. E.; VAN GIERSBERGEN, M. Y. The examination of problems experienced by nurses and doctors associated with exposure to surgical smoke and the necessary precautions. J Clin Nurs, v. 26, p. 1555-1561, 2017.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BIENIEK, A. A. et al. Risco ocupacional: sinais e sintomas relacionados à exposição à fumaça cirúrgica. Rev SOBECC, v. 27, 2022.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HU, X. et al. Prevalence of HPV infections in surgical smoke exposed gynecologists. Int Arch Occup Environ Health, v. 94, n. 1, p. 107-115, 2021.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IBRAHIM, J. B. et al. Evaluation of spirometric lung function among healthcare professionals working in operating theatres: a comparative cross-sectional study. Afr J Thorac Crit Care Med, v. 31, n. 2, e2639, 2025.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NAVARRO, M. C. et al. Cambios en la mucosa nasal de los médicos por exposición al humo por electrocoagulación. Rev Fac Nac Salud Pública, v. 34, n. 2, p. 135-144, 2016.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CANICOBA, A. R. B. Impacto da exposição ocupacional à fumaça cirúrgica sobre os marcadores biológicos de profissionais de saúde da sala operatória. Tese (Doutorado). EE-USP, 2025.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AGRADECIMENTOS</a:t>
            </a:r>
          </a:p>
        </p:txBody>
      </p:sp>
      <p:pic>
        <p:nvPicPr>
          <p:cNvPr id="6" name="icone handshake" descr="handshak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182880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" y="3017520"/>
            <a:ext cx="166420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3600" b="1" i="0">
                <a:solidFill>
                  <a:srgbClr val="002060"/>
                </a:solidFill>
                <a:latin typeface="Arial"/>
              </a:rPr>
              <a:t>Muito obrigado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4023360"/>
            <a:ext cx="5367528" cy="329184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3392424" y="4229100"/>
            <a:ext cx="868680" cy="86868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10" name="icone graduation" descr="graduation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9594" y="4446270"/>
            <a:ext cx="434340" cy="4343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17320" y="5257800"/>
            <a:ext cx="48188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Orientadora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715000"/>
            <a:ext cx="4727448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Profa. Lisie Tocci Justo, pela orientação, supervisão metodológica e revisão crítica.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84848" y="4023360"/>
            <a:ext cx="5367528" cy="329184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034272" y="4229100"/>
            <a:ext cx="868680" cy="86868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15" name="icone people" descr="peopl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1442" y="4446270"/>
            <a:ext cx="434340" cy="4343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059168" y="5257800"/>
            <a:ext cx="48188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Coautores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4888" y="5715000"/>
            <a:ext cx="4727448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Luiz Henrique Ledesma Pereira (SLMandic Araras) e Dra. Mariana Matera Veras (LIM05, HC-FMUSP), pela interpretação dos resultados e revisão crítica.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426696" y="4023360"/>
            <a:ext cx="5367528" cy="329184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14676119" y="4229100"/>
            <a:ext cx="868680" cy="86868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0" name="icone hospital" descr="hospital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93289" y="4446270"/>
            <a:ext cx="434340" cy="4343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2701016" y="5257800"/>
            <a:ext cx="48188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Instituição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46736" y="5715000"/>
            <a:ext cx="4727448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Faculdade São Leopoldo Mandic Araras e Programa de Iniciação Científica (PIC), na modalidade voluntária, pelo apoio institucional e metodológico; professores colaboradores do projeto.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7680960"/>
            <a:ext cx="16642080" cy="1828800"/>
          </a:xfrm>
          <a:prstGeom prst="roundRect">
            <a:avLst>
              <a:gd name="adj" fmla="val 6000"/>
            </a:avLst>
          </a:prstGeom>
          <a:solidFill>
            <a:srgbClr val="E6EBF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508760" y="7772400"/>
            <a:ext cx="15910559" cy="1691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Registro PROSPERO: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CRD420251238727   ·   </a:t>
            </a:r>
            <a:r>
              <a:rPr sz="1600" b="1" i="0">
                <a:solidFill>
                  <a:srgbClr val="002060"/>
                </a:solidFill>
                <a:latin typeface="Arial"/>
              </a:rPr>
              <a:t>Dados, código e figuras: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osf.io/jktmn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Financiamento: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nenhum.   ·   </a:t>
            </a:r>
            <a:r>
              <a:rPr sz="1600" b="1" i="0">
                <a:solidFill>
                  <a:srgbClr val="002060"/>
                </a:solidFill>
                <a:latin typeface="Arial"/>
              </a:rPr>
              <a:t>Conflitos de interesse: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nenhum.   ·   </a:t>
            </a:r>
            <a:r>
              <a:rPr sz="1600" b="1" i="0">
                <a:solidFill>
                  <a:srgbClr val="002060"/>
                </a:solidFill>
                <a:latin typeface="Arial"/>
              </a:rPr>
              <a:t>Dispensa do CEP: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protocolo 2025/0743 (Res. CNS 510/2016).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Contato: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theo.baccaro@med.slmandic.edu.br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57</Words>
  <Application>Microsoft Office PowerPoint</Application>
  <PresentationFormat>Personalizar</PresentationFormat>
  <Paragraphs>18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Ana Carolina da Cruz Alves</dc:creator>
  <cp:lastModifiedBy>Flávia Alves</cp:lastModifiedBy>
  <cp:revision>4</cp:revision>
  <dcterms:created xsi:type="dcterms:W3CDTF">2006-08-16T00:00:00Z</dcterms:created>
  <dcterms:modified xsi:type="dcterms:W3CDTF">2026-10-02T15:48:53Z</dcterms:modified>
  <dc:identifier>DAGzoUEXYuM</dc:identifier>
</cp:coreProperties>
</file>