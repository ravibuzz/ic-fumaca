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9"/>
    <p:sldId id="264" r:id="rId8"/>
    <p:sldId id="265" r:id="rId7"/>
    <p:sldId id="266" r:id="rId6"/>
    <p:sldId id="267" r:id="rId5"/>
    <p:sldId id="268" r:id="rId4"/>
    <p:sldId id="269" r:id="rId3"/>
    <p:sldId id="270" r:id="rId19"/>
    <p:sldId id="271" r:id="rId20"/>
    <p:sldId id="272" r:id="rId21"/>
    <p:sldId id="273" r:id="rId22"/>
    <p:sldId id="274" r:id="rId23"/>
    <p:sldId id="275" r:id="rId24"/>
    <p:sldId id="276" r:id="rId25"/>
    <p:sldId id="277" r:id="rId26"/>
    <p:sldId id="278" r:id="rId27"/>
    <p:sldId id="260" r:id="rId1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3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3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3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3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3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3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3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3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3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3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3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3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a:t>
            </a:r>
          </a:p>
          <a:p>
            <a:r>
              <a:t>Bom dia a todos. Meu nome é Theo Báccaro, sou aluno de Medicina da São Leopoldo Mandic de Araras. Vou apresentar a Iniciação Científica que desenvolvi ao longo de um ano, sob orientação da Profa. Lisie Tocci Justo, com a colaboração do Luiz Henrique Ledesma Pereira e da Dra. Mariana Matera Veras, do LIM05 da USP.</a:t>
            </a:r>
          </a:p>
          <a:p>
            <a:r>
              <a:t>O trabalho é uma revisão sistemática com metanálise de prevalência sobre os efeitos à saúde da exposição ocupacional à fumaça cirúrgica na equipe de centro cirúrgico.</a:t>
            </a:r>
          </a:p>
          <a:p/>
          <a:p>
            <a:r>
              <a:t>DICA: fale o título de forma natural, sem ler palavra por palavra. Respire e vá para o próximo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[0:15–1:05] INTRODUÇÃO (~50 s)</a:t>
            </a:r>
          </a:p>
          <a:p>
            <a:r>
              <a:t>Fumaça cirúrgica é o subproduto da destruição térmica dos tecidos pelo eletrocautério, pelo laser e pelo bisturi ultrassônico. Ela não é só "fumaça": contém hidrocarbonetos aromáticos policíclicos, compostos orgânicos voláteis como benzeno, tolueno e xileno, partículas ultrafinas que chegam às vias aéreas inferiores e até material genético viral, como o HPV.</a:t>
            </a:r>
          </a:p>
          <a:p>
            <a:r>
              <a:t>Quem trabalha no centro cirúrgico relata com frequência irritação ocular, tosse, irritação de mucosas, cefaleia e náusea. O que não sabemos é o efeito de longo prazo: há plausibilidade biológica para câncer e doença respiratória, mas a relação causal nunca foi estabelecida, e revisões recentes chegam a dizer que o risco pode estar superestimado.</a:t>
            </a:r>
          </a:p>
          <a:p>
            <a:r>
              <a:t>Enquanto isso, exaustão de fumaça e máscaras de alta filtração ainda são pouco adotadas. E a literatura prévia era descritiva, sem metanálise. Por isso desenhamos uma síntese em camadas: metanálise de prevalência dos sintomas e síntese narrativa, com GRADE, dos desfechos objetivos.</a:t>
            </a:r>
          </a:p>
          <a:p/>
          <a:p>
            <a:r>
              <a:t>PONTO-CHAVE: a palavra "controvérsia" justifica a revisão. Se a banca perguntar "por que mais uma revisão?", a resposta é: nenhuma anterior quantificou a prevalência com intervalo de predição e GRADE.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[1:05–1:35] OBJETIVOS (~30 s)</a:t>
            </a:r>
          </a:p>
          <a:p>
            <a:r>
              <a:t>O objetivo foi avaliar os desfechos de saúde associados à exposição ocupacional à fumaça cirúrgica na equipe de centro cirúrgico, com ênfase em três coisas: prevalência de sintomas, desfechos objetivos e biomarcadores.</a:t>
            </a:r>
          </a:p>
          <a:p>
            <a:r>
              <a:t>A pergunta foi estruturada em PECO: população é a equipe de centro cirúrgico; exposição é a fumaça dos dispositivos de energia; comparador são os não expostos ou protegidos; desfecho são os efeitos à saúde. Para a parte de prevalência usamos o esquema CoCoPop, condição, contexto e população, que é o recomendado pelo JBI para metanálises de proporção.</a:t>
            </a:r>
          </a:p>
          <a:p>
            <a:r>
              <a:t>Um ponto que gosto de deixar claro desde o início: metanálise de proporção estima frequência, não efeito causal. Isso vai ser importante na hora de interpretar.</a:t>
            </a:r>
          </a:p>
          <a:p/>
          <a:p>
            <a:r>
              <a:t>SE PERGUNTAREM "por que PECO e não PICO?": porque é exposição, não intervenção; não houve alocação de intervenção.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[1:35–2:05] METODOLOGIA – MAPA (~30 s)</a:t>
            </a:r>
          </a:p>
          <a:p>
            <a:r>
              <a:t>A parte que mais me orgulho é o método, então vou apresentá-lo como um passo a passo, do jeito que o PRISMA 2020 recomenda. São sete passos.</a:t>
            </a:r>
          </a:p>
          <a:p>
            <a:r>
              <a:t>Um: a pergunta e o protocolo, registrado no PROSPERO antes da extração de dados, e a dispensa do Comitê de Ética, por ser revisão de literatura. Dois: a busca em sete bases, mais literatura cinzenta e busca por citação. Três: a seleção, com deduplicação, triagem e leitura na íntegra. Quatro: a extração padronizada. Cinco: o risco de viés com as ferramentas do JBI. Seis: a síntese, que é a metanálise de proporções. Sete: a certeza da evidência pelo GRADE.</a:t>
            </a:r>
          </a:p>
          <a:p>
            <a:r>
              <a:t>Tudo foi feito com ferramentas abertas: Zotero, Rayyan, OpenAlex e análise em Python. Um assistente de IA foi usado apenas para priorizar a ordem de leitura; nenhuma decisão de elegibilidade ou extração foi delegada. O código e as planilhas estão públicos no OSF.</a:t>
            </a:r>
          </a:p>
          <a:p/>
          <a:p>
            <a:r>
              <a:t>DICA: não detalhe nada aqui; é só o mapa. Os próximos cinco slides percorrem os passos.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[2:05–2:40] PASSOS 1 E 2 (~35 s)</a:t>
            </a:r>
          </a:p>
          <a:p>
            <a:r>
              <a:t>Os critérios de elegibilidade foram fixados no protocolo. Incluímos estudos observacionais primários com profissionais de centro cirúrgico expostos, com qualquer efeito à saúde ou marcador de exposição como desfecho, em português, inglês ou espanhol, sem restrição de data. Excluímos estudos em animais, populações fora do centro cirúrgico, desfechos só no paciente, medições de ar sem desfecho humano e exposições não atribuíveis à fumaça.</a:t>
            </a:r>
          </a:p>
          <a:p>
            <a:r>
              <a:t>A busca foi desenhada para sensibilidade máxima: dois blocos, população e exposição, sem bloco de desfecho, sem filtro de idioma nem de data. Rodamos em sete bases, mais literatura cinzenta e busca por citação automatizada no OpenAlex. Resultado: 16.757 registros, mais 443 referências rastreadas por citação. PubMed e Embase trouxeram quase metade.</a:t>
            </a:r>
          </a:p>
          <a:p/>
          <a:p>
            <a:r>
              <a:t>SE PERGUNTAREM por que a Cochrane CENTRAL deu zero: ela indexa ensaios clínicos e a revisão só incluiu observacionais; era esperado.</a:t>
            </a:r>
          </a:p>
          <a:p>
            <a:r>
              <a:t>SE PERGUNTAREM por que sem bloco de desfecho: porque os desfechos eram heterogêneos (sintomas, espirometria, HPV...) e um bloco de desfecho reduziria a sensibilidade.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[2:40–3:15] PASSO 3 – SELEÇÃO (~35 s)</a:t>
            </a:r>
          </a:p>
          <a:p>
            <a:r>
              <a:t>Da esquerda para a direita: 16.757 registros entraram no Zotero e foram importados no Rayyan, que removeu 5.839 duplicatas por DOI, PMID e similaridade de título. Sobraram 10.910 registros únicos, e eu li o título e o resumo de todos eles. Um script em Python e um assistente de IA só reordenaram a fila de leitura; quem decidia era eu, com os critérios.</a:t>
            </a:r>
          </a:p>
          <a:p>
            <a:r>
              <a:t>Vinte e oito foram para texto completo, mais quatro vindos da busca por citação, total de 32; seis não foram recuperados apesar de tentativas por acesso institucional e contato com autores; 26 foram avaliados na íntegra e 22 incluídos.</a:t>
            </a:r>
          </a:p>
          <a:p>
            <a:r>
              <a:t>Um cuidado importante: sete publicações vêm do mesmo grupo brasileiro, com amostras sobrepostas. Para não contar ninguém duas vezes, cada agrupamento recebeu só um representante desse cluster, o Bieniek 2022, que era o relato mais completo.</a:t>
            </a:r>
          </a:p>
          <a:p/>
          <a:p>
            <a:r>
              <a:t>HONESTIDADE METODOLÓGICA: a triagem foi feita por um único revisor. Isso está declarado como limitação; o PRISMA pede dupla revisão independente. Se perguntarem, diga que a decisão foi registrada com justificativa e que a replicação em duplicata está nas perspectivas.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[3:15–3:45] PASSOS 4 E 5 (~30 s)</a:t>
            </a:r>
          </a:p>
          <a:p>
            <a:r>
              <a:t>A extração foi feita em planilha padronizada: identificação, desenho, população, dispositivo gerador, comparador, instrumento e definição do desfecho, taxa de resposta e, para a metanálise, o número de eventos e o denominador de cada estudo. Por exemplo, no İlçe 2017, 33 de 81 profissionais relataram lacrimejamento.</a:t>
            </a:r>
          </a:p>
          <a:p>
            <a:r>
              <a:t>O risco de viés foi avaliado com as ferramentas do Joanna Briggs Institute, escolhidas pela função de cada estudo: a lista de prevalência, com nove itens, para os sete estudos das metanálises; a de transversal analítico para os comparativos; e a de coorte para os três longitudinais. O julgamento global foi qualitativo, guiado pelos domínios críticos: amostragem, tamanho amostral, validade da mensuração e taxa de resposta.</a:t>
            </a:r>
          </a:p>
          <a:p>
            <a:r>
              <a:t>O semáforo resume: a preocupação foi moderada ou alta em todos, principalmente por amostragem não probabilística, taxa de resposta não relatada e desfecho autorrelatado. Nenhum estudo teve preocupação baixa, e isso vai pesar no GRADE.</a:t>
            </a:r>
          </a:p>
          <a:p/>
          <a:p>
            <a:r>
              <a:t>SE PERGUNTAREM por que JBI e não Newcastle-Ottawa ou ROBINS-E: o JBI tem lista específica para estudos de prevalência, alinhada ao CoCoPop; NOS não cobre prevalência e ROBINS-E é para exposição comparativa.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[3:45–4:35] PASSO 6 – METANÁLISE (~50 s)  ← o coração da apresentação</a:t>
            </a:r>
          </a:p>
          <a:p>
            <a:r>
              <a:t>Vou explicar a metanálise em cinco passos. Primeiro, cada estudo vira uma proporção: eventos dividido pelo n. Segundo, aplicamos a transformação logito, o logaritmo da chance: isso tira a proporção da escala de zero a um, aproxima da distribuição normal e garante que a estimativa combinada e os intervalos fiquem entre 0 e 100%. Terceiro, usamos modelo de efeitos aleatórios, porque não faz sentido supor uma única prevalência verdadeira em hospitais da Turquia, da Malásia e do Brasil; a variância entre estudos, o tau-quadrado, foi estimada por Paule-Mandel. Quarto, o intervalo de confiança da estimativa combinada recebeu o ajuste de Hartung-Knapp, que usa a distribuição t e é mais honesto quando há poucos estudos e muita heterogeneidade. Quinto, voltamos para porcentagem e reportamos o I² e o intervalo de predição, que diz onde cairia a prevalência de um novo estudo.</a:t>
            </a:r>
          </a:p>
          <a:p>
            <a:r>
              <a:t>Para testar a robustez, repetimos tudo com a transformação de Freeman-Tukey e com um modelo logístico misto, fizemos leave-one-out, gráfico de Baujat e subgrupo por país.</a:t>
            </a:r>
          </a:p>
          <a:p>
            <a:r>
              <a:t>Não fizemos gráfico de funil nem Egger, porque em proporções o erro-padrão depende da própria proporção, o que cria assimetria falsa, e seriam necessários dez estudos.</a:t>
            </a:r>
          </a:p>
          <a:p/>
          <a:p>
            <a:r>
              <a:t>ANALOGIA se precisar: efeitos fixos = "todos os estudos medem a mesma coisa com ruído"; efeitos aleatórios = "cada estudo mede a sua prevalência, e queremos a média dessas prevalências e a dispersão delas".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[4:35–5:05] PASSO 7 – GRADE (~30 s)</a:t>
            </a:r>
          </a:p>
          <a:p>
            <a:r>
              <a:t>O último passo foi graduar a certeza da evidência pelo GRADE, nos cinco domínios: risco de viés, inconsistência, evidência indireta, imprecisão e viés de publicação. Como não existe adaptação universal do GRADE para prevalência, explicitamos os critérios em cada domínio.</a:t>
            </a:r>
          </a:p>
          <a:p>
            <a:r>
              <a:t>Partimos de certeza baixa, por ser evidência observacional, e qualquer domínio grave leva a muito baixa. Um detalhe que mostra cuidado: a evidência indireta não foi rebaixada nos sintomas, porque o sintoma autorrelatado é exatamente o desfecho da pergunta de frequência; já nos biomarcadores foi rebaixada, por coexposição e desfecho substituto. E evitamos dupla contagem: o intervalo de predição entrou em inconsistência, e a largura do IC em imprecisão.</a:t>
            </a:r>
          </a:p>
          <a:p>
            <a:r>
              <a:t>À direita estão as decisões tomadas depois do registro no PROSPERO, todas declaradas no manuscrito.</a:t>
            </a:r>
          </a:p>
          <a:p/>
          <a:p>
            <a:r>
              <a:t>SE PERGUNTAREM "se começasse em alta, mudaria?": não. Com inconsistência muito grave, risco de viés grave e imprecisão grave, a certeza cairia três níveis e chegaria igualmente a muito baixa.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[5:05–5:30] RESULTADOS – SELEÇÃO E CARACTERÍSTICAS (~25 s)</a:t>
            </a:r>
          </a:p>
          <a:p>
            <a:r>
              <a:t>Este é o fluxograma PRISMA completo, que vocês já viram em números. Ficaram 22 relatórios de estudos observacionais, de nove países, a maioria transversal; três eram coortes prospectivas.</a:t>
            </a:r>
          </a:p>
          <a:p>
            <a:r>
              <a:t>Depois do controle de sobreposição, seis amostras independentes, com 756 profissionais, entraram na metanálise ocular, e sete amostras, com 1.428, na respiratória.</a:t>
            </a:r>
          </a:p>
          <a:p>
            <a:r>
              <a:t>No risco de viés, a preocupação foi moderada a alta nos inquéritos de prevalência, e moderada nos estudos de desfechos objetivos. Nenhum estudo teve preocupação baixa.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[5:30–6:10] RESULTADO PRINCIPAL – OCULAR (~40 s)</a:t>
            </a:r>
          </a:p>
          <a:p>
            <a:r>
              <a:t>Este é o resultado principal. A prevalência combinada de sintoma ocular, irritação ou lacrimejamento, foi de 37,6%, com intervalo de confiança de 21,9 a 56,5%. São seis amostras independentes, 756 profissionais.</a:t>
            </a:r>
          </a:p>
          <a:p>
            <a:r>
              <a:t>No gráfico de floresta, cada quadrado é a prevalência de um estudo, com o tamanho proporcional ao peso; a linha é o intervalo de confiança; o losango vermelho é a estimativa combinada e a linha vermelha mais longa é o intervalo de predição, de 7 a 83%. Essa linha longa é a mensagem honesta: a heterogeneidade é de 93%, os estudos vão de 19% na Malásia a 56% na Turquia, e um novo estudo poderia cair em quase qualquer valor.</a:t>
            </a:r>
          </a:p>
          <a:p>
            <a:r>
              <a:t>Reforço: isto é a proporção de profissionais que relataram o sintoma, conforme a definição de cada estudo, e não uma prevalência com período de recordatório homogêneo.</a:t>
            </a:r>
          </a:p>
          <a:p/>
          <a:p>
            <a:r>
              <a:t>SE PERGUNTAREM "I² de 93% não invalida a metanálise?": em prevalência, I² alto é a regra, não a exceção (Barker et al., 2021). Por isso reportamos o intervalo de predição e investigamos as fontes (país, definição), em vez de esconder a heterogeneidade num único número.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[6:10–6:40] RESPIRATÓRIO E ROBUSTEZ (~30 s)</a:t>
            </a:r>
          </a:p>
          <a:p>
            <a:r>
              <a:t>O desfecho respiratório, tratado como exploratório porque as definições variam muito, deu 41,7%, com intervalo de predição de 15 a 74%, em sete amostras e 1.428 profissionais.</a:t>
            </a:r>
          </a:p>
          <a:p>
            <a:r>
              <a:t>A tabela mostra por que confio nas estimativas: os três modelos, logito com Hartung-Knapp, Freeman-Tukey e o modelo logístico misto, deram praticamente o mesmo número; retirar um estudo por vez movimenta a estimativa ocular só entre 34 e 42%; e excluir o resumo de congresso não muda a leitura.</a:t>
            </a:r>
          </a:p>
          <a:p>
            <a:r>
              <a:t>Um achado interessante: quando restringimos a definições específicas de sintoma respiratório, o I² caiu de 91 para 61%. Ou seja, boa parte da heterogeneidade vem de como cada estudo definiu o sintoma.</a:t>
            </a:r>
          </a:p>
          <a:p>
            <a:r>
              <a:t>Na análise por país, a Turquia ficou em 50% e a Malásia em 20%, com diferença significativa, mas com dois ou três estudos por país isso é hipótese, não conclusão.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[6:40–7:20] DESFECHOS OBJETIVOS E GRADE (~40 s)</a:t>
            </a:r>
          </a:p>
          <a:p>
            <a:r>
              <a:t>Além dos sintomas, quatro estudos, um por desfecho, trouxeram medidas objetivas, e todos apontam na mesma direção, desfavorável aos expostos.</a:t>
            </a:r>
          </a:p>
          <a:p>
            <a:r>
              <a:t>Espirometria no Sudão: VEF1, CVF e pico de fluxo menores nos expostos, com gradiente pelo tempo de atuação; mas a relação VEF1/CVF foi normal e o pico de fluxo depende de esforço, então lemos com cautela. Biomarcadores urinários no Brasil: metabólitos de benzeno e xileno e malondialdeído muito mais altos nos expostos. Biópsia nasal numa coorte mexicana de quatro anos: metaplasia em 70% dos expostos contra 5%, risco relativo de 13,9, com intervalo muito amplo. E DNA de HPV na mucosa nasal de ginecologistas chineses: 9% contra 1,7%, risco relativo de 5,2.</a:t>
            </a:r>
          </a:p>
          <a:p>
            <a:r>
              <a:t>Pelo GRADE, a certeza foi muito baixa em todos os desfechos. E talvez o achado mais importante seja o que não encontramos: nenhum estudo avaliou diretamente câncer ou DPOC na equipe cirúrgica. Isso é um vazio de evidência, não evidência de ausência de risco.</a:t>
            </a:r>
          </a:p>
          <a:p/>
          <a:p>
            <a:r>
              <a:t>NÚMEROS para decorar: 37,6% ocular; 41,7% respiratório; RR 13,9 metaplasia; RR 5,2 HPV; 0 estudos de câncer/DPOC.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[7:20–7:50] DISCUSSÃO – INTERPRETAÇÃO (~30 s)</a:t>
            </a:r>
          </a:p>
          <a:p>
            <a:r>
              <a:t>Três leituras. Primeira: a carga de sintomas é alta e coerente com a literatura; a novidade é ter uma estimativa combinada com intervalo de predição, subgrupo e GRADE. Segunda: a heterogeneidade acima de 90% é esperada em prevalência; em vez de escondê-la, mostramos o intervalo de predição e as fontes prováveis: definição do sintoma, composição da equipe, tempo de exposição e contexto, como exaustão e EPI. Terceira: os desfechos objetivos têm gradiente dose-resposta, temporalidade e plausibilidade, mas são um estudo por desfecho, com intervalos amplos e coexposições. São marcadores, não doença.</a:t>
            </a:r>
          </a:p>
          <a:p>
            <a:r>
              <a:t>E o achado mais relevante é o que não foi encontrado: nenhum estudo de câncer ou DPOC. A controvérsia sobre o risco real só se resolve com estudos longitudinais que ainda não existem.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[7:50–8:15] PONTOS FORTES E LIMITAÇÕES (~25 s)</a:t>
            </a:r>
          </a:p>
          <a:p>
            <a:r>
              <a:t>Como pontos fortes: busca ampla e sem filtro de idioma, protocolo registrado, risco de viés padronizado, síntese com intervalo de predição e três modelos concordantes, GRADE por desfecho e tudo reprodutível no OSF.</a:t>
            </a:r>
          </a:p>
          <a:p>
            <a:r>
              <a:t>As limitações estão todas declaradas. As principais: os estudos são transversais, com exposição por ocupação e sintomas autorrelatados, e o respondente sabia que o questionário era sobre fumaça; não há grupo não exposto nos agrupamentos, então não estimamos o excesso atribuível; existe o efeito do trabalhador sadio, que subestima a prevalência; a heterogeneidade é alta; e a triagem, a extração e o risco de viés foram feitos por um único revisor, sem duplicata.</a:t>
            </a:r>
          </a:p>
          <a:p/>
          <a:p>
            <a:r>
              <a:t>ATITUDE: fale as limitações com segurança. Banca valoriza quem conhece as fraquezas do próprio trabalho mais do que quem as esconde.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[8:15–8:40] CONCLUSÃO (~25 s)</a:t>
            </a:r>
          </a:p>
          <a:p>
            <a:r>
              <a:t>Concluindo. O que se sabe: sintomas oculares e respiratórios são frequentes na equipe exposta, com grande variação entre contextos, e os desfechos objetivos sinalizam alterações além do incômodo agudo. O que não se sabe: não há evidência direta de câncer ou DPOC atribuíveis à fumaça, a certeza é muito baixa e as coexposições limitam a atribuição causal.</a:t>
            </a:r>
          </a:p>
          <a:p>
            <a:r>
              <a:t>A implicação prática é clara: pelo princípio da precaução e pela carga de sintomas, a exaustão local na fonte, os respiradores N95 e a educação da equipe se justificam hoje. E medir o risco de longo prazo é tarefa de estudos longitudinais.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[8:40–8:55] PERSPECTIVAS FUTURAS (~15 s)</a:t>
            </a:r>
          </a:p>
          <a:p>
            <a:r>
              <a:t>Para o campo, a agenda é clara: coortes com medição objetiva da exposição e controle de coexposições, definições padronizadas de sintoma, desfechos crônicos como câncer e DPOC, e estudos de efetividade da exaustão e das máscaras.</a:t>
            </a:r>
          </a:p>
          <a:p>
            <a:r>
              <a:t>Para este trabalho: submeter o manuscrito, atualizar a busca, replicar a triagem em duplicata e levar uma proposta de proteção para o nosso centro cirúrgico.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[8:55–9:00] REFERÊNCIAS (~5 s)</a:t>
            </a:r>
          </a:p>
          <a:p>
            <a:r>
              <a:t>Estas são as principais referências metodológicas e dos estudos incluídos; a lista completa, com mais de 60 itens, está no manuscrito. (Não leia; apenas mencione e avance.)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[9:00–9:10] AGRADECIMENTOS (~10 s)</a:t>
            </a:r>
          </a:p>
          <a:p>
            <a:r>
              <a:t>Agradeço à Profa. Lisie pela orientação, ao Luiz Henrique e à Dra. Mariana pela revisão crítica, e à Faculdade São Leopoldo Mandic e ao PIC pelo apoio. O protocolo está no PROSPERO e todo o código e as planilhas estão abertos no OSF. Obrigado. Estou à disposição para perguntas.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Respire, ouça a pergunta inteira, repita-a em uma frase ("a pergunta é sobre…") e responda em no máximo 30–40 segundos. Se não souber, diga o que o estudo permite afirmar e o que seria necessário para responder.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chart" Target="../charts/chart1.xml"/><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2.png"/><Relationship Id="rId8"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12.png"/><Relationship Id="rId6"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24.png"/><Relationship Id="rId7" Type="http://schemas.openxmlformats.org/officeDocument/2006/relationships/image" Target="../media/image58.png"/><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29400"/>
            <a:ext cx="10972800" cy="1554480"/>
          </a:xfrm>
          <a:prstGeom prst="rect">
            <a:avLst/>
          </a:prstGeom>
          <a:noFill/>
        </p:spPr>
        <p:txBody>
          <a:bodyPr wrap="square" rtlCol="0">
            <a:noAutofit/>
          </a:bodyPr>
          <a:lstStyle/>
          <a:p>
            <a:pPr algn="ctr">
              <a:lnSpc>
                <a:spcPct val="100000"/>
              </a:lnSpc>
              <a:spcAft>
                <a:spcPts val="400"/>
              </a:spcAft>
              <a:buNone/>
            </a:pPr>
            <a:r>
              <a:rPr sz="2400" b="1" i="0">
                <a:solidFill>
                  <a:srgbClr val="1F2433"/>
                </a:solidFill>
                <a:latin typeface="Tahoma"/>
              </a:rPr>
              <a:t>Autor: </a:t>
            </a:r>
            <a:r>
              <a:rPr sz="24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400"/>
              </a:spcAft>
              <a:buNone/>
            </a:pPr>
            <a:r>
              <a:rPr sz="2400" b="1" i="0">
                <a:solidFill>
                  <a:srgbClr val="1F2433"/>
                </a:solidFill>
                <a:latin typeface="Tahoma"/>
              </a:rPr>
              <a:t>Orientadora: </a:t>
            </a:r>
            <a:r>
              <a:rPr sz="2400" b="0" i="0">
                <a:solidFill>
                  <a:srgbClr val="1F2433"/>
                </a:solidFill>
                <a:latin typeface="Tahoma"/>
              </a:rPr>
              <a:t>Profa. Lisie Tocci Justo</a:t>
            </a:r>
          </a:p>
          <a:p>
            <a:pPr algn="ctr">
              <a:lnSpc>
                <a:spcPct val="100000"/>
              </a:lnSpc>
              <a:spcBef>
                <a:spcPts val="600"/>
              </a:spcBef>
              <a:spcAft>
                <a:spcPts val="400"/>
              </a:spcAft>
              <a:buNone/>
            </a:pPr>
            <a:r>
              <a:rPr sz="18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3581400" y="3978106"/>
            <a:ext cx="13258800" cy="707886"/>
          </a:xfrm>
          <a:prstGeom prst="rect">
            <a:avLst/>
          </a:prstGeom>
          <a:noFill/>
        </p:spPr>
        <p:txBody>
          <a:bodyPr wrap="square" rtlCol="0">
            <a:spAutoFit/>
          </a:bodyPr>
          <a:lstStyle/>
          <a:p>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250430"/>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o que é e por que importa</a:t>
            </a:r>
          </a:p>
        </p:txBody>
      </p:sp>
      <p:pic>
        <p:nvPicPr>
          <p:cNvPr id="7" name="Foto centro cirúrgico" descr="centro_cirurgico_fumaca.png"/>
          <p:cNvPicPr>
            <a:picLocks noChangeAspect="1"/>
          </p:cNvPicPr>
          <p:nvPr/>
        </p:nvPicPr>
        <p:blipFill>
          <a:blip r:embed="rId4"/>
          <a:stretch>
            <a:fillRect/>
          </a:stretch>
        </p:blipFill>
        <p:spPr>
          <a:xfrm>
            <a:off x="1143000" y="1737360"/>
            <a:ext cx="7589520" cy="4246517"/>
          </a:xfrm>
          <a:prstGeom prst="rect">
            <a:avLst/>
          </a:prstGeom>
        </p:spPr>
      </p:pic>
      <p:sp>
        <p:nvSpPr>
          <p:cNvPr id="8" name="TextBox 7"/>
          <p:cNvSpPr txBox="1"/>
          <p:nvPr/>
        </p:nvSpPr>
        <p:spPr>
          <a:xfrm>
            <a:off x="1143000" y="6035040"/>
            <a:ext cx="7589520" cy="32004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Imagem ilustrativa (gerada por IA): pluma de fumaça do eletrocautério no campo cirúrgico.</a:t>
            </a:r>
          </a:p>
        </p:txBody>
      </p:sp>
      <p:sp>
        <p:nvSpPr>
          <p:cNvPr id="9" name="Rounded Rectangle 8"/>
          <p:cNvSpPr/>
          <p:nvPr/>
        </p:nvSpPr>
        <p:spPr>
          <a:xfrm>
            <a:off x="1143000" y="6446520"/>
            <a:ext cx="7589520" cy="224028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658368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Sintomas agudos relatados pela equipe exposta</a:t>
            </a:r>
          </a:p>
        </p:txBody>
      </p:sp>
      <p:pic>
        <p:nvPicPr>
          <p:cNvPr id="11" name="icone eye" descr="eye_navy.png"/>
          <p:cNvPicPr>
            <a:picLocks noChangeAspect="1"/>
          </p:cNvPicPr>
          <p:nvPr/>
        </p:nvPicPr>
        <p:blipFill>
          <a:blip r:embed="rId5"/>
          <a:stretch>
            <a:fillRect/>
          </a:stretch>
        </p:blipFill>
        <p:spPr>
          <a:xfrm>
            <a:off x="1463040" y="7104888"/>
            <a:ext cx="365760" cy="365760"/>
          </a:xfrm>
          <a:prstGeom prst="rect">
            <a:avLst/>
          </a:prstGeom>
        </p:spPr>
      </p:pic>
      <p:sp>
        <p:nvSpPr>
          <p:cNvPr id="12" name="TextBox 11"/>
          <p:cNvSpPr txBox="1"/>
          <p:nvPr/>
        </p:nvSpPr>
        <p:spPr>
          <a:xfrm>
            <a:off x="2011680" y="708660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ocular e lacrimejamento</a:t>
            </a:r>
          </a:p>
        </p:txBody>
      </p:sp>
      <p:pic>
        <p:nvPicPr>
          <p:cNvPr id="13" name="icone lungs" descr="lungs_navy.png"/>
          <p:cNvPicPr>
            <a:picLocks noChangeAspect="1"/>
          </p:cNvPicPr>
          <p:nvPr/>
        </p:nvPicPr>
        <p:blipFill>
          <a:blip r:embed="rId6"/>
          <a:stretch>
            <a:fillRect/>
          </a:stretch>
        </p:blipFill>
        <p:spPr>
          <a:xfrm>
            <a:off x="1463040" y="7607808"/>
            <a:ext cx="365760" cy="365760"/>
          </a:xfrm>
          <a:prstGeom prst="rect">
            <a:avLst/>
          </a:prstGeom>
        </p:spPr>
      </p:pic>
      <p:sp>
        <p:nvSpPr>
          <p:cNvPr id="14" name="TextBox 13"/>
          <p:cNvSpPr txBox="1"/>
          <p:nvPr/>
        </p:nvSpPr>
        <p:spPr>
          <a:xfrm>
            <a:off x="2011680" y="758952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Tosse e irritação das vias aéreas e mucosas</a:t>
            </a:r>
          </a:p>
        </p:txBody>
      </p:sp>
      <p:pic>
        <p:nvPicPr>
          <p:cNvPr id="15" name="icone exclaim" descr="exclaim_navy.png"/>
          <p:cNvPicPr>
            <a:picLocks noChangeAspect="1"/>
          </p:cNvPicPr>
          <p:nvPr/>
        </p:nvPicPr>
        <p:blipFill>
          <a:blip r:embed="rId7"/>
          <a:stretch>
            <a:fillRect/>
          </a:stretch>
        </p:blipFill>
        <p:spPr>
          <a:xfrm>
            <a:off x="1463040" y="8110727"/>
            <a:ext cx="365760" cy="365760"/>
          </a:xfrm>
          <a:prstGeom prst="rect">
            <a:avLst/>
          </a:prstGeom>
        </p:spPr>
      </p:pic>
      <p:sp>
        <p:nvSpPr>
          <p:cNvPr id="16" name="TextBox 15"/>
          <p:cNvSpPr txBox="1"/>
          <p:nvPr/>
        </p:nvSpPr>
        <p:spPr>
          <a:xfrm>
            <a:off x="2011680" y="8092440"/>
            <a:ext cx="6400800" cy="45720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Cefaleia e náusea</a:t>
            </a:r>
          </a:p>
        </p:txBody>
      </p:sp>
      <p:sp>
        <p:nvSpPr>
          <p:cNvPr id="17" name="Oval 16"/>
          <p:cNvSpPr/>
          <p:nvPr/>
        </p:nvSpPr>
        <p:spPr>
          <a:xfrm>
            <a:off x="9144000" y="1737360"/>
            <a:ext cx="822960" cy="822960"/>
          </a:xfrm>
          <a:prstGeom prst="ellipse">
            <a:avLst/>
          </a:prstGeom>
          <a:solidFill>
            <a:srgbClr val="002060"/>
          </a:solidFill>
          <a:ln>
            <a:noFill/>
          </a:ln>
          <a:effectLst/>
        </p:spPr>
        <p:txBody>
          <a:bodyPr rtlCol="0" anchor="ctr" lIns="0" rIns="0" tIns="0" bIns="0"/>
          <a:lstStyle/>
          <a:p/>
        </p:txBody>
      </p:sp>
      <p:pic>
        <p:nvPicPr>
          <p:cNvPr id="18" name="icone smoke" descr="smoke_white.png"/>
          <p:cNvPicPr>
            <a:picLocks noChangeAspect="1"/>
          </p:cNvPicPr>
          <p:nvPr/>
        </p:nvPicPr>
        <p:blipFill>
          <a:blip r:embed="rId8"/>
          <a:stretch>
            <a:fillRect/>
          </a:stretch>
        </p:blipFill>
        <p:spPr>
          <a:xfrm>
            <a:off x="9349740" y="1943100"/>
            <a:ext cx="411480" cy="411480"/>
          </a:xfrm>
          <a:prstGeom prst="rect">
            <a:avLst/>
          </a:prstGeom>
        </p:spPr>
      </p:pic>
      <p:sp>
        <p:nvSpPr>
          <p:cNvPr id="19" name="TextBox 18"/>
          <p:cNvSpPr txBox="1"/>
          <p:nvPr/>
        </p:nvSpPr>
        <p:spPr>
          <a:xfrm>
            <a:off x="10241280" y="1719072"/>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é</a:t>
            </a:r>
          </a:p>
        </p:txBody>
      </p:sp>
      <p:sp>
        <p:nvSpPr>
          <p:cNvPr id="20" name="TextBox 19"/>
          <p:cNvSpPr txBox="1"/>
          <p:nvPr/>
        </p:nvSpPr>
        <p:spPr>
          <a:xfrm>
            <a:off x="10241280" y="2148840"/>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Subproduto da destruição térmica dos tecidos por dispositivos de energia: eletrocautério (bisturi elétrico), laser e bisturi ultrassônico (Benaim; Jaspers, 2024).</a:t>
            </a:r>
          </a:p>
        </p:txBody>
      </p:sp>
      <p:sp>
        <p:nvSpPr>
          <p:cNvPr id="21" name="Oval 20"/>
          <p:cNvSpPr/>
          <p:nvPr/>
        </p:nvSpPr>
        <p:spPr>
          <a:xfrm>
            <a:off x="9144000" y="3493007"/>
            <a:ext cx="822960" cy="822960"/>
          </a:xfrm>
          <a:prstGeom prst="ellipse">
            <a:avLst/>
          </a:prstGeom>
          <a:solidFill>
            <a:srgbClr val="002060"/>
          </a:solidFill>
          <a:ln>
            <a:noFill/>
          </a:ln>
          <a:effectLst/>
        </p:spPr>
        <p:txBody>
          <a:bodyPr rtlCol="0" anchor="ctr" lIns="0" rIns="0" tIns="0" bIns="0"/>
          <a:lstStyle/>
          <a:p/>
        </p:txBody>
      </p:sp>
      <p:pic>
        <p:nvPicPr>
          <p:cNvPr id="22" name="icone flask" descr="flask_white.png"/>
          <p:cNvPicPr>
            <a:picLocks noChangeAspect="1"/>
          </p:cNvPicPr>
          <p:nvPr/>
        </p:nvPicPr>
        <p:blipFill>
          <a:blip r:embed="rId9"/>
          <a:stretch>
            <a:fillRect/>
          </a:stretch>
        </p:blipFill>
        <p:spPr>
          <a:xfrm>
            <a:off x="9349740" y="3698748"/>
            <a:ext cx="411480" cy="411480"/>
          </a:xfrm>
          <a:prstGeom prst="rect">
            <a:avLst/>
          </a:prstGeom>
        </p:spPr>
      </p:pic>
      <p:sp>
        <p:nvSpPr>
          <p:cNvPr id="23" name="TextBox 22"/>
          <p:cNvSpPr txBox="1"/>
          <p:nvPr/>
        </p:nvSpPr>
        <p:spPr>
          <a:xfrm>
            <a:off x="10241280" y="3474720"/>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contém</a:t>
            </a:r>
          </a:p>
        </p:txBody>
      </p:sp>
      <p:sp>
        <p:nvSpPr>
          <p:cNvPr id="24" name="TextBox 23"/>
          <p:cNvSpPr txBox="1"/>
          <p:nvPr/>
        </p:nvSpPr>
        <p:spPr>
          <a:xfrm>
            <a:off x="10241280" y="3904487"/>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Hidrocarbonetos aromáticos policíclicos, compostos orgânicos voláteis (benzeno, tolueno, xileno), material particulado ultrafino (PM2,5) e material genético viral, como o HPV.</a:t>
            </a:r>
          </a:p>
        </p:txBody>
      </p:sp>
      <p:sp>
        <p:nvSpPr>
          <p:cNvPr id="25" name="Oval 24"/>
          <p:cNvSpPr/>
          <p:nvPr/>
        </p:nvSpPr>
        <p:spPr>
          <a:xfrm>
            <a:off x="9144000" y="5248656"/>
            <a:ext cx="822960" cy="822960"/>
          </a:xfrm>
          <a:prstGeom prst="ellipse">
            <a:avLst/>
          </a:prstGeom>
          <a:solidFill>
            <a:srgbClr val="002060"/>
          </a:solidFill>
          <a:ln>
            <a:noFill/>
          </a:ln>
          <a:effectLst/>
        </p:spPr>
        <p:txBody>
          <a:bodyPr rtlCol="0" anchor="ctr" lIns="0" rIns="0" tIns="0" bIns="0"/>
          <a:lstStyle/>
          <a:p/>
        </p:txBody>
      </p:sp>
      <p:pic>
        <p:nvPicPr>
          <p:cNvPr id="26" name="icone warning" descr="warning_white.png"/>
          <p:cNvPicPr>
            <a:picLocks noChangeAspect="1"/>
          </p:cNvPicPr>
          <p:nvPr/>
        </p:nvPicPr>
        <p:blipFill>
          <a:blip r:embed="rId10"/>
          <a:stretch>
            <a:fillRect/>
          </a:stretch>
        </p:blipFill>
        <p:spPr>
          <a:xfrm>
            <a:off x="9349740" y="5454396"/>
            <a:ext cx="411480" cy="411480"/>
          </a:xfrm>
          <a:prstGeom prst="rect">
            <a:avLst/>
          </a:prstGeom>
        </p:spPr>
      </p:pic>
      <p:sp>
        <p:nvSpPr>
          <p:cNvPr id="27" name="TextBox 26"/>
          <p:cNvSpPr txBox="1"/>
          <p:nvPr/>
        </p:nvSpPr>
        <p:spPr>
          <a:xfrm>
            <a:off x="10241280" y="5230368"/>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se sabe (e o que não se sabe)</a:t>
            </a:r>
          </a:p>
        </p:txBody>
      </p:sp>
      <p:sp>
        <p:nvSpPr>
          <p:cNvPr id="28" name="TextBox 27"/>
          <p:cNvSpPr txBox="1"/>
          <p:nvPr/>
        </p:nvSpPr>
        <p:spPr>
          <a:xfrm>
            <a:off x="10241280" y="5660136"/>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Sintomas agudos são frequentes. Efeitos crônicos (neoplasias, doença respiratória) são plausíveis, mas sem relação causal estabelecida; o tema é controverso (Hurst; Stewart, 2024).</a:t>
            </a:r>
          </a:p>
        </p:txBody>
      </p:sp>
      <p:sp>
        <p:nvSpPr>
          <p:cNvPr id="29" name="Oval 28"/>
          <p:cNvSpPr/>
          <p:nvPr/>
        </p:nvSpPr>
        <p:spPr>
          <a:xfrm>
            <a:off x="9144000" y="7004303"/>
            <a:ext cx="822960" cy="822960"/>
          </a:xfrm>
          <a:prstGeom prst="ellipse">
            <a:avLst/>
          </a:prstGeom>
          <a:solidFill>
            <a:srgbClr val="002060"/>
          </a:solidFill>
          <a:ln>
            <a:noFill/>
          </a:ln>
          <a:effectLst/>
        </p:spPr>
        <p:txBody>
          <a:bodyPr rtlCol="0" anchor="ctr" lIns="0" rIns="0" tIns="0" bIns="0"/>
          <a:lstStyle/>
          <a:p/>
        </p:txBody>
      </p:sp>
      <p:pic>
        <p:nvPicPr>
          <p:cNvPr id="30" name="icone shield" descr="shield_white.png"/>
          <p:cNvPicPr>
            <a:picLocks noChangeAspect="1"/>
          </p:cNvPicPr>
          <p:nvPr/>
        </p:nvPicPr>
        <p:blipFill>
          <a:blip r:embed="rId11"/>
          <a:stretch>
            <a:fillRect/>
          </a:stretch>
        </p:blipFill>
        <p:spPr>
          <a:xfrm>
            <a:off x="9349740" y="7210044"/>
            <a:ext cx="411480" cy="411480"/>
          </a:xfrm>
          <a:prstGeom prst="rect">
            <a:avLst/>
          </a:prstGeom>
        </p:spPr>
      </p:pic>
      <p:sp>
        <p:nvSpPr>
          <p:cNvPr id="31" name="TextBox 30"/>
          <p:cNvSpPr txBox="1"/>
          <p:nvPr/>
        </p:nvSpPr>
        <p:spPr>
          <a:xfrm>
            <a:off x="10241280" y="6986016"/>
            <a:ext cx="754380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Por que importa</a:t>
            </a:r>
          </a:p>
        </p:txBody>
      </p:sp>
      <p:sp>
        <p:nvSpPr>
          <p:cNvPr id="32" name="TextBox 31"/>
          <p:cNvSpPr txBox="1"/>
          <p:nvPr/>
        </p:nvSpPr>
        <p:spPr>
          <a:xfrm>
            <a:off x="10241280" y="7415783"/>
            <a:ext cx="7543800" cy="1280160"/>
          </a:xfrm>
          <a:prstGeom prst="rect">
            <a:avLst/>
          </a:prstGeom>
          <a:noFill/>
        </p:spPr>
        <p:txBody>
          <a:bodyPr wrap="square" lIns="0" rIns="0" tIns="0" bIns="0" anchor="t">
            <a:noAutofit/>
          </a:bodyPr>
          <a:lstStyle/>
          <a:p>
            <a:pPr algn="l">
              <a:lnSpc>
                <a:spcPct val="105000"/>
              </a:lnSpc>
              <a:spcAft>
                <a:spcPts val="0"/>
              </a:spcAft>
              <a:buNone/>
            </a:pPr>
            <a:r>
              <a:rPr sz="1700" b="0" i="0">
                <a:solidFill>
                  <a:srgbClr val="1F2433"/>
                </a:solidFill>
                <a:latin typeface="Arial"/>
              </a:rPr>
              <a:t>Exaustão de fumaça e máscaras de alta filtração ainda são pouco adotadas e não há diretrizes harmonizadas. As revisões anteriores eram descritivas, sem síntese quantitativa.</a:t>
            </a:r>
          </a:p>
        </p:txBody>
      </p:sp>
      <p:sp>
        <p:nvSpPr>
          <p:cNvPr id="33" name="Rounded Rectangle 32"/>
          <p:cNvSpPr/>
          <p:nvPr/>
        </p:nvSpPr>
        <p:spPr>
          <a:xfrm>
            <a:off x="9144000" y="8778240"/>
            <a:ext cx="8641080" cy="1005840"/>
          </a:xfrm>
          <a:prstGeom prst="roundRect">
            <a:avLst>
              <a:gd name="adj" fmla="val 6000"/>
            </a:avLst>
          </a:prstGeom>
          <a:solidFill>
            <a:srgbClr val="FBF5E3"/>
          </a:solidFill>
          <a:ln>
            <a:noFill/>
          </a:ln>
          <a:effectLst/>
        </p:spPr>
        <p:txBody>
          <a:bodyPr rtlCol="0" anchor="ctr"/>
          <a:lstStyle/>
          <a:p/>
        </p:txBody>
      </p:sp>
      <p:sp>
        <p:nvSpPr>
          <p:cNvPr id="34" name="TextBox 33"/>
          <p:cNvSpPr txBox="1"/>
          <p:nvPr/>
        </p:nvSpPr>
        <p:spPr>
          <a:xfrm>
            <a:off x="9372600" y="8851392"/>
            <a:ext cx="8229600" cy="8686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Lacuna → </a:t>
            </a:r>
            <a:r>
              <a:rPr sz="1600" b="1" i="0">
                <a:solidFill>
                  <a:srgbClr val="1F2433"/>
                </a:solidFill>
                <a:latin typeface="Arial"/>
              </a:rPr>
              <a:t>síntese em camadas: </a:t>
            </a:r>
            <a:r>
              <a:rPr sz="1600" b="0" i="0">
                <a:solidFill>
                  <a:srgbClr val="1F2433"/>
                </a:solidFill>
                <a:latin typeface="Arial"/>
              </a:rPr>
              <a:t>metanálise da prevalência de sintomas + síntese narrativa, com GRADE, dos desfechos objetivos e biomarcadores.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Pergunta estruturada: PECO para os desfechos comparativos e CoCoPop para a prevalência</a:t>
            </a:r>
          </a:p>
        </p:txBody>
      </p:sp>
      <p:sp>
        <p:nvSpPr>
          <p:cNvPr id="7" name="Rounded Rectangle 6"/>
          <p:cNvSpPr/>
          <p:nvPr/>
        </p:nvSpPr>
        <p:spPr>
          <a:xfrm>
            <a:off x="1143000" y="1783080"/>
            <a:ext cx="16642080" cy="1234440"/>
          </a:xfrm>
          <a:prstGeom prst="roundRect">
            <a:avLst>
              <a:gd name="adj" fmla="val 6000"/>
            </a:avLst>
          </a:prstGeom>
          <a:solidFill>
            <a:srgbClr val="002060"/>
          </a:solidFill>
          <a:ln>
            <a:noFill/>
          </a:ln>
          <a:effectLst/>
        </p:spPr>
        <p:txBody>
          <a:bodyPr rtlCol="0" anchor="ctr"/>
          <a:lstStyle/>
          <a:p/>
        </p:txBody>
      </p:sp>
      <p:sp>
        <p:nvSpPr>
          <p:cNvPr id="8" name="TextBox 7"/>
          <p:cNvSpPr txBox="1"/>
          <p:nvPr/>
        </p:nvSpPr>
        <p:spPr>
          <a:xfrm>
            <a:off x="1417320" y="1828800"/>
            <a:ext cx="16093440" cy="114300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Objetivo geral: </a:t>
            </a:r>
            <a:r>
              <a:rPr sz="2100" b="0" i="0">
                <a:solidFill>
                  <a:srgbClr val="FFFFFF"/>
                </a:solidFill>
                <a:latin typeface="Arial"/>
              </a:rPr>
              <a:t>avaliar os desfechos de saúde associados à exposição ocupacional à fumaça cirúrgica na equipe de centro cirúrgico, com ênfase na prevalência de sintomas, nos desfechos objetivos e nos biomarcadores de exposição ou de possível efeito.</a:t>
            </a:r>
          </a:p>
        </p:txBody>
      </p:sp>
      <p:sp>
        <p:nvSpPr>
          <p:cNvPr id="9" name="Rounded Rectangle 8"/>
          <p:cNvSpPr/>
          <p:nvPr/>
        </p:nvSpPr>
        <p:spPr>
          <a:xfrm>
            <a:off x="1143000" y="3291840"/>
            <a:ext cx="3941063" cy="2514600"/>
          </a:xfrm>
          <a:prstGeom prst="roundRect">
            <a:avLst>
              <a:gd name="adj" fmla="val 6000"/>
            </a:avLst>
          </a:prstGeom>
          <a:solidFill>
            <a:srgbClr val="F2F4F8"/>
          </a:solidFill>
          <a:ln>
            <a:noFill/>
          </a:ln>
          <a:effectLst/>
        </p:spPr>
        <p:txBody>
          <a:bodyPr rtlCol="0" anchor="ctr"/>
          <a:lstStyle/>
          <a:p/>
        </p:txBody>
      </p:sp>
      <p:sp>
        <p:nvSpPr>
          <p:cNvPr id="10" name="Oval 9"/>
          <p:cNvSpPr/>
          <p:nvPr/>
        </p:nvSpPr>
        <p:spPr>
          <a:xfrm>
            <a:off x="1394460"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P</a:t>
            </a:r>
          </a:p>
        </p:txBody>
      </p:sp>
      <p:sp>
        <p:nvSpPr>
          <p:cNvPr id="11" name="TextBox 10"/>
          <p:cNvSpPr txBox="1"/>
          <p:nvPr/>
        </p:nvSpPr>
        <p:spPr>
          <a:xfrm>
            <a:off x="2240280"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População</a:t>
            </a:r>
          </a:p>
        </p:txBody>
      </p:sp>
      <p:sp>
        <p:nvSpPr>
          <p:cNvPr id="12" name="TextBox 11"/>
          <p:cNvSpPr txBox="1"/>
          <p:nvPr/>
        </p:nvSpPr>
        <p:spPr>
          <a:xfrm>
            <a:off x="1417320"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Equipe de centro cirúrgico: cirurgiões, residentes, enfermagem perioperatória, instrumentadores e profissionais de anestesia.</a:t>
            </a:r>
          </a:p>
        </p:txBody>
      </p:sp>
      <p:sp>
        <p:nvSpPr>
          <p:cNvPr id="13" name="Rounded Rectangle 12"/>
          <p:cNvSpPr/>
          <p:nvPr/>
        </p:nvSpPr>
        <p:spPr>
          <a:xfrm>
            <a:off x="5385816" y="3291840"/>
            <a:ext cx="3941063" cy="25146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5637276"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E</a:t>
            </a:r>
          </a:p>
        </p:txBody>
      </p:sp>
      <p:sp>
        <p:nvSpPr>
          <p:cNvPr id="15" name="TextBox 14"/>
          <p:cNvSpPr txBox="1"/>
          <p:nvPr/>
        </p:nvSpPr>
        <p:spPr>
          <a:xfrm>
            <a:off x="6483096"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Exposição</a:t>
            </a:r>
          </a:p>
        </p:txBody>
      </p:sp>
      <p:sp>
        <p:nvSpPr>
          <p:cNvPr id="16" name="TextBox 15"/>
          <p:cNvSpPr txBox="1"/>
          <p:nvPr/>
        </p:nvSpPr>
        <p:spPr>
          <a:xfrm>
            <a:off x="5660136"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Exposição ocupacional à fumaça gerada por dispositivos de energia (eletrocautério, laser, bisturi ultrassônico).</a:t>
            </a:r>
          </a:p>
        </p:txBody>
      </p:sp>
      <p:sp>
        <p:nvSpPr>
          <p:cNvPr id="17" name="Rounded Rectangle 16"/>
          <p:cNvSpPr/>
          <p:nvPr/>
        </p:nvSpPr>
        <p:spPr>
          <a:xfrm>
            <a:off x="9628632" y="3291840"/>
            <a:ext cx="3941063" cy="251460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9880092"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C</a:t>
            </a:r>
          </a:p>
        </p:txBody>
      </p:sp>
      <p:sp>
        <p:nvSpPr>
          <p:cNvPr id="19" name="TextBox 18"/>
          <p:cNvSpPr txBox="1"/>
          <p:nvPr/>
        </p:nvSpPr>
        <p:spPr>
          <a:xfrm>
            <a:off x="10725911"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Comparador</a:t>
            </a:r>
          </a:p>
        </p:txBody>
      </p:sp>
      <p:sp>
        <p:nvSpPr>
          <p:cNvPr id="20" name="TextBox 19"/>
          <p:cNvSpPr txBox="1"/>
          <p:nvPr/>
        </p:nvSpPr>
        <p:spPr>
          <a:xfrm>
            <a:off x="9902952"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Não expostos, minimamente expostos ou com medidas de proteção (exaustão local, máscaras de alta filtração).</a:t>
            </a:r>
          </a:p>
        </p:txBody>
      </p:sp>
      <p:sp>
        <p:nvSpPr>
          <p:cNvPr id="21" name="Rounded Rectangle 20"/>
          <p:cNvSpPr/>
          <p:nvPr/>
        </p:nvSpPr>
        <p:spPr>
          <a:xfrm>
            <a:off x="13871447" y="3291840"/>
            <a:ext cx="3941063" cy="2514600"/>
          </a:xfrm>
          <a:prstGeom prst="roundRect">
            <a:avLst>
              <a:gd name="adj" fmla="val 6000"/>
            </a:avLst>
          </a:prstGeom>
          <a:solidFill>
            <a:srgbClr val="F2F4F8"/>
          </a:solidFill>
          <a:ln>
            <a:noFill/>
          </a:ln>
          <a:effectLst/>
        </p:spPr>
        <p:txBody>
          <a:bodyPr rtlCol="0" anchor="ctr"/>
          <a:lstStyle/>
          <a:p/>
        </p:txBody>
      </p:sp>
      <p:sp>
        <p:nvSpPr>
          <p:cNvPr id="22" name="Oval 21"/>
          <p:cNvSpPr/>
          <p:nvPr/>
        </p:nvSpPr>
        <p:spPr>
          <a:xfrm>
            <a:off x="14122907" y="336042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O</a:t>
            </a:r>
          </a:p>
        </p:txBody>
      </p:sp>
      <p:sp>
        <p:nvSpPr>
          <p:cNvPr id="23" name="TextBox 22"/>
          <p:cNvSpPr txBox="1"/>
          <p:nvPr/>
        </p:nvSpPr>
        <p:spPr>
          <a:xfrm>
            <a:off x="14968727" y="3456432"/>
            <a:ext cx="2660903" cy="50292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Outcome (desfecho)</a:t>
            </a:r>
          </a:p>
        </p:txBody>
      </p:sp>
      <p:sp>
        <p:nvSpPr>
          <p:cNvPr id="24" name="TextBox 23"/>
          <p:cNvSpPr txBox="1"/>
          <p:nvPr/>
        </p:nvSpPr>
        <p:spPr>
          <a:xfrm>
            <a:off x="14145767" y="4206240"/>
            <a:ext cx="3392423" cy="155448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Efeitos à saúde: sintomas, função pulmonar, biomarcadores urinários, mucosa nasal, HPV-DNA nas vias aéreas.</a:t>
            </a:r>
          </a:p>
        </p:txBody>
      </p:sp>
      <p:sp>
        <p:nvSpPr>
          <p:cNvPr id="25" name="TextBox 24"/>
          <p:cNvSpPr txBox="1"/>
          <p:nvPr/>
        </p:nvSpPr>
        <p:spPr>
          <a:xfrm>
            <a:off x="1143000" y="603504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Para a prevalência (metanálise de proporções): </a:t>
            </a:r>
            <a:r>
              <a:rPr sz="1800" b="0" i="0">
                <a:solidFill>
                  <a:srgbClr val="5A6270"/>
                </a:solidFill>
                <a:latin typeface="Arial"/>
              </a:rPr>
              <a:t>esquema CoCoPop (Munn et al., 2015)</a:t>
            </a:r>
          </a:p>
        </p:txBody>
      </p:sp>
      <p:sp>
        <p:nvSpPr>
          <p:cNvPr id="26" name="Rounded Rectangle 25"/>
          <p:cNvSpPr/>
          <p:nvPr/>
        </p:nvSpPr>
        <p:spPr>
          <a:xfrm>
            <a:off x="1143000" y="6446520"/>
            <a:ext cx="5367528" cy="1188720"/>
          </a:xfrm>
          <a:prstGeom prst="roundRect">
            <a:avLst>
              <a:gd name="adj" fmla="val 6000"/>
            </a:avLst>
          </a:prstGeom>
          <a:solidFill>
            <a:srgbClr val="E3F3F4"/>
          </a:solidFill>
          <a:ln>
            <a:noFill/>
          </a:ln>
          <a:effectLst/>
        </p:spPr>
        <p:txBody>
          <a:bodyPr rtlCol="0" anchor="ctr"/>
          <a:lstStyle/>
          <a:p/>
        </p:txBody>
      </p:sp>
      <p:sp>
        <p:nvSpPr>
          <p:cNvPr id="27" name="TextBox 26"/>
          <p:cNvSpPr txBox="1"/>
          <p:nvPr/>
        </p:nvSpPr>
        <p:spPr>
          <a:xfrm>
            <a:off x="1417320"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Condição</a:t>
            </a:r>
          </a:p>
        </p:txBody>
      </p:sp>
      <p:sp>
        <p:nvSpPr>
          <p:cNvPr id="28" name="TextBox 27"/>
          <p:cNvSpPr txBox="1"/>
          <p:nvPr/>
        </p:nvSpPr>
        <p:spPr>
          <a:xfrm>
            <a:off x="1417320"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Sintomas oculares e respiratórios autorrelatados, relacionados à exposição</a:t>
            </a:r>
          </a:p>
        </p:txBody>
      </p:sp>
      <p:sp>
        <p:nvSpPr>
          <p:cNvPr id="29" name="Rounded Rectangle 28"/>
          <p:cNvSpPr/>
          <p:nvPr/>
        </p:nvSpPr>
        <p:spPr>
          <a:xfrm>
            <a:off x="6784848" y="6446520"/>
            <a:ext cx="5367528" cy="1188720"/>
          </a:xfrm>
          <a:prstGeom prst="roundRect">
            <a:avLst>
              <a:gd name="adj" fmla="val 6000"/>
            </a:avLst>
          </a:prstGeom>
          <a:solidFill>
            <a:srgbClr val="E3F3F4"/>
          </a:solidFill>
          <a:ln>
            <a:noFill/>
          </a:ln>
          <a:effectLst/>
        </p:spPr>
        <p:txBody>
          <a:bodyPr rtlCol="0" anchor="ctr"/>
          <a:lstStyle/>
          <a:p/>
        </p:txBody>
      </p:sp>
      <p:sp>
        <p:nvSpPr>
          <p:cNvPr id="30" name="TextBox 29"/>
          <p:cNvSpPr txBox="1"/>
          <p:nvPr/>
        </p:nvSpPr>
        <p:spPr>
          <a:xfrm>
            <a:off x="7059168"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Contexto</a:t>
            </a:r>
          </a:p>
        </p:txBody>
      </p:sp>
      <p:sp>
        <p:nvSpPr>
          <p:cNvPr id="31" name="TextBox 30"/>
          <p:cNvSpPr txBox="1"/>
          <p:nvPr/>
        </p:nvSpPr>
        <p:spPr>
          <a:xfrm>
            <a:off x="7059168"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Centro cirúrgico com uso de dispositivos de energia</a:t>
            </a:r>
          </a:p>
        </p:txBody>
      </p:sp>
      <p:sp>
        <p:nvSpPr>
          <p:cNvPr id="32" name="Rounded Rectangle 31"/>
          <p:cNvSpPr/>
          <p:nvPr/>
        </p:nvSpPr>
        <p:spPr>
          <a:xfrm>
            <a:off x="12426696" y="6446520"/>
            <a:ext cx="5367528" cy="1188720"/>
          </a:xfrm>
          <a:prstGeom prst="roundRect">
            <a:avLst>
              <a:gd name="adj" fmla="val 6000"/>
            </a:avLst>
          </a:prstGeom>
          <a:solidFill>
            <a:srgbClr val="E3F3F4"/>
          </a:solidFill>
          <a:ln>
            <a:noFill/>
          </a:ln>
          <a:effectLst/>
        </p:spPr>
        <p:txBody>
          <a:bodyPr rtlCol="0" anchor="ctr"/>
          <a:lstStyle/>
          <a:p/>
        </p:txBody>
      </p:sp>
      <p:sp>
        <p:nvSpPr>
          <p:cNvPr id="33" name="TextBox 32"/>
          <p:cNvSpPr txBox="1"/>
          <p:nvPr/>
        </p:nvSpPr>
        <p:spPr>
          <a:xfrm>
            <a:off x="12701016" y="6510528"/>
            <a:ext cx="4818888"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População</a:t>
            </a:r>
          </a:p>
        </p:txBody>
      </p:sp>
      <p:sp>
        <p:nvSpPr>
          <p:cNvPr id="34" name="TextBox 33"/>
          <p:cNvSpPr txBox="1"/>
          <p:nvPr/>
        </p:nvSpPr>
        <p:spPr>
          <a:xfrm>
            <a:off x="12701016" y="6858000"/>
            <a:ext cx="4818888" cy="7315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Equipe de centro cirúrgico</a:t>
            </a:r>
          </a:p>
        </p:txBody>
      </p:sp>
      <p:sp>
        <p:nvSpPr>
          <p:cNvPr id="35" name="Rounded Rectangle 34"/>
          <p:cNvSpPr/>
          <p:nvPr/>
        </p:nvSpPr>
        <p:spPr>
          <a:xfrm>
            <a:off x="1143000" y="7909560"/>
            <a:ext cx="9692640" cy="1828800"/>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1417320" y="7973568"/>
            <a:ext cx="9144000" cy="1737360"/>
          </a:xfrm>
          <a:prstGeom prst="rect">
            <a:avLst/>
          </a:prstGeom>
          <a:noFill/>
        </p:spPr>
        <p:txBody>
          <a:bodyPr wrap="square" lIns="0" rIns="0" tIns="0" bIns="0" anchor="t">
            <a:noAutofit/>
          </a:bodyPr>
          <a:lstStyle/>
          <a:p>
            <a:pPr algn="l">
              <a:lnSpc>
                <a:spcPct val="100000"/>
              </a:lnSpc>
              <a:spcAft>
                <a:spcPts val="300"/>
              </a:spcAft>
              <a:buNone/>
            </a:pPr>
            <a:r>
              <a:rPr sz="1600" b="1" i="0">
                <a:solidFill>
                  <a:srgbClr val="002060"/>
                </a:solidFill>
                <a:latin typeface="Arial"/>
              </a:rPr>
              <a:t>Objetivos específicos</a:t>
            </a:r>
          </a:p>
          <a:p>
            <a:pPr algn="l" marL="274320" indent="-274320">
              <a:lnSpc>
                <a:spcPct val="100000"/>
              </a:lnSpc>
              <a:spcAft>
                <a:spcPts val="200"/>
              </a:spcAft>
              <a:buFont typeface="Arial"/>
              <a:buChar char="1."/>
            </a:pPr>
            <a:r>
              <a:rPr sz="1600" b="0" i="0">
                <a:solidFill>
                  <a:srgbClr val="1F2433"/>
                </a:solidFill>
                <a:latin typeface="Arial"/>
              </a:rPr>
              <a:t>Estimar por metanálise a prevalência de sintoma ocular (principal) e respiratório (exploratório);</a:t>
            </a:r>
          </a:p>
          <a:p>
            <a:pPr algn="l" marL="274320" indent="-274320">
              <a:lnSpc>
                <a:spcPct val="100000"/>
              </a:lnSpc>
              <a:spcAft>
                <a:spcPts val="200"/>
              </a:spcAft>
              <a:buFont typeface="Arial"/>
              <a:buChar char="2."/>
            </a:pPr>
            <a:r>
              <a:rPr sz="1600" b="0" i="0">
                <a:solidFill>
                  <a:srgbClr val="1F2433"/>
                </a:solidFill>
                <a:latin typeface="Arial"/>
              </a:rPr>
              <a:t>Sintetizar narrativamente os desfechos objetivos e biomarcadores;</a:t>
            </a:r>
          </a:p>
          <a:p>
            <a:pPr algn="l" marL="274320" indent="-274320">
              <a:lnSpc>
                <a:spcPct val="100000"/>
              </a:lnSpc>
              <a:spcAft>
                <a:spcPts val="200"/>
              </a:spcAft>
              <a:buFont typeface="Arial"/>
              <a:buChar char="3."/>
            </a:pPr>
            <a:r>
              <a:rPr sz="1600" b="0" i="0">
                <a:solidFill>
                  <a:srgbClr val="1F2433"/>
                </a:solidFill>
                <a:latin typeface="Arial"/>
              </a:rPr>
              <a:t>Graduar a certeza da evidência por desfecho (GRADE).</a:t>
            </a:r>
          </a:p>
        </p:txBody>
      </p:sp>
      <p:sp>
        <p:nvSpPr>
          <p:cNvPr id="37" name="Rounded Rectangle 36"/>
          <p:cNvSpPr/>
          <p:nvPr/>
        </p:nvSpPr>
        <p:spPr>
          <a:xfrm>
            <a:off x="11109960" y="7909560"/>
            <a:ext cx="6675120" cy="1828800"/>
          </a:xfrm>
          <a:prstGeom prst="roundRect">
            <a:avLst>
              <a:gd name="adj" fmla="val 6000"/>
            </a:avLst>
          </a:prstGeom>
          <a:solidFill>
            <a:srgbClr val="F9E9E9"/>
          </a:solidFill>
          <a:ln>
            <a:noFill/>
          </a:ln>
          <a:effectLst/>
        </p:spPr>
        <p:txBody>
          <a:bodyPr rtlCol="0" anchor="ctr"/>
          <a:lstStyle/>
          <a:p/>
        </p:txBody>
      </p:sp>
      <p:pic>
        <p:nvPicPr>
          <p:cNvPr id="38" name="icone warning" descr="warning_red.png"/>
          <p:cNvPicPr>
            <a:picLocks noChangeAspect="1"/>
          </p:cNvPicPr>
          <p:nvPr/>
        </p:nvPicPr>
        <p:blipFill>
          <a:blip r:embed="rId4"/>
          <a:stretch>
            <a:fillRect/>
          </a:stretch>
        </p:blipFill>
        <p:spPr>
          <a:xfrm>
            <a:off x="11384280" y="8138160"/>
            <a:ext cx="502920" cy="502920"/>
          </a:xfrm>
          <a:prstGeom prst="rect">
            <a:avLst/>
          </a:prstGeom>
        </p:spPr>
      </p:pic>
      <p:sp>
        <p:nvSpPr>
          <p:cNvPr id="39" name="TextBox 38"/>
          <p:cNvSpPr txBox="1"/>
          <p:nvPr/>
        </p:nvSpPr>
        <p:spPr>
          <a:xfrm>
            <a:off x="12024360" y="8001000"/>
            <a:ext cx="5623560" cy="164592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Atenção: </a:t>
            </a:r>
            <a:r>
              <a:rPr sz="1600" b="0" i="0">
                <a:solidFill>
                  <a:srgbClr val="1F2433"/>
                </a:solidFill>
                <a:latin typeface="Arial"/>
              </a:rPr>
              <a:t>a metanálise de proporções estima a </a:t>
            </a:r>
            <a:r>
              <a:rPr sz="1600" b="1" i="0">
                <a:solidFill>
                  <a:srgbClr val="1F2433"/>
                </a:solidFill>
                <a:latin typeface="Arial"/>
              </a:rPr>
              <a:t>frequência</a:t>
            </a:r>
            <a:r>
              <a:rPr sz="1600" b="0" i="0">
                <a:solidFill>
                  <a:srgbClr val="1F2433"/>
                </a:solidFill>
                <a:latin typeface="Arial"/>
              </a:rPr>
              <a:t> de sintomas em populações expostas, não o efeito causal atribuível à fumaça. A inferência causal depende dos estudos comparativos e dos desfechos objetivos.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Mapa da revisão: 7 passos, do protocolo à certeza da evidência (PRISMA 2020)</a:t>
            </a:r>
          </a:p>
        </p:txBody>
      </p:sp>
      <p:cxnSp>
        <p:nvCxnSpPr>
          <p:cNvPr id="7" name="Connector 6"/>
          <p:cNvCxnSpPr/>
          <p:nvPr/>
        </p:nvCxnSpPr>
        <p:spPr>
          <a:xfrm>
            <a:off x="2331720" y="2286000"/>
            <a:ext cx="14264639" cy="0"/>
          </a:xfrm>
          <a:prstGeom prst="line">
            <a:avLst/>
          </a:prstGeom>
          <a:ln w="50800">
            <a:solidFill>
              <a:srgbClr val="C9CFDA"/>
            </a:solidFill>
          </a:ln>
        </p:spPr>
      </p:cxnSp>
      <p:sp>
        <p:nvSpPr>
          <p:cNvPr id="8" name="Oval 7"/>
          <p:cNvSpPr/>
          <p:nvPr/>
        </p:nvSpPr>
        <p:spPr>
          <a:xfrm>
            <a:off x="1897379"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88719"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Pergunta e protocolo</a:t>
            </a:r>
          </a:p>
        </p:txBody>
      </p:sp>
      <p:sp>
        <p:nvSpPr>
          <p:cNvPr id="10" name="Rounded Rectangle 9"/>
          <p:cNvSpPr/>
          <p:nvPr/>
        </p:nvSpPr>
        <p:spPr>
          <a:xfrm>
            <a:off x="1216151" y="3611880"/>
            <a:ext cx="2231136" cy="288036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44167"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PECO e CoCoPop</a:t>
            </a:r>
          </a:p>
          <a:p>
            <a:pPr algn="l">
              <a:lnSpc>
                <a:spcPct val="102000"/>
              </a:lnSpc>
              <a:spcAft>
                <a:spcPts val="500"/>
              </a:spcAft>
              <a:buNone/>
            </a:pPr>
            <a:r>
              <a:rPr sz="1700" b="0" i="0">
                <a:solidFill>
                  <a:srgbClr val="1F2433"/>
                </a:solidFill>
                <a:latin typeface="Arial"/>
              </a:rPr>
              <a:t>PRISMA 2020 e Diretrizes do MS</a:t>
            </a:r>
          </a:p>
          <a:p>
            <a:pPr algn="l">
              <a:lnSpc>
                <a:spcPct val="102000"/>
              </a:lnSpc>
              <a:spcAft>
                <a:spcPts val="500"/>
              </a:spcAft>
              <a:buNone/>
            </a:pPr>
            <a:r>
              <a:rPr sz="1700" b="0" i="0">
                <a:solidFill>
                  <a:srgbClr val="1F2433"/>
                </a:solidFill>
                <a:latin typeface="Arial"/>
              </a:rPr>
              <a:t>Registro PROSPERO CRD420251238727 antes da extração</a:t>
            </a:r>
          </a:p>
          <a:p>
            <a:pPr algn="l">
              <a:lnSpc>
                <a:spcPct val="102000"/>
              </a:lnSpc>
              <a:spcAft>
                <a:spcPts val="500"/>
              </a:spcAft>
              <a:buNone/>
            </a:pPr>
            <a:r>
              <a:rPr sz="1700" b="0" i="0">
                <a:solidFill>
                  <a:srgbClr val="1F2433"/>
                </a:solidFill>
                <a:latin typeface="Arial"/>
              </a:rPr>
              <a:t>Dispensa do CEP (prot. 2025/0743)</a:t>
            </a:r>
          </a:p>
        </p:txBody>
      </p:sp>
      <p:sp>
        <p:nvSpPr>
          <p:cNvPr id="12" name="Oval 11"/>
          <p:cNvSpPr/>
          <p:nvPr/>
        </p:nvSpPr>
        <p:spPr>
          <a:xfrm>
            <a:off x="427482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6616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Busca</a:t>
            </a:r>
          </a:p>
        </p:txBody>
      </p:sp>
      <p:sp>
        <p:nvSpPr>
          <p:cNvPr id="14" name="Rounded Rectangle 13"/>
          <p:cNvSpPr/>
          <p:nvPr/>
        </p:nvSpPr>
        <p:spPr>
          <a:xfrm>
            <a:off x="3593592" y="3611880"/>
            <a:ext cx="2231136" cy="288036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2160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7 bases eletrônicas + literatura cinzenta + busca por citação</a:t>
            </a:r>
          </a:p>
          <a:p>
            <a:pPr algn="l">
              <a:lnSpc>
                <a:spcPct val="102000"/>
              </a:lnSpc>
              <a:spcAft>
                <a:spcPts val="500"/>
              </a:spcAft>
              <a:buNone/>
            </a:pPr>
            <a:r>
              <a:rPr sz="1700" b="0" i="0">
                <a:solidFill>
                  <a:srgbClr val="1F2433"/>
                </a:solidFill>
                <a:latin typeface="Arial"/>
              </a:rPr>
              <a:t>Sem filtro de idioma ou data</a:t>
            </a:r>
          </a:p>
          <a:p>
            <a:pPr algn="l">
              <a:lnSpc>
                <a:spcPct val="102000"/>
              </a:lnSpc>
              <a:spcAft>
                <a:spcPts val="500"/>
              </a:spcAft>
              <a:buNone/>
            </a:pPr>
            <a:r>
              <a:rPr sz="1700" b="0" i="0">
                <a:solidFill>
                  <a:srgbClr val="1F2433"/>
                </a:solidFill>
                <a:latin typeface="Arial"/>
              </a:rPr>
              <a:t>Última busca: 09/07/2026</a:t>
            </a:r>
          </a:p>
        </p:txBody>
      </p:sp>
      <p:sp>
        <p:nvSpPr>
          <p:cNvPr id="16" name="Oval 15"/>
          <p:cNvSpPr/>
          <p:nvPr/>
        </p:nvSpPr>
        <p:spPr>
          <a:xfrm>
            <a:off x="665226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4360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Seleção</a:t>
            </a:r>
          </a:p>
        </p:txBody>
      </p:sp>
      <p:sp>
        <p:nvSpPr>
          <p:cNvPr id="18" name="Rounded Rectangle 17"/>
          <p:cNvSpPr/>
          <p:nvPr/>
        </p:nvSpPr>
        <p:spPr>
          <a:xfrm>
            <a:off x="5971032" y="3611880"/>
            <a:ext cx="2231136" cy="288036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09904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Zotero → Rayyan</a:t>
            </a:r>
          </a:p>
          <a:p>
            <a:pPr algn="l">
              <a:lnSpc>
                <a:spcPct val="102000"/>
              </a:lnSpc>
              <a:spcAft>
                <a:spcPts val="500"/>
              </a:spcAft>
              <a:buNone/>
            </a:pPr>
            <a:r>
              <a:rPr sz="1700" b="0" i="0">
                <a:solidFill>
                  <a:srgbClr val="1F2433"/>
                </a:solidFill>
                <a:latin typeface="Arial"/>
              </a:rPr>
              <a:t>Deduplicação automática</a:t>
            </a:r>
          </a:p>
          <a:p>
            <a:pPr algn="l">
              <a:lnSpc>
                <a:spcPct val="102000"/>
              </a:lnSpc>
              <a:spcAft>
                <a:spcPts val="500"/>
              </a:spcAft>
              <a:buNone/>
            </a:pPr>
            <a:r>
              <a:rPr sz="1700" b="0" i="0">
                <a:solidFill>
                  <a:srgbClr val="1F2433"/>
                </a:solidFill>
                <a:latin typeface="Arial"/>
              </a:rPr>
              <a:t>Triagem de título/resumo e leitura na íntegra</a:t>
            </a:r>
          </a:p>
          <a:p>
            <a:pPr algn="l">
              <a:lnSpc>
                <a:spcPct val="102000"/>
              </a:lnSpc>
              <a:spcAft>
                <a:spcPts val="500"/>
              </a:spcAft>
              <a:buNone/>
            </a:pPr>
            <a:r>
              <a:rPr sz="1700" b="0" i="0">
                <a:solidFill>
                  <a:srgbClr val="1F2433"/>
                </a:solidFill>
                <a:latin typeface="Arial"/>
              </a:rPr>
              <a:t>Controle de sobreposição amostral</a:t>
            </a:r>
          </a:p>
        </p:txBody>
      </p:sp>
      <p:sp>
        <p:nvSpPr>
          <p:cNvPr id="20" name="Oval 19"/>
          <p:cNvSpPr/>
          <p:nvPr/>
        </p:nvSpPr>
        <p:spPr>
          <a:xfrm>
            <a:off x="902970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2104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Extração</a:t>
            </a:r>
          </a:p>
        </p:txBody>
      </p:sp>
      <p:sp>
        <p:nvSpPr>
          <p:cNvPr id="22" name="Rounded Rectangle 21"/>
          <p:cNvSpPr/>
          <p:nvPr/>
        </p:nvSpPr>
        <p:spPr>
          <a:xfrm>
            <a:off x="8348471" y="3611880"/>
            <a:ext cx="2231136" cy="28803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47648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Planilha padronizada</a:t>
            </a:r>
          </a:p>
          <a:p>
            <a:pPr algn="l">
              <a:lnSpc>
                <a:spcPct val="102000"/>
              </a:lnSpc>
              <a:spcAft>
                <a:spcPts val="500"/>
              </a:spcAft>
              <a:buNone/>
            </a:pPr>
            <a:r>
              <a:rPr sz="1700" b="0" i="0">
                <a:solidFill>
                  <a:srgbClr val="1F2433"/>
                </a:solidFill>
                <a:latin typeface="Arial"/>
              </a:rPr>
              <a:t>Eventos e denominadores por desfecho</a:t>
            </a:r>
          </a:p>
          <a:p>
            <a:pPr algn="l">
              <a:lnSpc>
                <a:spcPct val="102000"/>
              </a:lnSpc>
              <a:spcAft>
                <a:spcPts val="500"/>
              </a:spcAft>
              <a:buNone/>
            </a:pPr>
            <a:r>
              <a:rPr sz="1700" b="0" i="0">
                <a:solidFill>
                  <a:srgbClr val="1F2433"/>
                </a:solidFill>
                <a:latin typeface="Arial"/>
              </a:rPr>
              <a:t>Definição operacional e taxa de resposta</a:t>
            </a:r>
          </a:p>
        </p:txBody>
      </p:sp>
      <p:sp>
        <p:nvSpPr>
          <p:cNvPr id="24" name="Oval 23"/>
          <p:cNvSpPr/>
          <p:nvPr/>
        </p:nvSpPr>
        <p:spPr>
          <a:xfrm>
            <a:off x="1140714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69848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Risco de viés</a:t>
            </a:r>
          </a:p>
        </p:txBody>
      </p:sp>
      <p:sp>
        <p:nvSpPr>
          <p:cNvPr id="26" name="Rounded Rectangle 25"/>
          <p:cNvSpPr/>
          <p:nvPr/>
        </p:nvSpPr>
        <p:spPr>
          <a:xfrm>
            <a:off x="10725912" y="3611880"/>
            <a:ext cx="2231136" cy="288036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85392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Ferramentas JBI: prevalência (9 itens), transversal analítico (8) e coorte (11)</a:t>
            </a:r>
          </a:p>
          <a:p>
            <a:pPr algn="l">
              <a:lnSpc>
                <a:spcPct val="102000"/>
              </a:lnSpc>
              <a:spcAft>
                <a:spcPts val="500"/>
              </a:spcAft>
              <a:buNone/>
            </a:pPr>
            <a:r>
              <a:rPr sz="1700" b="0" i="0">
                <a:solidFill>
                  <a:srgbClr val="1F2433"/>
                </a:solidFill>
                <a:latin typeface="Arial"/>
              </a:rPr>
              <a:t>Julgamento por domínios críticos</a:t>
            </a:r>
          </a:p>
        </p:txBody>
      </p:sp>
      <p:sp>
        <p:nvSpPr>
          <p:cNvPr id="28" name="Oval 27"/>
          <p:cNvSpPr/>
          <p:nvPr/>
        </p:nvSpPr>
        <p:spPr>
          <a:xfrm>
            <a:off x="13784580" y="1851660"/>
            <a:ext cx="868680" cy="86868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07592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Síntese</a:t>
            </a:r>
          </a:p>
        </p:txBody>
      </p:sp>
      <p:sp>
        <p:nvSpPr>
          <p:cNvPr id="30" name="Rounded Rectangle 29"/>
          <p:cNvSpPr/>
          <p:nvPr/>
        </p:nvSpPr>
        <p:spPr>
          <a:xfrm>
            <a:off x="13103352" y="3611880"/>
            <a:ext cx="2231136" cy="288036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1323136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Metanálise de proporções: logito, efeitos aleatórios, Hartung-Knapp</a:t>
            </a:r>
          </a:p>
          <a:p>
            <a:pPr algn="l">
              <a:lnSpc>
                <a:spcPct val="102000"/>
              </a:lnSpc>
              <a:spcAft>
                <a:spcPts val="500"/>
              </a:spcAft>
              <a:buNone/>
            </a:pPr>
            <a:r>
              <a:rPr sz="1700" b="0" i="0">
                <a:solidFill>
                  <a:srgbClr val="1F2433"/>
                </a:solidFill>
                <a:latin typeface="Arial"/>
              </a:rPr>
              <a:t>Intervalo de predição e sensibilidade</a:t>
            </a:r>
          </a:p>
          <a:p>
            <a:pPr algn="l">
              <a:lnSpc>
                <a:spcPct val="102000"/>
              </a:lnSpc>
              <a:spcAft>
                <a:spcPts val="500"/>
              </a:spcAft>
              <a:buNone/>
            </a:pPr>
            <a:r>
              <a:rPr sz="1700" b="0" i="0">
                <a:solidFill>
                  <a:srgbClr val="1F2433"/>
                </a:solidFill>
                <a:latin typeface="Arial"/>
              </a:rPr>
              <a:t>Narrativa para desfechos objetivos</a:t>
            </a:r>
          </a:p>
        </p:txBody>
      </p:sp>
      <p:sp>
        <p:nvSpPr>
          <p:cNvPr id="32" name="Oval 31"/>
          <p:cNvSpPr/>
          <p:nvPr/>
        </p:nvSpPr>
        <p:spPr>
          <a:xfrm>
            <a:off x="16162020" y="185166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453360" y="2880360"/>
            <a:ext cx="2286000" cy="73152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Certeza (GRADE)</a:t>
            </a:r>
          </a:p>
        </p:txBody>
      </p:sp>
      <p:sp>
        <p:nvSpPr>
          <p:cNvPr id="34" name="Rounded Rectangle 33"/>
          <p:cNvSpPr/>
          <p:nvPr/>
        </p:nvSpPr>
        <p:spPr>
          <a:xfrm>
            <a:off x="15480792" y="3611880"/>
            <a:ext cx="2231136" cy="288036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608808" y="3703320"/>
            <a:ext cx="1975104" cy="2743200"/>
          </a:xfrm>
          <a:prstGeom prst="rect">
            <a:avLst/>
          </a:prstGeom>
          <a:noFill/>
        </p:spPr>
        <p:txBody>
          <a:bodyPr wrap="square" lIns="0" rIns="0" tIns="0" bIns="0" anchor="t">
            <a:noAutofit/>
          </a:bodyPr>
          <a:lstStyle/>
          <a:p>
            <a:pPr algn="l">
              <a:lnSpc>
                <a:spcPct val="102000"/>
              </a:lnSpc>
              <a:spcAft>
                <a:spcPts val="500"/>
              </a:spcAft>
              <a:buNone/>
            </a:pPr>
            <a:r>
              <a:rPr sz="1700" b="0" i="0">
                <a:solidFill>
                  <a:srgbClr val="1F2433"/>
                </a:solidFill>
                <a:latin typeface="Arial"/>
              </a:rPr>
              <a:t>5 domínios, adaptados à prevalência</a:t>
            </a:r>
          </a:p>
          <a:p>
            <a:pPr algn="l">
              <a:lnSpc>
                <a:spcPct val="102000"/>
              </a:lnSpc>
              <a:spcAft>
                <a:spcPts val="500"/>
              </a:spcAft>
              <a:buNone/>
            </a:pPr>
            <a:r>
              <a:rPr sz="1700" b="0" i="0">
                <a:solidFill>
                  <a:srgbClr val="1F2433"/>
                </a:solidFill>
                <a:latin typeface="Arial"/>
              </a:rPr>
              <a:t>Ponto de partida: certeza baixa</a:t>
            </a:r>
          </a:p>
          <a:p>
            <a:pPr algn="l">
              <a:lnSpc>
                <a:spcPct val="102000"/>
              </a:lnSpc>
              <a:spcAft>
                <a:spcPts val="500"/>
              </a:spcAft>
              <a:buNone/>
            </a:pPr>
            <a:r>
              <a:rPr sz="1700" b="0" i="0">
                <a:solidFill>
                  <a:srgbClr val="1F2433"/>
                </a:solidFill>
                <a:latin typeface="Arial"/>
              </a:rPr>
              <a:t>Justificativa por domínio (Anexo F)</a:t>
            </a:r>
          </a:p>
        </p:txBody>
      </p:sp>
      <p:sp>
        <p:nvSpPr>
          <p:cNvPr id="36" name="Rounded Rectangle 35"/>
          <p:cNvSpPr/>
          <p:nvPr/>
        </p:nvSpPr>
        <p:spPr>
          <a:xfrm>
            <a:off x="1143000" y="6766560"/>
            <a:ext cx="16642080" cy="1508760"/>
          </a:xfrm>
          <a:prstGeom prst="roundRect">
            <a:avLst>
              <a:gd name="adj" fmla="val 6000"/>
            </a:avLst>
          </a:prstGeom>
          <a:solidFill>
            <a:srgbClr val="E6EBF5"/>
          </a:solidFill>
          <a:ln>
            <a:noFill/>
          </a:ln>
          <a:effectLst/>
        </p:spPr>
        <p:txBody>
          <a:bodyPr rtlCol="0" anchor="ctr"/>
          <a:lstStyle/>
          <a:p/>
        </p:txBody>
      </p:sp>
      <p:sp>
        <p:nvSpPr>
          <p:cNvPr id="37" name="TextBox 36"/>
          <p:cNvSpPr txBox="1"/>
          <p:nvPr/>
        </p:nvSpPr>
        <p:spPr>
          <a:xfrm>
            <a:off x="1417320" y="6858000"/>
            <a:ext cx="2651760" cy="1325880"/>
          </a:xfrm>
          <a:prstGeom prst="rect">
            <a:avLst/>
          </a:prstGeom>
          <a:noFill/>
        </p:spPr>
        <p:txBody>
          <a:bodyPr wrap="square" lIns="0" rIns="0" tIns="0" bIns="0" anchor="ctr">
            <a:noAutofit/>
          </a:bodyPr>
          <a:lstStyle/>
          <a:p>
            <a:pPr algn="l">
              <a:lnSpc>
                <a:spcPct val="100000"/>
              </a:lnSpc>
              <a:spcAft>
                <a:spcPts val="200"/>
              </a:spcAft>
              <a:buNone/>
            </a:pPr>
            <a:r>
              <a:rPr sz="1900" b="1" i="0">
                <a:solidFill>
                  <a:srgbClr val="002060"/>
                </a:solidFill>
                <a:latin typeface="Arial"/>
              </a:rPr>
              <a:t>Ferramentas</a:t>
            </a:r>
          </a:p>
          <a:p>
            <a:pPr algn="l">
              <a:lnSpc>
                <a:spcPct val="100000"/>
              </a:lnSpc>
              <a:spcAft>
                <a:spcPts val="200"/>
              </a:spcAft>
              <a:buNone/>
            </a:pPr>
            <a:r>
              <a:rPr sz="1400" b="0" i="0">
                <a:solidFill>
                  <a:srgbClr val="5A6270"/>
                </a:solidFill>
                <a:latin typeface="Arial"/>
              </a:rPr>
              <a:t>(função operacional)</a:t>
            </a:r>
          </a:p>
        </p:txBody>
      </p:sp>
      <p:pic>
        <p:nvPicPr>
          <p:cNvPr id="38" name="icone database" descr="database_navy.png"/>
          <p:cNvPicPr>
            <a:picLocks noChangeAspect="1"/>
          </p:cNvPicPr>
          <p:nvPr/>
        </p:nvPicPr>
        <p:blipFill>
          <a:blip r:embed="rId4"/>
          <a:stretch>
            <a:fillRect/>
          </a:stretch>
        </p:blipFill>
        <p:spPr>
          <a:xfrm>
            <a:off x="4069080" y="7178040"/>
            <a:ext cx="502920" cy="502920"/>
          </a:xfrm>
          <a:prstGeom prst="rect">
            <a:avLst/>
          </a:prstGeom>
        </p:spPr>
      </p:pic>
      <p:sp>
        <p:nvSpPr>
          <p:cNvPr id="39" name="TextBox 38"/>
          <p:cNvSpPr txBox="1"/>
          <p:nvPr/>
        </p:nvSpPr>
        <p:spPr>
          <a:xfrm>
            <a:off x="4709160" y="6949440"/>
            <a:ext cx="2011680" cy="41148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Zotero 6</a:t>
            </a:r>
          </a:p>
        </p:txBody>
      </p:sp>
      <p:sp>
        <p:nvSpPr>
          <p:cNvPr id="40" name="TextBox 39"/>
          <p:cNvSpPr txBox="1"/>
          <p:nvPr/>
        </p:nvSpPr>
        <p:spPr>
          <a:xfrm>
            <a:off x="4709160" y="7342631"/>
            <a:ext cx="2011680" cy="896112"/>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gestão de referências</a:t>
            </a:r>
          </a:p>
        </p:txBody>
      </p:sp>
      <p:pic>
        <p:nvPicPr>
          <p:cNvPr id="41" name="icone filter" descr="filter_navy.png"/>
          <p:cNvPicPr>
            <a:picLocks noChangeAspect="1"/>
          </p:cNvPicPr>
          <p:nvPr/>
        </p:nvPicPr>
        <p:blipFill>
          <a:blip r:embed="rId5"/>
          <a:stretch>
            <a:fillRect/>
          </a:stretch>
        </p:blipFill>
        <p:spPr>
          <a:xfrm>
            <a:off x="6812280" y="7178040"/>
            <a:ext cx="502920" cy="502920"/>
          </a:xfrm>
          <a:prstGeom prst="rect">
            <a:avLst/>
          </a:prstGeom>
        </p:spPr>
      </p:pic>
      <p:sp>
        <p:nvSpPr>
          <p:cNvPr id="42" name="TextBox 41"/>
          <p:cNvSpPr txBox="1"/>
          <p:nvPr/>
        </p:nvSpPr>
        <p:spPr>
          <a:xfrm>
            <a:off x="7452360" y="6949440"/>
            <a:ext cx="2011680" cy="41148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Rayyan</a:t>
            </a:r>
          </a:p>
        </p:txBody>
      </p:sp>
      <p:sp>
        <p:nvSpPr>
          <p:cNvPr id="43" name="TextBox 42"/>
          <p:cNvSpPr txBox="1"/>
          <p:nvPr/>
        </p:nvSpPr>
        <p:spPr>
          <a:xfrm>
            <a:off x="7452360" y="7342631"/>
            <a:ext cx="2011680" cy="896112"/>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deduplicação e triagem</a:t>
            </a:r>
          </a:p>
        </p:txBody>
      </p:sp>
      <p:pic>
        <p:nvPicPr>
          <p:cNvPr id="44" name="icone link" descr="link_navy.png"/>
          <p:cNvPicPr>
            <a:picLocks noChangeAspect="1"/>
          </p:cNvPicPr>
          <p:nvPr/>
        </p:nvPicPr>
        <p:blipFill>
          <a:blip r:embed="rId6"/>
          <a:stretch>
            <a:fillRect/>
          </a:stretch>
        </p:blipFill>
        <p:spPr>
          <a:xfrm>
            <a:off x="9555480" y="7178040"/>
            <a:ext cx="502920" cy="502920"/>
          </a:xfrm>
          <a:prstGeom prst="rect">
            <a:avLst/>
          </a:prstGeom>
        </p:spPr>
      </p:pic>
      <p:sp>
        <p:nvSpPr>
          <p:cNvPr id="45" name="TextBox 44"/>
          <p:cNvSpPr txBox="1"/>
          <p:nvPr/>
        </p:nvSpPr>
        <p:spPr>
          <a:xfrm>
            <a:off x="10195559" y="6949440"/>
            <a:ext cx="2011680" cy="41148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OpenAlex</a:t>
            </a:r>
          </a:p>
        </p:txBody>
      </p:sp>
      <p:sp>
        <p:nvSpPr>
          <p:cNvPr id="46" name="TextBox 45"/>
          <p:cNvSpPr txBox="1"/>
          <p:nvPr/>
        </p:nvSpPr>
        <p:spPr>
          <a:xfrm>
            <a:off x="10195559" y="7342631"/>
            <a:ext cx="2011680" cy="896112"/>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metadados e busca por citação</a:t>
            </a:r>
          </a:p>
        </p:txBody>
      </p:sp>
      <p:pic>
        <p:nvPicPr>
          <p:cNvPr id="47" name="icone code" descr="code_navy.png"/>
          <p:cNvPicPr>
            <a:picLocks noChangeAspect="1"/>
          </p:cNvPicPr>
          <p:nvPr/>
        </p:nvPicPr>
        <p:blipFill>
          <a:blip r:embed="rId7"/>
          <a:stretch>
            <a:fillRect/>
          </a:stretch>
        </p:blipFill>
        <p:spPr>
          <a:xfrm>
            <a:off x="12298680" y="7178040"/>
            <a:ext cx="502920" cy="502920"/>
          </a:xfrm>
          <a:prstGeom prst="rect">
            <a:avLst/>
          </a:prstGeom>
        </p:spPr>
      </p:pic>
      <p:sp>
        <p:nvSpPr>
          <p:cNvPr id="48" name="TextBox 47"/>
          <p:cNvSpPr txBox="1"/>
          <p:nvPr/>
        </p:nvSpPr>
        <p:spPr>
          <a:xfrm>
            <a:off x="12938759" y="6949440"/>
            <a:ext cx="2011680" cy="41148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Python 3.13</a:t>
            </a:r>
          </a:p>
        </p:txBody>
      </p:sp>
      <p:sp>
        <p:nvSpPr>
          <p:cNvPr id="49" name="TextBox 48"/>
          <p:cNvSpPr txBox="1"/>
          <p:nvPr/>
        </p:nvSpPr>
        <p:spPr>
          <a:xfrm>
            <a:off x="12938759" y="7342631"/>
            <a:ext cx="2011680" cy="896112"/>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NumPy, SciPy, statsmodels</a:t>
            </a:r>
          </a:p>
        </p:txBody>
      </p:sp>
      <p:pic>
        <p:nvPicPr>
          <p:cNvPr id="50" name="icone robot" descr="robot_navy.png"/>
          <p:cNvPicPr>
            <a:picLocks noChangeAspect="1"/>
          </p:cNvPicPr>
          <p:nvPr/>
        </p:nvPicPr>
        <p:blipFill>
          <a:blip r:embed="rId8"/>
          <a:stretch>
            <a:fillRect/>
          </a:stretch>
        </p:blipFill>
        <p:spPr>
          <a:xfrm>
            <a:off x="15041880" y="7178040"/>
            <a:ext cx="502920" cy="502920"/>
          </a:xfrm>
          <a:prstGeom prst="rect">
            <a:avLst/>
          </a:prstGeom>
        </p:spPr>
      </p:pic>
      <p:sp>
        <p:nvSpPr>
          <p:cNvPr id="51" name="TextBox 50"/>
          <p:cNvSpPr txBox="1"/>
          <p:nvPr/>
        </p:nvSpPr>
        <p:spPr>
          <a:xfrm>
            <a:off x="15681959" y="6949440"/>
            <a:ext cx="2011680" cy="41148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Assistente de IA</a:t>
            </a:r>
          </a:p>
        </p:txBody>
      </p:sp>
      <p:sp>
        <p:nvSpPr>
          <p:cNvPr id="52" name="TextBox 51"/>
          <p:cNvSpPr txBox="1"/>
          <p:nvPr/>
        </p:nvSpPr>
        <p:spPr>
          <a:xfrm>
            <a:off x="15681959" y="7342631"/>
            <a:ext cx="2011680" cy="896112"/>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só priorizou a ordem de leitura; decisões 100% humanas</a:t>
            </a:r>
          </a:p>
        </p:txBody>
      </p:sp>
      <p:sp>
        <p:nvSpPr>
          <p:cNvPr id="53" name="TextBox 52"/>
          <p:cNvSpPr txBox="1"/>
          <p:nvPr/>
        </p:nvSpPr>
        <p:spPr>
          <a:xfrm>
            <a:off x="1143000" y="8503920"/>
            <a:ext cx="16642080" cy="118872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Transparência e reprodutibilidade: </a:t>
            </a:r>
            <a:r>
              <a:rPr sz="1600" b="0" i="0">
                <a:solidFill>
                  <a:srgbClr val="1F2433"/>
                </a:solidFill>
                <a:latin typeface="Arial"/>
              </a:rPr>
              <a:t>checklist PRISMA 2020 com 27 itens preenchido; estratégias completas por base (Anexo A); extração, risco de viés e perfil GRADE em anexos; códigos de análise, figuras e planilhas abertos no OSF (osf.io/jktmn). </a:t>
            </a:r>
            <a:r>
              <a:rPr sz="1600" b="0" i="0">
                <a:solidFill>
                  <a:srgbClr val="5A6270"/>
                </a:solidFill>
                <a:latin typeface="Arial"/>
              </a:rPr>
              <a:t>Uso de IA declarado conforme a Portaria CNPq nº 2.664/2026.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Pergunta e 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17320" y="1874519"/>
            <a:ext cx="713232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(definidos no protocolo)</a:t>
            </a:r>
          </a:p>
        </p:txBody>
      </p:sp>
      <p:pic>
        <p:nvPicPr>
          <p:cNvPr id="24" name="icone check" descr="check_teal.png"/>
          <p:cNvPicPr>
            <a:picLocks noChangeAspect="1"/>
          </p:cNvPicPr>
          <p:nvPr/>
        </p:nvPicPr>
        <p:blipFill>
          <a:blip r:embed="rId4"/>
          <a:stretch>
            <a:fillRect/>
          </a:stretch>
        </p:blipFill>
        <p:spPr>
          <a:xfrm>
            <a:off x="1417320" y="2395728"/>
            <a:ext cx="365760" cy="365760"/>
          </a:xfrm>
          <a:prstGeom prst="rect">
            <a:avLst/>
          </a:prstGeom>
        </p:spPr>
      </p:pic>
      <p:sp>
        <p:nvSpPr>
          <p:cNvPr id="25" name="TextBox 24"/>
          <p:cNvSpPr txBox="1"/>
          <p:nvPr/>
        </p:nvSpPr>
        <p:spPr>
          <a:xfrm>
            <a:off x="1920240" y="2350008"/>
            <a:ext cx="667512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17320" y="2788920"/>
            <a:ext cx="7132320" cy="2834640"/>
          </a:xfrm>
          <a:prstGeom prst="rect">
            <a:avLst/>
          </a:prstGeom>
          <a:noFill/>
        </p:spPr>
        <p:txBody>
          <a:bodyPr wrap="square" lIns="0" rIns="0" tIns="0" bIns="0" anchor="t">
            <a:noAutofit/>
          </a:bodyPr>
          <a:lstStyle/>
          <a:p>
            <a:pPr algn="l" marL="274320" indent="-274320">
              <a:lnSpc>
                <a:spcPct val="100000"/>
              </a:lnSpc>
              <a:spcAft>
                <a:spcPts val="600"/>
              </a:spcAft>
              <a:buClr>
                <a:srgbClr val="0E7C86"/>
              </a:buClr>
              <a:buFont typeface="Arial"/>
              <a:buChar char="•"/>
            </a:pPr>
            <a:r>
              <a:rPr sz="1700" b="0" i="0">
                <a:solidFill>
                  <a:srgbClr val="1F2433"/>
                </a:solidFill>
                <a:latin typeface="Arial"/>
              </a:rPr>
              <a:t>Estudos observacionais primários: transversais, caso-controle e coorte;</a:t>
            </a:r>
          </a:p>
          <a:p>
            <a:pPr algn="l" marL="274320" indent="-274320">
              <a:lnSpc>
                <a:spcPct val="100000"/>
              </a:lnSpc>
              <a:spcAft>
                <a:spcPts val="600"/>
              </a:spcAft>
              <a:buClr>
                <a:srgbClr val="0E7C86"/>
              </a:buClr>
              <a:buFont typeface="Arial"/>
              <a:buChar char="•"/>
            </a:pPr>
            <a:r>
              <a:rPr sz="1700" b="0" i="0">
                <a:solidFill>
                  <a:srgbClr val="1F2433"/>
                </a:solidFill>
                <a:latin typeface="Arial"/>
              </a:rPr>
              <a:t>Profissionais de centro cirúrgico expostos à fumaça cirúrgica;</a:t>
            </a:r>
          </a:p>
          <a:p>
            <a:pPr algn="l" marL="274320" indent="-274320">
              <a:lnSpc>
                <a:spcPct val="100000"/>
              </a:lnSpc>
              <a:spcAft>
                <a:spcPts val="600"/>
              </a:spcAft>
              <a:buClr>
                <a:srgbClr val="0E7C86"/>
              </a:buClr>
              <a:buFont typeface="Arial"/>
              <a:buChar char="•"/>
            </a:pPr>
            <a:r>
              <a:rPr sz="1700" b="0" i="0">
                <a:solidFill>
                  <a:srgbClr val="1F2433"/>
                </a:solidFill>
                <a:latin typeface="Arial"/>
              </a:rPr>
              <a:t>Efeitos à saúde ou marcadores de exposição como desfecho;</a:t>
            </a:r>
          </a:p>
          <a:p>
            <a:pPr algn="l" marL="274320" indent="-274320">
              <a:lnSpc>
                <a:spcPct val="100000"/>
              </a:lnSpc>
              <a:spcAft>
                <a:spcPts val="600"/>
              </a:spcAft>
              <a:buClr>
                <a:srgbClr val="0E7C86"/>
              </a:buClr>
              <a:buFont typeface="Arial"/>
              <a:buChar char="•"/>
            </a:pPr>
            <a:r>
              <a:rPr sz="1700" b="0" i="0">
                <a:solidFill>
                  <a:srgbClr val="1F2433"/>
                </a:solidFill>
                <a:latin typeface="Arial"/>
              </a:rPr>
              <a:t>Português, inglês ou espanhol; sem restrição de data;</a:t>
            </a:r>
          </a:p>
          <a:p>
            <a:pPr algn="l" marL="274320" indent="-274320">
              <a:lnSpc>
                <a:spcPct val="100000"/>
              </a:lnSpc>
              <a:spcAft>
                <a:spcPts val="600"/>
              </a:spcAft>
              <a:buClr>
                <a:srgbClr val="0E7C86"/>
              </a:buClr>
              <a:buFont typeface="Arial"/>
              <a:buChar char="•"/>
            </a:pPr>
            <a:r>
              <a:rPr sz="1700" b="0" i="0">
                <a:solidFill>
                  <a:srgbClr val="1F2433"/>
                </a:solidFill>
                <a:latin typeface="Arial"/>
              </a:rPr>
              <a:t>Resumos de congresso só com população, cenário, definição do desfecho, eventos e denominador (classificados como preocupação alta e testados em análise de sensibilidade).</a:t>
            </a:r>
          </a:p>
        </p:txBody>
      </p:sp>
      <p:pic>
        <p:nvPicPr>
          <p:cNvPr id="27" name="icone xmark" descr="xmark_red.png"/>
          <p:cNvPicPr>
            <a:picLocks noChangeAspect="1"/>
          </p:cNvPicPr>
          <p:nvPr/>
        </p:nvPicPr>
        <p:blipFill>
          <a:blip r:embed="rId5"/>
          <a:stretch>
            <a:fillRect/>
          </a:stretch>
        </p:blipFill>
        <p:spPr>
          <a:xfrm>
            <a:off x="1417320" y="5486400"/>
            <a:ext cx="365760" cy="365760"/>
          </a:xfrm>
          <a:prstGeom prst="rect">
            <a:avLst/>
          </a:prstGeom>
        </p:spPr>
      </p:pic>
      <p:sp>
        <p:nvSpPr>
          <p:cNvPr id="28" name="TextBox 27"/>
          <p:cNvSpPr txBox="1"/>
          <p:nvPr/>
        </p:nvSpPr>
        <p:spPr>
          <a:xfrm>
            <a:off x="1920240" y="5440680"/>
            <a:ext cx="667512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17320" y="5879592"/>
            <a:ext cx="7132320" cy="3017520"/>
          </a:xfrm>
          <a:prstGeom prst="rect">
            <a:avLst/>
          </a:prstGeom>
          <a:noFill/>
        </p:spPr>
        <p:txBody>
          <a:bodyPr wrap="square" lIns="0" rIns="0" tIns="0" bIns="0" anchor="t">
            <a:noAutofit/>
          </a:bodyPr>
          <a:lstStyle/>
          <a:p>
            <a:pPr algn="l" marL="274320" indent="-274320">
              <a:lnSpc>
                <a:spcPct val="100000"/>
              </a:lnSpc>
              <a:spcAft>
                <a:spcPts val="600"/>
              </a:spcAft>
              <a:buClr>
                <a:srgbClr val="8B0000"/>
              </a:buClr>
              <a:buFont typeface="Arial"/>
              <a:buChar char="•"/>
            </a:pPr>
            <a:r>
              <a:rPr sz="1700" b="0" i="0">
                <a:solidFill>
                  <a:srgbClr val="1F2433"/>
                </a:solidFill>
                <a:latin typeface="Arial"/>
              </a:rPr>
              <a:t>Estudos in vitro ou em animais;</a:t>
            </a:r>
          </a:p>
          <a:p>
            <a:pPr algn="l" marL="274320" indent="-274320">
              <a:lnSpc>
                <a:spcPct val="100000"/>
              </a:lnSpc>
              <a:spcAft>
                <a:spcPts val="600"/>
              </a:spcAft>
              <a:buClr>
                <a:srgbClr val="8B0000"/>
              </a:buClr>
              <a:buFont typeface="Arial"/>
              <a:buChar char="•"/>
            </a:pPr>
            <a:r>
              <a:rPr sz="1700" b="0" i="0">
                <a:solidFill>
                  <a:srgbClr val="1F2433"/>
                </a:solidFill>
                <a:latin typeface="Arial"/>
              </a:rPr>
              <a:t>População fora do centro cirúrgico (ex.: ambulatórios de dermatologia ou ginecologia);</a:t>
            </a:r>
          </a:p>
          <a:p>
            <a:pPr algn="l" marL="274320" indent="-274320">
              <a:lnSpc>
                <a:spcPct val="100000"/>
              </a:lnSpc>
              <a:spcAft>
                <a:spcPts val="600"/>
              </a:spcAft>
              <a:buClr>
                <a:srgbClr val="8B0000"/>
              </a:buClr>
              <a:buFont typeface="Arial"/>
              <a:buChar char="•"/>
            </a:pPr>
            <a:r>
              <a:rPr sz="1700" b="0" i="0">
                <a:solidFill>
                  <a:srgbClr val="1F2433"/>
                </a:solidFill>
                <a:latin typeface="Arial"/>
              </a:rPr>
              <a:t>Desfecho apenas no paciente;</a:t>
            </a:r>
          </a:p>
          <a:p>
            <a:pPr algn="l" marL="274320" indent="-274320">
              <a:lnSpc>
                <a:spcPct val="100000"/>
              </a:lnSpc>
              <a:spcAft>
                <a:spcPts val="600"/>
              </a:spcAft>
              <a:buClr>
                <a:srgbClr val="8B0000"/>
              </a:buClr>
              <a:buFont typeface="Arial"/>
              <a:buChar char="•"/>
            </a:pPr>
            <a:r>
              <a:rPr sz="1700" b="0" i="0">
                <a:solidFill>
                  <a:srgbClr val="1F2433"/>
                </a:solidFill>
                <a:latin typeface="Arial"/>
              </a:rPr>
              <a:t>Caracterização físico-química do ar sem desfecho humano;</a:t>
            </a:r>
          </a:p>
          <a:p>
            <a:pPr algn="l" marL="274320" indent="-274320">
              <a:lnSpc>
                <a:spcPct val="100000"/>
              </a:lnSpc>
              <a:spcAft>
                <a:spcPts val="600"/>
              </a:spcAft>
              <a:buClr>
                <a:srgbClr val="8B0000"/>
              </a:buClr>
              <a:buFont typeface="Arial"/>
              <a:buChar char="•"/>
            </a:pPr>
            <a:r>
              <a:rPr sz="1700" b="0" i="0">
                <a:solidFill>
                  <a:srgbClr val="1F2433"/>
                </a:solidFill>
                <a:latin typeface="Arial"/>
              </a:rPr>
              <a:t>Revisões, editoriais, cartas e comentários;</a:t>
            </a:r>
          </a:p>
          <a:p>
            <a:pPr algn="l" marL="274320" indent="-274320">
              <a:lnSpc>
                <a:spcPct val="100000"/>
              </a:lnSpc>
              <a:spcAft>
                <a:spcPts val="600"/>
              </a:spcAft>
              <a:buClr>
                <a:srgbClr val="8B0000"/>
              </a:buClr>
              <a:buFont typeface="Arial"/>
              <a:buChar char="•"/>
            </a:pPr>
            <a:r>
              <a:rPr sz="1700" b="0" i="0">
                <a:solidFill>
                  <a:srgbClr val="1F2433"/>
                </a:solidFill>
                <a:latin typeface="Arial"/>
              </a:rPr>
              <a:t>Exposição não atribuível à fumaça (ex.: só gases anestésicos ou radiação).</a:t>
            </a:r>
          </a:p>
        </p:txBody>
      </p:sp>
      <p:sp>
        <p:nvSpPr>
          <p:cNvPr id="30" name="Rounded Rectangle 29"/>
          <p:cNvSpPr/>
          <p:nvPr/>
        </p:nvSpPr>
        <p:spPr>
          <a:xfrm>
            <a:off x="9098280" y="1783080"/>
            <a:ext cx="8686800" cy="4480560"/>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326880" y="1847088"/>
            <a:ext cx="822960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144000" y="2240280"/>
          <a:ext cx="6126480" cy="3977639"/>
        </p:xfrm>
        <a:graphic>
          <a:graphicData uri="http://schemas.openxmlformats.org/drawingml/2006/chart">
            <c:chart xmlns:c="http://schemas.openxmlformats.org/drawingml/2006/chart" r:id="rId6"/>
          </a:graphicData>
        </a:graphic>
      </p:graphicFrame>
      <p:sp>
        <p:nvSpPr>
          <p:cNvPr id="33" name="TextBox 32"/>
          <p:cNvSpPr txBox="1"/>
          <p:nvPr/>
        </p:nvSpPr>
        <p:spPr>
          <a:xfrm>
            <a:off x="15407640" y="2377440"/>
            <a:ext cx="2286000" cy="6350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407640" y="3030728"/>
            <a:ext cx="2286000" cy="82804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registros identificados</a:t>
            </a:r>
          </a:p>
        </p:txBody>
      </p:sp>
      <p:sp>
        <p:nvSpPr>
          <p:cNvPr id="35" name="TextBox 34"/>
          <p:cNvSpPr txBox="1"/>
          <p:nvPr/>
        </p:nvSpPr>
        <p:spPr>
          <a:xfrm>
            <a:off x="15407640" y="3977639"/>
            <a:ext cx="2286000" cy="50800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407640" y="4503927"/>
            <a:ext cx="2286000" cy="9550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referências avaliadas na busca por citação (OpenAlex)</a:t>
            </a:r>
          </a:p>
        </p:txBody>
      </p:sp>
      <p:sp>
        <p:nvSpPr>
          <p:cNvPr id="37" name="TextBox 36"/>
          <p:cNvSpPr txBox="1"/>
          <p:nvPr/>
        </p:nvSpPr>
        <p:spPr>
          <a:xfrm>
            <a:off x="15407640" y="5440680"/>
            <a:ext cx="2286000" cy="77724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Cinzenta: 4 estratégias no Google Scholar (50 primeiros resultados cada) e Catálogo CAPES</a:t>
            </a:r>
          </a:p>
        </p:txBody>
      </p:sp>
      <p:sp>
        <p:nvSpPr>
          <p:cNvPr id="38" name="Rounded Rectangle 37"/>
          <p:cNvSpPr/>
          <p:nvPr/>
        </p:nvSpPr>
        <p:spPr>
          <a:xfrm>
            <a:off x="9098280" y="6446520"/>
            <a:ext cx="8686800" cy="256032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326880" y="6510528"/>
            <a:ext cx="822960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326880" y="6903720"/>
            <a:ext cx="8229600" cy="2103120"/>
          </a:xfrm>
          <a:prstGeom prst="rect">
            <a:avLst/>
          </a:prstGeom>
          <a:noFill/>
        </p:spPr>
        <p:txBody>
          <a:bodyPr wrap="square" lIns="0" rIns="0" tIns="0" bIns="0" anchor="t">
            <a:noAutofit/>
          </a:bodyPr>
          <a:lstStyle/>
          <a:p>
            <a:pPr algn="l" marL="274320" indent="-274320">
              <a:lnSpc>
                <a:spcPct val="100000"/>
              </a:lnSpc>
              <a:spcAft>
                <a:spcPts val="400"/>
              </a:spcAft>
              <a:buClr>
                <a:srgbClr val="C8A951"/>
              </a:buClr>
              <a:buFont typeface="Arial"/>
              <a:buChar char="•"/>
            </a:pPr>
            <a:r>
              <a:rPr sz="1500" b="1" i="0">
                <a:solidFill>
                  <a:srgbClr val="1F2433"/>
                </a:solidFill>
                <a:latin typeface="Arial"/>
              </a:rPr>
              <a:t>Dois blocos: </a:t>
            </a:r>
            <a:r>
              <a:rPr sz="1500" b="0" i="0">
                <a:solidFill>
                  <a:srgbClr val="1F2433"/>
                </a:solidFill>
                <a:latin typeface="Arial"/>
              </a:rPr>
              <a:t>(equipe cirúrgica) AND (fumaça OU dispositivos de energia), com termos MeSH/Emtree e texto livre; sem bloco de desfecho, para não perder estudos.</a:t>
            </a:r>
          </a:p>
          <a:p>
            <a:pPr algn="l" marL="274320" indent="-274320">
              <a:lnSpc>
                <a:spcPct val="100000"/>
              </a:lnSpc>
              <a:spcAft>
                <a:spcPts val="400"/>
              </a:spcAft>
              <a:buClr>
                <a:srgbClr val="C8A951"/>
              </a:buClr>
              <a:buFont typeface="Arial"/>
              <a:buChar char="•"/>
            </a:pPr>
            <a:r>
              <a:rPr sz="1500" b="1" i="0">
                <a:solidFill>
                  <a:srgbClr val="1F2433"/>
                </a:solidFill>
                <a:latin typeface="Arial"/>
              </a:rPr>
              <a:t>Sem filtro de idioma ou data na busca </a:t>
            </a:r>
            <a:r>
              <a:rPr sz="1500" b="0" i="0">
                <a:solidFill>
                  <a:srgbClr val="1F2433"/>
                </a:solidFill>
                <a:latin typeface="Arial"/>
              </a:rPr>
              <a:t>→ alta sensibilidade (estratégias completas no Anexo A).</a:t>
            </a:r>
          </a:p>
          <a:p>
            <a:pPr algn="l" marL="274320" indent="-274320">
              <a:lnSpc>
                <a:spcPct val="100000"/>
              </a:lnSpc>
              <a:spcAft>
                <a:spcPts val="400"/>
              </a:spcAft>
              <a:buClr>
                <a:srgbClr val="C8A951"/>
              </a:buClr>
              <a:buFont typeface="Arial"/>
              <a:buChar char="•"/>
            </a:pPr>
            <a:r>
              <a:rPr sz="1500" b="1" i="0">
                <a:solidFill>
                  <a:srgbClr val="1F2433"/>
                </a:solidFill>
                <a:latin typeface="Arial"/>
              </a:rPr>
              <a:t>Busca por citação (snowballing) automatizada no OpenAlex: </a:t>
            </a:r>
            <a:r>
              <a:rPr sz="1500" b="0" i="0">
                <a:solidFill>
                  <a:srgbClr val="1F2433"/>
                </a:solidFill>
                <a:latin typeface="Arial"/>
              </a:rPr>
              <a:t>referências dos incluídos (reversa) e artigos que os citam (direta).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3 · Seleção dos estudos: do registro bruto ao relatório incluído</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828800"/>
            <a:ext cx="2468880" cy="19659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280160" y="1901952"/>
            <a:ext cx="219456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16.757</a:t>
            </a:r>
          </a:p>
        </p:txBody>
      </p:sp>
      <p:sp>
        <p:nvSpPr>
          <p:cNvPr id="24" name="TextBox 23"/>
          <p:cNvSpPr txBox="1"/>
          <p:nvPr/>
        </p:nvSpPr>
        <p:spPr>
          <a:xfrm>
            <a:off x="1280160" y="2651760"/>
            <a:ext cx="219456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registros identificados</a:t>
            </a:r>
          </a:p>
          <a:p>
            <a:pPr algn="ctr">
              <a:lnSpc>
                <a:spcPct val="100000"/>
              </a:lnSpc>
              <a:spcAft>
                <a:spcPts val="0"/>
              </a:spcAft>
              <a:buNone/>
            </a:pPr>
            <a:r>
              <a:rPr sz="1400" b="0" i="0">
                <a:solidFill>
                  <a:srgbClr val="1F2433"/>
                </a:solidFill>
                <a:latin typeface="Arial"/>
              </a:rPr>
              <a:t>(bases + literatura cinzenta)</a:t>
            </a:r>
          </a:p>
        </p:txBody>
      </p:sp>
      <p:cxnSp>
        <p:nvCxnSpPr>
          <p:cNvPr id="25" name="Connector 24"/>
          <p:cNvCxnSpPr/>
          <p:nvPr/>
        </p:nvCxnSpPr>
        <p:spPr>
          <a:xfrm>
            <a:off x="3685032" y="2514600"/>
            <a:ext cx="928116" cy="0"/>
          </a:xfrm>
          <a:prstGeom prst="line">
            <a:avLst/>
          </a:prstGeom>
          <a:ln w="31750">
            <a:solidFill>
              <a:srgbClr val="002060"/>
            </a:solidFill>
            <a:tailEnd type="triangle" w="med" len="med"/>
          </a:ln>
        </p:spPr>
      </p:cxnSp>
      <p:sp>
        <p:nvSpPr>
          <p:cNvPr id="26" name="Rounded Rectangle 25"/>
          <p:cNvSpPr/>
          <p:nvPr/>
        </p:nvSpPr>
        <p:spPr>
          <a:xfrm>
            <a:off x="4686300" y="1828800"/>
            <a:ext cx="2468880" cy="196596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4823460" y="1901952"/>
            <a:ext cx="219456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10.910</a:t>
            </a:r>
          </a:p>
        </p:txBody>
      </p:sp>
      <p:sp>
        <p:nvSpPr>
          <p:cNvPr id="28" name="TextBox 27"/>
          <p:cNvSpPr txBox="1"/>
          <p:nvPr/>
        </p:nvSpPr>
        <p:spPr>
          <a:xfrm>
            <a:off x="4823460" y="2651760"/>
            <a:ext cx="219456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registros únicos</a:t>
            </a:r>
          </a:p>
          <a:p>
            <a:pPr algn="ctr">
              <a:lnSpc>
                <a:spcPct val="100000"/>
              </a:lnSpc>
              <a:spcAft>
                <a:spcPts val="0"/>
              </a:spcAft>
              <a:buNone/>
            </a:pPr>
            <a:r>
              <a:rPr sz="1400" b="0" i="0">
                <a:solidFill>
                  <a:srgbClr val="1F2433"/>
                </a:solidFill>
                <a:latin typeface="Arial"/>
              </a:rPr>
              <a:t>(5.839 duplicatas; 8 não exportados)</a:t>
            </a:r>
          </a:p>
        </p:txBody>
      </p:sp>
      <p:cxnSp>
        <p:nvCxnSpPr>
          <p:cNvPr id="29" name="Connector 28"/>
          <p:cNvCxnSpPr/>
          <p:nvPr/>
        </p:nvCxnSpPr>
        <p:spPr>
          <a:xfrm>
            <a:off x="7228332" y="2514600"/>
            <a:ext cx="928116" cy="0"/>
          </a:xfrm>
          <a:prstGeom prst="line">
            <a:avLst/>
          </a:prstGeom>
          <a:ln w="31750">
            <a:solidFill>
              <a:srgbClr val="002060"/>
            </a:solidFill>
            <a:tailEnd type="triangle" w="med" len="med"/>
          </a:ln>
        </p:spPr>
      </p:cxnSp>
      <p:sp>
        <p:nvSpPr>
          <p:cNvPr id="30" name="TextBox 29"/>
          <p:cNvSpPr txBox="1"/>
          <p:nvPr/>
        </p:nvSpPr>
        <p:spPr>
          <a:xfrm>
            <a:off x="7173468" y="2697480"/>
            <a:ext cx="1037844" cy="1097280"/>
          </a:xfrm>
          <a:prstGeom prst="rect">
            <a:avLst/>
          </a:prstGeom>
          <a:noFill/>
        </p:spPr>
        <p:txBody>
          <a:bodyPr wrap="square" lIns="0" rIns="0" tIns="0" bIns="0" anchor="t">
            <a:noAutofit/>
          </a:bodyPr>
          <a:lstStyle/>
          <a:p>
            <a:pPr algn="ctr">
              <a:lnSpc>
                <a:spcPct val="95000"/>
              </a:lnSpc>
              <a:spcAft>
                <a:spcPts val="0"/>
              </a:spcAft>
              <a:buNone/>
            </a:pPr>
            <a:r>
              <a:rPr sz="1200" b="0" i="0">
                <a:solidFill>
                  <a:srgbClr val="5A6270"/>
                </a:solidFill>
                <a:latin typeface="Arial"/>
              </a:rPr>
              <a:t>10.882</a:t>
            </a:r>
          </a:p>
          <a:p>
            <a:pPr algn="ctr">
              <a:lnSpc>
                <a:spcPct val="95000"/>
              </a:lnSpc>
              <a:spcAft>
                <a:spcPts val="0"/>
              </a:spcAft>
              <a:buNone/>
            </a:pPr>
            <a:r>
              <a:rPr sz="1200" b="0" i="0">
                <a:solidFill>
                  <a:srgbClr val="5A6270"/>
                </a:solidFill>
                <a:latin typeface="Arial"/>
              </a:rPr>
              <a:t>excluídos</a:t>
            </a:r>
          </a:p>
          <a:p>
            <a:pPr algn="ctr">
              <a:lnSpc>
                <a:spcPct val="95000"/>
              </a:lnSpc>
              <a:spcAft>
                <a:spcPts val="0"/>
              </a:spcAft>
              <a:buNone/>
            </a:pPr>
            <a:r>
              <a:rPr sz="1200" b="0" i="0">
                <a:solidFill>
                  <a:srgbClr val="5A6270"/>
                </a:solidFill>
                <a:latin typeface="Arial"/>
              </a:rPr>
              <a:t>na triagem</a:t>
            </a:r>
          </a:p>
        </p:txBody>
      </p:sp>
      <p:sp>
        <p:nvSpPr>
          <p:cNvPr id="31" name="Rounded Rectangle 30"/>
          <p:cNvSpPr/>
          <p:nvPr/>
        </p:nvSpPr>
        <p:spPr>
          <a:xfrm>
            <a:off x="8229600" y="1828800"/>
            <a:ext cx="2468880" cy="1965960"/>
          </a:xfrm>
          <a:prstGeom prst="roundRect">
            <a:avLst>
              <a:gd name="adj" fmla="val 6000"/>
            </a:avLst>
          </a:prstGeom>
          <a:solidFill>
            <a:srgbClr val="F2F4F8"/>
          </a:solidFill>
          <a:ln>
            <a:noFill/>
          </a:ln>
          <a:effectLst/>
        </p:spPr>
        <p:txBody>
          <a:bodyPr rtlCol="0" anchor="ctr"/>
          <a:lstStyle/>
          <a:p/>
        </p:txBody>
      </p:sp>
      <p:sp>
        <p:nvSpPr>
          <p:cNvPr id="32" name="TextBox 31"/>
          <p:cNvSpPr txBox="1"/>
          <p:nvPr/>
        </p:nvSpPr>
        <p:spPr>
          <a:xfrm>
            <a:off x="8366760" y="1901952"/>
            <a:ext cx="219456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32</a:t>
            </a:r>
          </a:p>
        </p:txBody>
      </p:sp>
      <p:sp>
        <p:nvSpPr>
          <p:cNvPr id="33" name="TextBox 32"/>
          <p:cNvSpPr txBox="1"/>
          <p:nvPr/>
        </p:nvSpPr>
        <p:spPr>
          <a:xfrm>
            <a:off x="8366760" y="2651760"/>
            <a:ext cx="219456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relatórios buscados na íntegra</a:t>
            </a:r>
          </a:p>
          <a:p>
            <a:pPr algn="ctr">
              <a:lnSpc>
                <a:spcPct val="100000"/>
              </a:lnSpc>
              <a:spcAft>
                <a:spcPts val="0"/>
              </a:spcAft>
              <a:buNone/>
            </a:pPr>
            <a:r>
              <a:rPr sz="1400" b="0" i="0">
                <a:solidFill>
                  <a:srgbClr val="1F2433"/>
                </a:solidFill>
                <a:latin typeface="Arial"/>
              </a:rPr>
              <a:t>(28 da triagem + 4 por citação)</a:t>
            </a:r>
          </a:p>
        </p:txBody>
      </p:sp>
      <p:cxnSp>
        <p:nvCxnSpPr>
          <p:cNvPr id="34" name="Connector 33"/>
          <p:cNvCxnSpPr/>
          <p:nvPr/>
        </p:nvCxnSpPr>
        <p:spPr>
          <a:xfrm>
            <a:off x="10771632" y="2514600"/>
            <a:ext cx="928116" cy="0"/>
          </a:xfrm>
          <a:prstGeom prst="line">
            <a:avLst/>
          </a:prstGeom>
          <a:ln w="31750">
            <a:solidFill>
              <a:srgbClr val="002060"/>
            </a:solidFill>
            <a:tailEnd type="triangle" w="med" len="med"/>
          </a:ln>
        </p:spPr>
      </p:cxnSp>
      <p:sp>
        <p:nvSpPr>
          <p:cNvPr id="35" name="TextBox 34"/>
          <p:cNvSpPr txBox="1"/>
          <p:nvPr/>
        </p:nvSpPr>
        <p:spPr>
          <a:xfrm>
            <a:off x="10716767" y="2697480"/>
            <a:ext cx="1037844" cy="1097280"/>
          </a:xfrm>
          <a:prstGeom prst="rect">
            <a:avLst/>
          </a:prstGeom>
          <a:noFill/>
        </p:spPr>
        <p:txBody>
          <a:bodyPr wrap="square" lIns="0" rIns="0" tIns="0" bIns="0" anchor="t">
            <a:noAutofit/>
          </a:bodyPr>
          <a:lstStyle/>
          <a:p>
            <a:pPr algn="ctr">
              <a:lnSpc>
                <a:spcPct val="95000"/>
              </a:lnSpc>
              <a:spcAft>
                <a:spcPts val="0"/>
              </a:spcAft>
              <a:buNone/>
            </a:pPr>
            <a:r>
              <a:rPr sz="1200" b="0" i="0">
                <a:solidFill>
                  <a:srgbClr val="5A6270"/>
                </a:solidFill>
                <a:latin typeface="Arial"/>
              </a:rPr>
              <a:t>6 não</a:t>
            </a:r>
          </a:p>
          <a:p>
            <a:pPr algn="ctr">
              <a:lnSpc>
                <a:spcPct val="95000"/>
              </a:lnSpc>
              <a:spcAft>
                <a:spcPts val="0"/>
              </a:spcAft>
              <a:buNone/>
            </a:pPr>
            <a:r>
              <a:rPr sz="1200" b="0" i="0">
                <a:solidFill>
                  <a:srgbClr val="5A6270"/>
                </a:solidFill>
                <a:latin typeface="Arial"/>
              </a:rPr>
              <a:t>recuperados</a:t>
            </a:r>
          </a:p>
        </p:txBody>
      </p:sp>
      <p:sp>
        <p:nvSpPr>
          <p:cNvPr id="36" name="Rounded Rectangle 35"/>
          <p:cNvSpPr/>
          <p:nvPr/>
        </p:nvSpPr>
        <p:spPr>
          <a:xfrm>
            <a:off x="11772900" y="1828800"/>
            <a:ext cx="2468880" cy="1965960"/>
          </a:xfrm>
          <a:prstGeom prst="roundRect">
            <a:avLst>
              <a:gd name="adj" fmla="val 6000"/>
            </a:avLst>
          </a:prstGeom>
          <a:solidFill>
            <a:srgbClr val="F2F4F8"/>
          </a:solidFill>
          <a:ln>
            <a:noFill/>
          </a:ln>
          <a:effectLst/>
        </p:spPr>
        <p:txBody>
          <a:bodyPr rtlCol="0" anchor="ctr"/>
          <a:lstStyle/>
          <a:p/>
        </p:txBody>
      </p:sp>
      <p:sp>
        <p:nvSpPr>
          <p:cNvPr id="37" name="TextBox 36"/>
          <p:cNvSpPr txBox="1"/>
          <p:nvPr/>
        </p:nvSpPr>
        <p:spPr>
          <a:xfrm>
            <a:off x="11910060" y="1901952"/>
            <a:ext cx="219456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26</a:t>
            </a:r>
          </a:p>
        </p:txBody>
      </p:sp>
      <p:sp>
        <p:nvSpPr>
          <p:cNvPr id="38" name="TextBox 37"/>
          <p:cNvSpPr txBox="1"/>
          <p:nvPr/>
        </p:nvSpPr>
        <p:spPr>
          <a:xfrm>
            <a:off x="11910060" y="2651760"/>
            <a:ext cx="219456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avaliados para elegibilidade</a:t>
            </a:r>
          </a:p>
          <a:p>
            <a:pPr algn="ctr">
              <a:lnSpc>
                <a:spcPct val="100000"/>
              </a:lnSpc>
              <a:spcAft>
                <a:spcPts val="0"/>
              </a:spcAft>
              <a:buNone/>
            </a:pPr>
            <a:r>
              <a:rPr sz="1400" b="0" i="0">
                <a:solidFill>
                  <a:srgbClr val="1F2433"/>
                </a:solidFill>
                <a:latin typeface="Arial"/>
              </a:rPr>
              <a:t>(6 não recuperados)</a:t>
            </a:r>
          </a:p>
        </p:txBody>
      </p:sp>
      <p:cxnSp>
        <p:nvCxnSpPr>
          <p:cNvPr id="39" name="Connector 38"/>
          <p:cNvCxnSpPr/>
          <p:nvPr/>
        </p:nvCxnSpPr>
        <p:spPr>
          <a:xfrm>
            <a:off x="14314932" y="2514600"/>
            <a:ext cx="928116" cy="0"/>
          </a:xfrm>
          <a:prstGeom prst="line">
            <a:avLst/>
          </a:prstGeom>
          <a:ln w="31750">
            <a:solidFill>
              <a:srgbClr val="002060"/>
            </a:solidFill>
            <a:tailEnd type="triangle" w="med" len="med"/>
          </a:ln>
        </p:spPr>
      </p:cxnSp>
      <p:sp>
        <p:nvSpPr>
          <p:cNvPr id="40" name="TextBox 39"/>
          <p:cNvSpPr txBox="1"/>
          <p:nvPr/>
        </p:nvSpPr>
        <p:spPr>
          <a:xfrm>
            <a:off x="14260067" y="2697480"/>
            <a:ext cx="1037844" cy="1097280"/>
          </a:xfrm>
          <a:prstGeom prst="rect">
            <a:avLst/>
          </a:prstGeom>
          <a:noFill/>
        </p:spPr>
        <p:txBody>
          <a:bodyPr wrap="square" lIns="0" rIns="0" tIns="0" bIns="0" anchor="t">
            <a:noAutofit/>
          </a:bodyPr>
          <a:lstStyle/>
          <a:p>
            <a:pPr algn="ctr">
              <a:lnSpc>
                <a:spcPct val="95000"/>
              </a:lnSpc>
              <a:spcAft>
                <a:spcPts val="0"/>
              </a:spcAft>
              <a:buNone/>
            </a:pPr>
            <a:r>
              <a:rPr sz="1200" b="0" i="0">
                <a:solidFill>
                  <a:srgbClr val="5A6270"/>
                </a:solidFill>
                <a:latin typeface="Arial"/>
              </a:rPr>
              <a:t>4 excluídos</a:t>
            </a:r>
          </a:p>
          <a:p>
            <a:pPr algn="ctr">
              <a:lnSpc>
                <a:spcPct val="95000"/>
              </a:lnSpc>
              <a:spcAft>
                <a:spcPts val="0"/>
              </a:spcAft>
              <a:buNone/>
            </a:pPr>
            <a:r>
              <a:rPr sz="1200" b="0" i="0">
                <a:solidFill>
                  <a:srgbClr val="5A6270"/>
                </a:solidFill>
                <a:latin typeface="Arial"/>
              </a:rPr>
              <a:t>na íntegra</a:t>
            </a:r>
          </a:p>
        </p:txBody>
      </p:sp>
      <p:sp>
        <p:nvSpPr>
          <p:cNvPr id="41" name="Rounded Rectangle 40"/>
          <p:cNvSpPr/>
          <p:nvPr/>
        </p:nvSpPr>
        <p:spPr>
          <a:xfrm>
            <a:off x="15316200" y="1828800"/>
            <a:ext cx="2468880" cy="1965960"/>
          </a:xfrm>
          <a:prstGeom prst="roundRect">
            <a:avLst>
              <a:gd name="adj" fmla="val 6000"/>
            </a:avLst>
          </a:prstGeom>
          <a:solidFill>
            <a:srgbClr val="F9E9E9"/>
          </a:solidFill>
          <a:ln>
            <a:noFill/>
          </a:ln>
          <a:effectLst/>
        </p:spPr>
        <p:txBody>
          <a:bodyPr rtlCol="0" anchor="ctr"/>
          <a:lstStyle/>
          <a:p/>
        </p:txBody>
      </p:sp>
      <p:sp>
        <p:nvSpPr>
          <p:cNvPr id="42" name="TextBox 41"/>
          <p:cNvSpPr txBox="1"/>
          <p:nvPr/>
        </p:nvSpPr>
        <p:spPr>
          <a:xfrm>
            <a:off x="15453359" y="1901952"/>
            <a:ext cx="2194560" cy="73152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8B0000"/>
                </a:solidFill>
                <a:latin typeface="Arial"/>
              </a:rPr>
              <a:t>22</a:t>
            </a:r>
          </a:p>
        </p:txBody>
      </p:sp>
      <p:sp>
        <p:nvSpPr>
          <p:cNvPr id="43" name="TextBox 42"/>
          <p:cNvSpPr txBox="1"/>
          <p:nvPr/>
        </p:nvSpPr>
        <p:spPr>
          <a:xfrm>
            <a:off x="15453359" y="2651760"/>
            <a:ext cx="2194560" cy="109728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1F2433"/>
                </a:solidFill>
                <a:latin typeface="Arial"/>
              </a:rPr>
              <a:t>relatórios incluídos</a:t>
            </a:r>
          </a:p>
          <a:p>
            <a:pPr algn="ctr">
              <a:lnSpc>
                <a:spcPct val="100000"/>
              </a:lnSpc>
              <a:spcAft>
                <a:spcPts val="0"/>
              </a:spcAft>
              <a:buNone/>
            </a:pPr>
            <a:r>
              <a:rPr sz="1400" b="0" i="0">
                <a:solidFill>
                  <a:srgbClr val="1F2433"/>
                </a:solidFill>
                <a:latin typeface="Arial"/>
              </a:rPr>
              <a:t>(4 excluídos na íntegra)</a:t>
            </a:r>
          </a:p>
        </p:txBody>
      </p:sp>
      <p:sp>
        <p:nvSpPr>
          <p:cNvPr id="44" name="Rounded Rectangle 43"/>
          <p:cNvSpPr/>
          <p:nvPr/>
        </p:nvSpPr>
        <p:spPr>
          <a:xfrm>
            <a:off x="1143000" y="4069080"/>
            <a:ext cx="5367528" cy="3749039"/>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1417320" y="4343400"/>
            <a:ext cx="731520" cy="731520"/>
          </a:xfrm>
          <a:prstGeom prst="ellipse">
            <a:avLst/>
          </a:prstGeom>
          <a:solidFill>
            <a:srgbClr val="002060"/>
          </a:solidFill>
          <a:ln>
            <a:noFill/>
          </a:ln>
          <a:effectLst/>
        </p:spPr>
        <p:txBody>
          <a:bodyPr rtlCol="0" anchor="ctr" lIns="0" rIns="0" tIns="0" bIns="0"/>
          <a:lstStyle/>
          <a:p/>
        </p:txBody>
      </p:sp>
      <p:pic>
        <p:nvPicPr>
          <p:cNvPr id="46" name="icone filter" descr="filter_white.png"/>
          <p:cNvPicPr>
            <a:picLocks noChangeAspect="1"/>
          </p:cNvPicPr>
          <p:nvPr/>
        </p:nvPicPr>
        <p:blipFill>
          <a:blip r:embed="rId4"/>
          <a:stretch>
            <a:fillRect/>
          </a:stretch>
        </p:blipFill>
        <p:spPr>
          <a:xfrm>
            <a:off x="1600200" y="4526280"/>
            <a:ext cx="365760" cy="365760"/>
          </a:xfrm>
          <a:prstGeom prst="rect">
            <a:avLst/>
          </a:prstGeom>
        </p:spPr>
      </p:pic>
      <p:sp>
        <p:nvSpPr>
          <p:cNvPr id="47" name="TextBox 46"/>
          <p:cNvSpPr txBox="1"/>
          <p:nvPr/>
        </p:nvSpPr>
        <p:spPr>
          <a:xfrm>
            <a:off x="2377440" y="4343400"/>
            <a:ext cx="3858768"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Deduplicação e triagem</a:t>
            </a:r>
          </a:p>
        </p:txBody>
      </p:sp>
      <p:sp>
        <p:nvSpPr>
          <p:cNvPr id="48" name="TextBox 47"/>
          <p:cNvSpPr txBox="1"/>
          <p:nvPr/>
        </p:nvSpPr>
        <p:spPr>
          <a:xfrm>
            <a:off x="1417320"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Zotero → Rayyan; duplicatas por DOI, PMID e similaridade de título.</a:t>
            </a:r>
          </a:p>
          <a:p>
            <a:pPr algn="l" marL="274320" indent="-274320">
              <a:lnSpc>
                <a:spcPct val="100000"/>
              </a:lnSpc>
              <a:spcAft>
                <a:spcPts val="500"/>
              </a:spcAft>
              <a:buFont typeface="Arial"/>
              <a:buChar char="•"/>
            </a:pPr>
            <a:r>
              <a:rPr sz="1500" b="0" i="0">
                <a:solidFill>
                  <a:srgbClr val="1F2433"/>
                </a:solidFill>
                <a:latin typeface="Arial"/>
              </a:rPr>
              <a:t>Triagem de título e resumo de todos os 10.910 registros por um único revisor (o primeiro autor).</a:t>
            </a:r>
          </a:p>
          <a:p>
            <a:pPr algn="l" marL="274320" indent="-274320">
              <a:lnSpc>
                <a:spcPct val="100000"/>
              </a:lnSpc>
              <a:spcAft>
                <a:spcPts val="500"/>
              </a:spcAft>
              <a:buFont typeface="Arial"/>
              <a:buChar char="•"/>
            </a:pPr>
            <a:r>
              <a:rPr sz="1500" b="0" i="0">
                <a:solidFill>
                  <a:srgbClr val="1F2433"/>
                </a:solidFill>
                <a:latin typeface="Arial"/>
              </a:rPr>
              <a:t>Script em Python (regras por palavras-chave) e IA só priorizaram a ordem de leitura; nunca decidiram elegibilidade.</a:t>
            </a:r>
          </a:p>
        </p:txBody>
      </p:sp>
      <p:sp>
        <p:nvSpPr>
          <p:cNvPr id="49" name="Rounded Rectangle 48"/>
          <p:cNvSpPr/>
          <p:nvPr/>
        </p:nvSpPr>
        <p:spPr>
          <a:xfrm>
            <a:off x="6784848" y="4069080"/>
            <a:ext cx="5367528" cy="3749039"/>
          </a:xfrm>
          <a:prstGeom prst="roundRect">
            <a:avLst>
              <a:gd name="adj" fmla="val 6000"/>
            </a:avLst>
          </a:prstGeom>
          <a:solidFill>
            <a:srgbClr val="F2F4F8"/>
          </a:solidFill>
          <a:ln>
            <a:noFill/>
          </a:ln>
          <a:effectLst/>
        </p:spPr>
        <p:txBody>
          <a:bodyPr rtlCol="0" anchor="ctr"/>
          <a:lstStyle/>
          <a:p/>
        </p:txBody>
      </p:sp>
      <p:sp>
        <p:nvSpPr>
          <p:cNvPr id="50" name="Oval 49"/>
          <p:cNvSpPr/>
          <p:nvPr/>
        </p:nvSpPr>
        <p:spPr>
          <a:xfrm>
            <a:off x="7059167" y="4343400"/>
            <a:ext cx="731520" cy="731520"/>
          </a:xfrm>
          <a:prstGeom prst="ellipse">
            <a:avLst/>
          </a:prstGeom>
          <a:solidFill>
            <a:srgbClr val="002060"/>
          </a:solidFill>
          <a:ln>
            <a:noFill/>
          </a:ln>
          <a:effectLst/>
        </p:spPr>
        <p:txBody>
          <a:bodyPr rtlCol="0" anchor="ctr" lIns="0" rIns="0" tIns="0" bIns="0"/>
          <a:lstStyle/>
          <a:p/>
        </p:txBody>
      </p:sp>
      <p:pic>
        <p:nvPicPr>
          <p:cNvPr id="51" name="icone book" descr="book_white.png"/>
          <p:cNvPicPr>
            <a:picLocks noChangeAspect="1"/>
          </p:cNvPicPr>
          <p:nvPr/>
        </p:nvPicPr>
        <p:blipFill>
          <a:blip r:embed="rId5"/>
          <a:stretch>
            <a:fillRect/>
          </a:stretch>
        </p:blipFill>
        <p:spPr>
          <a:xfrm>
            <a:off x="7242047" y="4526280"/>
            <a:ext cx="365760" cy="365760"/>
          </a:xfrm>
          <a:prstGeom prst="rect">
            <a:avLst/>
          </a:prstGeom>
        </p:spPr>
      </p:pic>
      <p:sp>
        <p:nvSpPr>
          <p:cNvPr id="52" name="TextBox 51"/>
          <p:cNvSpPr txBox="1"/>
          <p:nvPr/>
        </p:nvSpPr>
        <p:spPr>
          <a:xfrm>
            <a:off x="8019288" y="4343400"/>
            <a:ext cx="3858768"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Leitura na íntegra</a:t>
            </a:r>
          </a:p>
        </p:txBody>
      </p:sp>
      <p:sp>
        <p:nvSpPr>
          <p:cNvPr id="53" name="TextBox 52"/>
          <p:cNvSpPr txBox="1"/>
          <p:nvPr/>
        </p:nvSpPr>
        <p:spPr>
          <a:xfrm>
            <a:off x="7059168"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Critérios definitivos aplicados; motivo de exclusão registrado para cada relatório (Anexo C).</a:t>
            </a:r>
          </a:p>
          <a:p>
            <a:pPr algn="l" marL="274320" indent="-274320">
              <a:lnSpc>
                <a:spcPct val="100000"/>
              </a:lnSpc>
              <a:spcAft>
                <a:spcPts val="500"/>
              </a:spcAft>
              <a:buFont typeface="Arial"/>
              <a:buChar char="•"/>
            </a:pPr>
            <a:r>
              <a:rPr sz="1500" b="0" i="0">
                <a:solidFill>
                  <a:srgbClr val="1F2433"/>
                </a:solidFill>
                <a:latin typeface="Arial"/>
              </a:rPr>
              <a:t>Excluídos: 1 resumo de congresso sem dados extraíveis e 3 por população ou contexto inelegível.</a:t>
            </a:r>
          </a:p>
          <a:p>
            <a:pPr algn="l" marL="274320" indent="-274320">
              <a:lnSpc>
                <a:spcPct val="100000"/>
              </a:lnSpc>
              <a:spcAft>
                <a:spcPts val="500"/>
              </a:spcAft>
              <a:buFont typeface="Arial"/>
              <a:buChar char="•"/>
            </a:pPr>
            <a:r>
              <a:rPr sz="1500" b="0" i="0">
                <a:solidFill>
                  <a:srgbClr val="1F2433"/>
                </a:solidFill>
                <a:latin typeface="Arial"/>
              </a:rPr>
              <a:t>Regra do sintoma-índice: se &gt;1 sintoma elegível por via, adotou-se o mais específico (lacrimejamento ou irritação ocular; tosse ou irritação de vias aéreas).</a:t>
            </a:r>
          </a:p>
        </p:txBody>
      </p:sp>
      <p:sp>
        <p:nvSpPr>
          <p:cNvPr id="54" name="Rounded Rectangle 53"/>
          <p:cNvSpPr/>
          <p:nvPr/>
        </p:nvSpPr>
        <p:spPr>
          <a:xfrm>
            <a:off x="12426696" y="4069080"/>
            <a:ext cx="5367528" cy="3749039"/>
          </a:xfrm>
          <a:prstGeom prst="roundRect">
            <a:avLst>
              <a:gd name="adj" fmla="val 6000"/>
            </a:avLst>
          </a:prstGeom>
          <a:solidFill>
            <a:srgbClr val="F2F4F8"/>
          </a:solidFill>
          <a:ln>
            <a:noFill/>
          </a:ln>
          <a:effectLst/>
        </p:spPr>
        <p:txBody>
          <a:bodyPr rtlCol="0" anchor="ctr"/>
          <a:lstStyle/>
          <a:p/>
        </p:txBody>
      </p:sp>
      <p:sp>
        <p:nvSpPr>
          <p:cNvPr id="55" name="Oval 54"/>
          <p:cNvSpPr/>
          <p:nvPr/>
        </p:nvSpPr>
        <p:spPr>
          <a:xfrm>
            <a:off x="12701016" y="4343400"/>
            <a:ext cx="731520" cy="731520"/>
          </a:xfrm>
          <a:prstGeom prst="ellipse">
            <a:avLst/>
          </a:prstGeom>
          <a:solidFill>
            <a:srgbClr val="002060"/>
          </a:solidFill>
          <a:ln>
            <a:noFill/>
          </a:ln>
          <a:effectLst/>
        </p:spPr>
        <p:txBody>
          <a:bodyPr rtlCol="0" anchor="ctr" lIns="0" rIns="0" tIns="0" bIns="0"/>
          <a:lstStyle/>
          <a:p/>
        </p:txBody>
      </p:sp>
      <p:pic>
        <p:nvPicPr>
          <p:cNvPr id="56" name="icone people" descr="people_white.png"/>
          <p:cNvPicPr>
            <a:picLocks noChangeAspect="1"/>
          </p:cNvPicPr>
          <p:nvPr/>
        </p:nvPicPr>
        <p:blipFill>
          <a:blip r:embed="rId6"/>
          <a:stretch>
            <a:fillRect/>
          </a:stretch>
        </p:blipFill>
        <p:spPr>
          <a:xfrm>
            <a:off x="12883896" y="4526280"/>
            <a:ext cx="365760" cy="365760"/>
          </a:xfrm>
          <a:prstGeom prst="rect">
            <a:avLst/>
          </a:prstGeom>
        </p:spPr>
      </p:pic>
      <p:sp>
        <p:nvSpPr>
          <p:cNvPr id="57" name="TextBox 56"/>
          <p:cNvSpPr txBox="1"/>
          <p:nvPr/>
        </p:nvSpPr>
        <p:spPr>
          <a:xfrm>
            <a:off x="13661136" y="4343400"/>
            <a:ext cx="3858767"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Sobreposição amostral</a:t>
            </a:r>
          </a:p>
        </p:txBody>
      </p:sp>
      <p:sp>
        <p:nvSpPr>
          <p:cNvPr id="58" name="TextBox 57"/>
          <p:cNvSpPr txBox="1"/>
          <p:nvPr/>
        </p:nvSpPr>
        <p:spPr>
          <a:xfrm>
            <a:off x="12701016" y="5212080"/>
            <a:ext cx="4818888" cy="23865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500" b="0" i="0">
                <a:solidFill>
                  <a:srgbClr val="1F2433"/>
                </a:solidFill>
                <a:latin typeface="Arial"/>
              </a:rPr>
              <a:t>7 publicações do mesmo grupo brasileiro (Paraná) vêm de coortes com sobreposição parcial.</a:t>
            </a:r>
          </a:p>
          <a:p>
            <a:pPr algn="l" marL="274320" indent="-274320">
              <a:lnSpc>
                <a:spcPct val="100000"/>
              </a:lnSpc>
              <a:spcAft>
                <a:spcPts val="500"/>
              </a:spcAft>
              <a:buFont typeface="Arial"/>
              <a:buChar char="•"/>
            </a:pPr>
            <a:r>
              <a:rPr sz="1500" b="0" i="0">
                <a:solidFill>
                  <a:srgbClr val="1F2433"/>
                </a:solidFill>
                <a:latin typeface="Arial"/>
              </a:rPr>
              <a:t>Regra (definida antes da síntese): 1 representante por desfecho combinado, com numerador e denominador: Bieniek et al., 2022.</a:t>
            </a:r>
          </a:p>
          <a:p>
            <a:pPr algn="l" marL="274320" indent="-274320">
              <a:lnSpc>
                <a:spcPct val="100000"/>
              </a:lnSpc>
              <a:spcAft>
                <a:spcPts val="500"/>
              </a:spcAft>
              <a:buFont typeface="Arial"/>
              <a:buChar char="•"/>
            </a:pPr>
            <a:r>
              <a:rPr sz="1500" b="0" i="0">
                <a:solidFill>
                  <a:srgbClr val="1F2433"/>
                </a:solidFill>
                <a:latin typeface="Arial"/>
              </a:rPr>
              <a:t>Resultado: nenhum participante contado duas vezes em qualquer agrupamento.</a:t>
            </a:r>
          </a:p>
        </p:txBody>
      </p:sp>
      <p:sp>
        <p:nvSpPr>
          <p:cNvPr id="59" name="Rounded Rectangle 58"/>
          <p:cNvSpPr/>
          <p:nvPr/>
        </p:nvSpPr>
        <p:spPr>
          <a:xfrm>
            <a:off x="1143000" y="8001000"/>
            <a:ext cx="16642080" cy="1005840"/>
          </a:xfrm>
          <a:prstGeom prst="roundRect">
            <a:avLst>
              <a:gd name="adj" fmla="val 6000"/>
            </a:avLst>
          </a:prstGeom>
          <a:solidFill>
            <a:srgbClr val="FBF5E3"/>
          </a:solidFill>
          <a:ln>
            <a:noFill/>
          </a:ln>
          <a:effectLst/>
        </p:spPr>
        <p:txBody>
          <a:bodyPr rtlCol="0" anchor="ctr"/>
          <a:lstStyle/>
          <a:p/>
        </p:txBody>
      </p:sp>
      <p:pic>
        <p:nvPicPr>
          <p:cNvPr id="60" name="icone exclaim" descr="exclaim_navy.png"/>
          <p:cNvPicPr>
            <a:picLocks noChangeAspect="1"/>
          </p:cNvPicPr>
          <p:nvPr/>
        </p:nvPicPr>
        <p:blipFill>
          <a:blip r:embed="rId7"/>
          <a:stretch>
            <a:fillRect/>
          </a:stretch>
        </p:blipFill>
        <p:spPr>
          <a:xfrm>
            <a:off x="1371600" y="8257031"/>
            <a:ext cx="502920" cy="502920"/>
          </a:xfrm>
          <a:prstGeom prst="rect">
            <a:avLst/>
          </a:prstGeom>
        </p:spPr>
      </p:pic>
      <p:sp>
        <p:nvSpPr>
          <p:cNvPr id="61" name="TextBox 60"/>
          <p:cNvSpPr txBox="1"/>
          <p:nvPr/>
        </p:nvSpPr>
        <p:spPr>
          <a:xfrm>
            <a:off x="2057400" y="8065008"/>
            <a:ext cx="15636240" cy="914400"/>
          </a:xfrm>
          <a:prstGeom prst="rect">
            <a:avLst/>
          </a:prstGeom>
          <a:noFill/>
        </p:spPr>
        <p:txBody>
          <a:bodyPr wrap="square" lIns="0" rIns="0" tIns="0" bIns="0" anchor="ctr">
            <a:noAutofit/>
          </a:bodyPr>
          <a:lstStyle/>
          <a:p>
            <a:pPr algn="l">
              <a:lnSpc>
                <a:spcPct val="100000"/>
              </a:lnSpc>
              <a:spcAft>
                <a:spcPts val="0"/>
              </a:spcAft>
              <a:buNone/>
            </a:pPr>
            <a:r>
              <a:rPr sz="1400" b="1" i="0">
                <a:solidFill>
                  <a:srgbClr val="002060"/>
                </a:solidFill>
                <a:latin typeface="Arial"/>
              </a:rPr>
              <a:t>Relatórios não recuperados (n = 6): </a:t>
            </a:r>
            <a:r>
              <a:rPr sz="1400" b="0" i="0">
                <a:solidFill>
                  <a:srgbClr val="1F2433"/>
                </a:solidFill>
                <a:latin typeface="Arial"/>
              </a:rPr>
              <a:t>tentativas por acesso institucional, repositórios e preprints, páginas dos autores, comutação bibliográfica e contato com autores correspondentes. Entre eles, dois inquéritos de sintomas (Navarro-Meza 2013; Gjini 2025) e um estudo de olho seco → possível impacto na prevalência, registrado como limitação (Anexo 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31520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00200" y="2240279"/>
            <a:ext cx="365760" cy="365760"/>
          </a:xfrm>
          <a:prstGeom prst="rect">
            <a:avLst/>
          </a:prstGeom>
        </p:spPr>
      </p:pic>
      <p:sp>
        <p:nvSpPr>
          <p:cNvPr id="25" name="TextBox 24"/>
          <p:cNvSpPr txBox="1"/>
          <p:nvPr/>
        </p:nvSpPr>
        <p:spPr>
          <a:xfrm>
            <a:off x="2377440" y="2057400"/>
            <a:ext cx="516635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17320" y="2926080"/>
            <a:ext cx="6126480" cy="5952743"/>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600" b="1" i="0">
                <a:solidFill>
                  <a:srgbClr val="1F2433"/>
                </a:solidFill>
                <a:latin typeface="Arial"/>
              </a:rPr>
              <a:t>Planilha padronizada: </a:t>
            </a:r>
            <a:r>
              <a:rPr sz="1600" b="0" i="0">
                <a:solidFill>
                  <a:srgbClr val="1F2433"/>
                </a:solidFill>
                <a:latin typeface="Arial"/>
              </a:rPr>
              <a:t>autor, ano, país; desenho; população; dispositivo gerador; comparador; instrumento e definição operacional do desfecho; taxa de resposta; medidas de resultado.</a:t>
            </a:r>
          </a:p>
          <a:p>
            <a:pPr algn="l" marL="274320" indent="-274320">
              <a:lnSpc>
                <a:spcPct val="100000"/>
              </a:lnSpc>
              <a:spcAft>
                <a:spcPts val="500"/>
              </a:spcAft>
              <a:buFont typeface="Arial"/>
              <a:buChar char="•"/>
            </a:pPr>
            <a:r>
              <a:rPr sz="1600" b="1" i="0">
                <a:solidFill>
                  <a:srgbClr val="1F2433"/>
                </a:solidFill>
                <a:latin typeface="Arial"/>
              </a:rPr>
              <a:t>Para a metanálise: </a:t>
            </a:r>
            <a:r>
              <a:rPr sz="1600" b="0" i="0">
                <a:solidFill>
                  <a:srgbClr val="1F2433"/>
                </a:solidFill>
                <a:latin typeface="Arial"/>
              </a:rPr>
              <a:t>número de eventos e denominador de cada grupo (Anexo D). Ex.: İlçe 2017, lacrimejamento: 33/81 = 40,7%.</a:t>
            </a:r>
          </a:p>
          <a:p>
            <a:pPr algn="l" marL="274320" indent="-274320">
              <a:lnSpc>
                <a:spcPct val="100000"/>
              </a:lnSpc>
              <a:spcAft>
                <a:spcPts val="500"/>
              </a:spcAft>
              <a:buFont typeface="Arial"/>
              <a:buChar char="•"/>
            </a:pPr>
            <a:r>
              <a:rPr sz="1600" b="1" i="0">
                <a:solidFill>
                  <a:srgbClr val="1F2433"/>
                </a:solidFill>
                <a:latin typeface="Arial"/>
              </a:rPr>
              <a:t>Período de recordatório e validação do instrumento </a:t>
            </a:r>
            <a:r>
              <a:rPr sz="1600" b="0" i="0">
                <a:solidFill>
                  <a:srgbClr val="1F2433"/>
                </a:solidFill>
                <a:latin typeface="Arial"/>
              </a:rPr>
              <a:t>raramente informados → registrados como “não relatado”.</a:t>
            </a:r>
          </a:p>
          <a:p>
            <a:pPr algn="l" marL="274320" indent="-274320">
              <a:lnSpc>
                <a:spcPct val="100000"/>
              </a:lnSpc>
              <a:spcAft>
                <a:spcPts val="500"/>
              </a:spcAft>
              <a:buFont typeface="Arial"/>
              <a:buChar char="•"/>
            </a:pPr>
            <a:r>
              <a:rPr sz="1600" b="1" i="0">
                <a:solidFill>
                  <a:srgbClr val="1F2433"/>
                </a:solidFill>
                <a:latin typeface="Arial"/>
              </a:rPr>
              <a:t>Taxa de resposta </a:t>
            </a:r>
            <a:r>
              <a:rPr sz="1600" b="0" i="0">
                <a:solidFill>
                  <a:srgbClr val="1F2433"/>
                </a:solidFill>
                <a:latin typeface="Arial"/>
              </a:rPr>
              <a:t>extraída quando disponível; quase nunca relatada (limitação dos inquéritos).</a:t>
            </a:r>
          </a:p>
          <a:p>
            <a:pPr algn="l" marL="274320" indent="-274320">
              <a:lnSpc>
                <a:spcPct val="100000"/>
              </a:lnSpc>
              <a:spcAft>
                <a:spcPts val="500"/>
              </a:spcAft>
              <a:buFont typeface="Arial"/>
              <a:buChar char="•"/>
            </a:pPr>
            <a:r>
              <a:rPr sz="1600" b="1" i="0">
                <a:solidFill>
                  <a:srgbClr val="1F2433"/>
                </a:solidFill>
                <a:latin typeface="Arial"/>
              </a:rPr>
              <a:t>Sem contato com autores </a:t>
            </a:r>
            <a:r>
              <a:rPr sz="1600" b="0" i="0">
                <a:solidFill>
                  <a:srgbClr val="1F2433"/>
                </a:solidFill>
                <a:latin typeface="Arial"/>
              </a:rPr>
              <a:t>para dados adicionais; planilha completa pública no OSF.</a:t>
            </a:r>
          </a:p>
        </p:txBody>
      </p:sp>
      <p:sp>
        <p:nvSpPr>
          <p:cNvPr id="27" name="TextBox 26"/>
          <p:cNvSpPr txBox="1"/>
          <p:nvPr/>
        </p:nvSpPr>
        <p:spPr>
          <a:xfrm>
            <a:off x="1417320" y="6355080"/>
            <a:ext cx="6126480" cy="365760"/>
          </a:xfrm>
          <a:prstGeom prst="rect">
            <a:avLst/>
          </a:prstGeom>
          <a:noFill/>
        </p:spPr>
        <p:txBody>
          <a:bodyPr wrap="square" lIns="0" rIns="0" tIns="0" bIns="0" anchor="t">
            <a:noAutofit/>
          </a:bodyPr>
          <a:lstStyle/>
          <a:p>
            <a:pPr algn="l">
              <a:lnSpc>
                <a:spcPct val="100000"/>
              </a:lnSpc>
              <a:spcAft>
                <a:spcPts val="0"/>
              </a:spcAft>
              <a:buNone/>
            </a:pPr>
            <a:r>
              <a:rPr sz="14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17320" y="6720840"/>
          <a:ext cx="6126480" cy="1828800"/>
        </p:xfrm>
        <a:graphic>
          <a:graphicData uri="http://schemas.openxmlformats.org/drawingml/2006/table">
            <a:tbl>
              <a:tblPr firstRow="0" bandRow="0"/>
              <a:tblGrid>
                <a:gridCol w="2240280"/>
                <a:gridCol w="868680"/>
                <a:gridCol w="548640"/>
                <a:gridCol w="777240"/>
                <a:gridCol w="1691640"/>
              </a:tblGrid>
              <a:tr h="365760">
                <a:tc>
                  <a:txBody>
                    <a:bodyPr wrap="square">
                      <a:noAutofit/>
                    </a:bodyPr>
                    <a:lstStyle/>
                    <a:p>
                      <a:pPr algn="l">
                        <a:lnSpc>
                          <a:spcPct val="100000"/>
                        </a:lnSpc>
                        <a:spcAft>
                          <a:spcPts val="0"/>
                        </a:spcAft>
                        <a:buNone/>
                      </a:pPr>
                      <a:r>
                        <a:rPr sz="1200" b="1" i="0">
                          <a:solidFill>
                            <a:srgbClr val="FFFFFF"/>
                          </a:solidFill>
                          <a:latin typeface="Arial"/>
                        </a:rPr>
                        <a:t>Estudo</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Eventos</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n</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200" b="1" i="0">
                          <a:solidFill>
                            <a:srgbClr val="FFFFFF"/>
                          </a:solidFill>
                          <a:latin typeface="Arial"/>
                        </a:rPr>
                        <a:t>Prev.</a:t>
                      </a:r>
                    </a:p>
                  </a:txBody>
                  <a:tcPr marL="91440" marR="91440" marT="36576" marB="36576" anchor="ctr">
                    <a:solidFill>
                      <a:srgbClr val="002060"/>
                    </a:solidFill>
                  </a:tcPr>
                </a:tc>
                <a:tc>
                  <a:txBody>
                    <a:bodyPr wrap="square">
                      <a:noAutofit/>
                    </a:bodyPr>
                    <a:lstStyle/>
                    <a:p>
                      <a:pPr algn="l">
                        <a:lnSpc>
                          <a:spcPct val="100000"/>
                        </a:lnSpc>
                        <a:spcAft>
                          <a:spcPts val="0"/>
                        </a:spcAft>
                        <a:buNone/>
                      </a:pPr>
                      <a:r>
                        <a:rPr sz="1200" b="1" i="0">
                          <a:solidFill>
                            <a:srgbClr val="FFFFFF"/>
                          </a:solidFill>
                          <a:latin typeface="Arial"/>
                        </a:rPr>
                        <a:t>Definição</a:t>
                      </a:r>
                    </a:p>
                  </a:txBody>
                  <a:tcPr marL="91440" marR="91440" marT="36576" marB="36576" anchor="ctr">
                    <a:solidFill>
                      <a:srgbClr val="002060"/>
                    </a:solidFill>
                  </a:tcPr>
                </a:tc>
              </a:tr>
              <a:tr h="365760">
                <a:tc>
                  <a:txBody>
                    <a:bodyPr wrap="square">
                      <a:noAutofit/>
                    </a:bodyPr>
                    <a:lstStyle/>
                    <a:p>
                      <a:pPr algn="l">
                        <a:lnSpc>
                          <a:spcPct val="100000"/>
                        </a:lnSpc>
                        <a:spcAft>
                          <a:spcPts val="0"/>
                        </a:spcAft>
                        <a:buNone/>
                      </a:pPr>
                      <a:r>
                        <a:rPr sz="1200" b="0" i="0">
                          <a:solidFill>
                            <a:srgbClr val="1F2433"/>
                          </a:solidFill>
                          <a:latin typeface="Arial"/>
                        </a:rPr>
                        <a:t>İlçe et al., 2017</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33</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81</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40,7%</a:t>
                      </a:r>
                    </a:p>
                  </a:txBody>
                  <a:tcPr marL="91440" marR="91440" marT="36576" marB="36576" anchor="ctr">
                    <a:solidFill>
                      <a:srgbClr val="FFFFFF"/>
                    </a:solidFill>
                  </a:tcPr>
                </a:tc>
                <a:tc>
                  <a:txBody>
                    <a:bodyPr wrap="square">
                      <a:noAutofit/>
                    </a:bodyPr>
                    <a:lstStyle/>
                    <a:p>
                      <a:pPr algn="l">
                        <a:lnSpc>
                          <a:spcPct val="100000"/>
                        </a:lnSpc>
                        <a:spcAft>
                          <a:spcPts val="0"/>
                        </a:spcAft>
                        <a:buNone/>
                      </a:pPr>
                      <a:r>
                        <a:rPr sz="1200" b="0" i="0">
                          <a:solidFill>
                            <a:srgbClr val="1F2433"/>
                          </a:solidFill>
                          <a:latin typeface="Arial"/>
                        </a:rPr>
                        <a:t>lacrimejamento</a:t>
                      </a:r>
                    </a:p>
                  </a:txBody>
                  <a:tcPr marL="91440" marR="91440" marT="36576" marB="36576" anchor="ctr">
                    <a:solidFill>
                      <a:srgbClr val="FFFFFF"/>
                    </a:solidFill>
                  </a:tcPr>
                </a:tc>
              </a:tr>
              <a:tr h="365760">
                <a:tc>
                  <a:txBody>
                    <a:bodyPr wrap="square">
                      <a:noAutofit/>
                    </a:bodyPr>
                    <a:lstStyle/>
                    <a:p>
                      <a:pPr algn="l">
                        <a:lnSpc>
                          <a:spcPct val="100000"/>
                        </a:lnSpc>
                        <a:spcAft>
                          <a:spcPts val="0"/>
                        </a:spcAft>
                        <a:buNone/>
                      </a:pPr>
                      <a:r>
                        <a:rPr sz="1200" b="0" i="0">
                          <a:solidFill>
                            <a:srgbClr val="1F2433"/>
                          </a:solidFill>
                          <a:latin typeface="Arial"/>
                        </a:rPr>
                        <a:t>Usta et al., 2019</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57</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105</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54,3%</a:t>
                      </a:r>
                    </a:p>
                  </a:txBody>
                  <a:tcPr marL="91440" marR="91440" marT="36576" marB="36576" anchor="ctr">
                    <a:solidFill>
                      <a:srgbClr val="F2F4F8"/>
                    </a:solidFill>
                  </a:tcPr>
                </a:tc>
                <a:tc>
                  <a:txBody>
                    <a:bodyPr wrap="square">
                      <a:noAutofit/>
                    </a:bodyPr>
                    <a:lstStyle/>
                    <a:p>
                      <a:pPr algn="l">
                        <a:lnSpc>
                          <a:spcPct val="100000"/>
                        </a:lnSpc>
                        <a:spcAft>
                          <a:spcPts val="0"/>
                        </a:spcAft>
                        <a:buNone/>
                      </a:pPr>
                      <a:r>
                        <a:rPr sz="1200" b="0" i="0">
                          <a:solidFill>
                            <a:srgbClr val="1F2433"/>
                          </a:solidFill>
                          <a:latin typeface="Arial"/>
                        </a:rPr>
                        <a:t>lacrimejamento</a:t>
                      </a:r>
                    </a:p>
                  </a:txBody>
                  <a:tcPr marL="91440" marR="91440" marT="36576" marB="36576" anchor="ctr">
                    <a:solidFill>
                      <a:srgbClr val="F2F4F8"/>
                    </a:solidFill>
                  </a:tcPr>
                </a:tc>
              </a:tr>
              <a:tr h="365760">
                <a:tc>
                  <a:txBody>
                    <a:bodyPr wrap="square">
                      <a:noAutofit/>
                    </a:bodyPr>
                    <a:lstStyle/>
                    <a:p>
                      <a:pPr algn="l">
                        <a:lnSpc>
                          <a:spcPct val="100000"/>
                        </a:lnSpc>
                        <a:spcAft>
                          <a:spcPts val="0"/>
                        </a:spcAft>
                        <a:buNone/>
                      </a:pPr>
                      <a:r>
                        <a:rPr sz="1200" b="0" i="0">
                          <a:solidFill>
                            <a:srgbClr val="1F2433"/>
                          </a:solidFill>
                          <a:latin typeface="Arial"/>
                        </a:rPr>
                        <a:t>Mohd Fikri Rosely; Titi Rahmawati, 2019</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28</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137</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200" b="0" i="0">
                          <a:solidFill>
                            <a:srgbClr val="1F2433"/>
                          </a:solidFill>
                          <a:latin typeface="Arial"/>
                        </a:rPr>
                        <a:t>20,4%</a:t>
                      </a:r>
                    </a:p>
                  </a:txBody>
                  <a:tcPr marL="91440" marR="91440" marT="36576" marB="36576" anchor="ctr">
                    <a:solidFill>
                      <a:srgbClr val="FFFFFF"/>
                    </a:solidFill>
                  </a:tcPr>
                </a:tc>
                <a:tc>
                  <a:txBody>
                    <a:bodyPr wrap="square">
                      <a:noAutofit/>
                    </a:bodyPr>
                    <a:lstStyle/>
                    <a:p>
                      <a:pPr algn="l">
                        <a:lnSpc>
                          <a:spcPct val="100000"/>
                        </a:lnSpc>
                        <a:spcAft>
                          <a:spcPts val="0"/>
                        </a:spcAft>
                        <a:buNone/>
                      </a:pPr>
                      <a:r>
                        <a:rPr sz="1200" b="0" i="0">
                          <a:solidFill>
                            <a:srgbClr val="1F2433"/>
                          </a:solidFill>
                          <a:latin typeface="Arial"/>
                        </a:rPr>
                        <a:t>irritação ocular</a:t>
                      </a:r>
                    </a:p>
                  </a:txBody>
                  <a:tcPr marL="91440" marR="91440" marT="36576" marB="36576" anchor="ctr">
                    <a:solidFill>
                      <a:srgbClr val="FFFFFF"/>
                    </a:solidFill>
                  </a:tcPr>
                </a:tc>
              </a:tr>
              <a:tr h="365760">
                <a:tc>
                  <a:txBody>
                    <a:bodyPr wrap="square">
                      <a:noAutofit/>
                    </a:bodyPr>
                    <a:lstStyle/>
                    <a:p>
                      <a:pPr algn="l">
                        <a:lnSpc>
                          <a:spcPct val="100000"/>
                        </a:lnSpc>
                        <a:spcAft>
                          <a:spcPts val="0"/>
                        </a:spcAft>
                        <a:buNone/>
                      </a:pPr>
                      <a:r>
                        <a:rPr sz="1200" b="0" i="0">
                          <a:solidFill>
                            <a:srgbClr val="1F2433"/>
                          </a:solidFill>
                          <a:latin typeface="Arial"/>
                        </a:rPr>
                        <a:t>Bieniek et al., 2022</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67</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155</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200" b="0" i="0">
                          <a:solidFill>
                            <a:srgbClr val="1F2433"/>
                          </a:solidFill>
                          <a:latin typeface="Arial"/>
                        </a:rPr>
                        <a:t>43,2%</a:t>
                      </a:r>
                    </a:p>
                  </a:txBody>
                  <a:tcPr marL="91440" marR="91440" marT="36576" marB="36576" anchor="ctr">
                    <a:solidFill>
                      <a:srgbClr val="F2F4F8"/>
                    </a:solidFill>
                  </a:tcPr>
                </a:tc>
                <a:tc>
                  <a:txBody>
                    <a:bodyPr wrap="square">
                      <a:noAutofit/>
                    </a:bodyPr>
                    <a:lstStyle/>
                    <a:p>
                      <a:pPr algn="l">
                        <a:lnSpc>
                          <a:spcPct val="100000"/>
                        </a:lnSpc>
                        <a:spcAft>
                          <a:spcPts val="0"/>
                        </a:spcAft>
                        <a:buNone/>
                      </a:pPr>
                      <a:r>
                        <a:rPr sz="1200" b="0" i="0">
                          <a:solidFill>
                            <a:srgbClr val="1F2433"/>
                          </a:solidFill>
                          <a:latin typeface="Arial"/>
                        </a:rPr>
                        <a:t>escala (sistema ocular)</a:t>
                      </a:r>
                    </a:p>
                  </a:txBody>
                  <a:tcPr marL="91440" marR="91440" marT="36576" marB="36576" anchor="ctr">
                    <a:solidFill>
                      <a:srgbClr val="F2F4F8"/>
                    </a:solidFill>
                  </a:tcPr>
                </a:tc>
              </a:tr>
            </a:tbl>
          </a:graphicData>
        </a:graphic>
      </p:graphicFrame>
      <p:sp>
        <p:nvSpPr>
          <p:cNvPr id="29" name="TextBox 28"/>
          <p:cNvSpPr txBox="1"/>
          <p:nvPr/>
        </p:nvSpPr>
        <p:spPr>
          <a:xfrm>
            <a:off x="8092440" y="1783080"/>
            <a:ext cx="969264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 na síntese</a:t>
            </a:r>
          </a:p>
        </p:txBody>
      </p:sp>
      <p:sp>
        <p:nvSpPr>
          <p:cNvPr id="30" name="Rounded Rectangle 29"/>
          <p:cNvSpPr/>
          <p:nvPr/>
        </p:nvSpPr>
        <p:spPr>
          <a:xfrm>
            <a:off x="8092440" y="2286000"/>
            <a:ext cx="3108960" cy="132588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275319"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275319"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275319"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estudos das metanálises (k = 7)</a:t>
            </a:r>
          </a:p>
        </p:txBody>
      </p:sp>
      <p:sp>
        <p:nvSpPr>
          <p:cNvPr id="34" name="Rounded Rectangle 33"/>
          <p:cNvSpPr/>
          <p:nvPr/>
        </p:nvSpPr>
        <p:spPr>
          <a:xfrm>
            <a:off x="11384280" y="2286000"/>
            <a:ext cx="3108960" cy="132588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567159"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567159"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567159"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comparativos e desfechos objetivos</a:t>
            </a:r>
          </a:p>
        </p:txBody>
      </p:sp>
      <p:sp>
        <p:nvSpPr>
          <p:cNvPr id="38" name="Rounded Rectangle 37"/>
          <p:cNvSpPr/>
          <p:nvPr/>
        </p:nvSpPr>
        <p:spPr>
          <a:xfrm>
            <a:off x="14676120" y="2286000"/>
            <a:ext cx="3108960" cy="132588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859000" y="2340864"/>
            <a:ext cx="274320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859000" y="2697480"/>
            <a:ext cx="2743200" cy="36576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859000" y="3108960"/>
            <a:ext cx="2743200" cy="45720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3 coortes prospectivas</a:t>
            </a:r>
          </a:p>
        </p:txBody>
      </p:sp>
      <p:sp>
        <p:nvSpPr>
          <p:cNvPr id="42" name="TextBox 41"/>
          <p:cNvSpPr txBox="1"/>
          <p:nvPr/>
        </p:nvSpPr>
        <p:spPr>
          <a:xfrm>
            <a:off x="8092440" y="3749039"/>
            <a:ext cx="9692640" cy="914400"/>
          </a:xfrm>
          <a:prstGeom prst="rect">
            <a:avLst/>
          </a:prstGeom>
          <a:noFill/>
        </p:spPr>
        <p:txBody>
          <a:bodyPr wrap="square" lIns="0" rIns="0" tIns="0" bIns="0" anchor="t">
            <a:noAutofit/>
          </a:bodyPr>
          <a:lstStyle/>
          <a:p>
            <a:pPr algn="l">
              <a:lnSpc>
                <a:spcPct val="100000"/>
              </a:lnSpc>
              <a:spcAft>
                <a:spcPts val="0"/>
              </a:spcAft>
              <a:buNone/>
            </a:pPr>
            <a:r>
              <a:rPr sz="1400" b="1" i="0">
                <a:solidFill>
                  <a:srgbClr val="002060"/>
                </a:solidFill>
                <a:latin typeface="Arial"/>
              </a:rPr>
              <a:t>Regra do julgamento global: </a:t>
            </a:r>
            <a:r>
              <a:rPr sz="1400" b="0" i="0">
                <a:solidFill>
                  <a:srgbClr val="1F2433"/>
                </a:solidFill>
                <a:latin typeface="Arial"/>
              </a:rPr>
              <a:t>qualitativo, orientado pelos domínios críticos (amostragem, tamanho amostral, validade da mensuração e taxa de resposta), não por corte percentual. “Não” pesou mais do que “incerto”. Nenhuma pontuação foi combinada entre instrumentos. Todos os estudos foram mantidos; a classificação alimentou o GRADE.</a:t>
            </a:r>
          </a:p>
        </p:txBody>
      </p:sp>
      <p:pic>
        <p:nvPicPr>
          <p:cNvPr id="43" name="Figura E1 JBI" descr="figE1_jbi_prev.png"/>
          <p:cNvPicPr>
            <a:picLocks noChangeAspect="1"/>
          </p:cNvPicPr>
          <p:nvPr/>
        </p:nvPicPr>
        <p:blipFill>
          <a:blip r:embed="rId5"/>
          <a:stretch>
            <a:fillRect/>
          </a:stretch>
        </p:blipFill>
        <p:spPr>
          <a:xfrm>
            <a:off x="8828668" y="4663440"/>
            <a:ext cx="8220182" cy="3749039"/>
          </a:xfrm>
          <a:prstGeom prst="rect">
            <a:avLst/>
          </a:prstGeom>
        </p:spPr>
      </p:pic>
      <p:sp>
        <p:nvSpPr>
          <p:cNvPr id="44" name="TextBox 43"/>
          <p:cNvSpPr txBox="1"/>
          <p:nvPr/>
        </p:nvSpPr>
        <p:spPr>
          <a:xfrm>
            <a:off x="8092440" y="8430768"/>
            <a:ext cx="9692640" cy="685800"/>
          </a:xfrm>
          <a:prstGeom prst="rect">
            <a:avLst/>
          </a:prstGeom>
          <a:noFill/>
        </p:spPr>
        <p:txBody>
          <a:bodyPr wrap="square" lIns="0" rIns="0" tIns="0" bIns="0" anchor="t">
            <a:noAutofit/>
          </a:bodyPr>
          <a:lstStyle/>
          <a:p>
            <a:pPr algn="l">
              <a:lnSpc>
                <a:spcPct val="100000"/>
              </a:lnSpc>
              <a:spcAft>
                <a:spcPts val="200"/>
              </a:spcAft>
              <a:buNone/>
            </a:pPr>
            <a:r>
              <a:rPr sz="1300" b="1" i="0">
                <a:solidFill>
                  <a:srgbClr val="1F2433"/>
                </a:solidFill>
                <a:latin typeface="Arial"/>
              </a:rPr>
              <a:t>Figura E1. </a:t>
            </a:r>
            <a:r>
              <a:rPr sz="1300" b="0" i="0">
                <a:solidFill>
                  <a:srgbClr val="1F2433"/>
                </a:solidFill>
                <a:latin typeface="Arial"/>
              </a:rPr>
              <a:t>Sete estudos das metanálises. </a:t>
            </a:r>
            <a:r>
              <a:rPr sz="1300" b="1" i="0">
                <a:solidFill>
                  <a:srgbClr val="2E7D32"/>
                </a:solidFill>
                <a:latin typeface="Arial"/>
              </a:rPr>
              <a:t>+ sim  </a:t>
            </a:r>
            <a:r>
              <a:rPr sz="1300" b="1" i="0">
                <a:solidFill>
                  <a:srgbClr val="E08A1E"/>
                </a:solidFill>
                <a:latin typeface="Arial"/>
              </a:rPr>
              <a:t>? incerto  </a:t>
            </a:r>
            <a:r>
              <a:rPr sz="1300" b="1" i="0">
                <a:solidFill>
                  <a:srgbClr val="8B0000"/>
                </a:solidFill>
                <a:latin typeface="Arial"/>
              </a:rPr>
              <a:t>− não.  </a:t>
            </a:r>
            <a:r>
              <a:rPr sz="1300" b="0" i="0">
                <a:solidFill>
                  <a:srgbClr val="1F2433"/>
                </a:solidFill>
                <a:latin typeface="Arial"/>
              </a:rPr>
              <a:t>Preocupação global: moderada ou alta em todos; nenhum com preocupação baixa.</a:t>
            </a:r>
          </a:p>
          <a:p>
            <a:pPr algn="l">
              <a:lnSpc>
                <a:spcPct val="100000"/>
              </a:lnSpc>
              <a:spcAft>
                <a:spcPts val="200"/>
              </a:spcAft>
              <a:buNone/>
            </a:pPr>
            <a:r>
              <a:rPr sz="1300" b="1" i="0">
                <a:solidFill>
                  <a:srgbClr val="002060"/>
                </a:solidFill>
                <a:latin typeface="Arial"/>
              </a:rPr>
              <a:t>Itens: </a:t>
            </a:r>
            <a:r>
              <a:rPr sz="1300" b="0" i="0">
                <a:solidFill>
                  <a:srgbClr val="1F2433"/>
                </a:solidFill>
                <a:latin typeface="Arial"/>
              </a:rPr>
              <a:t>1 marco amostral · 2 amostragem · 3 tamanho amostral · 4 sujeitos e cenário · 5 cobertura · 6 validade do desfecho · 7 padronização · 8 análise · 9 taxa de resposta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34340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325880"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011680"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25880"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371600"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25880"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Ex.: 33/81 = 40,7%.</a:t>
            </a:r>
          </a:p>
          <a:p>
            <a:pPr algn="l" marL="274320" indent="-274320">
              <a:lnSpc>
                <a:spcPct val="100000"/>
              </a:lnSpc>
              <a:spcAft>
                <a:spcPts val="500"/>
              </a:spcAft>
              <a:buClr>
                <a:srgbClr val="002060"/>
              </a:buClr>
              <a:buFont typeface="Arial"/>
              <a:buChar char="•"/>
            </a:pPr>
            <a:r>
              <a:rPr sz="1500" b="0" i="0">
                <a:solidFill>
                  <a:srgbClr val="1F2433"/>
                </a:solidFill>
                <a:latin typeface="Arial"/>
              </a:rPr>
              <a:t>IC95% individual pelo método de Wilson (melhor que o normal para proporções).</a:t>
            </a:r>
          </a:p>
        </p:txBody>
      </p:sp>
      <p:cxnSp>
        <p:nvCxnSpPr>
          <p:cNvPr id="28" name="Connector 27"/>
          <p:cNvCxnSpPr/>
          <p:nvPr/>
        </p:nvCxnSpPr>
        <p:spPr>
          <a:xfrm>
            <a:off x="4270248" y="3931920"/>
            <a:ext cx="237744" cy="0"/>
          </a:xfrm>
          <a:prstGeom prst="line">
            <a:avLst/>
          </a:prstGeom>
          <a:ln w="31750">
            <a:solidFill>
              <a:srgbClr val="002060"/>
            </a:solidFill>
            <a:tailEnd type="triangle" w="med" len="med"/>
          </a:ln>
        </p:spPr>
      </p:cxnSp>
      <p:sp>
        <p:nvSpPr>
          <p:cNvPr id="29" name="Rounded Rectangle 28"/>
          <p:cNvSpPr/>
          <p:nvPr/>
        </p:nvSpPr>
        <p:spPr>
          <a:xfrm>
            <a:off x="4526279" y="1783080"/>
            <a:ext cx="3108960" cy="434340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70915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39495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0915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75487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0915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Leva a proporção (0 a 1) para a escala de −∞ a +∞.</a:t>
            </a:r>
          </a:p>
          <a:p>
            <a:pPr algn="l" marL="274320" indent="-274320">
              <a:lnSpc>
                <a:spcPct val="100000"/>
              </a:lnSpc>
              <a:spcAft>
                <a:spcPts val="500"/>
              </a:spcAft>
              <a:buClr>
                <a:srgbClr val="002060"/>
              </a:buClr>
              <a:buFont typeface="Arial"/>
              <a:buChar char="•"/>
            </a:pPr>
            <a:r>
              <a:rPr sz="1500" b="0" i="0">
                <a:solidFill>
                  <a:srgbClr val="1F2433"/>
                </a:solidFill>
                <a:latin typeface="Arial"/>
              </a:rPr>
              <a:t>Aproxima a distribuição da normal e garante que a estimativa e os IC fiquem entre 0 e 100%.</a:t>
            </a:r>
          </a:p>
          <a:p>
            <a:pPr algn="l" marL="274320" indent="-274320">
              <a:lnSpc>
                <a:spcPct val="100000"/>
              </a:lnSpc>
              <a:spcAft>
                <a:spcPts val="500"/>
              </a:spcAft>
              <a:buClr>
                <a:srgbClr val="002060"/>
              </a:buClr>
              <a:buFont typeface="Arial"/>
              <a:buChar char="•"/>
            </a:pPr>
            <a:r>
              <a:rPr sz="1500" b="0" i="0">
                <a:solidFill>
                  <a:srgbClr val="1F2433"/>
                </a:solidFill>
                <a:latin typeface="Arial"/>
              </a:rPr>
              <a:t>Sem 0% ou 100% → sem correção de continuidade.</a:t>
            </a:r>
          </a:p>
        </p:txBody>
      </p:sp>
      <p:cxnSp>
        <p:nvCxnSpPr>
          <p:cNvPr id="35" name="Connector 34"/>
          <p:cNvCxnSpPr/>
          <p:nvPr/>
        </p:nvCxnSpPr>
        <p:spPr>
          <a:xfrm>
            <a:off x="7653527" y="3931920"/>
            <a:ext cx="237744" cy="0"/>
          </a:xfrm>
          <a:prstGeom prst="line">
            <a:avLst/>
          </a:prstGeom>
          <a:ln w="31750">
            <a:solidFill>
              <a:srgbClr val="002060"/>
            </a:solidFill>
            <a:tailEnd type="triangle" w="med" len="med"/>
          </a:ln>
        </p:spPr>
      </p:cxnSp>
      <p:sp>
        <p:nvSpPr>
          <p:cNvPr id="36" name="Rounded Rectangle 35"/>
          <p:cNvSpPr/>
          <p:nvPr/>
        </p:nvSpPr>
        <p:spPr>
          <a:xfrm>
            <a:off x="7909559" y="1783080"/>
            <a:ext cx="3108960" cy="434340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09243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77823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09243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13815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09243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Assume que a prevalência verdadeira varia entre estudos.</a:t>
            </a:r>
          </a:p>
          <a:p>
            <a:pPr algn="l" marL="274320" indent="-274320">
              <a:lnSpc>
                <a:spcPct val="100000"/>
              </a:lnSpc>
              <a:spcAft>
                <a:spcPts val="500"/>
              </a:spcAft>
              <a:buClr>
                <a:srgbClr val="002060"/>
              </a:buClr>
              <a:buFont typeface="Arial"/>
              <a:buChar char="•"/>
            </a:pPr>
            <a:r>
              <a:rPr sz="1500" b="0" i="0">
                <a:solidFill>
                  <a:srgbClr val="1F2433"/>
                </a:solidFill>
                <a:latin typeface="Arial"/>
              </a:rPr>
              <a:t>τ² = variância entre estudos; peso de cada estudo = 1 ÷ (variância interna + τ²).</a:t>
            </a:r>
          </a:p>
          <a:p>
            <a:pPr algn="l" marL="274320" indent="-274320">
              <a:lnSpc>
                <a:spcPct val="100000"/>
              </a:lnSpc>
              <a:spcAft>
                <a:spcPts val="500"/>
              </a:spcAft>
              <a:buClr>
                <a:srgbClr val="002060"/>
              </a:buClr>
              <a:buFont typeface="Arial"/>
              <a:buChar char="•"/>
            </a:pPr>
            <a:r>
              <a:rPr sz="1500" b="0" i="0">
                <a:solidFill>
                  <a:srgbClr val="1F2433"/>
                </a:solidFill>
                <a:latin typeface="Arial"/>
              </a:rPr>
              <a:t>Paule-Mandel é mais estável que DerSimonian-Laird com poucos estudos.</a:t>
            </a:r>
          </a:p>
        </p:txBody>
      </p:sp>
      <p:cxnSp>
        <p:nvCxnSpPr>
          <p:cNvPr id="42" name="Connector 41"/>
          <p:cNvCxnSpPr/>
          <p:nvPr/>
        </p:nvCxnSpPr>
        <p:spPr>
          <a:xfrm>
            <a:off x="11036807" y="3931920"/>
            <a:ext cx="237744" cy="0"/>
          </a:xfrm>
          <a:prstGeom prst="line">
            <a:avLst/>
          </a:prstGeom>
          <a:ln w="31750">
            <a:solidFill>
              <a:srgbClr val="002060"/>
            </a:solidFill>
            <a:tailEnd type="triangle" w="med" len="med"/>
          </a:ln>
        </p:spPr>
      </p:cxnSp>
      <p:sp>
        <p:nvSpPr>
          <p:cNvPr id="43" name="Rounded Rectangle 42"/>
          <p:cNvSpPr/>
          <p:nvPr/>
        </p:nvSpPr>
        <p:spPr>
          <a:xfrm>
            <a:off x="11292840" y="1783080"/>
            <a:ext cx="3108960" cy="434340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47571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16151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47571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521440"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47571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Usa k − 1 graus de liberdade e corrige o IC da estimativa combinada quando há poucos estudos e heterogeneidade alta.</a:t>
            </a:r>
          </a:p>
          <a:p>
            <a:pPr algn="l" marL="274320" indent="-274320">
              <a:lnSpc>
                <a:spcPct val="100000"/>
              </a:lnSpc>
              <a:spcAft>
                <a:spcPts val="500"/>
              </a:spcAft>
              <a:buClr>
                <a:srgbClr val="002060"/>
              </a:buClr>
              <a:buFont typeface="Arial"/>
              <a:buChar char="•"/>
            </a:pPr>
            <a:r>
              <a:rPr sz="1500" b="0" i="0">
                <a:solidFill>
                  <a:srgbClr val="1F2433"/>
                </a:solidFill>
                <a:latin typeface="Arial"/>
              </a:rPr>
              <a:t>Produz intervalos mais honestos (geralmente mais largos) do que o método clássico (IntHout et al., 2014).</a:t>
            </a:r>
          </a:p>
        </p:txBody>
      </p:sp>
      <p:cxnSp>
        <p:nvCxnSpPr>
          <p:cNvPr id="49" name="Connector 48"/>
          <p:cNvCxnSpPr/>
          <p:nvPr/>
        </p:nvCxnSpPr>
        <p:spPr>
          <a:xfrm>
            <a:off x="14420088" y="3931920"/>
            <a:ext cx="237744" cy="0"/>
          </a:xfrm>
          <a:prstGeom prst="line">
            <a:avLst/>
          </a:prstGeom>
          <a:ln w="31750">
            <a:solidFill>
              <a:srgbClr val="002060"/>
            </a:solidFill>
            <a:tailEnd type="triangle" w="med" len="med"/>
          </a:ln>
        </p:spPr>
      </p:cxnSp>
      <p:sp>
        <p:nvSpPr>
          <p:cNvPr id="50" name="Rounded Rectangle 49"/>
          <p:cNvSpPr/>
          <p:nvPr/>
        </p:nvSpPr>
        <p:spPr>
          <a:xfrm>
            <a:off x="14676119" y="1783080"/>
            <a:ext cx="3108960" cy="434340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858999" y="18745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544799" y="1874519"/>
            <a:ext cx="2103120" cy="59436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858999" y="2606040"/>
            <a:ext cx="274320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04719" y="2606040"/>
            <a:ext cx="265176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intervalo de predição</a:t>
            </a:r>
          </a:p>
        </p:txBody>
      </p:sp>
      <p:sp>
        <p:nvSpPr>
          <p:cNvPr id="55" name="TextBox 54"/>
          <p:cNvSpPr txBox="1"/>
          <p:nvPr/>
        </p:nvSpPr>
        <p:spPr>
          <a:xfrm>
            <a:off x="14858999" y="3291840"/>
            <a:ext cx="2743200" cy="278892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0" i="0">
                <a:solidFill>
                  <a:srgbClr val="1F2433"/>
                </a:solidFill>
                <a:latin typeface="Arial"/>
              </a:rPr>
              <a:t>Retrotransformação do logito para porcentagem.</a:t>
            </a:r>
          </a:p>
          <a:p>
            <a:pPr algn="l" marL="274320" indent="-274320">
              <a:lnSpc>
                <a:spcPct val="100000"/>
              </a:lnSpc>
              <a:spcAft>
                <a:spcPts val="500"/>
              </a:spcAft>
              <a:buClr>
                <a:srgbClr val="002060"/>
              </a:buClr>
              <a:buFont typeface="Arial"/>
              <a:buChar char="•"/>
            </a:pPr>
            <a:r>
              <a:rPr sz="1500" b="0" i="0">
                <a:solidFill>
                  <a:srgbClr val="1F2433"/>
                </a:solidFill>
                <a:latin typeface="Arial"/>
              </a:rPr>
              <a:t>I² = % da variação total devida à heterogeneidade.</a:t>
            </a:r>
          </a:p>
          <a:p>
            <a:pPr algn="l" marL="274320" indent="-274320">
              <a:lnSpc>
                <a:spcPct val="100000"/>
              </a:lnSpc>
              <a:spcAft>
                <a:spcPts val="500"/>
              </a:spcAft>
              <a:buClr>
                <a:srgbClr val="002060"/>
              </a:buClr>
              <a:buFont typeface="Arial"/>
              <a:buChar char="•"/>
            </a:pPr>
            <a:r>
              <a:rPr sz="1500" b="0" i="0">
                <a:solidFill>
                  <a:srgbClr val="1F2433"/>
                </a:solidFill>
                <a:latin typeface="Arial"/>
              </a:rPr>
              <a:t>Intervalo de predição = faixa esperada para um novo estudo (Riley et al., 2011); instável com k &lt; 10.</a:t>
            </a:r>
          </a:p>
        </p:txBody>
      </p:sp>
      <p:sp>
        <p:nvSpPr>
          <p:cNvPr id="56" name="TextBox 55"/>
          <p:cNvSpPr txBox="1"/>
          <p:nvPr/>
        </p:nvSpPr>
        <p:spPr>
          <a:xfrm>
            <a:off x="1143000" y="630936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Verificando a robustez </a:t>
            </a:r>
            <a:r>
              <a:rPr sz="1800" b="0" i="0">
                <a:solidFill>
                  <a:srgbClr val="5A6270"/>
                </a:solidFill>
                <a:latin typeface="Arial"/>
              </a:rPr>
              <a:t>(análises de sensibilidade, influência e subgrupo)</a:t>
            </a:r>
          </a:p>
        </p:txBody>
      </p:sp>
      <p:sp>
        <p:nvSpPr>
          <p:cNvPr id="57" name="Rounded Rectangle 56"/>
          <p:cNvSpPr/>
          <p:nvPr/>
        </p:nvSpPr>
        <p:spPr>
          <a:xfrm>
            <a:off x="1143000" y="6720840"/>
            <a:ext cx="2651760" cy="1005840"/>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280160"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Freeman-Tukey</a:t>
            </a:r>
          </a:p>
        </p:txBody>
      </p:sp>
      <p:sp>
        <p:nvSpPr>
          <p:cNvPr id="59" name="TextBox 58"/>
          <p:cNvSpPr txBox="1"/>
          <p:nvPr/>
        </p:nvSpPr>
        <p:spPr>
          <a:xfrm>
            <a:off x="1280160"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duplo-arcoseno, DerSimonian-Laird</a:t>
            </a:r>
          </a:p>
        </p:txBody>
      </p:sp>
      <p:sp>
        <p:nvSpPr>
          <p:cNvPr id="60" name="Rounded Rectangle 59"/>
          <p:cNvSpPr/>
          <p:nvPr/>
        </p:nvSpPr>
        <p:spPr>
          <a:xfrm>
            <a:off x="3941064" y="6720840"/>
            <a:ext cx="2651760" cy="1005840"/>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078224"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GLMM logístico</a:t>
            </a:r>
          </a:p>
        </p:txBody>
      </p:sp>
      <p:sp>
        <p:nvSpPr>
          <p:cNvPr id="62" name="TextBox 61"/>
          <p:cNvSpPr txBox="1"/>
          <p:nvPr/>
        </p:nvSpPr>
        <p:spPr>
          <a:xfrm>
            <a:off x="4078224"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intercepto aleatório por estudo</a:t>
            </a:r>
          </a:p>
        </p:txBody>
      </p:sp>
      <p:sp>
        <p:nvSpPr>
          <p:cNvPr id="63" name="Rounded Rectangle 62"/>
          <p:cNvSpPr/>
          <p:nvPr/>
        </p:nvSpPr>
        <p:spPr>
          <a:xfrm>
            <a:off x="6739128" y="6720840"/>
            <a:ext cx="2651760" cy="1005840"/>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876288"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Leave-one-out</a:t>
            </a:r>
          </a:p>
        </p:txBody>
      </p:sp>
      <p:sp>
        <p:nvSpPr>
          <p:cNvPr id="65" name="TextBox 64"/>
          <p:cNvSpPr txBox="1"/>
          <p:nvPr/>
        </p:nvSpPr>
        <p:spPr>
          <a:xfrm>
            <a:off x="6876288"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retira 1 estudo por vez</a:t>
            </a:r>
          </a:p>
        </p:txBody>
      </p:sp>
      <p:sp>
        <p:nvSpPr>
          <p:cNvPr id="66" name="Rounded Rectangle 65"/>
          <p:cNvSpPr/>
          <p:nvPr/>
        </p:nvSpPr>
        <p:spPr>
          <a:xfrm>
            <a:off x="9537192" y="6720840"/>
            <a:ext cx="2651760" cy="1005840"/>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674352"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Gráfico de Baujat</a:t>
            </a:r>
          </a:p>
        </p:txBody>
      </p:sp>
      <p:sp>
        <p:nvSpPr>
          <p:cNvPr id="68" name="TextBox 67"/>
          <p:cNvSpPr txBox="1"/>
          <p:nvPr/>
        </p:nvSpPr>
        <p:spPr>
          <a:xfrm>
            <a:off x="9674352"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quem puxa a heterogeneidade</a:t>
            </a:r>
          </a:p>
        </p:txBody>
      </p:sp>
      <p:sp>
        <p:nvSpPr>
          <p:cNvPr id="69" name="Rounded Rectangle 68"/>
          <p:cNvSpPr/>
          <p:nvPr/>
        </p:nvSpPr>
        <p:spPr>
          <a:xfrm>
            <a:off x="12335256" y="6720840"/>
            <a:ext cx="2651760" cy="1005840"/>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472416"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Subgrupo por país</a:t>
            </a:r>
          </a:p>
        </p:txBody>
      </p:sp>
      <p:sp>
        <p:nvSpPr>
          <p:cNvPr id="71" name="TextBox 70"/>
          <p:cNvSpPr txBox="1"/>
          <p:nvPr/>
        </p:nvSpPr>
        <p:spPr>
          <a:xfrm>
            <a:off x="12472416"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exploratório; teste Q</a:t>
            </a:r>
          </a:p>
        </p:txBody>
      </p:sp>
      <p:sp>
        <p:nvSpPr>
          <p:cNvPr id="72" name="Rounded Rectangle 71"/>
          <p:cNvSpPr/>
          <p:nvPr/>
        </p:nvSpPr>
        <p:spPr>
          <a:xfrm>
            <a:off x="15133320" y="6720840"/>
            <a:ext cx="2651760" cy="1005840"/>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270480" y="6766560"/>
            <a:ext cx="23774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E7C86"/>
                </a:solidFill>
                <a:latin typeface="Arial"/>
              </a:rPr>
              <a:t>Sensibilidade extra</a:t>
            </a:r>
          </a:p>
        </p:txBody>
      </p:sp>
      <p:sp>
        <p:nvSpPr>
          <p:cNvPr id="74" name="TextBox 73"/>
          <p:cNvSpPr txBox="1"/>
          <p:nvPr/>
        </p:nvSpPr>
        <p:spPr>
          <a:xfrm>
            <a:off x="15270480" y="7114032"/>
            <a:ext cx="2377440" cy="594360"/>
          </a:xfrm>
          <a:prstGeom prst="rect">
            <a:avLst/>
          </a:prstGeom>
          <a:noFill/>
        </p:spPr>
        <p:txBody>
          <a:bodyPr wrap="square" lIns="0" rIns="0" tIns="0" bIns="0" anchor="t">
            <a:noAutofit/>
          </a:bodyPr>
          <a:lstStyle/>
          <a:p>
            <a:pPr algn="l">
              <a:lnSpc>
                <a:spcPct val="100000"/>
              </a:lnSpc>
              <a:spcAft>
                <a:spcPts val="0"/>
              </a:spcAft>
              <a:buNone/>
            </a:pPr>
            <a:r>
              <a:rPr sz="1300" b="0" i="0">
                <a:solidFill>
                  <a:srgbClr val="1F2433"/>
                </a:solidFill>
                <a:latin typeface="Arial"/>
              </a:rPr>
              <a:t>sem resumo de congresso; definições específicas</a:t>
            </a:r>
          </a:p>
        </p:txBody>
      </p:sp>
      <p:sp>
        <p:nvSpPr>
          <p:cNvPr id="75" name="Rounded Rectangle 74"/>
          <p:cNvSpPr/>
          <p:nvPr/>
        </p:nvSpPr>
        <p:spPr>
          <a:xfrm>
            <a:off x="1143000" y="7909560"/>
            <a:ext cx="16642080" cy="109728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371600" y="8183879"/>
            <a:ext cx="548640" cy="548640"/>
          </a:xfrm>
          <a:prstGeom prst="rect">
            <a:avLst/>
          </a:prstGeom>
        </p:spPr>
      </p:pic>
      <p:sp>
        <p:nvSpPr>
          <p:cNvPr id="77" name="TextBox 76"/>
          <p:cNvSpPr txBox="1"/>
          <p:nvPr/>
        </p:nvSpPr>
        <p:spPr>
          <a:xfrm>
            <a:off x="2103120" y="7973568"/>
            <a:ext cx="15636240" cy="100584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Por que não fizemos gráfico de funil nem teste de Egger? </a:t>
            </a:r>
            <a:r>
              <a:rPr sz="1500" b="0" i="0">
                <a:solidFill>
                  <a:srgbClr val="1F2433"/>
                </a:solidFill>
                <a:latin typeface="Arial"/>
              </a:rPr>
              <a:t>Em metanálise de proporção o erro-padrão depende da própria proporção, o que gera assimetria espúria, e os testes exigem ≥ 10 estudos. O viés de relato foi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Riscos relativos </a:t>
            </a:r>
            <a:r>
              <a:rPr sz="1500" b="0" i="0">
                <a:solidFill>
                  <a:srgbClr val="1F2433"/>
                </a:solidFill>
                <a:latin typeface="Arial"/>
              </a:rPr>
              <a:t>dos desfechos objetivos: escala log, método de Wald.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Pergunta e 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371600" y="2011680"/>
            <a:ext cx="731520" cy="73152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54480" y="2194560"/>
            <a:ext cx="365760" cy="365760"/>
          </a:xfrm>
          <a:prstGeom prst="rect">
            <a:avLst/>
          </a:prstGeom>
        </p:spPr>
      </p:pic>
      <p:sp>
        <p:nvSpPr>
          <p:cNvPr id="25" name="TextBox 24"/>
          <p:cNvSpPr txBox="1"/>
          <p:nvPr/>
        </p:nvSpPr>
        <p:spPr>
          <a:xfrm>
            <a:off x="2331720" y="2011680"/>
            <a:ext cx="1691640"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371600"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Do JBI: amostragem não probabilística, tamanho amostral não justificado, taxa de resposta não relatada, desfecho autorrelatado; nos objetivos, ausência de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754879" y="2011680"/>
            <a:ext cx="731520" cy="73152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37759" y="2194560"/>
            <a:ext cx="365760" cy="365760"/>
          </a:xfrm>
          <a:prstGeom prst="rect">
            <a:avLst/>
          </a:prstGeom>
        </p:spPr>
      </p:pic>
      <p:sp>
        <p:nvSpPr>
          <p:cNvPr id="30" name="TextBox 29"/>
          <p:cNvSpPr txBox="1"/>
          <p:nvPr/>
        </p:nvSpPr>
        <p:spPr>
          <a:xfrm>
            <a:off x="5714999" y="2011680"/>
            <a:ext cx="1691640"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75487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I² acima de 90%, prevalências individuais de 19% a 56% e intervalo de predição amplo → muito grave nos desfechos de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38159" y="2011680"/>
            <a:ext cx="731520" cy="73152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21040" y="2194560"/>
            <a:ext cx="365760" cy="365760"/>
          </a:xfrm>
          <a:prstGeom prst="rect">
            <a:avLst/>
          </a:prstGeom>
        </p:spPr>
      </p:pic>
      <p:sp>
        <p:nvSpPr>
          <p:cNvPr id="35" name="TextBox 34"/>
          <p:cNvSpPr txBox="1"/>
          <p:nvPr/>
        </p:nvSpPr>
        <p:spPr>
          <a:xfrm>
            <a:off x="9098280"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3815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Não rebaixada na prevalência: o sintoma autorrelatado É o desfecho da pergunta. Rebaixada nos biomarcadores: coexposições e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21440" y="2011680"/>
            <a:ext cx="731520" cy="73152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04320" y="2194560"/>
            <a:ext cx="365760" cy="365760"/>
          </a:xfrm>
          <a:prstGeom prst="rect">
            <a:avLst/>
          </a:prstGeom>
        </p:spPr>
      </p:pic>
      <p:sp>
        <p:nvSpPr>
          <p:cNvPr id="40" name="TextBox 39"/>
          <p:cNvSpPr txBox="1"/>
          <p:nvPr/>
        </p:nvSpPr>
        <p:spPr>
          <a:xfrm>
            <a:off x="12481560"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21440"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Amplitude do IC95% (ex.: 21,9–56,5) ou ausência de IC no estudo original;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04719" y="2011680"/>
            <a:ext cx="731520" cy="73152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087599" y="2194560"/>
            <a:ext cx="365760" cy="365760"/>
          </a:xfrm>
          <a:prstGeom prst="rect">
            <a:avLst/>
          </a:prstGeom>
        </p:spPr>
      </p:pic>
      <p:sp>
        <p:nvSpPr>
          <p:cNvPr id="45" name="TextBox 44"/>
          <p:cNvSpPr txBox="1"/>
          <p:nvPr/>
        </p:nvSpPr>
        <p:spPr>
          <a:xfrm>
            <a:off x="15864839" y="2011680"/>
            <a:ext cx="1691639" cy="73152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04719" y="2880360"/>
            <a:ext cx="2651760" cy="1874519"/>
          </a:xfrm>
          <a:prstGeom prst="rect">
            <a:avLst/>
          </a:prstGeom>
          <a:noFill/>
        </p:spPr>
        <p:txBody>
          <a:bodyPr wrap="square" lIns="0" rIns="0" tIns="0" bIns="0" anchor="t">
            <a:noAutofit/>
          </a:bodyPr>
          <a:lstStyle/>
          <a:p>
            <a:pPr algn="l">
              <a:lnSpc>
                <a:spcPct val="100000"/>
              </a:lnSpc>
              <a:spcAft>
                <a:spcPts val="500"/>
              </a:spcAft>
              <a:buNone/>
            </a:pPr>
            <a:r>
              <a:rPr sz="1500" b="0" i="0">
                <a:solidFill>
                  <a:srgbClr val="1F2433"/>
                </a:solidFill>
                <a:latin typeface="Arial"/>
              </a:rPr>
              <a:t>Apreciação qualitativa: busca ampla, mas poucos estudos, amostras pequenas e 6 relatórios não recuperados → não excluível, sem base formal para rebaixar.</a:t>
            </a:r>
          </a:p>
        </p:txBody>
      </p:sp>
      <p:sp>
        <p:nvSpPr>
          <p:cNvPr id="47" name="Rounded Rectangle 46"/>
          <p:cNvSpPr/>
          <p:nvPr/>
        </p:nvSpPr>
        <p:spPr>
          <a:xfrm>
            <a:off x="1143000" y="5166360"/>
            <a:ext cx="9692640" cy="3840480"/>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17320" y="5257800"/>
            <a:ext cx="9144000" cy="3657600"/>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7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metodológica dos autores; parte da literatura sugere iniciar em alta para prevalência, Murad et al., 2017).</a:t>
            </a:r>
          </a:p>
          <a:p>
            <a:pPr algn="l" marL="274320" indent="-274320">
              <a:lnSpc>
                <a:spcPct val="100000"/>
              </a:lnSpc>
              <a:spcAft>
                <a:spcPts val="700"/>
              </a:spcAft>
              <a:buClr>
                <a:srgbClr val="002060"/>
              </a:buClr>
              <a:buFont typeface="Arial"/>
              <a:buChar char="•"/>
            </a:pPr>
            <a:r>
              <a:rPr sz="1600" b="1" i="0">
                <a:solidFill>
                  <a:srgbClr val="1F2433"/>
                </a:solidFill>
                <a:latin typeface="Arial"/>
              </a:rPr>
              <a:t>Regra: </a:t>
            </a:r>
            <a:r>
              <a:rPr sz="1600" b="0" i="0">
                <a:solidFill>
                  <a:srgbClr val="1F2433"/>
                </a:solidFill>
                <a:latin typeface="Arial"/>
              </a:rPr>
              <a:t>um domínio grave já leva a MUITO BAIXA; a certeza final não muda com o ponto de partida alternativo.</a:t>
            </a:r>
          </a:p>
          <a:p>
            <a:pPr algn="l" marL="274320" indent="-274320">
              <a:lnSpc>
                <a:spcPct val="100000"/>
              </a:lnSpc>
              <a:spcAft>
                <a:spcPts val="7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o intervalo de predição entrou em inconsistência; a amplitude do IC95%, em imprecisão.</a:t>
            </a:r>
          </a:p>
          <a:p>
            <a:pPr algn="l" marL="274320" indent="-274320">
              <a:lnSpc>
                <a:spcPct val="100000"/>
              </a:lnSpc>
              <a:spcAft>
                <a:spcPts val="700"/>
              </a:spcAft>
              <a:buClr>
                <a:srgbClr val="002060"/>
              </a:buClr>
              <a:buFont typeface="Arial"/>
              <a:buChar char="•"/>
            </a:pPr>
            <a:r>
              <a:rPr sz="1600" b="1" i="0">
                <a:solidFill>
                  <a:srgbClr val="1F2433"/>
                </a:solidFill>
                <a:latin typeface="Arial"/>
              </a:rPr>
              <a:t>Desfechos com um único estudo: </a:t>
            </a:r>
            <a:r>
              <a:rPr sz="1600" b="0" i="0">
                <a:solidFill>
                  <a:srgbClr val="1F2433"/>
                </a:solidFill>
                <a:latin typeface="Arial"/>
              </a:rPr>
              <a:t>inconsistência não aplicável; viés de publicação não avaliável.</a:t>
            </a:r>
          </a:p>
          <a:p>
            <a:pPr algn="l">
              <a:lnSpc>
                <a:spcPct val="100000"/>
              </a:lnSpc>
              <a:spcBef>
                <a:spcPts val="600"/>
              </a:spcBef>
              <a:spcAft>
                <a:spcPts val="700"/>
              </a:spcAft>
              <a:buNone/>
            </a:pPr>
            <a:r>
              <a:rPr sz="1600" b="1" i="0">
                <a:solidFill>
                  <a:srgbClr val="002060"/>
                </a:solidFill>
                <a:latin typeface="Arial"/>
              </a:rPr>
              <a:t>●●●● alta   ●●●○ moderada   ●●○○ baixa   ●○○○ muito baixa</a:t>
            </a:r>
          </a:p>
        </p:txBody>
      </p:sp>
      <p:sp>
        <p:nvSpPr>
          <p:cNvPr id="49" name="Rounded Rectangle 48"/>
          <p:cNvSpPr/>
          <p:nvPr/>
        </p:nvSpPr>
        <p:spPr>
          <a:xfrm>
            <a:off x="11109960" y="5166360"/>
            <a:ext cx="6675120" cy="3840480"/>
          </a:xfrm>
          <a:prstGeom prst="roundRect">
            <a:avLst>
              <a:gd name="adj" fmla="val 6000"/>
            </a:avLst>
          </a:prstGeom>
          <a:solidFill>
            <a:srgbClr val="FBF5E3"/>
          </a:solidFill>
          <a:ln>
            <a:noFill/>
          </a:ln>
          <a:effectLst/>
        </p:spPr>
        <p:txBody>
          <a:bodyPr rtlCol="0" anchor="ctr"/>
          <a:lstStyle/>
          <a:p/>
        </p:txBody>
      </p:sp>
      <p:pic>
        <p:nvPicPr>
          <p:cNvPr id="50" name="icone clipboard" descr="clipboard_navy.png"/>
          <p:cNvPicPr>
            <a:picLocks noChangeAspect="1"/>
          </p:cNvPicPr>
          <p:nvPr/>
        </p:nvPicPr>
        <p:blipFill>
          <a:blip r:embed="rId9"/>
          <a:stretch>
            <a:fillRect/>
          </a:stretch>
        </p:blipFill>
        <p:spPr>
          <a:xfrm>
            <a:off x="11338560" y="5303520"/>
            <a:ext cx="457200" cy="457200"/>
          </a:xfrm>
          <a:prstGeom prst="rect">
            <a:avLst/>
          </a:prstGeom>
        </p:spPr>
      </p:pic>
      <p:sp>
        <p:nvSpPr>
          <p:cNvPr id="51" name="TextBox 50"/>
          <p:cNvSpPr txBox="1"/>
          <p:nvPr/>
        </p:nvSpPr>
        <p:spPr>
          <a:xfrm>
            <a:off x="11932920" y="5257800"/>
            <a:ext cx="5760720" cy="4572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Decisões posteriores ao registro (transparência)</a:t>
            </a:r>
          </a:p>
        </p:txBody>
      </p:sp>
      <p:sp>
        <p:nvSpPr>
          <p:cNvPr id="52" name="TextBox 51"/>
          <p:cNvSpPr txBox="1"/>
          <p:nvPr/>
        </p:nvSpPr>
        <p:spPr>
          <a:xfrm>
            <a:off x="11338560" y="5852160"/>
            <a:ext cx="6263640" cy="310896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500" b="0" i="0">
                <a:solidFill>
                  <a:srgbClr val="1F2433"/>
                </a:solidFill>
                <a:latin typeface="Arial"/>
              </a:rPr>
              <a:t>Ocular como desfecho principal; respiratório exploratório (maior variação na definição);</a:t>
            </a:r>
          </a:p>
          <a:p>
            <a:pPr algn="l" marL="274320" indent="-274320">
              <a:lnSpc>
                <a:spcPct val="100000"/>
              </a:lnSpc>
              <a:spcAft>
                <a:spcPts val="600"/>
              </a:spcAft>
              <a:buClr>
                <a:srgbClr val="C8A951"/>
              </a:buClr>
              <a:buFont typeface="Arial"/>
              <a:buChar char="•"/>
            </a:pPr>
            <a:r>
              <a:rPr sz="1500" b="0" i="0">
                <a:solidFill>
                  <a:srgbClr val="1F2433"/>
                </a:solidFill>
                <a:latin typeface="Arial"/>
              </a:rPr>
              <a:t>Modelo principal: logito com efeitos aleatórios e Hartung-Knapp;</a:t>
            </a:r>
          </a:p>
          <a:p>
            <a:pPr algn="l" marL="274320" indent="-274320">
              <a:lnSpc>
                <a:spcPct val="100000"/>
              </a:lnSpc>
              <a:spcAft>
                <a:spcPts val="600"/>
              </a:spcAft>
              <a:buClr>
                <a:srgbClr val="C8A951"/>
              </a:buClr>
              <a:buFont typeface="Arial"/>
              <a:buChar char="•"/>
            </a:pPr>
            <a:r>
              <a:rPr sz="15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600"/>
              </a:spcAft>
              <a:buClr>
                <a:srgbClr val="C8A951"/>
              </a:buClr>
              <a:buFont typeface="Arial"/>
              <a:buChar char="•"/>
            </a:pPr>
            <a:r>
              <a:rPr sz="1500" b="0" i="0">
                <a:solidFill>
                  <a:srgbClr val="1F2433"/>
                </a:solidFill>
                <a:latin typeface="Arial"/>
              </a:rPr>
              <a:t>Resumos de congresso com dados suficientes admitidos (preocupação alta);</a:t>
            </a:r>
          </a:p>
          <a:p>
            <a:pPr algn="l" marL="274320" indent="-274320">
              <a:lnSpc>
                <a:spcPct val="100000"/>
              </a:lnSpc>
              <a:spcAft>
                <a:spcPts val="600"/>
              </a:spcAft>
              <a:buClr>
                <a:srgbClr val="C8A951"/>
              </a:buClr>
              <a:buFont typeface="Arial"/>
              <a:buChar char="•"/>
            </a:pPr>
            <a:r>
              <a:rPr sz="1500" b="0" i="0">
                <a:solidFill>
                  <a:srgbClr val="1F2433"/>
                </a:solidFill>
                <a:latin typeface="Arial"/>
              </a:rPr>
              <a:t>Durante a análise: regra do sintoma-índice e sensibilidade por definição específica, independentes dos resultados.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103120" y="1783080"/>
            <a:ext cx="4572000" cy="105156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286000" y="1828800"/>
            <a:ext cx="4206240" cy="960119"/>
          </a:xfrm>
          <a:prstGeom prst="rect">
            <a:avLst/>
          </a:prstGeom>
          <a:noFill/>
        </p:spPr>
        <p:txBody>
          <a:bodyPr wrap="square" lIns="0" rIns="0" tIns="0" bIns="0" anchor="ctr">
            <a:noAutofit/>
          </a:bodyPr>
          <a:lstStyle/>
          <a:p>
            <a:pPr algn="l">
              <a:lnSpc>
                <a:spcPct val="100000"/>
              </a:lnSpc>
              <a:spcAft>
                <a:spcPts val="200"/>
              </a:spcAft>
              <a:buNone/>
            </a:pPr>
            <a:r>
              <a:rPr sz="1400" b="1" i="0">
                <a:solidFill>
                  <a:srgbClr val="1F2433"/>
                </a:solidFill>
                <a:latin typeface="Arial"/>
              </a:rPr>
              <a:t>Registros identificados (n = 16.757)</a:t>
            </a:r>
          </a:p>
          <a:p>
            <a:pPr algn="l">
              <a:lnSpc>
                <a:spcPct val="100000"/>
              </a:lnSpc>
              <a:spcAft>
                <a:spcPts val="200"/>
              </a:spcAft>
              <a:buNone/>
            </a:pPr>
            <a:r>
              <a:rPr sz="1400" b="0" i="0">
                <a:solidFill>
                  <a:srgbClr val="1F2433"/>
                </a:solidFill>
                <a:latin typeface="Arial"/>
              </a:rPr>
              <a:t>Bases eletrônicas: 16.707 · Literatura cinzenta: 50</a:t>
            </a:r>
          </a:p>
        </p:txBody>
      </p:sp>
      <p:sp>
        <p:nvSpPr>
          <p:cNvPr id="9" name="Rounded Rectangle 8"/>
          <p:cNvSpPr/>
          <p:nvPr/>
        </p:nvSpPr>
        <p:spPr>
          <a:xfrm>
            <a:off x="6949440" y="1783080"/>
            <a:ext cx="2697480" cy="105156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086600" y="1828800"/>
            <a:ext cx="2423160" cy="960119"/>
          </a:xfrm>
          <a:prstGeom prst="rect">
            <a:avLst/>
          </a:prstGeom>
          <a:noFill/>
        </p:spPr>
        <p:txBody>
          <a:bodyPr wrap="square" lIns="0" rIns="0" tIns="0" bIns="0" anchor="ctr">
            <a:noAutofit/>
          </a:bodyPr>
          <a:lstStyle/>
          <a:p>
            <a:pPr algn="l">
              <a:lnSpc>
                <a:spcPct val="100000"/>
              </a:lnSpc>
              <a:spcAft>
                <a:spcPts val="0"/>
              </a:spcAft>
              <a:buNone/>
            </a:pPr>
            <a:r>
              <a:rPr sz="1300" b="1" i="0">
                <a:solidFill>
                  <a:srgbClr val="1F2433"/>
                </a:solidFill>
                <a:latin typeface="Arial"/>
              </a:rPr>
              <a:t>Busca por citação (OpenAlex)</a:t>
            </a:r>
          </a:p>
          <a:p>
            <a:pPr algn="l">
              <a:lnSpc>
                <a:spcPct val="100000"/>
              </a:lnSpc>
              <a:spcAft>
                <a:spcPts val="0"/>
              </a:spcAft>
              <a:buNone/>
            </a:pPr>
            <a:r>
              <a:rPr sz="1300" b="0" i="0">
                <a:solidFill>
                  <a:srgbClr val="1F2433"/>
                </a:solidFill>
                <a:latin typeface="Arial"/>
              </a:rPr>
              <a:t>443 referências avaliadas → 4 relatórios para texto completo</a:t>
            </a:r>
          </a:p>
        </p:txBody>
      </p:sp>
      <p:cxnSp>
        <p:nvCxnSpPr>
          <p:cNvPr id="11" name="Connector 10"/>
          <p:cNvCxnSpPr/>
          <p:nvPr/>
        </p:nvCxnSpPr>
        <p:spPr>
          <a:xfrm flipH="1">
            <a:off x="6693407" y="2308860"/>
            <a:ext cx="256033" cy="0"/>
          </a:xfrm>
          <a:prstGeom prst="line">
            <a:avLst/>
          </a:prstGeom>
          <a:ln w="25400">
            <a:solidFill>
              <a:srgbClr val="8A6D1F"/>
            </a:solidFill>
            <a:tailEnd type="triangle" w="med" len="med"/>
          </a:ln>
        </p:spPr>
      </p:cxnSp>
      <p:cxnSp>
        <p:nvCxnSpPr>
          <p:cNvPr id="12" name="Connector 11"/>
          <p:cNvCxnSpPr/>
          <p:nvPr/>
        </p:nvCxnSpPr>
        <p:spPr>
          <a:xfrm>
            <a:off x="4389120" y="2834639"/>
            <a:ext cx="0" cy="210313"/>
          </a:xfrm>
          <a:prstGeom prst="line">
            <a:avLst/>
          </a:prstGeom>
          <a:ln w="25400">
            <a:solidFill>
              <a:srgbClr val="002060"/>
            </a:solidFill>
            <a:tailEnd type="triangle" w="med" len="med"/>
          </a:ln>
        </p:spPr>
      </p:cxnSp>
      <p:sp>
        <p:nvSpPr>
          <p:cNvPr id="13" name="Rounded Rectangle 12"/>
          <p:cNvSpPr/>
          <p:nvPr/>
        </p:nvSpPr>
        <p:spPr>
          <a:xfrm>
            <a:off x="2103120" y="3063240"/>
            <a:ext cx="4572000" cy="868680"/>
          </a:xfrm>
          <a:prstGeom prst="roundRect">
            <a:avLst>
              <a:gd name="adj" fmla="val 8000"/>
            </a:avLst>
          </a:prstGeom>
          <a:solidFill>
            <a:srgbClr val="F2F4F8"/>
          </a:solidFill>
          <a:ln>
            <a:noFill/>
          </a:ln>
          <a:effectLst/>
        </p:spPr>
        <p:txBody>
          <a:bodyPr rtlCol="0" anchor="ctr"/>
          <a:lstStyle/>
          <a:p/>
        </p:txBody>
      </p:sp>
      <p:sp>
        <p:nvSpPr>
          <p:cNvPr id="14" name="TextBox 13"/>
          <p:cNvSpPr txBox="1"/>
          <p:nvPr/>
        </p:nvSpPr>
        <p:spPr>
          <a:xfrm>
            <a:off x="2286000" y="3108960"/>
            <a:ext cx="4206240" cy="777240"/>
          </a:xfrm>
          <a:prstGeom prst="rect">
            <a:avLst/>
          </a:prstGeom>
          <a:noFill/>
        </p:spPr>
        <p:txBody>
          <a:bodyPr wrap="square" lIns="0" rIns="0" tIns="0" bIns="0" anchor="ctr">
            <a:noAutofit/>
          </a:bodyPr>
          <a:lstStyle/>
          <a:p>
            <a:pPr algn="l">
              <a:lnSpc>
                <a:spcPct val="100000"/>
              </a:lnSpc>
              <a:spcAft>
                <a:spcPts val="200"/>
              </a:spcAft>
              <a:buNone/>
            </a:pPr>
            <a:r>
              <a:rPr sz="1400" b="0" i="0">
                <a:solidFill>
                  <a:srgbClr val="1F2433"/>
                </a:solidFill>
                <a:latin typeface="Arial"/>
              </a:rPr>
              <a:t>Importados: 16.749 (8 não exportados)</a:t>
            </a:r>
          </a:p>
          <a:p>
            <a:pPr algn="l">
              <a:lnSpc>
                <a:spcPct val="100000"/>
              </a:lnSpc>
              <a:spcAft>
                <a:spcPts val="200"/>
              </a:spcAft>
              <a:buNone/>
            </a:pPr>
            <a:r>
              <a:rPr sz="1400" b="1" i="0">
                <a:solidFill>
                  <a:srgbClr val="1F2433"/>
                </a:solidFill>
                <a:latin typeface="Arial"/>
              </a:rPr>
              <a:t>Duplicatas removidas: 5.839</a:t>
            </a:r>
          </a:p>
        </p:txBody>
      </p:sp>
      <p:cxnSp>
        <p:nvCxnSpPr>
          <p:cNvPr id="15" name="Connector 14"/>
          <p:cNvCxnSpPr/>
          <p:nvPr/>
        </p:nvCxnSpPr>
        <p:spPr>
          <a:xfrm>
            <a:off x="4389120" y="3931920"/>
            <a:ext cx="0" cy="210312"/>
          </a:xfrm>
          <a:prstGeom prst="line">
            <a:avLst/>
          </a:prstGeom>
          <a:ln w="25400">
            <a:solidFill>
              <a:srgbClr val="002060"/>
            </a:solidFill>
            <a:tailEnd type="triangle" w="med" len="med"/>
          </a:ln>
        </p:spPr>
      </p:cxnSp>
      <p:sp>
        <p:nvSpPr>
          <p:cNvPr id="16" name="Rounded Rectangle 15"/>
          <p:cNvSpPr/>
          <p:nvPr/>
        </p:nvSpPr>
        <p:spPr>
          <a:xfrm>
            <a:off x="2103120" y="4160520"/>
            <a:ext cx="4572000" cy="868680"/>
          </a:xfrm>
          <a:prstGeom prst="roundRect">
            <a:avLst>
              <a:gd name="adj" fmla="val 8000"/>
            </a:avLst>
          </a:prstGeom>
          <a:solidFill>
            <a:srgbClr val="F2F4F8"/>
          </a:solidFill>
          <a:ln>
            <a:noFill/>
          </a:ln>
          <a:effectLst/>
        </p:spPr>
        <p:txBody>
          <a:bodyPr rtlCol="0" anchor="ctr"/>
          <a:lstStyle/>
          <a:p/>
        </p:txBody>
      </p:sp>
      <p:sp>
        <p:nvSpPr>
          <p:cNvPr id="17" name="TextBox 16"/>
          <p:cNvSpPr txBox="1"/>
          <p:nvPr/>
        </p:nvSpPr>
        <p:spPr>
          <a:xfrm>
            <a:off x="2286000" y="4206240"/>
            <a:ext cx="4206240" cy="777240"/>
          </a:xfrm>
          <a:prstGeom prst="rect">
            <a:avLst/>
          </a:prstGeom>
          <a:noFill/>
        </p:spPr>
        <p:txBody>
          <a:bodyPr wrap="square" lIns="0" rIns="0" tIns="0" bIns="0" anchor="ctr">
            <a:noAutofit/>
          </a:bodyPr>
          <a:lstStyle/>
          <a:p>
            <a:pPr algn="l">
              <a:lnSpc>
                <a:spcPct val="100000"/>
              </a:lnSpc>
              <a:spcAft>
                <a:spcPts val="200"/>
              </a:spcAft>
              <a:buNone/>
            </a:pPr>
            <a:r>
              <a:rPr sz="1400" b="1" i="0">
                <a:solidFill>
                  <a:srgbClr val="1F2433"/>
                </a:solidFill>
                <a:latin typeface="Arial"/>
              </a:rPr>
              <a:t>Triados por título e resumo (n = 10.910)</a:t>
            </a:r>
          </a:p>
          <a:p>
            <a:pPr algn="l">
              <a:lnSpc>
                <a:spcPct val="100000"/>
              </a:lnSpc>
              <a:spcAft>
                <a:spcPts val="200"/>
              </a:spcAft>
              <a:buNone/>
            </a:pPr>
            <a:r>
              <a:rPr sz="1400" b="0" i="0">
                <a:solidFill>
                  <a:srgbClr val="1F2433"/>
                </a:solidFill>
                <a:latin typeface="Arial"/>
              </a:rPr>
              <a:t>revisor único; IA só ordenou a leitura</a:t>
            </a:r>
          </a:p>
        </p:txBody>
      </p:sp>
      <p:sp>
        <p:nvSpPr>
          <p:cNvPr id="18" name="Rounded Rectangle 17"/>
          <p:cNvSpPr/>
          <p:nvPr/>
        </p:nvSpPr>
        <p:spPr>
          <a:xfrm>
            <a:off x="6949440" y="4160520"/>
            <a:ext cx="2697480" cy="868680"/>
          </a:xfrm>
          <a:prstGeom prst="roundRect">
            <a:avLst>
              <a:gd name="adj" fmla="val 8000"/>
            </a:avLst>
          </a:prstGeom>
          <a:solidFill>
            <a:srgbClr val="F2F4F8"/>
          </a:solidFill>
          <a:ln>
            <a:noFill/>
          </a:ln>
          <a:effectLst/>
        </p:spPr>
        <p:txBody>
          <a:bodyPr rtlCol="0" anchor="ctr"/>
          <a:lstStyle/>
          <a:p/>
        </p:txBody>
      </p:sp>
      <p:sp>
        <p:nvSpPr>
          <p:cNvPr id="19" name="TextBox 18"/>
          <p:cNvSpPr txBox="1"/>
          <p:nvPr/>
        </p:nvSpPr>
        <p:spPr>
          <a:xfrm>
            <a:off x="7086600" y="4206240"/>
            <a:ext cx="2423160" cy="777240"/>
          </a:xfrm>
          <a:prstGeom prst="rect">
            <a:avLst/>
          </a:prstGeom>
          <a:noFill/>
        </p:spPr>
        <p:txBody>
          <a:bodyPr wrap="square" lIns="0" rIns="0" tIns="0" bIns="0" anchor="ctr">
            <a:noAutofit/>
          </a:bodyPr>
          <a:lstStyle/>
          <a:p>
            <a:pPr algn="l">
              <a:lnSpc>
                <a:spcPct val="100000"/>
              </a:lnSpc>
              <a:spcAft>
                <a:spcPts val="0"/>
              </a:spcAft>
              <a:buNone/>
            </a:pPr>
            <a:r>
              <a:rPr sz="1300" b="1" i="0">
                <a:solidFill>
                  <a:srgbClr val="1F2433"/>
                </a:solidFill>
                <a:latin typeface="Arial"/>
              </a:rPr>
              <a:t>Excluídos na triagem</a:t>
            </a:r>
          </a:p>
          <a:p>
            <a:pPr algn="l">
              <a:lnSpc>
                <a:spcPct val="100000"/>
              </a:lnSpc>
              <a:spcAft>
                <a:spcPts val="0"/>
              </a:spcAft>
              <a:buNone/>
            </a:pPr>
            <a:r>
              <a:rPr sz="1300" b="0" i="0">
                <a:solidFill>
                  <a:srgbClr val="1F2433"/>
                </a:solidFill>
                <a:latin typeface="Arial"/>
              </a:rPr>
              <a:t>n = 10.882</a:t>
            </a:r>
          </a:p>
        </p:txBody>
      </p:sp>
      <p:cxnSp>
        <p:nvCxnSpPr>
          <p:cNvPr id="20" name="Connector 19"/>
          <p:cNvCxnSpPr/>
          <p:nvPr/>
        </p:nvCxnSpPr>
        <p:spPr>
          <a:xfrm>
            <a:off x="6675120" y="4594859"/>
            <a:ext cx="256032" cy="0"/>
          </a:xfrm>
          <a:prstGeom prst="line">
            <a:avLst/>
          </a:prstGeom>
          <a:ln w="25400">
            <a:solidFill>
              <a:srgbClr val="002060"/>
            </a:solidFill>
            <a:tailEnd type="triangle" w="med" len="med"/>
          </a:ln>
        </p:spPr>
      </p:cxnSp>
      <p:cxnSp>
        <p:nvCxnSpPr>
          <p:cNvPr id="21" name="Connector 20"/>
          <p:cNvCxnSpPr/>
          <p:nvPr/>
        </p:nvCxnSpPr>
        <p:spPr>
          <a:xfrm>
            <a:off x="4389120" y="5029200"/>
            <a:ext cx="0" cy="210312"/>
          </a:xfrm>
          <a:prstGeom prst="line">
            <a:avLst/>
          </a:prstGeom>
          <a:ln w="25400">
            <a:solidFill>
              <a:srgbClr val="002060"/>
            </a:solidFill>
            <a:tailEnd type="triangle" w="med" len="med"/>
          </a:ln>
        </p:spPr>
      </p:cxnSp>
      <p:sp>
        <p:nvSpPr>
          <p:cNvPr id="22" name="Rounded Rectangle 21"/>
          <p:cNvSpPr/>
          <p:nvPr/>
        </p:nvSpPr>
        <p:spPr>
          <a:xfrm>
            <a:off x="2103120" y="5257800"/>
            <a:ext cx="4572000" cy="868680"/>
          </a:xfrm>
          <a:prstGeom prst="roundRect">
            <a:avLst>
              <a:gd name="adj" fmla="val 8000"/>
            </a:avLst>
          </a:prstGeom>
          <a:solidFill>
            <a:srgbClr val="F2F4F8"/>
          </a:solidFill>
          <a:ln>
            <a:noFill/>
          </a:ln>
          <a:effectLst/>
        </p:spPr>
        <p:txBody>
          <a:bodyPr rtlCol="0" anchor="ctr"/>
          <a:lstStyle/>
          <a:p/>
        </p:txBody>
      </p:sp>
      <p:sp>
        <p:nvSpPr>
          <p:cNvPr id="23" name="TextBox 22"/>
          <p:cNvSpPr txBox="1"/>
          <p:nvPr/>
        </p:nvSpPr>
        <p:spPr>
          <a:xfrm>
            <a:off x="2286000" y="5303520"/>
            <a:ext cx="4206240" cy="777240"/>
          </a:xfrm>
          <a:prstGeom prst="rect">
            <a:avLst/>
          </a:prstGeom>
          <a:noFill/>
        </p:spPr>
        <p:txBody>
          <a:bodyPr wrap="square" lIns="0" rIns="0" tIns="0" bIns="0" anchor="ctr">
            <a:noAutofit/>
          </a:bodyPr>
          <a:lstStyle/>
          <a:p>
            <a:pPr algn="l">
              <a:lnSpc>
                <a:spcPct val="100000"/>
              </a:lnSpc>
              <a:spcAft>
                <a:spcPts val="200"/>
              </a:spcAft>
              <a:buNone/>
            </a:pPr>
            <a:r>
              <a:rPr sz="1400" b="1" i="0">
                <a:solidFill>
                  <a:srgbClr val="1F2433"/>
                </a:solidFill>
                <a:latin typeface="Arial"/>
              </a:rPr>
              <a:t>Buscados para texto completo (n = 32)</a:t>
            </a:r>
          </a:p>
          <a:p>
            <a:pPr algn="l">
              <a:lnSpc>
                <a:spcPct val="100000"/>
              </a:lnSpc>
              <a:spcAft>
                <a:spcPts val="200"/>
              </a:spcAft>
              <a:buNone/>
            </a:pPr>
            <a:r>
              <a:rPr sz="1400" b="0" i="0">
                <a:solidFill>
                  <a:srgbClr val="1F2433"/>
                </a:solidFill>
                <a:latin typeface="Arial"/>
              </a:rPr>
              <a:t>28 da triagem + 4 por citação</a:t>
            </a:r>
          </a:p>
        </p:txBody>
      </p:sp>
      <p:sp>
        <p:nvSpPr>
          <p:cNvPr id="24" name="Rounded Rectangle 23"/>
          <p:cNvSpPr/>
          <p:nvPr/>
        </p:nvSpPr>
        <p:spPr>
          <a:xfrm>
            <a:off x="6949440" y="5257800"/>
            <a:ext cx="2697480" cy="868680"/>
          </a:xfrm>
          <a:prstGeom prst="roundRect">
            <a:avLst>
              <a:gd name="adj" fmla="val 8000"/>
            </a:avLst>
          </a:prstGeom>
          <a:solidFill>
            <a:srgbClr val="F2F4F8"/>
          </a:solidFill>
          <a:ln>
            <a:noFill/>
          </a:ln>
          <a:effectLst/>
        </p:spPr>
        <p:txBody>
          <a:bodyPr rtlCol="0" anchor="ctr"/>
          <a:lstStyle/>
          <a:p/>
        </p:txBody>
      </p:sp>
      <p:sp>
        <p:nvSpPr>
          <p:cNvPr id="25" name="TextBox 24"/>
          <p:cNvSpPr txBox="1"/>
          <p:nvPr/>
        </p:nvSpPr>
        <p:spPr>
          <a:xfrm>
            <a:off x="7086600" y="5303520"/>
            <a:ext cx="2423160" cy="777240"/>
          </a:xfrm>
          <a:prstGeom prst="rect">
            <a:avLst/>
          </a:prstGeom>
          <a:noFill/>
        </p:spPr>
        <p:txBody>
          <a:bodyPr wrap="square" lIns="0" rIns="0" tIns="0" bIns="0" anchor="ctr">
            <a:noAutofit/>
          </a:bodyPr>
          <a:lstStyle/>
          <a:p>
            <a:pPr algn="l">
              <a:lnSpc>
                <a:spcPct val="100000"/>
              </a:lnSpc>
              <a:spcAft>
                <a:spcPts val="0"/>
              </a:spcAft>
              <a:buNone/>
            </a:pPr>
            <a:r>
              <a:rPr sz="1300" b="1" i="0">
                <a:solidFill>
                  <a:srgbClr val="1F2433"/>
                </a:solidFill>
                <a:latin typeface="Arial"/>
              </a:rPr>
              <a:t>Não recuperados</a:t>
            </a:r>
          </a:p>
          <a:p>
            <a:pPr algn="l">
              <a:lnSpc>
                <a:spcPct val="100000"/>
              </a:lnSpc>
              <a:spcAft>
                <a:spcPts val="0"/>
              </a:spcAft>
              <a:buNone/>
            </a:pPr>
            <a:r>
              <a:rPr sz="1300" b="0" i="0">
                <a:solidFill>
                  <a:srgbClr val="1F2433"/>
                </a:solidFill>
                <a:latin typeface="Arial"/>
              </a:rPr>
              <a:t>n = 6</a:t>
            </a:r>
          </a:p>
        </p:txBody>
      </p:sp>
      <p:cxnSp>
        <p:nvCxnSpPr>
          <p:cNvPr id="26" name="Connector 25"/>
          <p:cNvCxnSpPr/>
          <p:nvPr/>
        </p:nvCxnSpPr>
        <p:spPr>
          <a:xfrm>
            <a:off x="6675120" y="5692140"/>
            <a:ext cx="256032" cy="0"/>
          </a:xfrm>
          <a:prstGeom prst="line">
            <a:avLst/>
          </a:prstGeom>
          <a:ln w="25400">
            <a:solidFill>
              <a:srgbClr val="002060"/>
            </a:solidFill>
            <a:tailEnd type="triangle" w="med" len="med"/>
          </a:ln>
        </p:spPr>
      </p:cxnSp>
      <p:cxnSp>
        <p:nvCxnSpPr>
          <p:cNvPr id="27" name="Connector 26"/>
          <p:cNvCxnSpPr/>
          <p:nvPr/>
        </p:nvCxnSpPr>
        <p:spPr>
          <a:xfrm>
            <a:off x="4389120" y="6126480"/>
            <a:ext cx="0" cy="210312"/>
          </a:xfrm>
          <a:prstGeom prst="line">
            <a:avLst/>
          </a:prstGeom>
          <a:ln w="25400">
            <a:solidFill>
              <a:srgbClr val="002060"/>
            </a:solidFill>
            <a:tailEnd type="triangle" w="med" len="med"/>
          </a:ln>
        </p:spPr>
      </p:cxnSp>
      <p:sp>
        <p:nvSpPr>
          <p:cNvPr id="28" name="Rounded Rectangle 27"/>
          <p:cNvSpPr/>
          <p:nvPr/>
        </p:nvSpPr>
        <p:spPr>
          <a:xfrm>
            <a:off x="2103120" y="6355080"/>
            <a:ext cx="4572000" cy="868680"/>
          </a:xfrm>
          <a:prstGeom prst="roundRect">
            <a:avLst>
              <a:gd name="adj" fmla="val 8000"/>
            </a:avLst>
          </a:prstGeom>
          <a:solidFill>
            <a:srgbClr val="F2F4F8"/>
          </a:solidFill>
          <a:ln>
            <a:noFill/>
          </a:ln>
          <a:effectLst/>
        </p:spPr>
        <p:txBody>
          <a:bodyPr rtlCol="0" anchor="ctr"/>
          <a:lstStyle/>
          <a:p/>
        </p:txBody>
      </p:sp>
      <p:sp>
        <p:nvSpPr>
          <p:cNvPr id="29" name="TextBox 28"/>
          <p:cNvSpPr txBox="1"/>
          <p:nvPr/>
        </p:nvSpPr>
        <p:spPr>
          <a:xfrm>
            <a:off x="2286000" y="6400800"/>
            <a:ext cx="4206240" cy="777240"/>
          </a:xfrm>
          <a:prstGeom prst="rect">
            <a:avLst/>
          </a:prstGeom>
          <a:noFill/>
        </p:spPr>
        <p:txBody>
          <a:bodyPr wrap="square" lIns="0" rIns="0" tIns="0" bIns="0" anchor="ctr">
            <a:noAutofit/>
          </a:bodyPr>
          <a:lstStyle/>
          <a:p>
            <a:pPr algn="l">
              <a:lnSpc>
                <a:spcPct val="100000"/>
              </a:lnSpc>
              <a:spcAft>
                <a:spcPts val="200"/>
              </a:spcAft>
              <a:buNone/>
            </a:pPr>
            <a:r>
              <a:rPr sz="1400" b="1" i="0">
                <a:solidFill>
                  <a:srgbClr val="1F2433"/>
                </a:solidFill>
                <a:latin typeface="Arial"/>
              </a:rPr>
              <a:t>Avaliados para elegibilidade (n = 26)</a:t>
            </a:r>
          </a:p>
        </p:txBody>
      </p:sp>
      <p:sp>
        <p:nvSpPr>
          <p:cNvPr id="30" name="Rounded Rectangle 29"/>
          <p:cNvSpPr/>
          <p:nvPr/>
        </p:nvSpPr>
        <p:spPr>
          <a:xfrm>
            <a:off x="6949440" y="6355080"/>
            <a:ext cx="2697480" cy="868680"/>
          </a:xfrm>
          <a:prstGeom prst="roundRect">
            <a:avLst>
              <a:gd name="adj" fmla="val 8000"/>
            </a:avLst>
          </a:prstGeom>
          <a:solidFill>
            <a:srgbClr val="F2F4F8"/>
          </a:solidFill>
          <a:ln>
            <a:noFill/>
          </a:ln>
          <a:effectLst/>
        </p:spPr>
        <p:txBody>
          <a:bodyPr rtlCol="0" anchor="ctr"/>
          <a:lstStyle/>
          <a:p/>
        </p:txBody>
      </p:sp>
      <p:sp>
        <p:nvSpPr>
          <p:cNvPr id="31" name="TextBox 30"/>
          <p:cNvSpPr txBox="1"/>
          <p:nvPr/>
        </p:nvSpPr>
        <p:spPr>
          <a:xfrm>
            <a:off x="7086600" y="6400800"/>
            <a:ext cx="2423160" cy="777240"/>
          </a:xfrm>
          <a:prstGeom prst="rect">
            <a:avLst/>
          </a:prstGeom>
          <a:noFill/>
        </p:spPr>
        <p:txBody>
          <a:bodyPr wrap="square" lIns="0" rIns="0" tIns="0" bIns="0" anchor="ctr">
            <a:noAutofit/>
          </a:bodyPr>
          <a:lstStyle/>
          <a:p>
            <a:pPr algn="l">
              <a:lnSpc>
                <a:spcPct val="100000"/>
              </a:lnSpc>
              <a:spcAft>
                <a:spcPts val="0"/>
              </a:spcAft>
              <a:buNone/>
            </a:pPr>
            <a:r>
              <a:rPr sz="1300" b="1" i="0">
                <a:solidFill>
                  <a:srgbClr val="1F2433"/>
                </a:solidFill>
                <a:latin typeface="Arial"/>
              </a:rPr>
              <a:t>Excluídos na íntegra (n = 4)</a:t>
            </a:r>
          </a:p>
          <a:p>
            <a:pPr algn="l">
              <a:lnSpc>
                <a:spcPct val="100000"/>
              </a:lnSpc>
              <a:spcAft>
                <a:spcPts val="0"/>
              </a:spcAft>
              <a:buNone/>
            </a:pPr>
            <a:r>
              <a:rPr sz="1300" b="0" i="0">
                <a:solidFill>
                  <a:srgbClr val="1F2433"/>
                </a:solidFill>
                <a:latin typeface="Arial"/>
              </a:rPr>
              <a:t>1 resumo sem dados; 3 população ou contexto inelegível</a:t>
            </a:r>
          </a:p>
        </p:txBody>
      </p:sp>
      <p:cxnSp>
        <p:nvCxnSpPr>
          <p:cNvPr id="32" name="Connector 31"/>
          <p:cNvCxnSpPr/>
          <p:nvPr/>
        </p:nvCxnSpPr>
        <p:spPr>
          <a:xfrm>
            <a:off x="6675120" y="6789420"/>
            <a:ext cx="256032" cy="0"/>
          </a:xfrm>
          <a:prstGeom prst="line">
            <a:avLst/>
          </a:prstGeom>
          <a:ln w="25400">
            <a:solidFill>
              <a:srgbClr val="002060"/>
            </a:solidFill>
            <a:tailEnd type="triangle" w="med" len="med"/>
          </a:ln>
        </p:spPr>
      </p:cxnSp>
      <p:cxnSp>
        <p:nvCxnSpPr>
          <p:cNvPr id="33" name="Connector 32"/>
          <p:cNvCxnSpPr/>
          <p:nvPr/>
        </p:nvCxnSpPr>
        <p:spPr>
          <a:xfrm>
            <a:off x="4389120" y="7223760"/>
            <a:ext cx="0" cy="210312"/>
          </a:xfrm>
          <a:prstGeom prst="line">
            <a:avLst/>
          </a:prstGeom>
          <a:ln w="25400">
            <a:solidFill>
              <a:srgbClr val="002060"/>
            </a:solidFill>
            <a:tailEnd type="triangle" w="med" len="med"/>
          </a:ln>
        </p:spPr>
      </p:cxnSp>
      <p:sp>
        <p:nvSpPr>
          <p:cNvPr id="34" name="Rounded Rectangle 33"/>
          <p:cNvSpPr/>
          <p:nvPr/>
        </p:nvSpPr>
        <p:spPr>
          <a:xfrm>
            <a:off x="2103120" y="7452360"/>
            <a:ext cx="4572000" cy="1463040"/>
          </a:xfrm>
          <a:prstGeom prst="roundRect">
            <a:avLst>
              <a:gd name="adj" fmla="val 8000"/>
            </a:avLst>
          </a:prstGeom>
          <a:solidFill>
            <a:srgbClr val="E7F3E8"/>
          </a:solidFill>
          <a:ln>
            <a:noFill/>
          </a:ln>
          <a:effectLst/>
        </p:spPr>
        <p:txBody>
          <a:bodyPr rtlCol="0" anchor="ctr"/>
          <a:lstStyle/>
          <a:p/>
        </p:txBody>
      </p:sp>
      <p:sp>
        <p:nvSpPr>
          <p:cNvPr id="35" name="TextBox 34"/>
          <p:cNvSpPr txBox="1"/>
          <p:nvPr/>
        </p:nvSpPr>
        <p:spPr>
          <a:xfrm>
            <a:off x="2286000" y="7498080"/>
            <a:ext cx="4206240" cy="1371600"/>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400" b="0" i="0">
                <a:solidFill>
                  <a:srgbClr val="1F2433"/>
                </a:solidFill>
                <a:latin typeface="Arial"/>
              </a:rPr>
              <a:t>Metanálise de prevalência: 6 (ocular) e 7 (respiratório) amostras independentes</a:t>
            </a:r>
          </a:p>
          <a:p>
            <a:pPr algn="l">
              <a:lnSpc>
                <a:spcPct val="100000"/>
              </a:lnSpc>
              <a:spcAft>
                <a:spcPts val="200"/>
              </a:spcAft>
              <a:buNone/>
            </a:pPr>
            <a:r>
              <a:rPr sz="1400" b="0" i="0">
                <a:solidFill>
                  <a:srgbClr val="1F2433"/>
                </a:solidFill>
                <a:latin typeface="Arial"/>
              </a:rPr>
              <a:t>Síntese narrativa + GRADE: desfechos objetivos e biomarcadores</a:t>
            </a:r>
          </a:p>
        </p:txBody>
      </p:sp>
      <p:sp>
        <p:nvSpPr>
          <p:cNvPr id="36" name="TextBox 35"/>
          <p:cNvSpPr txBox="1"/>
          <p:nvPr/>
        </p:nvSpPr>
        <p:spPr>
          <a:xfrm rot="16200000">
            <a:off x="548639" y="2674620"/>
            <a:ext cx="2011680" cy="365760"/>
          </a:xfrm>
          <a:prstGeom prst="rect">
            <a:avLst/>
          </a:prstGeom>
          <a:noFill/>
        </p:spPr>
        <p:txBody>
          <a:bodyPr wrap="square" lIns="0" rIns="0" tIns="0" bIns="0" anchor="ctr">
            <a:noAutofit/>
          </a:bodyPr>
          <a:lstStyle/>
          <a:p>
            <a:pPr algn="ctr">
              <a:lnSpc>
                <a:spcPct val="100000"/>
              </a:lnSpc>
              <a:spcAft>
                <a:spcPts val="0"/>
              </a:spcAft>
              <a:buNone/>
            </a:pPr>
            <a:r>
              <a:rPr sz="1300" b="1" i="0">
                <a:solidFill>
                  <a:srgbClr val="002060"/>
                </a:solidFill>
                <a:latin typeface="Arial"/>
              </a:rPr>
              <a:t>Identificação</a:t>
            </a:r>
          </a:p>
        </p:txBody>
      </p:sp>
      <p:sp>
        <p:nvSpPr>
          <p:cNvPr id="37" name="TextBox 36"/>
          <p:cNvSpPr txBox="1"/>
          <p:nvPr/>
        </p:nvSpPr>
        <p:spPr>
          <a:xfrm rot="16200000">
            <a:off x="548639" y="4960620"/>
            <a:ext cx="2011680" cy="365760"/>
          </a:xfrm>
          <a:prstGeom prst="rect">
            <a:avLst/>
          </a:prstGeom>
          <a:noFill/>
        </p:spPr>
        <p:txBody>
          <a:bodyPr wrap="square" lIns="0" rIns="0" tIns="0" bIns="0" anchor="ctr">
            <a:noAutofit/>
          </a:bodyPr>
          <a:lstStyle/>
          <a:p>
            <a:pPr algn="ctr">
              <a:lnSpc>
                <a:spcPct val="100000"/>
              </a:lnSpc>
              <a:spcAft>
                <a:spcPts val="0"/>
              </a:spcAft>
              <a:buNone/>
            </a:pPr>
            <a:r>
              <a:rPr sz="1300" b="1" i="0">
                <a:solidFill>
                  <a:srgbClr val="002060"/>
                </a:solidFill>
                <a:latin typeface="Arial"/>
              </a:rPr>
              <a:t>Triagem</a:t>
            </a:r>
          </a:p>
        </p:txBody>
      </p:sp>
      <p:sp>
        <p:nvSpPr>
          <p:cNvPr id="38" name="TextBox 37"/>
          <p:cNvSpPr txBox="1"/>
          <p:nvPr/>
        </p:nvSpPr>
        <p:spPr>
          <a:xfrm rot="16200000">
            <a:off x="548639" y="6606540"/>
            <a:ext cx="2011680" cy="365760"/>
          </a:xfrm>
          <a:prstGeom prst="rect">
            <a:avLst/>
          </a:prstGeom>
          <a:noFill/>
        </p:spPr>
        <p:txBody>
          <a:bodyPr wrap="square" lIns="0" rIns="0" tIns="0" bIns="0" anchor="ctr">
            <a:noAutofit/>
          </a:bodyPr>
          <a:lstStyle/>
          <a:p>
            <a:pPr algn="ctr">
              <a:lnSpc>
                <a:spcPct val="100000"/>
              </a:lnSpc>
              <a:spcAft>
                <a:spcPts val="0"/>
              </a:spcAft>
              <a:buNone/>
            </a:pPr>
            <a:r>
              <a:rPr sz="1300" b="1" i="0">
                <a:solidFill>
                  <a:srgbClr val="002060"/>
                </a:solidFill>
                <a:latin typeface="Arial"/>
              </a:rPr>
              <a:t>Elegibilidade</a:t>
            </a:r>
          </a:p>
        </p:txBody>
      </p:sp>
      <p:sp>
        <p:nvSpPr>
          <p:cNvPr id="39" name="TextBox 38"/>
          <p:cNvSpPr txBox="1"/>
          <p:nvPr/>
        </p:nvSpPr>
        <p:spPr>
          <a:xfrm rot="16200000">
            <a:off x="548639" y="8001000"/>
            <a:ext cx="2011680" cy="365760"/>
          </a:xfrm>
          <a:prstGeom prst="rect">
            <a:avLst/>
          </a:prstGeom>
          <a:noFill/>
        </p:spPr>
        <p:txBody>
          <a:bodyPr wrap="square" lIns="0" rIns="0" tIns="0" bIns="0" anchor="ctr">
            <a:noAutofit/>
          </a:bodyPr>
          <a:lstStyle/>
          <a:p>
            <a:pPr algn="ctr">
              <a:lnSpc>
                <a:spcPct val="100000"/>
              </a:lnSpc>
              <a:spcAft>
                <a:spcPts val="0"/>
              </a:spcAft>
              <a:buNone/>
            </a:pPr>
            <a:r>
              <a:rPr sz="1300" b="1" i="0">
                <a:solidFill>
                  <a:srgbClr val="002060"/>
                </a:solidFill>
                <a:latin typeface="Arial"/>
              </a:rPr>
              <a:t>Incluídos</a:t>
            </a:r>
          </a:p>
        </p:txBody>
      </p:sp>
      <p:sp>
        <p:nvSpPr>
          <p:cNvPr id="40" name="TextBox 39"/>
          <p:cNvSpPr txBox="1"/>
          <p:nvPr/>
        </p:nvSpPr>
        <p:spPr>
          <a:xfrm>
            <a:off x="2103120" y="9006840"/>
            <a:ext cx="7543800" cy="365760"/>
          </a:xfrm>
          <a:prstGeom prst="rect">
            <a:avLst/>
          </a:prstGeom>
          <a:noFill/>
        </p:spPr>
        <p:txBody>
          <a:bodyPr wrap="square" lIns="0" rIns="0" tIns="0" bIns="0" anchor="t">
            <a:noAutofit/>
          </a:bodyPr>
          <a:lstStyle/>
          <a:p>
            <a:pPr algn="l">
              <a:lnSpc>
                <a:spcPct val="100000"/>
              </a:lnSpc>
              <a:spcAft>
                <a:spcPts val="0"/>
              </a:spcAft>
              <a:buNone/>
            </a:pPr>
            <a:r>
              <a:rPr sz="1200" b="0" i="0">
                <a:solidFill>
                  <a:srgbClr val="5A6270"/>
                </a:solidFill>
                <a:latin typeface="Arial"/>
              </a:rPr>
              <a:t>Fluxograma PRISMA 2020 (Figura 1 do manuscrito); lista dos não recuperados e dos excluídos no Anexo C.</a:t>
            </a:r>
          </a:p>
        </p:txBody>
      </p:sp>
      <p:sp>
        <p:nvSpPr>
          <p:cNvPr id="41" name="Rounded Rectangle 40"/>
          <p:cNvSpPr/>
          <p:nvPr/>
        </p:nvSpPr>
        <p:spPr>
          <a:xfrm>
            <a:off x="9921240" y="1783080"/>
            <a:ext cx="3794760" cy="1600200"/>
          </a:xfrm>
          <a:prstGeom prst="roundRect">
            <a:avLst>
              <a:gd name="adj" fmla="val 6000"/>
            </a:avLst>
          </a:prstGeom>
          <a:solidFill>
            <a:srgbClr val="F2F4F8"/>
          </a:solidFill>
          <a:ln>
            <a:noFill/>
          </a:ln>
          <a:effectLst/>
        </p:spPr>
        <p:txBody>
          <a:bodyPr rtlCol="0" anchor="ctr"/>
          <a:lstStyle/>
          <a:p/>
        </p:txBody>
      </p:sp>
      <p:sp>
        <p:nvSpPr>
          <p:cNvPr id="42" name="TextBox 41"/>
          <p:cNvSpPr txBox="1"/>
          <p:nvPr/>
        </p:nvSpPr>
        <p:spPr>
          <a:xfrm>
            <a:off x="10104119" y="1892807"/>
            <a:ext cx="3429000" cy="69850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3" name="TextBox 42"/>
          <p:cNvSpPr txBox="1"/>
          <p:nvPr/>
        </p:nvSpPr>
        <p:spPr>
          <a:xfrm>
            <a:off x="10104119" y="2609596"/>
            <a:ext cx="3429000" cy="718819"/>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 incluídos</a:t>
            </a:r>
          </a:p>
        </p:txBody>
      </p:sp>
      <p:sp>
        <p:nvSpPr>
          <p:cNvPr id="44" name="Rounded Rectangle 43"/>
          <p:cNvSpPr/>
          <p:nvPr/>
        </p:nvSpPr>
        <p:spPr>
          <a:xfrm>
            <a:off x="13990320" y="1783080"/>
            <a:ext cx="3794760" cy="1600200"/>
          </a:xfrm>
          <a:prstGeom prst="roundRect">
            <a:avLst>
              <a:gd name="adj" fmla="val 6000"/>
            </a:avLst>
          </a:prstGeom>
          <a:solidFill>
            <a:srgbClr val="F2F4F8"/>
          </a:solidFill>
          <a:ln>
            <a:noFill/>
          </a:ln>
          <a:effectLst/>
        </p:spPr>
        <p:txBody>
          <a:bodyPr rtlCol="0" anchor="ctr"/>
          <a:lstStyle/>
          <a:p/>
        </p:txBody>
      </p:sp>
      <p:sp>
        <p:nvSpPr>
          <p:cNvPr id="45" name="TextBox 44"/>
          <p:cNvSpPr txBox="1"/>
          <p:nvPr/>
        </p:nvSpPr>
        <p:spPr>
          <a:xfrm>
            <a:off x="14173200" y="1892807"/>
            <a:ext cx="3429000" cy="69850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6" name="TextBox 45"/>
          <p:cNvSpPr txBox="1"/>
          <p:nvPr/>
        </p:nvSpPr>
        <p:spPr>
          <a:xfrm>
            <a:off x="14173200" y="2609596"/>
            <a:ext cx="3429000" cy="718819"/>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países: Turquia, Malásia, Brasil, Paquistão, China, México, EUA, Sudão e Tailândia</a:t>
            </a:r>
          </a:p>
        </p:txBody>
      </p:sp>
      <p:sp>
        <p:nvSpPr>
          <p:cNvPr id="47" name="Rounded Rectangle 46"/>
          <p:cNvSpPr/>
          <p:nvPr/>
        </p:nvSpPr>
        <p:spPr>
          <a:xfrm>
            <a:off x="9921240" y="3657600"/>
            <a:ext cx="3794760" cy="1600200"/>
          </a:xfrm>
          <a:prstGeom prst="roundRect">
            <a:avLst>
              <a:gd name="adj" fmla="val 6000"/>
            </a:avLst>
          </a:prstGeom>
          <a:solidFill>
            <a:srgbClr val="F2F4F8"/>
          </a:solidFill>
          <a:ln>
            <a:noFill/>
          </a:ln>
          <a:effectLst/>
        </p:spPr>
        <p:txBody>
          <a:bodyPr rtlCol="0" anchor="ctr"/>
          <a:lstStyle/>
          <a:p/>
        </p:txBody>
      </p:sp>
      <p:sp>
        <p:nvSpPr>
          <p:cNvPr id="48" name="TextBox 47"/>
          <p:cNvSpPr txBox="1"/>
          <p:nvPr/>
        </p:nvSpPr>
        <p:spPr>
          <a:xfrm>
            <a:off x="10104119" y="3767328"/>
            <a:ext cx="3429000" cy="571500"/>
          </a:xfrm>
          <a:prstGeom prst="rect">
            <a:avLst/>
          </a:prstGeom>
          <a:noFill/>
        </p:spPr>
        <p:txBody>
          <a:bodyPr wrap="square" lIns="0" rIns="0" tIns="0" bIns="0" anchor="t">
            <a:noAutofit/>
          </a:bodyPr>
          <a:lstStyle/>
          <a:p>
            <a:pPr algn="l">
              <a:lnSpc>
                <a:spcPct val="95000"/>
              </a:lnSpc>
              <a:spcAft>
                <a:spcPts val="0"/>
              </a:spcAft>
              <a:buNone/>
            </a:pPr>
            <a:r>
              <a:rPr sz="3600" b="1" i="0">
                <a:solidFill>
                  <a:srgbClr val="002060"/>
                </a:solidFill>
                <a:latin typeface="Arial"/>
              </a:rPr>
              <a:t>19 + 3</a:t>
            </a:r>
          </a:p>
        </p:txBody>
      </p:sp>
      <p:sp>
        <p:nvSpPr>
          <p:cNvPr id="49" name="TextBox 48"/>
          <p:cNvSpPr txBox="1"/>
          <p:nvPr/>
        </p:nvSpPr>
        <p:spPr>
          <a:xfrm>
            <a:off x="10104119" y="4357116"/>
            <a:ext cx="3429000" cy="845820"/>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transversais + coortes prospectivas (Navarro 2016; Stanganelli 2019; Stanganelli Caus 2025)</a:t>
            </a:r>
          </a:p>
        </p:txBody>
      </p:sp>
      <p:sp>
        <p:nvSpPr>
          <p:cNvPr id="50" name="Rounded Rectangle 49"/>
          <p:cNvSpPr/>
          <p:nvPr/>
        </p:nvSpPr>
        <p:spPr>
          <a:xfrm>
            <a:off x="13990320" y="3657600"/>
            <a:ext cx="3794760" cy="1600200"/>
          </a:xfrm>
          <a:prstGeom prst="roundRect">
            <a:avLst>
              <a:gd name="adj" fmla="val 6000"/>
            </a:avLst>
          </a:prstGeom>
          <a:solidFill>
            <a:srgbClr val="F9E9E9"/>
          </a:solidFill>
          <a:ln>
            <a:noFill/>
          </a:ln>
          <a:effectLst/>
        </p:spPr>
        <p:txBody>
          <a:bodyPr rtlCol="0" anchor="ctr"/>
          <a:lstStyle/>
          <a:p/>
        </p:txBody>
      </p:sp>
      <p:sp>
        <p:nvSpPr>
          <p:cNvPr id="51" name="TextBox 50"/>
          <p:cNvSpPr txBox="1"/>
          <p:nvPr/>
        </p:nvSpPr>
        <p:spPr>
          <a:xfrm>
            <a:off x="14173200" y="3767328"/>
            <a:ext cx="3429000" cy="571500"/>
          </a:xfrm>
          <a:prstGeom prst="rect">
            <a:avLst/>
          </a:prstGeom>
          <a:noFill/>
        </p:spPr>
        <p:txBody>
          <a:bodyPr wrap="square" lIns="0" rIns="0" tIns="0" bIns="0" anchor="t">
            <a:noAutofit/>
          </a:bodyPr>
          <a:lstStyle/>
          <a:p>
            <a:pPr algn="l">
              <a:lnSpc>
                <a:spcPct val="95000"/>
              </a:lnSpc>
              <a:spcAft>
                <a:spcPts val="0"/>
              </a:spcAft>
              <a:buNone/>
            </a:pPr>
            <a:r>
              <a:rPr sz="3600" b="1" i="0">
                <a:solidFill>
                  <a:srgbClr val="8B0000"/>
                </a:solidFill>
                <a:latin typeface="Arial"/>
              </a:rPr>
              <a:t>6 | 7</a:t>
            </a:r>
          </a:p>
        </p:txBody>
      </p:sp>
      <p:sp>
        <p:nvSpPr>
          <p:cNvPr id="52" name="TextBox 51"/>
          <p:cNvSpPr txBox="1"/>
          <p:nvPr/>
        </p:nvSpPr>
        <p:spPr>
          <a:xfrm>
            <a:off x="14173200" y="4357116"/>
            <a:ext cx="3429000" cy="845820"/>
          </a:xfrm>
          <a:prstGeom prst="rect">
            <a:avLst/>
          </a:prstGeom>
          <a:noFill/>
        </p:spPr>
        <p:txBody>
          <a:bodyPr wrap="square" lIns="0" rIns="0" tIns="0" bIns="0" anchor="t">
            <a:noAutofit/>
          </a:bodyPr>
          <a:lstStyle/>
          <a:p>
            <a:pPr algn="l">
              <a:lnSpc>
                <a:spcPct val="105000"/>
              </a:lnSpc>
              <a:spcAft>
                <a:spcPts val="0"/>
              </a:spcAft>
              <a:buNone/>
            </a:pPr>
            <a:r>
              <a:rPr sz="1300" b="0" i="0">
                <a:solidFill>
                  <a:srgbClr val="5A6270"/>
                </a:solidFill>
                <a:latin typeface="Arial"/>
              </a:rPr>
              <a:t>amostras independentes na metanálise ocular (n = 756) | respiratória (n = 1.428)</a:t>
            </a:r>
          </a:p>
        </p:txBody>
      </p:sp>
      <p:sp>
        <p:nvSpPr>
          <p:cNvPr id="53" name="Rounded Rectangle 52"/>
          <p:cNvSpPr/>
          <p:nvPr/>
        </p:nvSpPr>
        <p:spPr>
          <a:xfrm>
            <a:off x="9921240" y="5532120"/>
            <a:ext cx="7863840" cy="4206240"/>
          </a:xfrm>
          <a:prstGeom prst="roundRect">
            <a:avLst>
              <a:gd name="adj" fmla="val 6000"/>
            </a:avLst>
          </a:prstGeom>
          <a:solidFill>
            <a:srgbClr val="F2F4F8"/>
          </a:solidFill>
          <a:ln>
            <a:noFill/>
          </a:ln>
          <a:effectLst/>
        </p:spPr>
        <p:txBody>
          <a:bodyPr rtlCol="0" anchor="ctr"/>
          <a:lstStyle/>
          <a:p/>
        </p:txBody>
      </p:sp>
      <p:sp>
        <p:nvSpPr>
          <p:cNvPr id="54" name="Oval 53"/>
          <p:cNvSpPr/>
          <p:nvPr/>
        </p:nvSpPr>
        <p:spPr>
          <a:xfrm>
            <a:off x="10195560" y="5806440"/>
            <a:ext cx="731520" cy="731520"/>
          </a:xfrm>
          <a:prstGeom prst="ellipse">
            <a:avLst/>
          </a:prstGeom>
          <a:solidFill>
            <a:srgbClr val="002060"/>
          </a:solidFill>
          <a:ln>
            <a:noFill/>
          </a:ln>
          <a:effectLst/>
        </p:spPr>
        <p:txBody>
          <a:bodyPr rtlCol="0" anchor="ctr" lIns="0" rIns="0" tIns="0" bIns="0"/>
          <a:lstStyle/>
          <a:p/>
        </p:txBody>
      </p:sp>
      <p:pic>
        <p:nvPicPr>
          <p:cNvPr id="55" name="icone balance" descr="balance_white.png"/>
          <p:cNvPicPr>
            <a:picLocks noChangeAspect="1"/>
          </p:cNvPicPr>
          <p:nvPr/>
        </p:nvPicPr>
        <p:blipFill>
          <a:blip r:embed="rId4"/>
          <a:stretch>
            <a:fillRect/>
          </a:stretch>
        </p:blipFill>
        <p:spPr>
          <a:xfrm>
            <a:off x="10378440" y="5989320"/>
            <a:ext cx="365760" cy="365760"/>
          </a:xfrm>
          <a:prstGeom prst="rect">
            <a:avLst/>
          </a:prstGeom>
        </p:spPr>
      </p:pic>
      <p:sp>
        <p:nvSpPr>
          <p:cNvPr id="56" name="TextBox 55"/>
          <p:cNvSpPr txBox="1"/>
          <p:nvPr/>
        </p:nvSpPr>
        <p:spPr>
          <a:xfrm>
            <a:off x="11155680" y="5806440"/>
            <a:ext cx="63550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Risco de viés (JBI): resumo</a:t>
            </a:r>
          </a:p>
        </p:txBody>
      </p:sp>
      <p:sp>
        <p:nvSpPr>
          <p:cNvPr id="57" name="TextBox 56"/>
          <p:cNvSpPr txBox="1"/>
          <p:nvPr/>
        </p:nvSpPr>
        <p:spPr>
          <a:xfrm>
            <a:off x="10195560" y="6675120"/>
            <a:ext cx="7315200" cy="2843783"/>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1" i="0">
                <a:solidFill>
                  <a:srgbClr val="1F2433"/>
                </a:solidFill>
                <a:latin typeface="Arial"/>
              </a:rPr>
              <a:t>Estimativas de prevalência: </a:t>
            </a:r>
            <a:r>
              <a:rPr sz="1400" b="0" i="0">
                <a:solidFill>
                  <a:srgbClr val="1F2433"/>
                </a:solidFill>
                <a:latin typeface="Arial"/>
              </a:rPr>
              <a:t>preocupação moderada a alta: amostragem não probabilística, tamanho amostral não justificado, taxa de resposta não informada, sintomas autorrelatados. Só Mohd Fikri Rosely e Titi Rahmawati (2019) usaram amostragem aleatória estratificada.</a:t>
            </a:r>
          </a:p>
          <a:p>
            <a:pPr algn="l" marL="274320" indent="-274320">
              <a:lnSpc>
                <a:spcPct val="100000"/>
              </a:lnSpc>
              <a:spcAft>
                <a:spcPts val="500"/>
              </a:spcAft>
              <a:buFont typeface="Arial"/>
              <a:buChar char="•"/>
            </a:pPr>
            <a:r>
              <a:rPr sz="1400" b="1" i="0">
                <a:solidFill>
                  <a:srgbClr val="1F2433"/>
                </a:solidFill>
                <a:latin typeface="Arial"/>
              </a:rPr>
              <a:t>Resumo de congresso (Mohd Fikri Rosely, 2022): </a:t>
            </a:r>
            <a:r>
              <a:rPr sz="1400" b="0" i="0">
                <a:solidFill>
                  <a:srgbClr val="1F2433"/>
                </a:solidFill>
                <a:latin typeface="Arial"/>
              </a:rPr>
              <a:t>alta preocupação por relato incompleto.</a:t>
            </a:r>
          </a:p>
          <a:p>
            <a:pPr algn="l" marL="274320" indent="-274320">
              <a:lnSpc>
                <a:spcPct val="100000"/>
              </a:lnSpc>
              <a:spcAft>
                <a:spcPts val="500"/>
              </a:spcAft>
              <a:buFont typeface="Arial"/>
              <a:buChar char="•"/>
            </a:pPr>
            <a:r>
              <a:rPr sz="1400" b="1" i="0">
                <a:solidFill>
                  <a:srgbClr val="1F2433"/>
                </a:solidFill>
                <a:latin typeface="Arial"/>
              </a:rPr>
              <a:t>Comparativos e desfechos objetivos (HPV-DNA, biópsia, biomarcadores, espirometria): </a:t>
            </a:r>
            <a:r>
              <a:rPr sz="1400" b="0" i="0">
                <a:solidFill>
                  <a:srgbClr val="1F2433"/>
                </a:solidFill>
                <a:latin typeface="Arial"/>
              </a:rPr>
              <a:t>preocupação moderada: mensuração da exposição por ocupação, sem estimativas ajustadas, controle insuficiente de confundidores.</a:t>
            </a:r>
          </a:p>
          <a:p>
            <a:pPr algn="l" marL="274320" indent="-274320">
              <a:lnSpc>
                <a:spcPct val="100000"/>
              </a:lnSpc>
              <a:spcAft>
                <a:spcPts val="500"/>
              </a:spcAft>
              <a:buFont typeface="Arial"/>
              <a:buChar char="•"/>
            </a:pPr>
            <a:r>
              <a:rPr sz="1400" b="1" i="0">
                <a:solidFill>
                  <a:srgbClr val="8B0000"/>
                </a:solidFill>
                <a:latin typeface="Arial"/>
              </a:rPr>
              <a:t>Nenhum estudo alcançou preocupação baixa </a:t>
            </a:r>
            <a:r>
              <a:rPr sz="1400" b="0" i="0">
                <a:solidFill>
                  <a:srgbClr val="1F2433"/>
                </a:solidFill>
                <a:latin typeface="Arial"/>
              </a:rPr>
              <a:t>→ análise restrita a baixo risco não foi factível.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Prevalência combinada de sintoma ocular (irritação ou lacrimejamento)</a:t>
            </a:r>
          </a:p>
        </p:txBody>
      </p:sp>
      <p:pic>
        <p:nvPicPr>
          <p:cNvPr id="7" name="Figura 2 forest plot ocular" descr="fig2_forest_ocular.png"/>
          <p:cNvPicPr>
            <a:picLocks noChangeAspect="1"/>
          </p:cNvPicPr>
          <p:nvPr/>
        </p:nvPicPr>
        <p:blipFill>
          <a:blip r:embed="rId4"/>
          <a:stretch>
            <a:fillRect/>
          </a:stretch>
        </p:blipFill>
        <p:spPr>
          <a:xfrm>
            <a:off x="1143000" y="1783080"/>
            <a:ext cx="11247120" cy="5802113"/>
          </a:xfrm>
          <a:prstGeom prst="rect">
            <a:avLst/>
          </a:prstGeom>
        </p:spPr>
      </p:pic>
      <p:sp>
        <p:nvSpPr>
          <p:cNvPr id="8" name="TextBox 7"/>
          <p:cNvSpPr txBox="1"/>
          <p:nvPr/>
        </p:nvSpPr>
        <p:spPr>
          <a:xfrm>
            <a:off x="1143000" y="7635240"/>
            <a:ext cx="1124712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5A6270"/>
                </a:solidFill>
                <a:latin typeface="Arial"/>
              </a:rPr>
              <a:t>Figura 2. </a:t>
            </a:r>
            <a:r>
              <a:rPr sz="1300" b="0" i="0">
                <a:solidFill>
                  <a:srgbClr val="5A6270"/>
                </a:solidFill>
                <a:latin typeface="Arial"/>
              </a:rPr>
              <a:t>Modelo logito com Paule-Mandel e ajuste de Hartung-Knapp. Quadrado = prevalência do estudo (tamanho ∝ peso); linha preta = IC95% de Wilson; losango = estimativa combinada; linha vermelha = intervalo de predição; tracejado = estimativa combinada.</a:t>
            </a:r>
          </a:p>
        </p:txBody>
      </p:sp>
      <p:sp>
        <p:nvSpPr>
          <p:cNvPr id="9" name="Rounded Rectangle 8"/>
          <p:cNvSpPr/>
          <p:nvPr/>
        </p:nvSpPr>
        <p:spPr>
          <a:xfrm>
            <a:off x="1143000" y="8183879"/>
            <a:ext cx="11247120" cy="155448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8247888"/>
            <a:ext cx="10698480" cy="146304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Como ler: </a:t>
            </a:r>
            <a:r>
              <a:rPr sz="1500" b="0" i="0">
                <a:solidFill>
                  <a:srgbClr val="1F2433"/>
                </a:solidFill>
                <a:latin typeface="Arial"/>
              </a:rPr>
              <a:t>cerca de 4 em cada 10 profissionais relataram irritação ou lacrimejamento ocular; mas os estudos variam de 19% (Malásia) a 56% (Turquia), e um novo estudo poderia encontrar qualquer valor entre 7% e 83%. </a:t>
            </a:r>
            <a:r>
              <a:rPr sz="1500" b="0" i="0">
                <a:solidFill>
                  <a:srgbClr val="5A6270"/>
                </a:solidFill>
                <a:latin typeface="Arial"/>
              </a:rPr>
              <a:t>A estimativa é a proporção que relatou o sintoma segundo a definição de cada estudo, não uma prevalência temporalmente homogênea.</a:t>
            </a:r>
          </a:p>
        </p:txBody>
      </p:sp>
      <p:sp>
        <p:nvSpPr>
          <p:cNvPr id="11" name="Rounded Rectangle 10"/>
          <p:cNvSpPr/>
          <p:nvPr/>
        </p:nvSpPr>
        <p:spPr>
          <a:xfrm>
            <a:off x="12664440" y="1783080"/>
            <a:ext cx="5120640" cy="36576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2893040" y="1874519"/>
            <a:ext cx="4663440" cy="1097280"/>
          </a:xfrm>
          <a:prstGeom prst="rect">
            <a:avLst/>
          </a:prstGeom>
          <a:noFill/>
        </p:spPr>
        <p:txBody>
          <a:bodyPr wrap="square" lIns="0" rIns="0" tIns="0" bIns="0" anchor="t">
            <a:noAutofit/>
          </a:bodyPr>
          <a:lstStyle/>
          <a:p>
            <a:pPr algn="l">
              <a:lnSpc>
                <a:spcPct val="95000"/>
              </a:lnSpc>
              <a:spcAft>
                <a:spcPts val="0"/>
              </a:spcAft>
              <a:buNone/>
            </a:pPr>
            <a:r>
              <a:rPr sz="6600" b="1" i="0">
                <a:solidFill>
                  <a:srgbClr val="8B0000"/>
                </a:solidFill>
                <a:latin typeface="Arial"/>
              </a:rPr>
              <a:t>37,6%</a:t>
            </a:r>
          </a:p>
        </p:txBody>
      </p:sp>
      <p:sp>
        <p:nvSpPr>
          <p:cNvPr id="13" name="TextBox 12"/>
          <p:cNvSpPr txBox="1"/>
          <p:nvPr/>
        </p:nvSpPr>
        <p:spPr>
          <a:xfrm>
            <a:off x="12893040" y="2990088"/>
            <a:ext cx="4663440" cy="73152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prevalência combinada de sintoma ocular</a:t>
            </a:r>
          </a:p>
        </p:txBody>
      </p:sp>
      <p:sp>
        <p:nvSpPr>
          <p:cNvPr id="14" name="TextBox 13"/>
          <p:cNvSpPr txBox="1"/>
          <p:nvPr/>
        </p:nvSpPr>
        <p:spPr>
          <a:xfrm>
            <a:off x="12893040" y="3657600"/>
            <a:ext cx="4663440" cy="1737360"/>
          </a:xfrm>
          <a:prstGeom prst="rect">
            <a:avLst/>
          </a:prstGeom>
          <a:noFill/>
        </p:spPr>
        <p:txBody>
          <a:bodyPr wrap="square" lIns="0" rIns="0" tIns="0" bIns="0" anchor="t">
            <a:noAutofit/>
          </a:bodyPr>
          <a:lstStyle/>
          <a:p>
            <a:pPr algn="l">
              <a:lnSpc>
                <a:spcPct val="100000"/>
              </a:lnSpc>
              <a:spcAft>
                <a:spcPts val="300"/>
              </a:spcAft>
              <a:buNone/>
            </a:pPr>
            <a:r>
              <a:rPr sz="1700" b="1" i="0">
                <a:solidFill>
                  <a:srgbClr val="1F2433"/>
                </a:solidFill>
                <a:latin typeface="Arial"/>
              </a:rPr>
              <a:t>IC95% </a:t>
            </a:r>
            <a:r>
              <a:rPr sz="1700" b="0" i="0">
                <a:solidFill>
                  <a:srgbClr val="1F2433"/>
                </a:solidFill>
                <a:latin typeface="Arial"/>
              </a:rPr>
              <a:t>21,9 – 56,5</a:t>
            </a:r>
          </a:p>
          <a:p>
            <a:pPr algn="l">
              <a:lnSpc>
                <a:spcPct val="100000"/>
              </a:lnSpc>
              <a:spcAft>
                <a:spcPts val="300"/>
              </a:spcAft>
              <a:buNone/>
            </a:pPr>
            <a:r>
              <a:rPr sz="1700" b="1" i="0">
                <a:solidFill>
                  <a:srgbClr val="1F2433"/>
                </a:solidFill>
                <a:latin typeface="Arial"/>
              </a:rPr>
              <a:t>Intervalo de predição </a:t>
            </a:r>
            <a:r>
              <a:rPr sz="1700" b="0" i="0">
                <a:solidFill>
                  <a:srgbClr val="1F2433"/>
                </a:solidFill>
                <a:latin typeface="Arial"/>
              </a:rPr>
              <a:t>7 – 83%</a:t>
            </a:r>
          </a:p>
          <a:p>
            <a:pPr algn="l">
              <a:lnSpc>
                <a:spcPct val="100000"/>
              </a:lnSpc>
              <a:spcAft>
                <a:spcPts val="300"/>
              </a:spcAft>
              <a:buNone/>
            </a:pPr>
            <a:r>
              <a:rPr sz="1700" b="1" i="0">
                <a:solidFill>
                  <a:srgbClr val="1F2433"/>
                </a:solidFill>
                <a:latin typeface="Arial"/>
              </a:rPr>
              <a:t>I² = 93% · k = 6 · n = 756</a:t>
            </a:r>
          </a:p>
        </p:txBody>
      </p:sp>
      <p:sp>
        <p:nvSpPr>
          <p:cNvPr id="15" name="Rounded Rectangle 14"/>
          <p:cNvSpPr/>
          <p:nvPr/>
        </p:nvSpPr>
        <p:spPr>
          <a:xfrm>
            <a:off x="12664440" y="5669280"/>
            <a:ext cx="5120640" cy="4069080"/>
          </a:xfrm>
          <a:prstGeom prst="roundRect">
            <a:avLst>
              <a:gd name="adj" fmla="val 6000"/>
            </a:avLst>
          </a:prstGeom>
          <a:solidFill>
            <a:srgbClr val="F2F4F8"/>
          </a:solidFill>
          <a:ln>
            <a:noFill/>
          </a:ln>
          <a:effectLst/>
        </p:spPr>
        <p:txBody>
          <a:bodyPr rtlCol="0" anchor="ctr"/>
          <a:lstStyle/>
          <a:p/>
        </p:txBody>
      </p:sp>
      <p:sp>
        <p:nvSpPr>
          <p:cNvPr id="16" name="TextBox 15"/>
          <p:cNvSpPr txBox="1"/>
          <p:nvPr/>
        </p:nvSpPr>
        <p:spPr>
          <a:xfrm>
            <a:off x="12938760" y="5943600"/>
            <a:ext cx="4571999" cy="45720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Características do agrupamento</a:t>
            </a:r>
          </a:p>
        </p:txBody>
      </p:sp>
      <p:sp>
        <p:nvSpPr>
          <p:cNvPr id="17" name="TextBox 16"/>
          <p:cNvSpPr txBox="1"/>
          <p:nvPr/>
        </p:nvSpPr>
        <p:spPr>
          <a:xfrm>
            <a:off x="12938760" y="6446520"/>
            <a:ext cx="4572000" cy="3072384"/>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0" i="0">
                <a:solidFill>
                  <a:srgbClr val="1F2433"/>
                </a:solidFill>
                <a:latin typeface="Arial"/>
              </a:rPr>
              <a:t>6 inquéritos transversais: Turquia (3), Malásia (2) e Brasil (1).</a:t>
            </a:r>
          </a:p>
          <a:p>
            <a:pPr algn="l" marL="274320" indent="-274320">
              <a:lnSpc>
                <a:spcPct val="100000"/>
              </a:lnSpc>
              <a:spcAft>
                <a:spcPts val="500"/>
              </a:spcAft>
              <a:buFont typeface="Arial"/>
              <a:buChar char="•"/>
            </a:pPr>
            <a:r>
              <a:rPr sz="1400" b="0" i="0">
                <a:solidFill>
                  <a:srgbClr val="1F2433"/>
                </a:solidFill>
                <a:latin typeface="Arial"/>
              </a:rPr>
              <a:t>Preocupação com viés moderada ou alta em todos; nenhum com preocupação baixa.</a:t>
            </a:r>
          </a:p>
          <a:p>
            <a:pPr algn="l" marL="274320" indent="-274320">
              <a:lnSpc>
                <a:spcPct val="100000"/>
              </a:lnSpc>
              <a:spcAft>
                <a:spcPts val="500"/>
              </a:spcAft>
              <a:buFont typeface="Arial"/>
              <a:buChar char="•"/>
            </a:pPr>
            <a:r>
              <a:rPr sz="1400" b="0" i="0">
                <a:solidFill>
                  <a:srgbClr val="1F2433"/>
                </a:solidFill>
                <a:latin typeface="Arial"/>
              </a:rPr>
              <a:t>Definições: lacrimejamento, irritação ocular ou escala de sintomas do sistema ocular.</a:t>
            </a:r>
          </a:p>
          <a:p>
            <a:pPr algn="l" marL="274320" indent="-274320">
              <a:lnSpc>
                <a:spcPct val="100000"/>
              </a:lnSpc>
              <a:spcAft>
                <a:spcPts val="500"/>
              </a:spcAft>
              <a:buFont typeface="Arial"/>
              <a:buChar char="•"/>
            </a:pPr>
            <a:r>
              <a:rPr sz="1400" b="0" i="0">
                <a:solidFill>
                  <a:srgbClr val="1F2433"/>
                </a:solidFill>
                <a:latin typeface="Arial"/>
              </a:rPr>
              <a:t>Maior inquérito elegível (Van Giersbergen 2019, n = 672) não entrou: sem numerador/denominador ocular extraível.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png"/>
          <p:cNvPicPr>
            <a:picLocks noChangeAspect="1"/>
          </p:cNvPicPr>
          <p:nvPr/>
        </p:nvPicPr>
        <p:blipFill>
          <a:blip r:embed="rId4"/>
          <a:stretch>
            <a:fillRect/>
          </a:stretch>
        </p:blipFill>
        <p:spPr>
          <a:xfrm>
            <a:off x="1143000" y="1783080"/>
            <a:ext cx="9326880" cy="5339704"/>
          </a:xfrm>
          <a:prstGeom prst="rect">
            <a:avLst/>
          </a:prstGeom>
        </p:spPr>
      </p:pic>
      <p:sp>
        <p:nvSpPr>
          <p:cNvPr id="8" name="TextBox 7"/>
          <p:cNvSpPr txBox="1"/>
          <p:nvPr/>
        </p:nvSpPr>
        <p:spPr>
          <a:xfrm>
            <a:off x="1143000" y="7223760"/>
            <a:ext cx="932688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5A6270"/>
                </a:solidFill>
                <a:latin typeface="Arial"/>
              </a:rPr>
              <a:t>Figura 3. </a:t>
            </a:r>
            <a:r>
              <a:rPr sz="1300" b="0" i="0">
                <a:solidFill>
                  <a:srgbClr val="5A6270"/>
                </a:solidFill>
                <a:latin typeface="Arial"/>
              </a:rPr>
              <a:t>Sete amostras independentes (n = 1.428). Definições variam: tosse, ardência de garganta, irritação de vias aéreas superiores, escala por sistema.</a:t>
            </a:r>
          </a:p>
        </p:txBody>
      </p:sp>
      <p:sp>
        <p:nvSpPr>
          <p:cNvPr id="9" name="Rounded Rectangle 8"/>
          <p:cNvSpPr/>
          <p:nvPr/>
        </p:nvSpPr>
        <p:spPr>
          <a:xfrm>
            <a:off x="1143000" y="7772400"/>
            <a:ext cx="9326880" cy="196596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7836408"/>
            <a:ext cx="8778240" cy="1828800"/>
          </a:xfrm>
          <a:prstGeom prst="rect">
            <a:avLst/>
          </a:prstGeom>
          <a:noFill/>
        </p:spPr>
        <p:txBody>
          <a:bodyPr wrap="square" lIns="0" rIns="0" tIns="0" bIns="0" anchor="t">
            <a:noAutofit/>
          </a:bodyPr>
          <a:lstStyle/>
          <a:p>
            <a:pPr algn="l">
              <a:lnSpc>
                <a:spcPct val="100000"/>
              </a:lnSpc>
              <a:spcAft>
                <a:spcPts val="400"/>
              </a:spcAft>
              <a:buNone/>
            </a:pPr>
            <a:r>
              <a:rPr sz="1400" b="1" i="0">
                <a:solidFill>
                  <a:srgbClr val="002060"/>
                </a:solidFill>
                <a:latin typeface="Arial"/>
              </a:rPr>
              <a:t>Subgrupo por país (sintoma ocular; exploratório)</a:t>
            </a:r>
          </a:p>
          <a:p>
            <a:pPr algn="l">
              <a:lnSpc>
                <a:spcPct val="100000"/>
              </a:lnSpc>
              <a:spcAft>
                <a:spcPts val="300"/>
              </a:spcAft>
              <a:buNone/>
            </a:pPr>
            <a:r>
              <a:rPr sz="1400" b="1" i="0">
                <a:solidFill>
                  <a:srgbClr val="8B0000"/>
                </a:solidFill>
                <a:latin typeface="Arial"/>
              </a:rPr>
              <a:t>Turquia 50,5% </a:t>
            </a:r>
            <a:r>
              <a:rPr sz="1400" b="0" i="0">
                <a:solidFill>
                  <a:srgbClr val="1F2433"/>
                </a:solidFill>
                <a:latin typeface="Arial"/>
              </a:rPr>
              <a:t>(k = 3; n = 268; I² = 57%)   ·   </a:t>
            </a:r>
            <a:r>
              <a:rPr sz="1400" b="1" i="0">
                <a:solidFill>
                  <a:srgbClr val="8B0000"/>
                </a:solidFill>
                <a:latin typeface="Arial"/>
              </a:rPr>
              <a:t>Malásia 19,8% </a:t>
            </a:r>
            <a:r>
              <a:rPr sz="1400" b="0" i="0">
                <a:solidFill>
                  <a:srgbClr val="1F2433"/>
                </a:solidFill>
                <a:latin typeface="Arial"/>
              </a:rPr>
              <a:t>(k = 2; n = 333; I² = 0%)</a:t>
            </a:r>
          </a:p>
          <a:p>
            <a:pPr algn="l">
              <a:lnSpc>
                <a:spcPct val="100000"/>
              </a:lnSpc>
              <a:spcAft>
                <a:spcPts val="300"/>
              </a:spcAft>
              <a:buNone/>
            </a:pPr>
            <a:r>
              <a:rPr sz="1400" b="1" i="0">
                <a:solidFill>
                  <a:srgbClr val="1F2433"/>
                </a:solidFill>
                <a:latin typeface="Arial"/>
              </a:rPr>
              <a:t>Brasil 43,2% </a:t>
            </a:r>
            <a:r>
              <a:rPr sz="1400" b="0" i="0">
                <a:solidFill>
                  <a:srgbClr val="1F2433"/>
                </a:solidFill>
                <a:latin typeface="Arial"/>
              </a:rPr>
              <a:t>(k = 1; estrato descritivo)</a:t>
            </a:r>
          </a:p>
          <a:p>
            <a:pPr algn="l">
              <a:lnSpc>
                <a:spcPct val="100000"/>
              </a:lnSpc>
              <a:spcAft>
                <a:spcPts val="300"/>
              </a:spcAft>
              <a:buNone/>
            </a:pPr>
            <a:r>
              <a:rPr sz="1400" b="1" i="0">
                <a:solidFill>
                  <a:srgbClr val="1F2433"/>
                </a:solidFill>
                <a:latin typeface="Arial"/>
              </a:rPr>
              <a:t>Teste entre subgrupos p &lt; 0,001, mas: </a:t>
            </a:r>
            <a:r>
              <a:rPr sz="1400" b="0" i="0">
                <a:solidFill>
                  <a:srgbClr val="1F2433"/>
                </a:solidFill>
                <a:latin typeface="Arial"/>
              </a:rPr>
              <a:t>poucos estudos por país e um resumo de congresso no estrato da Malásia → gera hipótese (contexto, exaustão, EPI, forma de aferir), não prova moderação causal.</a:t>
            </a:r>
          </a:p>
        </p:txBody>
      </p:sp>
      <p:sp>
        <p:nvSpPr>
          <p:cNvPr id="11" name="Rounded Rectangle 10"/>
          <p:cNvSpPr/>
          <p:nvPr/>
        </p:nvSpPr>
        <p:spPr>
          <a:xfrm>
            <a:off x="10835640" y="1783080"/>
            <a:ext cx="6949440"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828800"/>
            <a:ext cx="6492240" cy="822960"/>
          </a:xfrm>
          <a:prstGeom prst="rect">
            <a:avLst/>
          </a:prstGeom>
          <a:noFill/>
        </p:spPr>
        <p:txBody>
          <a:bodyPr wrap="square" lIns="0" rIns="0" tIns="0" bIns="0" anchor="t">
            <a:noAutofit/>
          </a:bodyPr>
          <a:lstStyle/>
          <a:p>
            <a:pPr algn="l">
              <a:lnSpc>
                <a:spcPct val="95000"/>
              </a:lnSpc>
              <a:spcAft>
                <a:spcPts val="0"/>
              </a:spcAft>
              <a:buNone/>
            </a:pPr>
            <a:r>
              <a:rPr sz="5000" b="1" i="0">
                <a:solidFill>
                  <a:srgbClr val="8B0000"/>
                </a:solidFill>
                <a:latin typeface="Arial"/>
              </a:rPr>
              <a:t>41,7%</a:t>
            </a:r>
          </a:p>
        </p:txBody>
      </p:sp>
      <p:sp>
        <p:nvSpPr>
          <p:cNvPr id="13" name="TextBox 12"/>
          <p:cNvSpPr txBox="1"/>
          <p:nvPr/>
        </p:nvSpPr>
        <p:spPr>
          <a:xfrm>
            <a:off x="11064240" y="2670048"/>
            <a:ext cx="6492240" cy="457199"/>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92240" cy="73152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 – 53,9   ·   </a:t>
            </a:r>
            <a:r>
              <a:rPr sz="1500" b="1" i="0">
                <a:solidFill>
                  <a:srgbClr val="1F2433"/>
                </a:solidFill>
                <a:latin typeface="Arial"/>
              </a:rPr>
              <a:t>Intervalo de predição </a:t>
            </a:r>
            <a:r>
              <a:rPr sz="1500" b="0" i="0">
                <a:solidFill>
                  <a:srgbClr val="1F2433"/>
                </a:solidFill>
                <a:latin typeface="Arial"/>
              </a:rPr>
              <a:t>15 – 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835640" y="4114800"/>
            <a:ext cx="6949440"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835640" y="4526280"/>
          <a:ext cx="6949440" cy="2688336"/>
        </p:xfrm>
        <a:graphic>
          <a:graphicData uri="http://schemas.openxmlformats.org/drawingml/2006/table">
            <a:tbl>
              <a:tblPr firstRow="0" bandRow="0"/>
              <a:tblGrid>
                <a:gridCol w="3931920"/>
                <a:gridCol w="1417320"/>
                <a:gridCol w="1600200"/>
              </a:tblGrid>
              <a:tr h="384048">
                <a:tc>
                  <a:txBody>
                    <a:bodyPr wrap="square">
                      <a:noAutofit/>
                    </a:bodyPr>
                    <a:lstStyle/>
                    <a:p>
                      <a:pPr algn="l">
                        <a:lnSpc>
                          <a:spcPct val="100000"/>
                        </a:lnSpc>
                        <a:spcAft>
                          <a:spcPts val="0"/>
                        </a:spcAft>
                        <a:buNone/>
                      </a:pPr>
                      <a:r>
                        <a:rPr sz="1300" b="1" i="0">
                          <a:solidFill>
                            <a:srgbClr val="FFFFFF"/>
                          </a:solidFill>
                          <a:latin typeface="Arial"/>
                        </a:rPr>
                        <a:t>Análise</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300" b="1" i="0">
                          <a:solidFill>
                            <a:srgbClr val="FFFFFF"/>
                          </a:solidFill>
                          <a:latin typeface="Arial"/>
                        </a:rPr>
                        <a:t>Ocular</a:t>
                      </a:r>
                    </a:p>
                  </a:txBody>
                  <a:tcPr marL="91440" marR="91440" marT="36576" marB="36576" anchor="ctr">
                    <a:solidFill>
                      <a:srgbClr val="002060"/>
                    </a:solidFill>
                  </a:tcPr>
                </a:tc>
                <a:tc>
                  <a:txBody>
                    <a:bodyPr wrap="square">
                      <a:noAutofit/>
                    </a:bodyPr>
                    <a:lstStyle/>
                    <a:p>
                      <a:pPr algn="ctr">
                        <a:lnSpc>
                          <a:spcPct val="100000"/>
                        </a:lnSpc>
                        <a:spcAft>
                          <a:spcPts val="0"/>
                        </a:spcAft>
                        <a:buNone/>
                      </a:pPr>
                      <a:r>
                        <a:rPr sz="1300" b="1" i="0">
                          <a:solidFill>
                            <a:srgbClr val="FFFFFF"/>
                          </a:solidFill>
                          <a:latin typeface="Arial"/>
                        </a:rPr>
                        <a:t>Respiratório</a:t>
                      </a:r>
                    </a:p>
                  </a:txBody>
                  <a:tcPr marL="91440" marR="91440" marT="36576" marB="36576" anchor="ctr">
                    <a:solidFill>
                      <a:srgbClr val="002060"/>
                    </a:solidFill>
                  </a:tcPr>
                </a:tc>
              </a:tr>
              <a:tr h="384048">
                <a:tc>
                  <a:txBody>
                    <a:bodyPr wrap="square">
                      <a:noAutofit/>
                    </a:bodyPr>
                    <a:lstStyle/>
                    <a:p>
                      <a:pPr algn="l">
                        <a:lnSpc>
                          <a:spcPct val="100000"/>
                        </a:lnSpc>
                        <a:spcAft>
                          <a:spcPts val="0"/>
                        </a:spcAft>
                        <a:buNone/>
                      </a:pPr>
                      <a:r>
                        <a:rPr sz="1300" b="1" i="0">
                          <a:solidFill>
                            <a:srgbClr val="1F2433"/>
                          </a:solidFill>
                          <a:latin typeface="Arial"/>
                        </a:rPr>
                        <a:t>Logito + Hartung-Knapp (principal)</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1" i="0">
                          <a:solidFill>
                            <a:srgbClr val="1F2433"/>
                          </a:solidFill>
                          <a:latin typeface="Arial"/>
                        </a:rPr>
                        <a:t>37,6%</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1" i="0">
                          <a:solidFill>
                            <a:srgbClr val="1F2433"/>
                          </a:solidFill>
                          <a:latin typeface="Arial"/>
                        </a:rPr>
                        <a:t>41,7%</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Freeman-Tukey (DerSimonian-Laird)</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38,1%</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41,7%</a:t>
                      </a:r>
                    </a:p>
                  </a:txBody>
                  <a:tcPr marL="91440" marR="91440" marT="36576" marB="36576" anchor="ctr">
                    <a:solidFill>
                      <a:srgbClr val="F2F4F8"/>
                    </a:solidFill>
                  </a:tcPr>
                </a:tc>
              </a:tr>
              <a:tr h="384048">
                <a:tc>
                  <a:txBody>
                    <a:bodyPr wrap="square">
                      <a:noAutofit/>
                    </a:bodyPr>
                    <a:lstStyle/>
                    <a:p>
                      <a:pPr algn="l">
                        <a:lnSpc>
                          <a:spcPct val="100000"/>
                        </a:lnSpc>
                        <a:spcAft>
                          <a:spcPts val="0"/>
                        </a:spcAft>
                        <a:buNone/>
                      </a:pPr>
                      <a:r>
                        <a:rPr sz="1300" b="0" i="0">
                          <a:solidFill>
                            <a:srgbClr val="1F2433"/>
                          </a:solidFill>
                          <a:latin typeface="Arial"/>
                        </a:rPr>
                        <a:t>GLMM logístico (intercepto aleatório)</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37,5%</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42,0%</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Leave-one-out (faixa)</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34,3–42,1%</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38,9–45,5%</a:t>
                      </a:r>
                    </a:p>
                  </a:txBody>
                  <a:tcPr marL="91440" marR="91440" marT="36576" marB="36576" anchor="ctr">
                    <a:solidFill>
                      <a:srgbClr val="F2F4F8"/>
                    </a:solidFill>
                  </a:tcPr>
                </a:tc>
              </a:tr>
              <a:tr h="384048">
                <a:tc>
                  <a:txBody>
                    <a:bodyPr wrap="square">
                      <a:noAutofit/>
                    </a:bodyPr>
                    <a:lstStyle/>
                    <a:p>
                      <a:pPr algn="l">
                        <a:lnSpc>
                          <a:spcPct val="100000"/>
                        </a:lnSpc>
                        <a:spcAft>
                          <a:spcPts val="0"/>
                        </a:spcAft>
                        <a:buNone/>
                      </a:pPr>
                      <a:r>
                        <a:rPr sz="1300" b="0" i="0">
                          <a:solidFill>
                            <a:srgbClr val="1F2433"/>
                          </a:solidFill>
                          <a:latin typeface="Arial"/>
                        </a:rPr>
                        <a:t>Sem o resumo de congresso</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42,1%</a:t>
                      </a:r>
                    </a:p>
                  </a:txBody>
                  <a:tcPr marL="91440" marR="91440" marT="36576" marB="36576" anchor="ctr">
                    <a:solidFill>
                      <a:srgbClr val="FFFFFF"/>
                    </a:solidFill>
                  </a:tcPr>
                </a:tc>
                <a:tc>
                  <a:txBody>
                    <a:bodyPr wrap="square">
                      <a:noAutofit/>
                    </a:bodyPr>
                    <a:lstStyle/>
                    <a:p>
                      <a:pPr algn="ctr">
                        <a:lnSpc>
                          <a:spcPct val="100000"/>
                        </a:lnSpc>
                        <a:spcAft>
                          <a:spcPts val="0"/>
                        </a:spcAft>
                        <a:buNone/>
                      </a:pPr>
                      <a:r>
                        <a:rPr sz="1300" b="0" i="0">
                          <a:solidFill>
                            <a:srgbClr val="1F2433"/>
                          </a:solidFill>
                          <a:latin typeface="Arial"/>
                        </a:rPr>
                        <a:t>42,4%</a:t>
                      </a:r>
                    </a:p>
                  </a:txBody>
                  <a:tcPr marL="91440" marR="91440" marT="36576" marB="36576" anchor="ctr">
                    <a:solidFill>
                      <a:srgbClr val="FFFFFF"/>
                    </a:solidFill>
                  </a:tcPr>
                </a:tc>
              </a:tr>
              <a:tr h="384048">
                <a:tc>
                  <a:txBody>
                    <a:bodyPr wrap="square">
                      <a:noAutofit/>
                    </a:bodyPr>
                    <a:lstStyle/>
                    <a:p>
                      <a:pPr algn="l">
                        <a:lnSpc>
                          <a:spcPct val="100000"/>
                        </a:lnSpc>
                        <a:spcAft>
                          <a:spcPts val="0"/>
                        </a:spcAft>
                        <a:buNone/>
                      </a:pPr>
                      <a:r>
                        <a:rPr sz="1300" b="0" i="0">
                          <a:solidFill>
                            <a:srgbClr val="1F2433"/>
                          </a:solidFill>
                          <a:latin typeface="Arial"/>
                        </a:rPr>
                        <a:t>Só definições específicas</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36,5% (I² 94%)</a:t>
                      </a:r>
                    </a:p>
                  </a:txBody>
                  <a:tcPr marL="91440" marR="91440" marT="36576" marB="36576" anchor="ctr">
                    <a:solidFill>
                      <a:srgbClr val="F2F4F8"/>
                    </a:solidFill>
                  </a:tcPr>
                </a:tc>
                <a:tc>
                  <a:txBody>
                    <a:bodyPr wrap="square">
                      <a:noAutofit/>
                    </a:bodyPr>
                    <a:lstStyle/>
                    <a:p>
                      <a:pPr algn="ctr">
                        <a:lnSpc>
                          <a:spcPct val="100000"/>
                        </a:lnSpc>
                        <a:spcAft>
                          <a:spcPts val="0"/>
                        </a:spcAft>
                        <a:buNone/>
                      </a:pPr>
                      <a:r>
                        <a:rPr sz="1300" b="0" i="0">
                          <a:solidFill>
                            <a:srgbClr val="1F2433"/>
                          </a:solidFill>
                          <a:latin typeface="Arial"/>
                        </a:rPr>
                        <a:t>35,8% (I² 61%)</a:t>
                      </a:r>
                    </a:p>
                  </a:txBody>
                  <a:tcPr marL="91440" marR="91440" marT="36576" marB="36576" anchor="ctr">
                    <a:solidFill>
                      <a:srgbClr val="F2F4F8"/>
                    </a:solidFill>
                  </a:tcPr>
                </a:tc>
              </a:tr>
            </a:tbl>
          </a:graphicData>
        </a:graphic>
      </p:graphicFrame>
      <p:sp>
        <p:nvSpPr>
          <p:cNvPr id="17" name="TextBox 16"/>
          <p:cNvSpPr txBox="1"/>
          <p:nvPr/>
        </p:nvSpPr>
        <p:spPr>
          <a:xfrm>
            <a:off x="10835640" y="7269480"/>
            <a:ext cx="6949440" cy="457200"/>
          </a:xfrm>
          <a:prstGeom prst="rect">
            <a:avLst/>
          </a:prstGeom>
          <a:noFill/>
        </p:spPr>
        <p:txBody>
          <a:bodyPr wrap="square" lIns="0" rIns="0" tIns="0" bIns="0" anchor="t">
            <a:noAutofit/>
          </a:bodyPr>
          <a:lstStyle/>
          <a:p>
            <a:pPr algn="l">
              <a:lnSpc>
                <a:spcPct val="100000"/>
              </a:lnSpc>
              <a:spcAft>
                <a:spcPts val="0"/>
              </a:spcAft>
              <a:buNone/>
            </a:pPr>
            <a:r>
              <a:rPr sz="1300" b="1" i="0">
                <a:solidFill>
                  <a:srgbClr val="1F2433"/>
                </a:solidFill>
                <a:latin typeface="Arial"/>
              </a:rPr>
              <a:t>Sem o estudo de definição mais divergente (Van Giersbergen 2019): </a:t>
            </a:r>
            <a:r>
              <a:rPr sz="1300" b="0" i="0">
                <a:solidFill>
                  <a:srgbClr val="1F2433"/>
                </a:solidFill>
                <a:latin typeface="Arial"/>
              </a:rPr>
              <a:t>38,9%, sem mudar a conclusão.</a:t>
            </a:r>
          </a:p>
        </p:txBody>
      </p:sp>
      <p:sp>
        <p:nvSpPr>
          <p:cNvPr id="18" name="Rounded Rectangle 17"/>
          <p:cNvSpPr/>
          <p:nvPr/>
        </p:nvSpPr>
        <p:spPr>
          <a:xfrm>
            <a:off x="10835640" y="7772400"/>
            <a:ext cx="6949440" cy="1965960"/>
          </a:xfrm>
          <a:prstGeom prst="roundRect">
            <a:avLst>
              <a:gd name="adj" fmla="val 6000"/>
            </a:avLst>
          </a:prstGeom>
          <a:solidFill>
            <a:srgbClr val="FBF5E3"/>
          </a:solidFill>
          <a:ln>
            <a:noFill/>
          </a:ln>
          <a:effectLst/>
        </p:spPr>
        <p:txBody>
          <a:bodyPr rtlCol="0" anchor="ctr"/>
          <a:lstStyle/>
          <a:p/>
        </p:txBody>
      </p:sp>
      <p:sp>
        <p:nvSpPr>
          <p:cNvPr id="19" name="Oval 18"/>
          <p:cNvSpPr/>
          <p:nvPr/>
        </p:nvSpPr>
        <p:spPr>
          <a:xfrm>
            <a:off x="11018519" y="7955279"/>
            <a:ext cx="731520" cy="731520"/>
          </a:xfrm>
          <a:prstGeom prst="ellipse">
            <a:avLst/>
          </a:prstGeom>
          <a:solidFill>
            <a:srgbClr val="002060"/>
          </a:solidFill>
          <a:ln>
            <a:noFill/>
          </a:ln>
          <a:effectLst/>
        </p:spPr>
        <p:txBody>
          <a:bodyPr rtlCol="0" anchor="ctr" lIns="0" rIns="0" tIns="0" bIns="0"/>
          <a:lstStyle/>
          <a:p/>
        </p:txBody>
      </p:sp>
      <p:pic>
        <p:nvPicPr>
          <p:cNvPr id="20" name="icone lightbulb" descr="lightbulb_white.png"/>
          <p:cNvPicPr>
            <a:picLocks noChangeAspect="1"/>
          </p:cNvPicPr>
          <p:nvPr/>
        </p:nvPicPr>
        <p:blipFill>
          <a:blip r:embed="rId5"/>
          <a:stretch>
            <a:fillRect/>
          </a:stretch>
        </p:blipFill>
        <p:spPr>
          <a:xfrm>
            <a:off x="11201400" y="8138160"/>
            <a:ext cx="365760" cy="365760"/>
          </a:xfrm>
          <a:prstGeom prst="rect">
            <a:avLst/>
          </a:prstGeom>
        </p:spPr>
      </p:pic>
      <p:sp>
        <p:nvSpPr>
          <p:cNvPr id="21" name="TextBox 20"/>
          <p:cNvSpPr txBox="1"/>
          <p:nvPr/>
        </p:nvSpPr>
        <p:spPr>
          <a:xfrm>
            <a:off x="11978640" y="7955279"/>
            <a:ext cx="562355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O que a sensibilidade ensina</a:t>
            </a:r>
          </a:p>
        </p:txBody>
      </p:sp>
      <p:sp>
        <p:nvSpPr>
          <p:cNvPr id="22" name="TextBox 21"/>
          <p:cNvSpPr txBox="1"/>
          <p:nvPr/>
        </p:nvSpPr>
        <p:spPr>
          <a:xfrm>
            <a:off x="11018519" y="8823959"/>
            <a:ext cx="6583679" cy="768096"/>
          </a:xfrm>
          <a:prstGeom prst="rect">
            <a:avLst/>
          </a:prstGeom>
          <a:noFill/>
        </p:spPr>
        <p:txBody>
          <a:bodyPr wrap="square" lIns="0" rIns="0" tIns="0" bIns="0" anchor="t">
            <a:noAutofit/>
          </a:bodyPr>
          <a:lstStyle/>
          <a:p>
            <a:pPr algn="l" marL="274320" indent="-274320">
              <a:lnSpc>
                <a:spcPct val="100000"/>
              </a:lnSpc>
              <a:spcAft>
                <a:spcPts val="500"/>
              </a:spcAft>
              <a:buFont typeface="Arial"/>
              <a:buChar char="•"/>
            </a:pPr>
            <a:r>
              <a:rPr sz="1400" b="0" i="0">
                <a:solidFill>
                  <a:srgbClr val="1F2433"/>
                </a:solidFill>
                <a:latin typeface="Arial"/>
              </a:rPr>
              <a:t>Restringir a definições específicas reduziu o I² respiratório de 91% para 61%: a definição do desfecho explica parte relevante da heterogeneidade.</a:t>
            </a:r>
          </a:p>
          <a:p>
            <a:pPr algn="l" marL="274320" indent="-274320">
              <a:lnSpc>
                <a:spcPct val="100000"/>
              </a:lnSpc>
              <a:spcAft>
                <a:spcPts val="500"/>
              </a:spcAft>
              <a:buFont typeface="Arial"/>
              <a:buChar char="•"/>
            </a:pPr>
            <a:r>
              <a:rPr sz="1400" b="0" i="0">
                <a:solidFill>
                  <a:srgbClr val="1F2433"/>
                </a:solidFill>
                <a:latin typeface="Arial"/>
              </a:rPr>
              <a:t>No ocular, a heterogeneidade não depende de um único estudo (Baujat: Mohd Fikri Rosely 2022 é o mais influente).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69748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371600" y="196596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554480" y="2148839"/>
            <a:ext cx="365760" cy="365760"/>
          </a:xfrm>
          <a:prstGeom prst="rect">
            <a:avLst/>
          </a:prstGeom>
        </p:spPr>
      </p:pic>
      <p:sp>
        <p:nvSpPr>
          <p:cNvPr id="10" name="TextBox 9"/>
          <p:cNvSpPr txBox="1"/>
          <p:nvPr/>
        </p:nvSpPr>
        <p:spPr>
          <a:xfrm>
            <a:off x="2286000" y="192024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286000" y="231343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Ibrahim et al., 2025 · Sudão · 92 expostos vs 92 não expostos pareados</a:t>
            </a:r>
          </a:p>
        </p:txBody>
      </p:sp>
      <p:sp>
        <p:nvSpPr>
          <p:cNvPr id="12" name="TextBox 11"/>
          <p:cNvSpPr txBox="1"/>
          <p:nvPr/>
        </p:nvSpPr>
        <p:spPr>
          <a:xfrm>
            <a:off x="1417320" y="277063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VEF1 2,78 vs 3,14 L · CVF 3,02 vs 3,45 L · PFE 327,5 vs 483,5 L/min </a:t>
            </a:r>
            <a:r>
              <a:rPr sz="1500" b="0" i="0">
                <a:solidFill>
                  <a:srgbClr val="1F2433"/>
                </a:solidFill>
                <a:latin typeface="Arial"/>
              </a:rPr>
              <a:t>(p = 0,001, Mann-Whitney)</a:t>
            </a:r>
          </a:p>
          <a:p>
            <a:pPr algn="l" marL="274320" indent="-274320">
              <a:lnSpc>
                <a:spcPct val="100000"/>
              </a:lnSpc>
              <a:spcAft>
                <a:spcPts val="500"/>
              </a:spcAft>
              <a:buClr>
                <a:srgbClr val="002060"/>
              </a:buClr>
              <a:buFont typeface="Arial"/>
              <a:buChar char="•"/>
            </a:pPr>
            <a:r>
              <a:rPr sz="1500" b="0" i="0">
                <a:solidFill>
                  <a:srgbClr val="1F2433"/>
                </a:solidFill>
                <a:latin typeface="Arial"/>
              </a:rPr>
              <a:t>Mais tempo em centro cirúrgico → menores valores (ajuste por idade e IMC).</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VEF1/CVF ≈ 91% nos dois grupos (não obstrutivo); PFE depende do esforço; manobras de qualidade B/C em 44 de 184.</a:t>
            </a:r>
          </a:p>
        </p:txBody>
      </p:sp>
      <p:sp>
        <p:nvSpPr>
          <p:cNvPr id="13" name="Rounded Rectangle 12"/>
          <p:cNvSpPr/>
          <p:nvPr/>
        </p:nvSpPr>
        <p:spPr>
          <a:xfrm>
            <a:off x="9601200" y="1783080"/>
            <a:ext cx="8183879" cy="269748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829800" y="196596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012680" y="2148839"/>
            <a:ext cx="365760" cy="365760"/>
          </a:xfrm>
          <a:prstGeom prst="rect">
            <a:avLst/>
          </a:prstGeom>
        </p:spPr>
      </p:pic>
      <p:sp>
        <p:nvSpPr>
          <p:cNvPr id="16" name="TextBox 15"/>
          <p:cNvSpPr txBox="1"/>
          <p:nvPr/>
        </p:nvSpPr>
        <p:spPr>
          <a:xfrm>
            <a:off x="10744200" y="192024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744200" y="231343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Canicoba, 2025 · Brasil · 52 expostos vs 49 controles</a:t>
            </a:r>
          </a:p>
        </p:txBody>
      </p:sp>
      <p:sp>
        <p:nvSpPr>
          <p:cNvPr id="18" name="TextBox 17"/>
          <p:cNvSpPr txBox="1"/>
          <p:nvPr/>
        </p:nvSpPr>
        <p:spPr>
          <a:xfrm>
            <a:off x="9875520" y="277063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Ác. trans,trans-mucônico 202,9 vs 46,1 µg/L </a:t>
            </a:r>
            <a:r>
              <a:rPr sz="1500" b="0" i="0">
                <a:solidFill>
                  <a:srgbClr val="1F2433"/>
                </a:solidFill>
                <a:latin typeface="Arial"/>
              </a:rPr>
              <a:t>(metabólito do benzeno)</a:t>
            </a:r>
          </a:p>
          <a:p>
            <a:pPr algn="l" marL="274320" indent="-274320">
              <a:lnSpc>
                <a:spcPct val="100000"/>
              </a:lnSpc>
              <a:spcAft>
                <a:spcPts val="500"/>
              </a:spcAft>
              <a:buClr>
                <a:srgbClr val="002060"/>
              </a:buClr>
              <a:buFont typeface="Arial"/>
              <a:buChar char="•"/>
            </a:pPr>
            <a:r>
              <a:rPr sz="1500" b="1" i="0">
                <a:solidFill>
                  <a:srgbClr val="1F2433"/>
                </a:solidFill>
                <a:latin typeface="Arial"/>
              </a:rPr>
              <a:t>Ác. metil-hipúrico 468,2 vs 184,4 µg/L </a:t>
            </a:r>
            <a:r>
              <a:rPr sz="1500" b="0" i="0">
                <a:solidFill>
                  <a:srgbClr val="1F2433"/>
                </a:solidFill>
                <a:latin typeface="Arial"/>
              </a:rPr>
              <a:t>(xileno) · </a:t>
            </a:r>
            <a:r>
              <a:rPr sz="1500" b="1" i="0">
                <a:solidFill>
                  <a:srgbClr val="1F2433"/>
                </a:solidFill>
                <a:latin typeface="Arial"/>
              </a:rPr>
              <a:t>malondialdeído 9,33 vs 3,22 nmol/mg </a:t>
            </a:r>
            <a:r>
              <a:rPr sz="1500" b="0" i="0">
                <a:solidFill>
                  <a:srgbClr val="1F2433"/>
                </a:solidFill>
                <a:latin typeface="Arial"/>
              </a:rPr>
              <a:t>(estresse oxidativo); todos p &lt; 0,001</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sem IC95%; t,t-mucônico não é específico (ácido sórbico, tabagismo).</a:t>
            </a:r>
          </a:p>
        </p:txBody>
      </p:sp>
      <p:sp>
        <p:nvSpPr>
          <p:cNvPr id="19" name="Rounded Rectangle 18"/>
          <p:cNvSpPr/>
          <p:nvPr/>
        </p:nvSpPr>
        <p:spPr>
          <a:xfrm>
            <a:off x="1143000" y="4709160"/>
            <a:ext cx="8183879" cy="269748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371600" y="48920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54480" y="5074920"/>
            <a:ext cx="365760" cy="365760"/>
          </a:xfrm>
          <a:prstGeom prst="rect">
            <a:avLst/>
          </a:prstGeom>
        </p:spPr>
      </p:pic>
      <p:sp>
        <p:nvSpPr>
          <p:cNvPr id="22" name="TextBox 21"/>
          <p:cNvSpPr txBox="1"/>
          <p:nvPr/>
        </p:nvSpPr>
        <p:spPr>
          <a:xfrm>
            <a:off x="2286000" y="484632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286000" y="523951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Navarro et al., 2016 · México · coorte de 4 anos · 23 vs 20 residentes</a:t>
            </a:r>
          </a:p>
        </p:txBody>
      </p:sp>
      <p:sp>
        <p:nvSpPr>
          <p:cNvPr id="24" name="TextBox 23"/>
          <p:cNvSpPr txBox="1"/>
          <p:nvPr/>
        </p:nvSpPr>
        <p:spPr>
          <a:xfrm>
            <a:off x="1417320" y="569671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Metaplasia ou hiperplasia: 70% (16/23) vs 5% (1/20)</a:t>
            </a:r>
          </a:p>
          <a:p>
            <a:pPr algn="l" marL="274320" indent="-274320">
              <a:lnSpc>
                <a:spcPct val="100000"/>
              </a:lnSpc>
              <a:spcAft>
                <a:spcPts val="500"/>
              </a:spcAft>
              <a:buClr>
                <a:srgbClr val="002060"/>
              </a:buClr>
              <a:buFont typeface="Arial"/>
              <a:buChar char="•"/>
            </a:pPr>
            <a:r>
              <a:rPr sz="1500" b="1" i="0">
                <a:solidFill>
                  <a:srgbClr val="8B0000"/>
                </a:solidFill>
                <a:latin typeface="Arial"/>
              </a:rPr>
              <a:t>RR 13,9 (IC95% 2,0 – 95,8)</a:t>
            </a:r>
            <a:r>
              <a:rPr sz="1500" b="0" i="0">
                <a:solidFill>
                  <a:srgbClr val="1F2433"/>
                </a:solidFill>
                <a:latin typeface="Arial"/>
              </a:rPr>
              <a:t> · IC amplo: 1 evento no grupo não exposto</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resposta inespecífica da mucosa a irritantes inalados; exposição por proxy.</a:t>
            </a:r>
          </a:p>
        </p:txBody>
      </p:sp>
      <p:sp>
        <p:nvSpPr>
          <p:cNvPr id="25" name="Rounded Rectangle 24"/>
          <p:cNvSpPr/>
          <p:nvPr/>
        </p:nvSpPr>
        <p:spPr>
          <a:xfrm>
            <a:off x="9601200" y="4709160"/>
            <a:ext cx="8183879" cy="269748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829800" y="48920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012680" y="5074920"/>
            <a:ext cx="365760" cy="365760"/>
          </a:xfrm>
          <a:prstGeom prst="rect">
            <a:avLst/>
          </a:prstGeom>
        </p:spPr>
      </p:pic>
      <p:sp>
        <p:nvSpPr>
          <p:cNvPr id="28" name="TextBox 27"/>
          <p:cNvSpPr txBox="1"/>
          <p:nvPr/>
        </p:nvSpPr>
        <p:spPr>
          <a:xfrm>
            <a:off x="10744200" y="4846320"/>
            <a:ext cx="685799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744200" y="5239512"/>
            <a:ext cx="6857999" cy="36576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Hu et al., 2021 · China · 700 ginecologistas</a:t>
            </a:r>
          </a:p>
        </p:txBody>
      </p:sp>
      <p:sp>
        <p:nvSpPr>
          <p:cNvPr id="30" name="TextBox 29"/>
          <p:cNvSpPr txBox="1"/>
          <p:nvPr/>
        </p:nvSpPr>
        <p:spPr>
          <a:xfrm>
            <a:off x="9875520" y="5696712"/>
            <a:ext cx="7635240" cy="1600200"/>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500" b="1" i="0">
                <a:solidFill>
                  <a:srgbClr val="1F2433"/>
                </a:solidFill>
                <a:latin typeface="Arial"/>
              </a:rPr>
              <a:t>8,96% (42/469) com eletrocirurgia vs 1,73% (4/231) sem</a:t>
            </a:r>
          </a:p>
          <a:p>
            <a:pPr algn="l" marL="274320" indent="-274320">
              <a:lnSpc>
                <a:spcPct val="100000"/>
              </a:lnSpc>
              <a:spcAft>
                <a:spcPts val="500"/>
              </a:spcAft>
              <a:buClr>
                <a:srgbClr val="002060"/>
              </a:buClr>
              <a:buFont typeface="Arial"/>
              <a:buChar char="•"/>
            </a:pPr>
            <a:r>
              <a:rPr sz="1500" b="1" i="0">
                <a:solidFill>
                  <a:srgbClr val="8B0000"/>
                </a:solidFill>
                <a:latin typeface="Arial"/>
              </a:rPr>
              <a:t>RR 5,2 (IC95% 1,9 – 14,2)</a:t>
            </a:r>
            <a:r>
              <a:rPr sz="15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500" b="1" i="0">
                <a:solidFill>
                  <a:srgbClr val="8B0000"/>
                </a:solidFill>
                <a:latin typeface="Arial"/>
              </a:rPr>
              <a:t>Cautela: </a:t>
            </a:r>
            <a:r>
              <a:rPr sz="1500" b="0" i="0">
                <a:solidFill>
                  <a:srgbClr val="1F2433"/>
                </a:solidFill>
                <a:latin typeface="Arial"/>
              </a:rPr>
              <a:t>detecção de DNA ≠ infecção ou doença; 0/196 com N95 vs 13,98% com máscara comum é comparação de subgrupo sem ajuste.</a:t>
            </a:r>
          </a:p>
        </p:txBody>
      </p:sp>
      <p:sp>
        <p:nvSpPr>
          <p:cNvPr id="31" name="Rounded Rectangle 30"/>
          <p:cNvSpPr/>
          <p:nvPr/>
        </p:nvSpPr>
        <p:spPr>
          <a:xfrm>
            <a:off x="1143000" y="7680960"/>
            <a:ext cx="16642080" cy="1691640"/>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17320" y="7818120"/>
            <a:ext cx="5120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17320" y="8275320"/>
            <a:ext cx="5120640" cy="1005840"/>
          </a:xfrm>
          <a:prstGeom prst="rect">
            <a:avLst/>
          </a:prstGeom>
          <a:noFill/>
        </p:spPr>
        <p:txBody>
          <a:bodyPr wrap="square" lIns="0" rIns="0" tIns="0" bIns="0" anchor="t">
            <a:noAutofit/>
          </a:bodyPr>
          <a:lstStyle/>
          <a:p>
            <a:pPr algn="l">
              <a:lnSpc>
                <a:spcPct val="100000"/>
              </a:lnSpc>
              <a:spcAft>
                <a:spcPts val="0"/>
              </a:spcAft>
              <a:buNone/>
            </a:pPr>
            <a:r>
              <a:rPr sz="1500" b="0" i="0">
                <a:solidFill>
                  <a:srgbClr val="FFFFFF"/>
                </a:solidFill>
                <a:latin typeface="Arial"/>
              </a:rPr>
              <a:t>em todos os desfechos (GRADE); medidas comparativas não combinadas (desenhos e desfechos heterogêneos).</a:t>
            </a:r>
          </a:p>
        </p:txBody>
      </p:sp>
      <p:sp>
        <p:nvSpPr>
          <p:cNvPr id="34" name="TextBox 33"/>
          <p:cNvSpPr txBox="1"/>
          <p:nvPr/>
        </p:nvSpPr>
        <p:spPr>
          <a:xfrm>
            <a:off x="6583680" y="7818120"/>
            <a:ext cx="5120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sobre câncer ou DPOC</a:t>
            </a:r>
          </a:p>
        </p:txBody>
      </p:sp>
      <p:sp>
        <p:nvSpPr>
          <p:cNvPr id="35" name="TextBox 34"/>
          <p:cNvSpPr txBox="1"/>
          <p:nvPr/>
        </p:nvSpPr>
        <p:spPr>
          <a:xfrm>
            <a:off x="6583680" y="8275320"/>
            <a:ext cx="5120640" cy="1005840"/>
          </a:xfrm>
          <a:prstGeom prst="rect">
            <a:avLst/>
          </a:prstGeom>
          <a:noFill/>
        </p:spPr>
        <p:txBody>
          <a:bodyPr wrap="square" lIns="0" rIns="0" tIns="0" bIns="0" anchor="t">
            <a:noAutofit/>
          </a:bodyPr>
          <a:lstStyle/>
          <a:p>
            <a:pPr algn="l">
              <a:lnSpc>
                <a:spcPct val="100000"/>
              </a:lnSpc>
              <a:spcAft>
                <a:spcPts val="0"/>
              </a:spcAft>
              <a:buNone/>
            </a:pPr>
            <a:r>
              <a:rPr sz="1500" b="0" i="0">
                <a:solidFill>
                  <a:srgbClr val="FFFFFF"/>
                </a:solidFill>
                <a:latin typeface="Arial"/>
              </a:rPr>
              <a:t>vazio de evidência: ausência de estudos ≠ ausência de risco.</a:t>
            </a:r>
          </a:p>
        </p:txBody>
      </p:sp>
      <p:sp>
        <p:nvSpPr>
          <p:cNvPr id="36" name="TextBox 35"/>
          <p:cNvSpPr txBox="1"/>
          <p:nvPr/>
        </p:nvSpPr>
        <p:spPr>
          <a:xfrm>
            <a:off x="11978640" y="7818120"/>
            <a:ext cx="566928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1978640" y="8275320"/>
            <a:ext cx="5669280" cy="1005840"/>
          </a:xfrm>
          <a:prstGeom prst="rect">
            <a:avLst/>
          </a:prstGeom>
          <a:noFill/>
        </p:spPr>
        <p:txBody>
          <a:bodyPr wrap="square" lIns="0" rIns="0" tIns="0" bIns="0" anchor="t">
            <a:noAutofit/>
          </a:bodyPr>
          <a:lstStyle/>
          <a:p>
            <a:pPr algn="l">
              <a:lnSpc>
                <a:spcPct val="100000"/>
              </a:lnSpc>
              <a:spcAft>
                <a:spcPts val="0"/>
              </a:spcAft>
              <a:buNone/>
            </a:pPr>
            <a:r>
              <a:rPr sz="1500" b="0" i="0">
                <a:solidFill>
                  <a:srgbClr val="FFFFFF"/>
                </a:solidFill>
                <a:latin typeface="Arial"/>
              </a:rPr>
              <a:t>coexposições (gases anestésicos, radiação), 1 estudo por desfecho e IC amplos: marcadores de exposição/efeito, não doença crônica atribuível.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os achados significam e como interpretá-los com cautela</a:t>
            </a:r>
          </a:p>
        </p:txBody>
      </p:sp>
      <p:sp>
        <p:nvSpPr>
          <p:cNvPr id="7" name="Rounded Rectangle 6"/>
          <p:cNvSpPr/>
          <p:nvPr/>
        </p:nvSpPr>
        <p:spPr>
          <a:xfrm>
            <a:off x="1143000" y="1783080"/>
            <a:ext cx="5367528" cy="489204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17320" y="2057400"/>
            <a:ext cx="731520" cy="731520"/>
          </a:xfrm>
          <a:prstGeom prst="ellipse">
            <a:avLst/>
          </a:prstGeom>
          <a:solidFill>
            <a:srgbClr val="002060"/>
          </a:solidFill>
          <a:ln>
            <a:noFill/>
          </a:ln>
          <a:effectLst/>
        </p:spPr>
        <p:txBody>
          <a:bodyPr rtlCol="0" anchor="ctr" lIns="0" rIns="0" tIns="0" bIns="0"/>
          <a:lstStyle/>
          <a:p/>
        </p:txBody>
      </p:sp>
      <p:pic>
        <p:nvPicPr>
          <p:cNvPr id="9" name="icone chart" descr="chart_white.png"/>
          <p:cNvPicPr>
            <a:picLocks noChangeAspect="1"/>
          </p:cNvPicPr>
          <p:nvPr/>
        </p:nvPicPr>
        <p:blipFill>
          <a:blip r:embed="rId4"/>
          <a:stretch>
            <a:fillRect/>
          </a:stretch>
        </p:blipFill>
        <p:spPr>
          <a:xfrm>
            <a:off x="1600200" y="2240279"/>
            <a:ext cx="365760" cy="365760"/>
          </a:xfrm>
          <a:prstGeom prst="rect">
            <a:avLst/>
          </a:prstGeom>
        </p:spPr>
      </p:pic>
      <p:sp>
        <p:nvSpPr>
          <p:cNvPr id="10" name="TextBox 9"/>
          <p:cNvSpPr txBox="1"/>
          <p:nvPr/>
        </p:nvSpPr>
        <p:spPr>
          <a:xfrm>
            <a:off x="2377440" y="2057400"/>
            <a:ext cx="3858768"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Carga de sintomas</a:t>
            </a:r>
          </a:p>
        </p:txBody>
      </p:sp>
      <p:sp>
        <p:nvSpPr>
          <p:cNvPr id="11" name="TextBox 10"/>
          <p:cNvSpPr txBox="1"/>
          <p:nvPr/>
        </p:nvSpPr>
        <p:spPr>
          <a:xfrm>
            <a:off x="1417320"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0" i="0">
                <a:solidFill>
                  <a:srgbClr val="1F2433"/>
                </a:solidFill>
                <a:latin typeface="Arial"/>
              </a:rPr>
              <a:t>Sintomas frequentes: ocular 37,6%, respiratório 41,7%, qualquer sintoma entre 55,6% e 73,2%.</a:t>
            </a:r>
          </a:p>
          <a:p>
            <a:pPr algn="l" marL="274320" indent="-274320">
              <a:lnSpc>
                <a:spcPct val="100000"/>
              </a:lnSpc>
              <a:spcAft>
                <a:spcPts val="900"/>
              </a:spcAft>
              <a:buFont typeface="Arial"/>
              <a:buChar char="•"/>
            </a:pPr>
            <a:r>
              <a:rPr sz="1700" b="0" i="0">
                <a:solidFill>
                  <a:srgbClr val="1F2433"/>
                </a:solidFill>
                <a:latin typeface="Arial"/>
              </a:rPr>
              <a:t>Coerente com a literatura prévia, que era transversal e sem síntese quantitativa (Mowbray 2013; Dixon 2023).</a:t>
            </a:r>
          </a:p>
          <a:p>
            <a:pPr algn="l" marL="274320" indent="-274320">
              <a:lnSpc>
                <a:spcPct val="100000"/>
              </a:lnSpc>
              <a:spcAft>
                <a:spcPts val="900"/>
              </a:spcAft>
              <a:buFont typeface="Arial"/>
              <a:buChar char="•"/>
            </a:pPr>
            <a:r>
              <a:rPr sz="1700" b="1" i="0">
                <a:solidFill>
                  <a:srgbClr val="1F2433"/>
                </a:solidFill>
                <a:latin typeface="Arial"/>
              </a:rPr>
              <a:t>Contribuição: </a:t>
            </a:r>
            <a:r>
              <a:rPr sz="1700" b="0" i="0">
                <a:solidFill>
                  <a:srgbClr val="1F2433"/>
                </a:solidFill>
                <a:latin typeface="Arial"/>
              </a:rPr>
              <a:t>primeira estimativa combinada com intervalo de predição, subgrupo por país e GRADE para este corpo de literatura.</a:t>
            </a:r>
          </a:p>
        </p:txBody>
      </p:sp>
      <p:sp>
        <p:nvSpPr>
          <p:cNvPr id="12" name="Rounded Rectangle 11"/>
          <p:cNvSpPr/>
          <p:nvPr/>
        </p:nvSpPr>
        <p:spPr>
          <a:xfrm>
            <a:off x="6784848" y="1783080"/>
            <a:ext cx="5367528" cy="4892040"/>
          </a:xfrm>
          <a:prstGeom prst="roundRect">
            <a:avLst>
              <a:gd name="adj" fmla="val 6000"/>
            </a:avLst>
          </a:prstGeom>
          <a:solidFill>
            <a:srgbClr val="F2F4F8"/>
          </a:solidFill>
          <a:ln>
            <a:noFill/>
          </a:ln>
          <a:effectLst/>
        </p:spPr>
        <p:txBody>
          <a:bodyPr rtlCol="0" anchor="ctr"/>
          <a:lstStyle/>
          <a:p/>
        </p:txBody>
      </p:sp>
      <p:sp>
        <p:nvSpPr>
          <p:cNvPr id="13" name="Oval 12"/>
          <p:cNvSpPr/>
          <p:nvPr/>
        </p:nvSpPr>
        <p:spPr>
          <a:xfrm>
            <a:off x="7059167" y="2057400"/>
            <a:ext cx="731520" cy="731520"/>
          </a:xfrm>
          <a:prstGeom prst="ellipse">
            <a:avLst/>
          </a:prstGeom>
          <a:solidFill>
            <a:srgbClr val="002060"/>
          </a:solidFill>
          <a:ln>
            <a:noFill/>
          </a:ln>
          <a:effectLst/>
        </p:spPr>
        <p:txBody>
          <a:bodyPr rtlCol="0" anchor="ctr" lIns="0" rIns="0" tIns="0" bIns="0"/>
          <a:lstStyle/>
          <a:p/>
        </p:txBody>
      </p:sp>
      <p:pic>
        <p:nvPicPr>
          <p:cNvPr id="14" name="icone spiral" descr="spiral_white.png"/>
          <p:cNvPicPr>
            <a:picLocks noChangeAspect="1"/>
          </p:cNvPicPr>
          <p:nvPr/>
        </p:nvPicPr>
        <p:blipFill>
          <a:blip r:embed="rId5"/>
          <a:stretch>
            <a:fillRect/>
          </a:stretch>
        </p:blipFill>
        <p:spPr>
          <a:xfrm>
            <a:off x="7242047" y="2240279"/>
            <a:ext cx="365760" cy="365760"/>
          </a:xfrm>
          <a:prstGeom prst="rect">
            <a:avLst/>
          </a:prstGeom>
        </p:spPr>
      </p:pic>
      <p:sp>
        <p:nvSpPr>
          <p:cNvPr id="15" name="TextBox 14"/>
          <p:cNvSpPr txBox="1"/>
          <p:nvPr/>
        </p:nvSpPr>
        <p:spPr>
          <a:xfrm>
            <a:off x="8019288" y="2057400"/>
            <a:ext cx="3858768"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Heterogeneidade: esperada, não ignorada</a:t>
            </a:r>
          </a:p>
        </p:txBody>
      </p:sp>
      <p:sp>
        <p:nvSpPr>
          <p:cNvPr id="16" name="TextBox 15"/>
          <p:cNvSpPr txBox="1"/>
          <p:nvPr/>
        </p:nvSpPr>
        <p:spPr>
          <a:xfrm>
            <a:off x="7059168"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0" i="0">
                <a:solidFill>
                  <a:srgbClr val="1F2433"/>
                </a:solidFill>
                <a:latin typeface="Arial"/>
              </a:rPr>
              <a:t>I² &gt; 90% é típico em metanálise de prevalência → interpretar pelo intervalo de predição.</a:t>
            </a:r>
          </a:p>
          <a:p>
            <a:pPr algn="l" marL="274320" indent="-274320">
              <a:lnSpc>
                <a:spcPct val="100000"/>
              </a:lnSpc>
              <a:spcAft>
                <a:spcPts val="900"/>
              </a:spcAft>
              <a:buFont typeface="Arial"/>
              <a:buChar char="•"/>
            </a:pPr>
            <a:r>
              <a:rPr sz="1700" b="0" i="0">
                <a:solidFill>
                  <a:srgbClr val="1F2433"/>
                </a:solidFill>
                <a:latin typeface="Arial"/>
              </a:rPr>
              <a:t>Fontes plausíveis: definição do sintoma e recordatório, composição profissional, tempo de exposição, disponibilidade de exaustão e EPI, condições ambientais.</a:t>
            </a:r>
          </a:p>
          <a:p>
            <a:pPr algn="l" marL="274320" indent="-274320">
              <a:lnSpc>
                <a:spcPct val="100000"/>
              </a:lnSpc>
              <a:spcAft>
                <a:spcPts val="900"/>
              </a:spcAft>
              <a:buFont typeface="Arial"/>
              <a:buChar char="•"/>
            </a:pPr>
            <a:r>
              <a:rPr sz="1700" b="0" i="0">
                <a:solidFill>
                  <a:srgbClr val="1F2433"/>
                </a:solidFill>
                <a:latin typeface="Arial"/>
              </a:rPr>
              <a:t>País reduziu o I² intragrupo (Turquia 57%, Malásia 0%), mas com 2–3 estudos por estrato é geração de hipótese.</a:t>
            </a:r>
          </a:p>
        </p:txBody>
      </p:sp>
      <p:sp>
        <p:nvSpPr>
          <p:cNvPr id="17" name="Rounded Rectangle 16"/>
          <p:cNvSpPr/>
          <p:nvPr/>
        </p:nvSpPr>
        <p:spPr>
          <a:xfrm>
            <a:off x="12426696" y="1783080"/>
            <a:ext cx="5367528" cy="489204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12701016" y="2057400"/>
            <a:ext cx="731520" cy="731520"/>
          </a:xfrm>
          <a:prstGeom prst="ellipse">
            <a:avLst/>
          </a:prstGeom>
          <a:solidFill>
            <a:srgbClr val="002060"/>
          </a:solidFill>
          <a:ln>
            <a:noFill/>
          </a:ln>
          <a:effectLst/>
        </p:spPr>
        <p:txBody>
          <a:bodyPr rtlCol="0" anchor="ctr" lIns="0" rIns="0" tIns="0" bIns="0"/>
          <a:lstStyle/>
          <a:p/>
        </p:txBody>
      </p:sp>
      <p:pic>
        <p:nvPicPr>
          <p:cNvPr id="19" name="icone biotech" descr="biotech_white.png"/>
          <p:cNvPicPr>
            <a:picLocks noChangeAspect="1"/>
          </p:cNvPicPr>
          <p:nvPr/>
        </p:nvPicPr>
        <p:blipFill>
          <a:blip r:embed="rId6"/>
          <a:stretch>
            <a:fillRect/>
          </a:stretch>
        </p:blipFill>
        <p:spPr>
          <a:xfrm>
            <a:off x="12883896" y="2240279"/>
            <a:ext cx="365760" cy="365760"/>
          </a:xfrm>
          <a:prstGeom prst="rect">
            <a:avLst/>
          </a:prstGeom>
        </p:spPr>
      </p:pic>
      <p:sp>
        <p:nvSpPr>
          <p:cNvPr id="20" name="TextBox 19"/>
          <p:cNvSpPr txBox="1"/>
          <p:nvPr/>
        </p:nvSpPr>
        <p:spPr>
          <a:xfrm>
            <a:off x="13661136" y="2057400"/>
            <a:ext cx="3858767"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Sinais além do incômodo agudo</a:t>
            </a:r>
          </a:p>
        </p:txBody>
      </p:sp>
      <p:sp>
        <p:nvSpPr>
          <p:cNvPr id="21" name="TextBox 20"/>
          <p:cNvSpPr txBox="1"/>
          <p:nvPr/>
        </p:nvSpPr>
        <p:spPr>
          <a:xfrm>
            <a:off x="12701016" y="2926080"/>
            <a:ext cx="4818888" cy="3529583"/>
          </a:xfrm>
          <a:prstGeom prst="rect">
            <a:avLst/>
          </a:prstGeom>
          <a:noFill/>
        </p:spPr>
        <p:txBody>
          <a:bodyPr wrap="square" lIns="0" rIns="0" tIns="0" bIns="0" anchor="t">
            <a:noAutofit/>
          </a:bodyPr>
          <a:lstStyle/>
          <a:p>
            <a:pPr algn="l" marL="274320" indent="-274320">
              <a:lnSpc>
                <a:spcPct val="100000"/>
              </a:lnSpc>
              <a:spcAft>
                <a:spcPts val="900"/>
              </a:spcAft>
              <a:buFont typeface="Arial"/>
              <a:buChar char="•"/>
            </a:pPr>
            <a:r>
              <a:rPr sz="1700" b="1" i="0">
                <a:solidFill>
                  <a:srgbClr val="1F2433"/>
                </a:solidFill>
                <a:latin typeface="Arial"/>
              </a:rPr>
              <a:t>A favor da causalidade: </a:t>
            </a:r>
            <a:r>
              <a:rPr sz="1700" b="0" i="0">
                <a:solidFill>
                  <a:srgbClr val="1F2433"/>
                </a:solidFill>
                <a:latin typeface="Arial"/>
              </a:rPr>
              <a:t>gradiente com o tempo de exposição (espirometria, HPV), temporalidade (coorte) e plausibilidade biológica.</a:t>
            </a:r>
          </a:p>
          <a:p>
            <a:pPr algn="l" marL="274320" indent="-274320">
              <a:lnSpc>
                <a:spcPct val="100000"/>
              </a:lnSpc>
              <a:spcAft>
                <a:spcPts val="900"/>
              </a:spcAft>
              <a:buFont typeface="Arial"/>
              <a:buChar char="•"/>
            </a:pPr>
            <a:r>
              <a:rPr sz="1700" b="1" i="0">
                <a:solidFill>
                  <a:srgbClr val="1F2433"/>
                </a:solidFill>
                <a:latin typeface="Arial"/>
              </a:rPr>
              <a:t>Contra: </a:t>
            </a:r>
            <a:r>
              <a:rPr sz="1700" b="0" i="0">
                <a:solidFill>
                  <a:srgbClr val="1F2433"/>
                </a:solidFill>
                <a:latin typeface="Arial"/>
              </a:rPr>
              <a:t>um estudo por desfecho, intervalos amplos, especificidade comprometida por coexposições (gases anestésicos, radiação).</a:t>
            </a:r>
          </a:p>
          <a:p>
            <a:pPr algn="l" marL="274320" indent="-274320">
              <a:lnSpc>
                <a:spcPct val="100000"/>
              </a:lnSpc>
              <a:spcAft>
                <a:spcPts val="900"/>
              </a:spcAft>
              <a:buFont typeface="Arial"/>
              <a:buChar char="•"/>
            </a:pPr>
            <a:r>
              <a:rPr sz="1700" b="0" i="0">
                <a:solidFill>
                  <a:srgbClr val="1F2433"/>
                </a:solidFill>
                <a:latin typeface="Arial"/>
              </a:rPr>
              <a:t>Metabólitos = exposição recente; metaplasia = resposta inespecífica; HPV-DNA = detecção, não infecção.</a:t>
            </a:r>
          </a:p>
        </p:txBody>
      </p:sp>
      <p:sp>
        <p:nvSpPr>
          <p:cNvPr id="22" name="Rounded Rectangle 21"/>
          <p:cNvSpPr/>
          <p:nvPr/>
        </p:nvSpPr>
        <p:spPr>
          <a:xfrm>
            <a:off x="1143000" y="6949440"/>
            <a:ext cx="16642080" cy="2103120"/>
          </a:xfrm>
          <a:prstGeom prst="roundRect">
            <a:avLst>
              <a:gd name="adj" fmla="val 6000"/>
            </a:avLst>
          </a:prstGeom>
          <a:solidFill>
            <a:srgbClr val="002060"/>
          </a:solidFill>
          <a:ln>
            <a:noFill/>
          </a:ln>
          <a:effectLst/>
        </p:spPr>
        <p:txBody>
          <a:bodyPr rtlCol="0" anchor="ctr"/>
          <a:lstStyle/>
          <a:p/>
        </p:txBody>
      </p:sp>
      <p:pic>
        <p:nvPicPr>
          <p:cNvPr id="23" name="icone question" descr="question_gold.png"/>
          <p:cNvPicPr>
            <a:picLocks noChangeAspect="1"/>
          </p:cNvPicPr>
          <p:nvPr/>
        </p:nvPicPr>
        <p:blipFill>
          <a:blip r:embed="rId7"/>
          <a:stretch>
            <a:fillRect/>
          </a:stretch>
        </p:blipFill>
        <p:spPr>
          <a:xfrm>
            <a:off x="1463040" y="7616952"/>
            <a:ext cx="777240" cy="777240"/>
          </a:xfrm>
          <a:prstGeom prst="rect">
            <a:avLst/>
          </a:prstGeom>
        </p:spPr>
      </p:pic>
      <p:sp>
        <p:nvSpPr>
          <p:cNvPr id="24" name="TextBox 23"/>
          <p:cNvSpPr txBox="1"/>
          <p:nvPr/>
        </p:nvSpPr>
        <p:spPr>
          <a:xfrm>
            <a:off x="2514600" y="7040880"/>
            <a:ext cx="15179040" cy="192024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C8A951"/>
                </a:solidFill>
                <a:latin typeface="Arial"/>
              </a:rPr>
              <a:t>O achado talvez mais relevante é o que não foi encontrado. </a:t>
            </a:r>
            <a:r>
              <a:rPr sz="1600" b="0" i="0">
                <a:solidFill>
                  <a:srgbClr val="FFFFFF"/>
                </a:solidFill>
                <a:latin typeface="Arial"/>
              </a:rPr>
              <a:t>Nenhum estudo elegível estimou câncer ou DPOC atribuíveis à fumaça. Relatos de caso de papilomatose laríngea e carcinoma orofaríngeo por HPV em cirurgiões (Hallmo; Naess, 1991; Rioux et al., 2013) reforçam a plausibilidade, mas não estimam risco. A controvérsia (Hurst; Stewart, 2024) não se resolve com os estudos existentes, e sim com estudos longitudinais ainda por realizar.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768096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17320" y="205740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00200" y="2240279"/>
            <a:ext cx="365760" cy="365760"/>
          </a:xfrm>
          <a:prstGeom prst="rect">
            <a:avLst/>
          </a:prstGeom>
        </p:spPr>
      </p:pic>
      <p:sp>
        <p:nvSpPr>
          <p:cNvPr id="10" name="TextBox 9"/>
          <p:cNvSpPr txBox="1"/>
          <p:nvPr/>
        </p:nvSpPr>
        <p:spPr>
          <a:xfrm>
            <a:off x="2377440" y="2057400"/>
            <a:ext cx="525780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17320" y="2926080"/>
            <a:ext cx="6217920" cy="6318503"/>
          </a:xfrm>
          <a:prstGeom prst="rect">
            <a:avLst/>
          </a:prstGeom>
          <a:noFill/>
        </p:spPr>
        <p:txBody>
          <a:bodyPr wrap="square" lIns="0" rIns="0" tIns="0" bIns="0" anchor="t">
            <a:noAutofit/>
          </a:bodyPr>
          <a:lstStyle/>
          <a:p>
            <a:pPr algn="l" marL="274320" indent="-274320">
              <a:lnSpc>
                <a:spcPct val="100000"/>
              </a:lnSpc>
              <a:spcAft>
                <a:spcPts val="1200"/>
              </a:spcAft>
              <a:buFont typeface="Arial"/>
              <a:buChar char="•"/>
            </a:pPr>
            <a:r>
              <a:rPr sz="1800" b="0" i="0">
                <a:solidFill>
                  <a:srgbClr val="1F2433"/>
                </a:solidFill>
                <a:latin typeface="Arial"/>
              </a:rPr>
              <a:t>Busca abrangente: 7 bases, literatura cinzenta e busca por citação, sem filtro de idioma na busca.</a:t>
            </a:r>
          </a:p>
          <a:p>
            <a:pPr algn="l" marL="274320" indent="-274320">
              <a:lnSpc>
                <a:spcPct val="100000"/>
              </a:lnSpc>
              <a:spcAft>
                <a:spcPts val="1200"/>
              </a:spcAft>
              <a:buFont typeface="Arial"/>
              <a:buChar char="•"/>
            </a:pPr>
            <a:r>
              <a:rPr sz="1800" b="0" i="0">
                <a:solidFill>
                  <a:srgbClr val="1F2433"/>
                </a:solidFill>
                <a:latin typeface="Arial"/>
              </a:rPr>
              <a:t>Protocolo registrado (PROSPERO) e relato PRISMA 2020 com checklist de 27 itens.</a:t>
            </a:r>
          </a:p>
          <a:p>
            <a:pPr algn="l" marL="274320" indent="-274320">
              <a:lnSpc>
                <a:spcPct val="100000"/>
              </a:lnSpc>
              <a:spcAft>
                <a:spcPts val="1200"/>
              </a:spcAft>
              <a:buFont typeface="Arial"/>
              <a:buChar char="•"/>
            </a:pPr>
            <a:r>
              <a:rPr sz="1800" b="0" i="0">
                <a:solidFill>
                  <a:srgbClr val="1F2433"/>
                </a:solidFill>
                <a:latin typeface="Arial"/>
              </a:rPr>
              <a:t>Risco de viés padronizado com ferramentas JBI escolhidas pela função de cada estudo.</a:t>
            </a:r>
          </a:p>
          <a:p>
            <a:pPr algn="l" marL="274320" indent="-274320">
              <a:lnSpc>
                <a:spcPct val="100000"/>
              </a:lnSpc>
              <a:spcAft>
                <a:spcPts val="1200"/>
              </a:spcAft>
              <a:buFont typeface="Arial"/>
              <a:buChar char="•"/>
            </a:pPr>
            <a:r>
              <a:rPr sz="1800" b="0" i="0">
                <a:solidFill>
                  <a:srgbClr val="1F2433"/>
                </a:solidFill>
                <a:latin typeface="Arial"/>
              </a:rPr>
              <a:t>Síntese com intervalo de predição, 3 modelos concordantes, leave-one-out, Baujat e subgrupo.</a:t>
            </a:r>
          </a:p>
          <a:p>
            <a:pPr algn="l" marL="274320" indent="-274320">
              <a:lnSpc>
                <a:spcPct val="100000"/>
              </a:lnSpc>
              <a:spcAft>
                <a:spcPts val="1200"/>
              </a:spcAft>
              <a:buFont typeface="Arial"/>
              <a:buChar char="•"/>
            </a:pPr>
            <a:r>
              <a:rPr sz="1800" b="0" i="0">
                <a:solidFill>
                  <a:srgbClr val="1F2433"/>
                </a:solidFill>
                <a:latin typeface="Arial"/>
              </a:rPr>
              <a:t>Certeza graduada por desfecho (GRADE), com justificativa por domínio.</a:t>
            </a:r>
          </a:p>
          <a:p>
            <a:pPr algn="l" marL="274320" indent="-274320">
              <a:lnSpc>
                <a:spcPct val="100000"/>
              </a:lnSpc>
              <a:spcAft>
                <a:spcPts val="1200"/>
              </a:spcAft>
              <a:buFont typeface="Arial"/>
              <a:buChar char="•"/>
            </a:pPr>
            <a:r>
              <a:rPr sz="1800" b="0" i="0">
                <a:solidFill>
                  <a:srgbClr val="1F2433"/>
                </a:solidFill>
                <a:latin typeface="Arial"/>
              </a:rPr>
              <a:t>Tratamento explícito da sobreposição amostral e do uso de IA (apenas operacional).</a:t>
            </a:r>
          </a:p>
          <a:p>
            <a:pPr algn="l" marL="274320" indent="-274320">
              <a:lnSpc>
                <a:spcPct val="100000"/>
              </a:lnSpc>
              <a:spcAft>
                <a:spcPts val="1200"/>
              </a:spcAft>
              <a:buFont typeface="Arial"/>
              <a:buChar char="•"/>
            </a:pPr>
            <a:r>
              <a:rPr sz="1800" b="0" i="0">
                <a:solidFill>
                  <a:srgbClr val="1F2433"/>
                </a:solidFill>
                <a:latin typeface="Arial"/>
              </a:rPr>
              <a:t>Reprodutibilidade: código em Python, planilhas e figuras abertos no OSF.</a:t>
            </a:r>
          </a:p>
        </p:txBody>
      </p:sp>
      <p:sp>
        <p:nvSpPr>
          <p:cNvPr id="12" name="Rounded Rectangle 11"/>
          <p:cNvSpPr/>
          <p:nvPr/>
        </p:nvSpPr>
        <p:spPr>
          <a:xfrm>
            <a:off x="8183879" y="1783080"/>
            <a:ext cx="9601200" cy="768096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458200" y="205740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41080" y="2240279"/>
            <a:ext cx="365760" cy="365760"/>
          </a:xfrm>
          <a:prstGeom prst="rect">
            <a:avLst/>
          </a:prstGeom>
        </p:spPr>
      </p:pic>
      <p:sp>
        <p:nvSpPr>
          <p:cNvPr id="15" name="TextBox 14"/>
          <p:cNvSpPr txBox="1"/>
          <p:nvPr/>
        </p:nvSpPr>
        <p:spPr>
          <a:xfrm>
            <a:off x="9418320" y="2057400"/>
            <a:ext cx="809243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458200" y="2926080"/>
            <a:ext cx="9052560" cy="6318503"/>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Transversais, exposição por proxy (ocupação) e desfechos autorrelatados; </a:t>
            </a:r>
            <a:r>
              <a:rPr sz="1700" b="0" i="0">
                <a:solidFill>
                  <a:srgbClr val="1F2433"/>
                </a:solidFill>
                <a:latin typeface="Arial"/>
              </a:rPr>
              <a:t>viés de atribuição: o respondente sabe que o questionário é sobre fumaça.</a:t>
            </a:r>
          </a:p>
          <a:p>
            <a:pPr algn="l" marL="274320" indent="-274320">
              <a:lnSpc>
                <a:spcPct val="100000"/>
              </a:lnSpc>
              <a:spcAft>
                <a:spcPts val="1000"/>
              </a:spcAft>
              <a:buFont typeface="Arial"/>
              <a:buChar char="•"/>
            </a:pPr>
            <a:r>
              <a:rPr sz="1700" b="1" i="0">
                <a:solidFill>
                  <a:srgbClr val="1F2433"/>
                </a:solidFill>
                <a:latin typeface="Arial"/>
              </a:rPr>
              <a:t>Sem grupo não exposto nos agrupamentos </a:t>
            </a:r>
            <a:r>
              <a:rPr sz="1700" b="0" i="0">
                <a:solidFill>
                  <a:srgbClr val="1F2433"/>
                </a:solidFill>
                <a:latin typeface="Arial"/>
              </a:rPr>
              <a:t>→ não se estima o excesso atribuível à exposição.</a:t>
            </a:r>
          </a:p>
          <a:p>
            <a:pPr algn="l" marL="274320" indent="-274320">
              <a:lnSpc>
                <a:spcPct val="100000"/>
              </a:lnSpc>
              <a:spcAft>
                <a:spcPts val="1000"/>
              </a:spcAft>
              <a:buFont typeface="Arial"/>
              <a:buChar char="•"/>
            </a:pPr>
            <a:r>
              <a:rPr sz="1700" b="1" i="0">
                <a:solidFill>
                  <a:srgbClr val="1F2433"/>
                </a:solidFill>
                <a:latin typeface="Arial"/>
              </a:rPr>
              <a:t>Efeito do trabalhador sadio: </a:t>
            </a:r>
            <a:r>
              <a:rPr sz="1700" b="0" i="0">
                <a:solidFill>
                  <a:srgbClr val="1F2433"/>
                </a:solidFill>
                <a:latin typeface="Arial"/>
              </a:rPr>
              <a:t>quem adoece sai do centro cirúrgico → prevalência subestimada.</a:t>
            </a:r>
          </a:p>
          <a:p>
            <a:pPr algn="l" marL="274320" indent="-274320">
              <a:lnSpc>
                <a:spcPct val="100000"/>
              </a:lnSpc>
              <a:spcAft>
                <a:spcPts val="1000"/>
              </a:spcAft>
              <a:buFont typeface="Arial"/>
              <a:buChar char="•"/>
            </a:pPr>
            <a:r>
              <a:rPr sz="1700" b="1" i="0">
                <a:solidFill>
                  <a:srgbClr val="1F2433"/>
                </a:solidFill>
                <a:latin typeface="Arial"/>
              </a:rPr>
              <a:t>Heterogeneidade alta; subgrupo exploratório; </a:t>
            </a:r>
            <a:r>
              <a:rPr sz="1700" b="0" i="0">
                <a:solidFill>
                  <a:srgbClr val="1F2433"/>
                </a:solidFill>
                <a:latin typeface="Arial"/>
              </a:rPr>
              <a:t>o maior inquérito (n = 672) ficou fora do agrupamento ocular; vários estudos em periódicos de indexação limitada.</a:t>
            </a:r>
          </a:p>
          <a:p>
            <a:pPr algn="l" marL="274320" indent="-274320">
              <a:lnSpc>
                <a:spcPct val="100000"/>
              </a:lnSpc>
              <a:spcAft>
                <a:spcPts val="1000"/>
              </a:spcAft>
              <a:buFont typeface="Arial"/>
              <a:buChar char="•"/>
            </a:pPr>
            <a:r>
              <a:rPr sz="1700" b="1" i="0">
                <a:solidFill>
                  <a:srgbClr val="1F2433"/>
                </a:solidFill>
                <a:latin typeface="Arial"/>
              </a:rPr>
              <a:t>Sobreposição amostral </a:t>
            </a:r>
            <a:r>
              <a:rPr sz="1700" b="0" i="0">
                <a:solidFill>
                  <a:srgbClr val="1F2433"/>
                </a:solidFill>
                <a:latin typeface="Arial"/>
              </a:rPr>
              <a:t>tratada com 1 publicação por desfecho; 1 resumo de congresso na síntese.</a:t>
            </a:r>
          </a:p>
          <a:p>
            <a:pPr algn="l" marL="274320" indent="-274320">
              <a:lnSpc>
                <a:spcPct val="100000"/>
              </a:lnSpc>
              <a:spcAft>
                <a:spcPts val="1000"/>
              </a:spcAft>
              <a:buFont typeface="Arial"/>
              <a:buChar char="•"/>
            </a:pPr>
            <a:r>
              <a:rPr sz="1700" b="1" i="0">
                <a:solidFill>
                  <a:srgbClr val="1F2433"/>
                </a:solidFill>
                <a:latin typeface="Arial"/>
              </a:rPr>
              <a:t>Revisor único </a:t>
            </a:r>
            <a:r>
              <a:rPr sz="1700" b="0" i="0">
                <a:solidFill>
                  <a:srgbClr val="1F2433"/>
                </a:solidFill>
                <a:latin typeface="Arial"/>
              </a:rPr>
              <a:t>na triagem, extração, JBI e GRADE; 6 relatórios não recuperados; elegibilidade em 3 idiomas.</a:t>
            </a:r>
          </a:p>
          <a:p>
            <a:pPr algn="l" marL="274320" indent="-274320">
              <a:lnSpc>
                <a:spcPct val="100000"/>
              </a:lnSpc>
              <a:spcAft>
                <a:spcPts val="1000"/>
              </a:spcAft>
              <a:buFont typeface="Arial"/>
              <a:buChar char="•"/>
            </a:pPr>
            <a:r>
              <a:rPr sz="1700" b="1" i="0">
                <a:solidFill>
                  <a:srgbClr val="1F2433"/>
                </a:solidFill>
                <a:latin typeface="Arial"/>
              </a:rPr>
              <a:t>Instrumentos sem validação relatada </a:t>
            </a:r>
            <a:r>
              <a:rPr sz="1700" b="0" i="0">
                <a:solidFill>
                  <a:srgbClr val="1F2433"/>
                </a:solidFill>
                <a:latin typeface="Arial"/>
              </a:rPr>
              <a:t>e período de recordatório quase nunca informado; taxa de resposta raramente relatada.</a:t>
            </a:r>
          </a:p>
          <a:p>
            <a:pPr algn="l" marL="274320" indent="-274320">
              <a:lnSpc>
                <a:spcPct val="100000"/>
              </a:lnSpc>
              <a:spcAft>
                <a:spcPts val="1000"/>
              </a:spcAft>
              <a:buFont typeface="Arial"/>
              <a:buChar char="•"/>
            </a:pPr>
            <a:r>
              <a:rPr sz="1700" b="1" i="0">
                <a:solidFill>
                  <a:srgbClr val="8B0000"/>
                </a:solidFill>
                <a:latin typeface="Arial"/>
              </a:rPr>
              <a:t>A metanálise estima prevalência em expostos, não risco causal.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Síntese da mensagem da revisão</a:t>
            </a:r>
          </a:p>
        </p:txBody>
      </p:sp>
      <p:pic>
        <p:nvPicPr>
          <p:cNvPr id="7" name="Foto exaustão e N95" descr="exaustao_n95.png"/>
          <p:cNvPicPr>
            <a:picLocks noChangeAspect="1"/>
          </p:cNvPicPr>
          <p:nvPr/>
        </p:nvPicPr>
        <p:blipFill>
          <a:blip r:embed="rId4"/>
          <a:stretch>
            <a:fillRect/>
          </a:stretch>
        </p:blipFill>
        <p:spPr>
          <a:xfrm>
            <a:off x="1143000" y="1783080"/>
            <a:ext cx="7315200" cy="4093028"/>
          </a:xfrm>
          <a:prstGeom prst="rect">
            <a:avLst/>
          </a:prstGeom>
        </p:spPr>
      </p:pic>
      <p:sp>
        <p:nvSpPr>
          <p:cNvPr id="8" name="TextBox 7"/>
          <p:cNvSpPr txBox="1"/>
          <p:nvPr/>
        </p:nvSpPr>
        <p:spPr>
          <a:xfrm>
            <a:off x="1143000" y="5943600"/>
            <a:ext cx="7315200" cy="320040"/>
          </a:xfrm>
          <a:prstGeom prst="rect">
            <a:avLst/>
          </a:prstGeom>
          <a:noFill/>
        </p:spPr>
        <p:txBody>
          <a:bodyPr wrap="square" lIns="0" rIns="0" tIns="0" bIns="0" anchor="t">
            <a:noAutofit/>
          </a:bodyPr>
          <a:lstStyle/>
          <a:p>
            <a:pPr algn="l">
              <a:lnSpc>
                <a:spcPct val="100000"/>
              </a:lnSpc>
              <a:spcAft>
                <a:spcPts val="0"/>
              </a:spcAft>
              <a:buNone/>
            </a:pPr>
            <a:r>
              <a:rPr sz="1300" b="0" i="0">
                <a:solidFill>
                  <a:srgbClr val="5A6270"/>
                </a:solidFill>
                <a:latin typeface="Arial"/>
              </a:rPr>
              <a:t>Imagem ilustrativa (gerada por IA): exaustão local na fonte e respirador N95.</a:t>
            </a:r>
          </a:p>
        </p:txBody>
      </p:sp>
      <p:sp>
        <p:nvSpPr>
          <p:cNvPr id="9" name="Rounded Rectangle 8"/>
          <p:cNvSpPr/>
          <p:nvPr/>
        </p:nvSpPr>
        <p:spPr>
          <a:xfrm>
            <a:off x="1143000" y="6355080"/>
            <a:ext cx="7315200" cy="169164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17320" y="6419088"/>
            <a:ext cx="6766560" cy="1600200"/>
          </a:xfrm>
          <a:prstGeom prst="rect">
            <a:avLst/>
          </a:prstGeom>
          <a:noFill/>
        </p:spPr>
        <p:txBody>
          <a:bodyPr wrap="square" lIns="0" rIns="0" tIns="0" bIns="0" anchor="t">
            <a:noAutofit/>
          </a:bodyPr>
          <a:lstStyle/>
          <a:p>
            <a:pPr algn="l">
              <a:lnSpc>
                <a:spcPct val="100000"/>
              </a:lnSpc>
              <a:spcAft>
                <a:spcPts val="300"/>
              </a:spcAft>
              <a:buNone/>
            </a:pPr>
            <a:r>
              <a:rPr sz="1500" b="1" i="0">
                <a:solidFill>
                  <a:srgbClr val="002060"/>
                </a:solidFill>
                <a:latin typeface="Arial"/>
              </a:rPr>
              <a:t>Proteção recomendada (NIOSH, 1996; NR-32)</a:t>
            </a:r>
          </a:p>
          <a:p>
            <a:pPr algn="l" marL="274320" indent="-274320">
              <a:lnSpc>
                <a:spcPct val="100000"/>
              </a:lnSpc>
              <a:spcAft>
                <a:spcPts val="200"/>
              </a:spcAft>
              <a:buClr>
                <a:srgbClr val="002060"/>
              </a:buClr>
              <a:buFont typeface="Arial"/>
              <a:buChar char="•"/>
            </a:pPr>
            <a:r>
              <a:rPr sz="1500" b="0" i="0">
                <a:solidFill>
                  <a:srgbClr val="1F2433"/>
                </a:solidFill>
                <a:latin typeface="Arial"/>
              </a:rPr>
              <a:t>Evacuação local da fumaça na fonte (medida principal);</a:t>
            </a:r>
          </a:p>
          <a:p>
            <a:pPr algn="l" marL="274320" indent="-274320">
              <a:lnSpc>
                <a:spcPct val="100000"/>
              </a:lnSpc>
              <a:spcAft>
                <a:spcPts val="200"/>
              </a:spcAft>
              <a:buClr>
                <a:srgbClr val="002060"/>
              </a:buClr>
              <a:buFont typeface="Arial"/>
              <a:buChar char="•"/>
            </a:pPr>
            <a:r>
              <a:rPr sz="1500" b="0" i="0">
                <a:solidFill>
                  <a:srgbClr val="1F2433"/>
                </a:solidFill>
                <a:latin typeface="Arial"/>
              </a:rPr>
              <a:t>Respiradores N95/PFF2 (retêm partículas, não substituem a exaustão);</a:t>
            </a:r>
          </a:p>
          <a:p>
            <a:pPr algn="l" marL="274320" indent="-274320">
              <a:lnSpc>
                <a:spcPct val="100000"/>
              </a:lnSpc>
              <a:spcAft>
                <a:spcPts val="200"/>
              </a:spcAft>
              <a:buClr>
                <a:srgbClr val="002060"/>
              </a:buClr>
              <a:buFont typeface="Arial"/>
              <a:buChar char="•"/>
            </a:pPr>
            <a:r>
              <a:rPr sz="1500" b="0" i="0">
                <a:solidFill>
                  <a:srgbClr val="1F2433"/>
                </a:solidFill>
                <a:latin typeface="Arial"/>
              </a:rPr>
              <a:t>Educação da equipe. Efetividade não avaliada nesta revisão.</a:t>
            </a:r>
          </a:p>
        </p:txBody>
      </p:sp>
      <p:sp>
        <p:nvSpPr>
          <p:cNvPr id="11" name="Rounded Rectangle 10"/>
          <p:cNvSpPr/>
          <p:nvPr/>
        </p:nvSpPr>
        <p:spPr>
          <a:xfrm>
            <a:off x="8915400" y="1783080"/>
            <a:ext cx="8869680" cy="1920240"/>
          </a:xfrm>
          <a:prstGeom prst="roundRect">
            <a:avLst>
              <a:gd name="adj" fmla="val 6000"/>
            </a:avLst>
          </a:prstGeom>
          <a:solidFill>
            <a:srgbClr val="E7F3E8"/>
          </a:solidFill>
          <a:ln>
            <a:noFill/>
          </a:ln>
          <a:effectLst/>
        </p:spPr>
        <p:txBody>
          <a:bodyPr rtlCol="0" anchor="ctr"/>
          <a:lstStyle/>
          <a:p/>
        </p:txBody>
      </p:sp>
      <p:sp>
        <p:nvSpPr>
          <p:cNvPr id="12" name="Oval 11"/>
          <p:cNvSpPr/>
          <p:nvPr/>
        </p:nvSpPr>
        <p:spPr>
          <a:xfrm>
            <a:off x="9052560" y="1920240"/>
            <a:ext cx="731520" cy="731520"/>
          </a:xfrm>
          <a:prstGeom prst="ellipse">
            <a:avLst/>
          </a:prstGeom>
          <a:solidFill>
            <a:srgbClr val="2E7D32"/>
          </a:solidFill>
          <a:ln>
            <a:noFill/>
          </a:ln>
          <a:effectLst/>
        </p:spPr>
        <p:txBody>
          <a:bodyPr rtlCol="0" anchor="ctr" lIns="0" rIns="0" tIns="0" bIns="0"/>
          <a:lstStyle/>
          <a:p/>
        </p:txBody>
      </p:sp>
      <p:pic>
        <p:nvPicPr>
          <p:cNvPr id="13" name="icone check" descr="check_white.png"/>
          <p:cNvPicPr>
            <a:picLocks noChangeAspect="1"/>
          </p:cNvPicPr>
          <p:nvPr/>
        </p:nvPicPr>
        <p:blipFill>
          <a:blip r:embed="rId5"/>
          <a:stretch>
            <a:fillRect/>
          </a:stretch>
        </p:blipFill>
        <p:spPr>
          <a:xfrm>
            <a:off x="9235440" y="2103120"/>
            <a:ext cx="365760" cy="365760"/>
          </a:xfrm>
          <a:prstGeom prst="rect">
            <a:avLst/>
          </a:prstGeom>
        </p:spPr>
      </p:pic>
      <p:sp>
        <p:nvSpPr>
          <p:cNvPr id="14" name="TextBox 13"/>
          <p:cNvSpPr txBox="1"/>
          <p:nvPr/>
        </p:nvSpPr>
        <p:spPr>
          <a:xfrm>
            <a:off x="10012680" y="192024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2E7D32"/>
                </a:solidFill>
                <a:latin typeface="Arial"/>
              </a:rPr>
              <a:t>O que se sabe</a:t>
            </a:r>
          </a:p>
        </p:txBody>
      </p:sp>
      <p:sp>
        <p:nvSpPr>
          <p:cNvPr id="15" name="TextBox 14"/>
          <p:cNvSpPr txBox="1"/>
          <p:nvPr/>
        </p:nvSpPr>
        <p:spPr>
          <a:xfrm>
            <a:off x="9144000" y="2651760"/>
            <a:ext cx="8412480" cy="10515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Sintomas oculares e respiratórios são frequentemente relatados pela equipe exposta, com ampla variação entre contextos (ocular 37,6%, IP 7–83%; respiratório 41,7%, IP 15–74%). Desfechos objetivos (função pulmonar, biomarcadores, mucosa nasal, HPV) sinalizam alterações além do incômodo agudo.</a:t>
            </a:r>
          </a:p>
        </p:txBody>
      </p:sp>
      <p:sp>
        <p:nvSpPr>
          <p:cNvPr id="16" name="Rounded Rectangle 15"/>
          <p:cNvSpPr/>
          <p:nvPr/>
        </p:nvSpPr>
        <p:spPr>
          <a:xfrm>
            <a:off x="8915400" y="3886200"/>
            <a:ext cx="8869680" cy="1920240"/>
          </a:xfrm>
          <a:prstGeom prst="roundRect">
            <a:avLst>
              <a:gd name="adj" fmla="val 6000"/>
            </a:avLst>
          </a:prstGeom>
          <a:solidFill>
            <a:srgbClr val="FBF5E3"/>
          </a:solidFill>
          <a:ln>
            <a:noFill/>
          </a:ln>
          <a:effectLst/>
        </p:spPr>
        <p:txBody>
          <a:bodyPr rtlCol="0" anchor="ctr"/>
          <a:lstStyle/>
          <a:p/>
        </p:txBody>
      </p:sp>
      <p:sp>
        <p:nvSpPr>
          <p:cNvPr id="17" name="Oval 16"/>
          <p:cNvSpPr/>
          <p:nvPr/>
        </p:nvSpPr>
        <p:spPr>
          <a:xfrm>
            <a:off x="9052560" y="4023359"/>
            <a:ext cx="731520" cy="731520"/>
          </a:xfrm>
          <a:prstGeom prst="ellipse">
            <a:avLst/>
          </a:prstGeom>
          <a:solidFill>
            <a:srgbClr val="E08A1E"/>
          </a:solidFill>
          <a:ln>
            <a:noFill/>
          </a:ln>
          <a:effectLst/>
        </p:spPr>
        <p:txBody>
          <a:bodyPr rtlCol="0" anchor="ctr" lIns="0" rIns="0" tIns="0" bIns="0"/>
          <a:lstStyle/>
          <a:p/>
        </p:txBody>
      </p:sp>
      <p:pic>
        <p:nvPicPr>
          <p:cNvPr id="18" name="icone question" descr="question_white.png"/>
          <p:cNvPicPr>
            <a:picLocks noChangeAspect="1"/>
          </p:cNvPicPr>
          <p:nvPr/>
        </p:nvPicPr>
        <p:blipFill>
          <a:blip r:embed="rId6"/>
          <a:stretch>
            <a:fillRect/>
          </a:stretch>
        </p:blipFill>
        <p:spPr>
          <a:xfrm>
            <a:off x="9235440" y="4206240"/>
            <a:ext cx="365760" cy="365760"/>
          </a:xfrm>
          <a:prstGeom prst="rect">
            <a:avLst/>
          </a:prstGeom>
        </p:spPr>
      </p:pic>
      <p:sp>
        <p:nvSpPr>
          <p:cNvPr id="19" name="TextBox 18"/>
          <p:cNvSpPr txBox="1"/>
          <p:nvPr/>
        </p:nvSpPr>
        <p:spPr>
          <a:xfrm>
            <a:off x="10012680" y="402336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8A6D1F"/>
                </a:solidFill>
                <a:latin typeface="Arial"/>
              </a:rPr>
              <a:t>O que não se sabe</a:t>
            </a:r>
          </a:p>
        </p:txBody>
      </p:sp>
      <p:sp>
        <p:nvSpPr>
          <p:cNvPr id="20" name="TextBox 19"/>
          <p:cNvSpPr txBox="1"/>
          <p:nvPr/>
        </p:nvSpPr>
        <p:spPr>
          <a:xfrm>
            <a:off x="9144000" y="4754880"/>
            <a:ext cx="8412480" cy="10515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Não há evidência direta de câncer ou DPOC atribuíveis à fumaça; a certeza é muito baixa; a exposição múltipla limita a atribuição causal; a evidência é heterogênea e majoritariamente transversal.</a:t>
            </a:r>
          </a:p>
        </p:txBody>
      </p:sp>
      <p:sp>
        <p:nvSpPr>
          <p:cNvPr id="21" name="Rounded Rectangle 20"/>
          <p:cNvSpPr/>
          <p:nvPr/>
        </p:nvSpPr>
        <p:spPr>
          <a:xfrm>
            <a:off x="8915400" y="5989320"/>
            <a:ext cx="8869680" cy="1920240"/>
          </a:xfrm>
          <a:prstGeom prst="roundRect">
            <a:avLst>
              <a:gd name="adj" fmla="val 6000"/>
            </a:avLst>
          </a:prstGeom>
          <a:solidFill>
            <a:srgbClr val="E6EBF5"/>
          </a:solidFill>
          <a:ln>
            <a:noFill/>
          </a:ln>
          <a:effectLst/>
        </p:spPr>
        <p:txBody>
          <a:bodyPr rtlCol="0" anchor="ctr"/>
          <a:lstStyle/>
          <a:p/>
        </p:txBody>
      </p:sp>
      <p:sp>
        <p:nvSpPr>
          <p:cNvPr id="22" name="Oval 21"/>
          <p:cNvSpPr/>
          <p:nvPr/>
        </p:nvSpPr>
        <p:spPr>
          <a:xfrm>
            <a:off x="9052560" y="6126479"/>
            <a:ext cx="731520" cy="731520"/>
          </a:xfrm>
          <a:prstGeom prst="ellipse">
            <a:avLst/>
          </a:prstGeom>
          <a:solidFill>
            <a:srgbClr val="002060"/>
          </a:solidFill>
          <a:ln>
            <a:noFill/>
          </a:ln>
          <a:effectLst/>
        </p:spPr>
        <p:txBody>
          <a:bodyPr rtlCol="0" anchor="ctr" lIns="0" rIns="0" tIns="0" bIns="0"/>
          <a:lstStyle/>
          <a:p/>
        </p:txBody>
      </p:sp>
      <p:pic>
        <p:nvPicPr>
          <p:cNvPr id="23" name="icone shield" descr="shield_white.png"/>
          <p:cNvPicPr>
            <a:picLocks noChangeAspect="1"/>
          </p:cNvPicPr>
          <p:nvPr/>
        </p:nvPicPr>
        <p:blipFill>
          <a:blip r:embed="rId7"/>
          <a:stretch>
            <a:fillRect/>
          </a:stretch>
        </p:blipFill>
        <p:spPr>
          <a:xfrm>
            <a:off x="9235440" y="6309359"/>
            <a:ext cx="365760" cy="365760"/>
          </a:xfrm>
          <a:prstGeom prst="rect">
            <a:avLst/>
          </a:prstGeom>
        </p:spPr>
      </p:pic>
      <p:sp>
        <p:nvSpPr>
          <p:cNvPr id="24" name="TextBox 23"/>
          <p:cNvSpPr txBox="1"/>
          <p:nvPr/>
        </p:nvSpPr>
        <p:spPr>
          <a:xfrm>
            <a:off x="10012680" y="6126480"/>
            <a:ext cx="7589520" cy="45720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Implicação</a:t>
            </a:r>
          </a:p>
        </p:txBody>
      </p:sp>
      <p:sp>
        <p:nvSpPr>
          <p:cNvPr id="25" name="TextBox 24"/>
          <p:cNvSpPr txBox="1"/>
          <p:nvPr/>
        </p:nvSpPr>
        <p:spPr>
          <a:xfrm>
            <a:off x="9144000" y="6858000"/>
            <a:ext cx="8412480" cy="10515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A proteção da equipe parece justificada pela carga sintomática e pelo princípio da precaução; a quantificação do risco de longo prazo depende de estudos longitudinais específicos.</a:t>
            </a:r>
          </a:p>
        </p:txBody>
      </p:sp>
      <p:sp>
        <p:nvSpPr>
          <p:cNvPr id="26" name="Rounded Rectangle 25"/>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sp>
        <p:nvSpPr>
          <p:cNvPr id="27" name="TextBox 26"/>
          <p:cNvSpPr txBox="1"/>
          <p:nvPr/>
        </p:nvSpPr>
        <p:spPr>
          <a:xfrm>
            <a:off x="1508760" y="8321040"/>
            <a:ext cx="15910559" cy="137160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Mensagem final: </a:t>
            </a:r>
            <a:r>
              <a:rPr sz="1800" b="0" i="0">
                <a:solidFill>
                  <a:srgbClr val="FFFFFF"/>
                </a:solidFill>
                <a:latin typeface="Arial"/>
              </a:rPr>
              <a:t>a fumaça cirúrgica está associada a uma carga sintomática relevante e a sinais biológicos precoces; proteger a equipe hoje é prudente, e medir o risco crônico é a tarefa dos próximos estudos.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Agenda de pesquisa e próximos passos deste trabalho</a:t>
            </a:r>
          </a:p>
        </p:txBody>
      </p:sp>
      <p:sp>
        <p:nvSpPr>
          <p:cNvPr id="7" name="Rounded Rectangle 6"/>
          <p:cNvSpPr/>
          <p:nvPr/>
        </p:nvSpPr>
        <p:spPr>
          <a:xfrm>
            <a:off x="1143000" y="1783080"/>
            <a:ext cx="10058400" cy="7955279"/>
          </a:xfrm>
          <a:prstGeom prst="roundRect">
            <a:avLst>
              <a:gd name="adj" fmla="val 6000"/>
            </a:avLst>
          </a:prstGeom>
          <a:solidFill>
            <a:srgbClr val="F2F4F8"/>
          </a:solidFill>
          <a:ln>
            <a:noFill/>
          </a:ln>
          <a:effectLst/>
        </p:spPr>
        <p:txBody>
          <a:bodyPr rtlCol="0" anchor="ctr"/>
          <a:lstStyle/>
          <a:p/>
        </p:txBody>
      </p:sp>
      <p:sp>
        <p:nvSpPr>
          <p:cNvPr id="8" name="TextBox 7"/>
          <p:cNvSpPr txBox="1"/>
          <p:nvPr/>
        </p:nvSpPr>
        <p:spPr>
          <a:xfrm>
            <a:off x="1417320" y="1874519"/>
            <a:ext cx="9509760"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o campo: o que falta para responder à pergunta do risco crônico</a:t>
            </a:r>
          </a:p>
        </p:txBody>
      </p:sp>
      <p:sp>
        <p:nvSpPr>
          <p:cNvPr id="9" name="Oval 8"/>
          <p:cNvSpPr/>
          <p:nvPr/>
        </p:nvSpPr>
        <p:spPr>
          <a:xfrm>
            <a:off x="1440180" y="2583180"/>
            <a:ext cx="777240" cy="777240"/>
          </a:xfrm>
          <a:prstGeom prst="ellipse">
            <a:avLst/>
          </a:prstGeom>
          <a:solidFill>
            <a:srgbClr val="002060"/>
          </a:solidFill>
          <a:ln>
            <a:noFill/>
          </a:ln>
          <a:effectLst/>
        </p:spPr>
        <p:txBody>
          <a:bodyPr rtlCol="0" anchor="ctr" lIns="0" rIns="0" tIns="0" bIns="0"/>
          <a:lstStyle/>
          <a:p/>
        </p:txBody>
      </p:sp>
      <p:pic>
        <p:nvPicPr>
          <p:cNvPr id="10" name="icone timeline" descr="timeline_white.png"/>
          <p:cNvPicPr>
            <a:picLocks noChangeAspect="1"/>
          </p:cNvPicPr>
          <p:nvPr/>
        </p:nvPicPr>
        <p:blipFill>
          <a:blip r:embed="rId4"/>
          <a:stretch>
            <a:fillRect/>
          </a:stretch>
        </p:blipFill>
        <p:spPr>
          <a:xfrm>
            <a:off x="1634490" y="2777490"/>
            <a:ext cx="388620" cy="388620"/>
          </a:xfrm>
          <a:prstGeom prst="rect">
            <a:avLst/>
          </a:prstGeom>
        </p:spPr>
      </p:pic>
      <p:sp>
        <p:nvSpPr>
          <p:cNvPr id="11" name="TextBox 10"/>
          <p:cNvSpPr txBox="1"/>
          <p:nvPr/>
        </p:nvSpPr>
        <p:spPr>
          <a:xfrm>
            <a:off x="2514600" y="251460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Estudos longitudinais</a:t>
            </a:r>
          </a:p>
        </p:txBody>
      </p:sp>
      <p:sp>
        <p:nvSpPr>
          <p:cNvPr id="12" name="TextBox 11"/>
          <p:cNvSpPr txBox="1"/>
          <p:nvPr/>
        </p:nvSpPr>
        <p:spPr>
          <a:xfrm>
            <a:off x="2514600" y="2926080"/>
            <a:ext cx="841248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Coortes com aferição objetiva da exposição (PM2,5, COV, tempo de dispositivo) e controle de coexposições (gases anestésicos, radiação) e tabagismo.</a:t>
            </a:r>
          </a:p>
        </p:txBody>
      </p:sp>
      <p:sp>
        <p:nvSpPr>
          <p:cNvPr id="13" name="Oval 12"/>
          <p:cNvSpPr/>
          <p:nvPr/>
        </p:nvSpPr>
        <p:spPr>
          <a:xfrm>
            <a:off x="1440180" y="4366260"/>
            <a:ext cx="777240" cy="777240"/>
          </a:xfrm>
          <a:prstGeom prst="ellipse">
            <a:avLst/>
          </a:prstGeom>
          <a:solidFill>
            <a:srgbClr val="002060"/>
          </a:solidFill>
          <a:ln>
            <a:noFill/>
          </a:ln>
          <a:effectLst/>
        </p:spPr>
        <p:txBody>
          <a:bodyPr rtlCol="0" anchor="ctr" lIns="0" rIns="0" tIns="0" bIns="0"/>
          <a:lstStyle/>
          <a:p/>
        </p:txBody>
      </p:sp>
      <p:pic>
        <p:nvPicPr>
          <p:cNvPr id="14" name="icone list" descr="list_white.png"/>
          <p:cNvPicPr>
            <a:picLocks noChangeAspect="1"/>
          </p:cNvPicPr>
          <p:nvPr/>
        </p:nvPicPr>
        <p:blipFill>
          <a:blip r:embed="rId5"/>
          <a:stretch>
            <a:fillRect/>
          </a:stretch>
        </p:blipFill>
        <p:spPr>
          <a:xfrm>
            <a:off x="1634490" y="4560570"/>
            <a:ext cx="388620" cy="388620"/>
          </a:xfrm>
          <a:prstGeom prst="rect">
            <a:avLst/>
          </a:prstGeom>
        </p:spPr>
      </p:pic>
      <p:sp>
        <p:nvSpPr>
          <p:cNvPr id="15" name="TextBox 14"/>
          <p:cNvSpPr txBox="1"/>
          <p:nvPr/>
        </p:nvSpPr>
        <p:spPr>
          <a:xfrm>
            <a:off x="2514600" y="429768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Definições padronizadas</a:t>
            </a:r>
          </a:p>
        </p:txBody>
      </p:sp>
      <p:sp>
        <p:nvSpPr>
          <p:cNvPr id="16" name="TextBox 15"/>
          <p:cNvSpPr txBox="1"/>
          <p:nvPr/>
        </p:nvSpPr>
        <p:spPr>
          <a:xfrm>
            <a:off x="2514600" y="4709160"/>
            <a:ext cx="841248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Sintoma-índice, período de recordatório e instrumentos validados, com taxa de resposta relatada, para reduzir a heterogeneidade entre inquéritos.</a:t>
            </a:r>
          </a:p>
        </p:txBody>
      </p:sp>
      <p:sp>
        <p:nvSpPr>
          <p:cNvPr id="17" name="Oval 16"/>
          <p:cNvSpPr/>
          <p:nvPr/>
        </p:nvSpPr>
        <p:spPr>
          <a:xfrm>
            <a:off x="1440180" y="6149340"/>
            <a:ext cx="777240" cy="777240"/>
          </a:xfrm>
          <a:prstGeom prst="ellipse">
            <a:avLst/>
          </a:prstGeom>
          <a:solidFill>
            <a:srgbClr val="002060"/>
          </a:solidFill>
          <a:ln>
            <a:noFill/>
          </a:ln>
          <a:effectLst/>
        </p:spPr>
        <p:txBody>
          <a:bodyPr rtlCol="0" anchor="ctr" lIns="0" rIns="0" tIns="0" bIns="0"/>
          <a:lstStyle/>
          <a:p/>
        </p:txBody>
      </p:sp>
      <p:pic>
        <p:nvPicPr>
          <p:cNvPr id="18" name="icone dna" descr="dna_white.png"/>
          <p:cNvPicPr>
            <a:picLocks noChangeAspect="1"/>
          </p:cNvPicPr>
          <p:nvPr/>
        </p:nvPicPr>
        <p:blipFill>
          <a:blip r:embed="rId6"/>
          <a:stretch>
            <a:fillRect/>
          </a:stretch>
        </p:blipFill>
        <p:spPr>
          <a:xfrm>
            <a:off x="1634490" y="6343650"/>
            <a:ext cx="388620" cy="388620"/>
          </a:xfrm>
          <a:prstGeom prst="rect">
            <a:avLst/>
          </a:prstGeom>
        </p:spPr>
      </p:pic>
      <p:sp>
        <p:nvSpPr>
          <p:cNvPr id="19" name="TextBox 18"/>
          <p:cNvSpPr txBox="1"/>
          <p:nvPr/>
        </p:nvSpPr>
        <p:spPr>
          <a:xfrm>
            <a:off x="2514600" y="608076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Desfechos crônicos</a:t>
            </a:r>
          </a:p>
        </p:txBody>
      </p:sp>
      <p:sp>
        <p:nvSpPr>
          <p:cNvPr id="20" name="TextBox 19"/>
          <p:cNvSpPr txBox="1"/>
          <p:nvPr/>
        </p:nvSpPr>
        <p:spPr>
          <a:xfrm>
            <a:off x="2514600" y="6492240"/>
            <a:ext cx="841248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Incidência de câncer e DPOC na equipe cirúrgica; seguimento de marcadores (mucosa nasal, HPV, função pulmonar) ao longo do tempo.</a:t>
            </a:r>
          </a:p>
        </p:txBody>
      </p:sp>
      <p:sp>
        <p:nvSpPr>
          <p:cNvPr id="21" name="Oval 20"/>
          <p:cNvSpPr/>
          <p:nvPr/>
        </p:nvSpPr>
        <p:spPr>
          <a:xfrm>
            <a:off x="1440180" y="7932419"/>
            <a:ext cx="777240" cy="777240"/>
          </a:xfrm>
          <a:prstGeom prst="ellipse">
            <a:avLst/>
          </a:prstGeom>
          <a:solidFill>
            <a:srgbClr val="002060"/>
          </a:solidFill>
          <a:ln>
            <a:noFill/>
          </a:ln>
          <a:effectLst/>
        </p:spPr>
        <p:txBody>
          <a:bodyPr rtlCol="0" anchor="ctr" lIns="0" rIns="0" tIns="0" bIns="0"/>
          <a:lstStyle/>
          <a:p/>
        </p:txBody>
      </p:sp>
      <p:pic>
        <p:nvPicPr>
          <p:cNvPr id="22" name="icone fan" descr="fan_white.png"/>
          <p:cNvPicPr>
            <a:picLocks noChangeAspect="1"/>
          </p:cNvPicPr>
          <p:nvPr/>
        </p:nvPicPr>
        <p:blipFill>
          <a:blip r:embed="rId7"/>
          <a:stretch>
            <a:fillRect/>
          </a:stretch>
        </p:blipFill>
        <p:spPr>
          <a:xfrm>
            <a:off x="1634490" y="8126729"/>
            <a:ext cx="388620" cy="388620"/>
          </a:xfrm>
          <a:prstGeom prst="rect">
            <a:avLst/>
          </a:prstGeom>
        </p:spPr>
      </p:pic>
      <p:sp>
        <p:nvSpPr>
          <p:cNvPr id="23" name="TextBox 22"/>
          <p:cNvSpPr txBox="1"/>
          <p:nvPr/>
        </p:nvSpPr>
        <p:spPr>
          <a:xfrm>
            <a:off x="2514600" y="7863840"/>
            <a:ext cx="868680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Efetividade das medidas</a:t>
            </a:r>
          </a:p>
        </p:txBody>
      </p:sp>
      <p:sp>
        <p:nvSpPr>
          <p:cNvPr id="24" name="TextBox 23"/>
          <p:cNvSpPr txBox="1"/>
          <p:nvPr/>
        </p:nvSpPr>
        <p:spPr>
          <a:xfrm>
            <a:off x="2514600" y="8275319"/>
            <a:ext cx="8412480" cy="128016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Estudos de intervenção sobre exaustão local, respiradores N95/PFF2 e educação, com medição de exposição antes e depois.</a:t>
            </a:r>
          </a:p>
        </p:txBody>
      </p:sp>
      <p:sp>
        <p:nvSpPr>
          <p:cNvPr id="25" name="Rounded Rectangle 24"/>
          <p:cNvSpPr/>
          <p:nvPr/>
        </p:nvSpPr>
        <p:spPr>
          <a:xfrm>
            <a:off x="11475720" y="1783080"/>
            <a:ext cx="6309360" cy="7955279"/>
          </a:xfrm>
          <a:prstGeom prst="roundRect">
            <a:avLst>
              <a:gd name="adj" fmla="val 6000"/>
            </a:avLst>
          </a:prstGeom>
          <a:solidFill>
            <a:srgbClr val="FBF5E3"/>
          </a:solidFill>
          <a:ln>
            <a:noFill/>
          </a:ln>
          <a:effectLst/>
        </p:spPr>
        <p:txBody>
          <a:bodyPr rtlCol="0" anchor="ctr"/>
          <a:lstStyle/>
          <a:p/>
        </p:txBody>
      </p:sp>
      <p:sp>
        <p:nvSpPr>
          <p:cNvPr id="26" name="TextBox 25"/>
          <p:cNvSpPr txBox="1"/>
          <p:nvPr/>
        </p:nvSpPr>
        <p:spPr>
          <a:xfrm>
            <a:off x="11750040" y="1874519"/>
            <a:ext cx="5760720" cy="45720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Para este trabalho</a:t>
            </a:r>
          </a:p>
        </p:txBody>
      </p:sp>
      <p:pic>
        <p:nvPicPr>
          <p:cNvPr id="27" name="icone upload" descr="upload_navy.png"/>
          <p:cNvPicPr>
            <a:picLocks noChangeAspect="1"/>
          </p:cNvPicPr>
          <p:nvPr/>
        </p:nvPicPr>
        <p:blipFill>
          <a:blip r:embed="rId8"/>
          <a:stretch>
            <a:fillRect/>
          </a:stretch>
        </p:blipFill>
        <p:spPr>
          <a:xfrm>
            <a:off x="11750040" y="2606040"/>
            <a:ext cx="502920" cy="502920"/>
          </a:xfrm>
          <a:prstGeom prst="rect">
            <a:avLst/>
          </a:prstGeom>
        </p:spPr>
      </p:pic>
      <p:sp>
        <p:nvSpPr>
          <p:cNvPr id="28" name="TextBox 27"/>
          <p:cNvSpPr txBox="1"/>
          <p:nvPr/>
        </p:nvSpPr>
        <p:spPr>
          <a:xfrm>
            <a:off x="12435840" y="251460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Submissão do manuscrito a periódico indexado (versão final v5 concluída).</a:t>
            </a:r>
          </a:p>
        </p:txBody>
      </p:sp>
      <p:pic>
        <p:nvPicPr>
          <p:cNvPr id="29" name="icone calendar" descr="calendar_navy.png"/>
          <p:cNvPicPr>
            <a:picLocks noChangeAspect="1"/>
          </p:cNvPicPr>
          <p:nvPr/>
        </p:nvPicPr>
        <p:blipFill>
          <a:blip r:embed="rId9"/>
          <a:stretch>
            <a:fillRect/>
          </a:stretch>
        </p:blipFill>
        <p:spPr>
          <a:xfrm>
            <a:off x="11750040" y="4023359"/>
            <a:ext cx="502920" cy="502920"/>
          </a:xfrm>
          <a:prstGeom prst="rect">
            <a:avLst/>
          </a:prstGeom>
        </p:spPr>
      </p:pic>
      <p:sp>
        <p:nvSpPr>
          <p:cNvPr id="30" name="TextBox 29"/>
          <p:cNvSpPr txBox="1"/>
          <p:nvPr/>
        </p:nvSpPr>
        <p:spPr>
          <a:xfrm>
            <a:off x="12435840" y="393192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Atualização da busca antes da publicação e vigilância dos 6 relatórios não recuperados.</a:t>
            </a:r>
          </a:p>
        </p:txBody>
      </p:sp>
      <p:pic>
        <p:nvPicPr>
          <p:cNvPr id="31" name="icone people" descr="people_navy.png"/>
          <p:cNvPicPr>
            <a:picLocks noChangeAspect="1"/>
          </p:cNvPicPr>
          <p:nvPr/>
        </p:nvPicPr>
        <p:blipFill>
          <a:blip r:embed="rId10"/>
          <a:stretch>
            <a:fillRect/>
          </a:stretch>
        </p:blipFill>
        <p:spPr>
          <a:xfrm>
            <a:off x="11750040" y="5440679"/>
            <a:ext cx="502920" cy="502920"/>
          </a:xfrm>
          <a:prstGeom prst="rect">
            <a:avLst/>
          </a:prstGeom>
        </p:spPr>
      </p:pic>
      <p:sp>
        <p:nvSpPr>
          <p:cNvPr id="32" name="TextBox 31"/>
          <p:cNvSpPr txBox="1"/>
          <p:nvPr/>
        </p:nvSpPr>
        <p:spPr>
          <a:xfrm>
            <a:off x="12435840" y="534924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Replicação da triagem e extração em duplicata, com segundo revisor independente.</a:t>
            </a:r>
          </a:p>
        </p:txBody>
      </p:sp>
      <p:pic>
        <p:nvPicPr>
          <p:cNvPr id="33" name="icone hospital" descr="hospital_navy.png"/>
          <p:cNvPicPr>
            <a:picLocks noChangeAspect="1"/>
          </p:cNvPicPr>
          <p:nvPr/>
        </p:nvPicPr>
        <p:blipFill>
          <a:blip r:embed="rId11"/>
          <a:stretch>
            <a:fillRect/>
          </a:stretch>
        </p:blipFill>
        <p:spPr>
          <a:xfrm>
            <a:off x="11750040" y="6858000"/>
            <a:ext cx="502920" cy="502920"/>
          </a:xfrm>
          <a:prstGeom prst="rect">
            <a:avLst/>
          </a:prstGeom>
        </p:spPr>
      </p:pic>
      <p:sp>
        <p:nvSpPr>
          <p:cNvPr id="34" name="TextBox 33"/>
          <p:cNvSpPr txBox="1"/>
          <p:nvPr/>
        </p:nvSpPr>
        <p:spPr>
          <a:xfrm>
            <a:off x="12435840" y="6766560"/>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Devolutiva institucional: proposta de protocolo de proteção à fumaça no centro cirúrgico.</a:t>
            </a:r>
          </a:p>
        </p:txBody>
      </p:sp>
      <p:pic>
        <p:nvPicPr>
          <p:cNvPr id="35" name="icone graduation" descr="graduation_navy.png"/>
          <p:cNvPicPr>
            <a:picLocks noChangeAspect="1"/>
          </p:cNvPicPr>
          <p:nvPr/>
        </p:nvPicPr>
        <p:blipFill>
          <a:blip r:embed="rId12"/>
          <a:stretch>
            <a:fillRect/>
          </a:stretch>
        </p:blipFill>
        <p:spPr>
          <a:xfrm>
            <a:off x="11750040" y="8275319"/>
            <a:ext cx="502920" cy="502920"/>
          </a:xfrm>
          <a:prstGeom prst="rect">
            <a:avLst/>
          </a:prstGeom>
        </p:spPr>
      </p:pic>
      <p:sp>
        <p:nvSpPr>
          <p:cNvPr id="36" name="TextBox 35"/>
          <p:cNvSpPr txBox="1"/>
          <p:nvPr/>
        </p:nvSpPr>
        <p:spPr>
          <a:xfrm>
            <a:off x="12435840" y="8183879"/>
            <a:ext cx="5120640" cy="1325880"/>
          </a:xfrm>
          <a:prstGeom prst="rect">
            <a:avLst/>
          </a:prstGeom>
          <a:noFill/>
        </p:spPr>
        <p:txBody>
          <a:bodyPr wrap="square" lIns="0" rIns="0" tIns="0" bIns="0" anchor="t">
            <a:noAutofit/>
          </a:bodyPr>
          <a:lstStyle/>
          <a:p>
            <a:pPr algn="l">
              <a:lnSpc>
                <a:spcPct val="105000"/>
              </a:lnSpc>
              <a:spcAft>
                <a:spcPts val="0"/>
              </a:spcAft>
              <a:buNone/>
            </a:pPr>
            <a:r>
              <a:rPr sz="1500" b="0" i="0">
                <a:solidFill>
                  <a:srgbClr val="1F2433"/>
                </a:solidFill>
                <a:latin typeface="Arial"/>
              </a:rPr>
              <a:t>Formação do aluno em síntese de evidências: do protocolo ao GRADE, com código aberto.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138160" cy="7955279"/>
          </a:xfrm>
          <a:prstGeom prst="rect">
            <a:avLst/>
          </a:prstGeom>
          <a:noFill/>
        </p:spPr>
        <p:txBody>
          <a:bodyPr wrap="square" lIns="0" rIns="0" tIns="0" bIns="0" anchor="t">
            <a:noAutofit/>
          </a:bodyPr>
          <a:lstStyle/>
          <a:p>
            <a:pPr algn="l">
              <a:lnSpc>
                <a:spcPct val="100000"/>
              </a:lnSpc>
              <a:spcAft>
                <a:spcPts val="1200"/>
              </a:spcAft>
              <a:buNone/>
            </a:pPr>
            <a:r>
              <a:rPr sz="1700" b="0" i="0">
                <a:solidFill>
                  <a:srgbClr val="1F2433"/>
                </a:solidFill>
                <a:latin typeface="Arial"/>
              </a:rPr>
              <a:t>PAGE, M. J. et al. The PRISMA 2020 statement: an updated guideline for reporting systematic reviews. BMJ, v. 372, n71, 2021.</a:t>
            </a:r>
          </a:p>
          <a:p>
            <a:pPr algn="l">
              <a:lnSpc>
                <a:spcPct val="100000"/>
              </a:lnSpc>
              <a:spcAft>
                <a:spcPts val="1200"/>
              </a:spcAft>
              <a:buNone/>
            </a:pPr>
            <a:r>
              <a:rPr sz="1700" b="0" i="0">
                <a:solidFill>
                  <a:srgbClr val="1F2433"/>
                </a:solidFill>
                <a:latin typeface="Arial"/>
              </a:rPr>
              <a:t>BARKER, T. H. et al. Conducting proportional meta-analysis in different types of systematic reviews: a guide for synthesisers of evidence. BMC Med Res Methodol, v. 21, p. 189, 2021.</a:t>
            </a:r>
          </a:p>
          <a:p>
            <a:pPr algn="l">
              <a:lnSpc>
                <a:spcPct val="100000"/>
              </a:lnSpc>
              <a:spcAft>
                <a:spcPts val="1200"/>
              </a:spcAft>
              <a:buNone/>
            </a:pPr>
            <a:r>
              <a:rPr sz="1700" b="0" i="0">
                <a:solidFill>
                  <a:srgbClr val="1F2433"/>
                </a:solidFill>
                <a:latin typeface="Arial"/>
              </a:rPr>
              <a:t>INTHOUT, J.; IOANNIDIS, J. P. A.; BORM, G. F. The Hartung-Knapp-Sidik-Jonkman method for random effects meta-analysis is straightforward and considerably outperforms the standard DerSimonian-Laird method. BMC Med Res Methodol, v. 14, p. 25, 2014.</a:t>
            </a:r>
          </a:p>
          <a:p>
            <a:pPr algn="l">
              <a:lnSpc>
                <a:spcPct val="100000"/>
              </a:lnSpc>
              <a:spcAft>
                <a:spcPts val="1200"/>
              </a:spcAft>
              <a:buNone/>
            </a:pPr>
            <a:r>
              <a:rPr sz="1700" b="0" i="0">
                <a:solidFill>
                  <a:srgbClr val="1F2433"/>
                </a:solidFill>
                <a:latin typeface="Arial"/>
              </a:rPr>
              <a:t>RILEY, R. D.; HIGGINS, J. P. T.; DEEKS, J. J. Interpretation of random effects meta-analyses. BMJ, v. 342, d549, 2011.</a:t>
            </a:r>
          </a:p>
          <a:p>
            <a:pPr algn="l">
              <a:lnSpc>
                <a:spcPct val="100000"/>
              </a:lnSpc>
              <a:spcAft>
                <a:spcPts val="1200"/>
              </a:spcAft>
              <a:buNone/>
            </a:pPr>
            <a:r>
              <a:rPr sz="1700" b="0" i="0">
                <a:solidFill>
                  <a:srgbClr val="1F2433"/>
                </a:solidFill>
                <a:latin typeface="Arial"/>
              </a:rPr>
              <a:t>AROMATARIS, E.; MUNN, Z. (Ed.). JBI Manual for Evidence Synthesis. Adelaide: JBI, 2020.</a:t>
            </a:r>
          </a:p>
          <a:p>
            <a:pPr algn="l">
              <a:lnSpc>
                <a:spcPct val="100000"/>
              </a:lnSpc>
              <a:spcAft>
                <a:spcPts val="1200"/>
              </a:spcAft>
              <a:buNone/>
            </a:pPr>
            <a:r>
              <a:rPr sz="1700" b="0" i="0">
                <a:solidFill>
                  <a:srgbClr val="1F2433"/>
                </a:solidFill>
                <a:latin typeface="Arial"/>
              </a:rPr>
              <a:t>MUNN, Z. et al. Methodological guidance for systematic reviews of observational epidemiological studies reporting prevalence and cumulative incidence data. Int J Evid Based Healthc, v. 13, n. 3, p. 147-153, 2015.</a:t>
            </a:r>
          </a:p>
          <a:p>
            <a:pPr algn="l">
              <a:lnSpc>
                <a:spcPct val="100000"/>
              </a:lnSpc>
              <a:spcAft>
                <a:spcPts val="1200"/>
              </a:spcAft>
              <a:buNone/>
            </a:pPr>
            <a:r>
              <a:rPr sz="1700" b="0" i="0">
                <a:solidFill>
                  <a:srgbClr val="1F2433"/>
                </a:solidFill>
                <a:latin typeface="Arial"/>
              </a:rPr>
              <a:t>BRASIL. Ministério da Saúde. Diretrizes metodológicas: Sistema GRADE. Brasília: Ministério da Saúde, 2014.</a:t>
            </a:r>
          </a:p>
          <a:p>
            <a:pPr algn="l">
              <a:lnSpc>
                <a:spcPct val="100000"/>
              </a:lnSpc>
              <a:spcAft>
                <a:spcPts val="1200"/>
              </a:spcAft>
              <a:buNone/>
            </a:pPr>
            <a:r>
              <a:rPr sz="1700" b="0" i="0">
                <a:solidFill>
                  <a:srgbClr val="1F2433"/>
                </a:solidFill>
                <a:latin typeface="Arial"/>
              </a:rPr>
              <a:t>HURST, R. D.; STEWART, C. L. Hazards of surgical smoke from electrocautery: a critical review of the data. Am J Surg, v. 233, p. 29-36, 2024.</a:t>
            </a:r>
          </a:p>
        </p:txBody>
      </p:sp>
      <p:sp>
        <p:nvSpPr>
          <p:cNvPr id="8" name="TextBox 7"/>
          <p:cNvSpPr txBox="1"/>
          <p:nvPr/>
        </p:nvSpPr>
        <p:spPr>
          <a:xfrm>
            <a:off x="9646920" y="1783080"/>
            <a:ext cx="8138160" cy="7955279"/>
          </a:xfrm>
          <a:prstGeom prst="rect">
            <a:avLst/>
          </a:prstGeom>
          <a:noFill/>
        </p:spPr>
        <p:txBody>
          <a:bodyPr wrap="square" lIns="0" rIns="0" tIns="0" bIns="0" anchor="t">
            <a:noAutofit/>
          </a:bodyPr>
          <a:lstStyle/>
          <a:p>
            <a:pPr algn="l">
              <a:lnSpc>
                <a:spcPct val="100000"/>
              </a:lnSpc>
              <a:spcAft>
                <a:spcPts val="1200"/>
              </a:spcAft>
              <a:buNone/>
            </a:pPr>
            <a:r>
              <a:rPr sz="1700" b="0" i="0">
                <a:solidFill>
                  <a:srgbClr val="1F2433"/>
                </a:solidFill>
                <a:latin typeface="Arial"/>
              </a:rPr>
              <a:t>BENAIM, E. H.; JASPERS, I. Surgical smoke and its components, effects, and mitigation: a contemporary review. Toxicol Sci, v. 198, n. 2, p. 157-168, 2024.</a:t>
            </a:r>
          </a:p>
          <a:p>
            <a:pPr algn="l">
              <a:lnSpc>
                <a:spcPct val="100000"/>
              </a:lnSpc>
              <a:spcAft>
                <a:spcPts val="1200"/>
              </a:spcAft>
              <a:buNone/>
            </a:pPr>
            <a:r>
              <a:rPr sz="1700" b="0" i="0">
                <a:solidFill>
                  <a:srgbClr val="1F2433"/>
                </a:solidFill>
                <a:latin typeface="Arial"/>
              </a:rPr>
              <a:t>DIXON, K.; DASGUPTA, P.; VASDEV, N. A systematic review of the harmful effects of surgical smoke inhalation on operating room personnel. Health Sci Rev, v. 6, 100077, 2023.</a:t>
            </a:r>
          </a:p>
          <a:p>
            <a:pPr algn="l">
              <a:lnSpc>
                <a:spcPct val="100000"/>
              </a:lnSpc>
              <a:spcAft>
                <a:spcPts val="1200"/>
              </a:spcAft>
              <a:buNone/>
            </a:pPr>
            <a:r>
              <a:rPr sz="1700" b="0" i="0">
                <a:solidFill>
                  <a:srgbClr val="1F2433"/>
                </a:solidFill>
                <a:latin typeface="Arial"/>
              </a:rPr>
              <a:t>İLÇE, A.; YUZDEN, G. E.; VAN GIERSBERGEN, M. Y. The examination of problems experienced by nurses and doctors associated with exposure to surgical smoke and the necessary precautions. J Clin Nurs, v. 26, p. 1555-1561, 2017.</a:t>
            </a:r>
          </a:p>
          <a:p>
            <a:pPr algn="l">
              <a:lnSpc>
                <a:spcPct val="100000"/>
              </a:lnSpc>
              <a:spcAft>
                <a:spcPts val="1200"/>
              </a:spcAft>
              <a:buNone/>
            </a:pPr>
            <a:r>
              <a:rPr sz="1700" b="0" i="0">
                <a:solidFill>
                  <a:srgbClr val="1F2433"/>
                </a:solidFill>
                <a:latin typeface="Arial"/>
              </a:rPr>
              <a:t>BIENIEK, A. A. et al. Risco ocupacional: sinais e sintomas relacionados à exposição à fumaça cirúrgica. Rev SOBECC, v. 27, 2022.</a:t>
            </a:r>
          </a:p>
          <a:p>
            <a:pPr algn="l">
              <a:lnSpc>
                <a:spcPct val="100000"/>
              </a:lnSpc>
              <a:spcAft>
                <a:spcPts val="1200"/>
              </a:spcAft>
              <a:buNone/>
            </a:pPr>
            <a:r>
              <a:rPr sz="1700" b="0" i="0">
                <a:solidFill>
                  <a:srgbClr val="1F2433"/>
                </a:solidFill>
                <a:latin typeface="Arial"/>
              </a:rPr>
              <a:t>HU, X. et al. Prevalence of HPV infections in surgical smoke exposed gynecologists. Int Arch Occup Environ Health, v. 94, n. 1, p. 107-115, 2021.</a:t>
            </a:r>
          </a:p>
          <a:p>
            <a:pPr algn="l">
              <a:lnSpc>
                <a:spcPct val="100000"/>
              </a:lnSpc>
              <a:spcAft>
                <a:spcPts val="1200"/>
              </a:spcAft>
              <a:buNone/>
            </a:pPr>
            <a:r>
              <a:rPr sz="1700" b="0" i="0">
                <a:solidFill>
                  <a:srgbClr val="1F2433"/>
                </a:solidFill>
                <a:latin typeface="Arial"/>
              </a:rPr>
              <a:t>IBRAHIM, J. B. et al. Evaluation of spirometric lung function among healthcare professionals working in operating theatres: a comparative cross-sectional study. Afr J Thorac Crit Care Med, v. 31, n. 2, e2639, 2025.</a:t>
            </a:r>
          </a:p>
          <a:p>
            <a:pPr algn="l">
              <a:lnSpc>
                <a:spcPct val="100000"/>
              </a:lnSpc>
              <a:spcAft>
                <a:spcPts val="1200"/>
              </a:spcAft>
              <a:buNone/>
            </a:pPr>
            <a:r>
              <a:rPr sz="1700" b="0" i="0">
                <a:solidFill>
                  <a:srgbClr val="1F2433"/>
                </a:solidFill>
                <a:latin typeface="Arial"/>
              </a:rPr>
              <a:t>NAVARRO, M. C. et al. Cambios en la mucosa nasal de los médicos por exposición al humo por electrocoagulación. Rev Fac Nac Salud Pública, v. 34, n. 2, p. 135-144, 2016.</a:t>
            </a:r>
          </a:p>
          <a:p>
            <a:pPr algn="l">
              <a:lnSpc>
                <a:spcPct val="100000"/>
              </a:lnSpc>
              <a:spcAft>
                <a:spcPts val="1200"/>
              </a:spcAft>
              <a:buNone/>
            </a:pPr>
            <a:r>
              <a:rPr sz="1700" b="0" i="0">
                <a:solidFill>
                  <a:srgbClr val="1F2433"/>
                </a:solidFill>
                <a:latin typeface="Arial"/>
              </a:rPr>
              <a:t>CANICOBA, A. R. B. Impacto da exposição ocupacional à fumaça cirúrgica sobre os marcadores biológicos de profissionais de saúde da sala operatória. Tese (Doutorado). EE-USP, 2025.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778240" y="1828800"/>
            <a:ext cx="1005840" cy="1005840"/>
          </a:xfrm>
          <a:prstGeom prst="rect">
            <a:avLst/>
          </a:prstGeom>
        </p:spPr>
      </p:pic>
      <p:sp>
        <p:nvSpPr>
          <p:cNvPr id="7" name="TextBox 6"/>
          <p:cNvSpPr txBox="1"/>
          <p:nvPr/>
        </p:nvSpPr>
        <p:spPr>
          <a:xfrm>
            <a:off x="1143000" y="301752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023360"/>
            <a:ext cx="5367528" cy="329184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2424" y="4229100"/>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9594" y="4446270"/>
            <a:ext cx="434340" cy="434340"/>
          </a:xfrm>
          <a:prstGeom prst="rect">
            <a:avLst/>
          </a:prstGeom>
        </p:spPr>
      </p:pic>
      <p:sp>
        <p:nvSpPr>
          <p:cNvPr id="11" name="TextBox 10"/>
          <p:cNvSpPr txBox="1"/>
          <p:nvPr/>
        </p:nvSpPr>
        <p:spPr>
          <a:xfrm>
            <a:off x="1417320"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Profa. Lisie Tocci Justo, pela orientação, supervisão metodológica e revisão crítica.</a:t>
            </a:r>
          </a:p>
        </p:txBody>
      </p:sp>
      <p:sp>
        <p:nvSpPr>
          <p:cNvPr id="13" name="Rounded Rectangle 12"/>
          <p:cNvSpPr/>
          <p:nvPr/>
        </p:nvSpPr>
        <p:spPr>
          <a:xfrm>
            <a:off x="6784848" y="4023360"/>
            <a:ext cx="5367528" cy="329184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34272" y="4229100"/>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51442" y="4446270"/>
            <a:ext cx="434340" cy="434340"/>
          </a:xfrm>
          <a:prstGeom prst="rect">
            <a:avLst/>
          </a:prstGeom>
        </p:spPr>
      </p:pic>
      <p:sp>
        <p:nvSpPr>
          <p:cNvPr id="16" name="TextBox 15"/>
          <p:cNvSpPr txBox="1"/>
          <p:nvPr/>
        </p:nvSpPr>
        <p:spPr>
          <a:xfrm>
            <a:off x="7059168"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4888"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6696" y="4023360"/>
            <a:ext cx="5367528" cy="329184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76119" y="4229100"/>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93289" y="4446270"/>
            <a:ext cx="434340" cy="434340"/>
          </a:xfrm>
          <a:prstGeom prst="rect">
            <a:avLst/>
          </a:prstGeom>
        </p:spPr>
      </p:pic>
      <p:sp>
        <p:nvSpPr>
          <p:cNvPr id="21" name="TextBox 20"/>
          <p:cNvSpPr txBox="1"/>
          <p:nvPr/>
        </p:nvSpPr>
        <p:spPr>
          <a:xfrm>
            <a:off x="12701016" y="5257800"/>
            <a:ext cx="4818888" cy="45720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6736" y="5715000"/>
            <a:ext cx="4727448" cy="1554480"/>
          </a:xfrm>
          <a:prstGeom prst="rect">
            <a:avLst/>
          </a:prstGeom>
          <a:noFill/>
        </p:spPr>
        <p:txBody>
          <a:bodyPr wrap="square" lIns="0" rIns="0" tIns="0" bIns="0" anchor="t">
            <a:noAutofit/>
          </a:bodyPr>
          <a:lstStyle/>
          <a:p>
            <a:pPr algn="ctr">
              <a:lnSpc>
                <a:spcPct val="105000"/>
              </a:lnSpc>
              <a:spcAft>
                <a:spcPts val="0"/>
              </a:spcAft>
              <a:buNone/>
            </a:pPr>
            <a:r>
              <a:rPr sz="1500" b="0" i="0">
                <a:solidFill>
                  <a:srgbClr val="1F2433"/>
                </a:solidFill>
                <a:latin typeface="Arial"/>
              </a:rPr>
              <a:t>Faculdade São Leopoldo Mandic Araras e Programa de Iniciação Científica (PIC), na modalidade voluntária, pelo apoio institucional e metodológico; professores colaboradores do projeto.</a:t>
            </a:r>
          </a:p>
        </p:txBody>
      </p:sp>
      <p:sp>
        <p:nvSpPr>
          <p:cNvPr id="23" name="Rounded Rectangle 22"/>
          <p:cNvSpPr/>
          <p:nvPr/>
        </p:nvSpPr>
        <p:spPr>
          <a:xfrm>
            <a:off x="1143000" y="7680960"/>
            <a:ext cx="16642080" cy="1828800"/>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508760" y="7772400"/>
            <a:ext cx="15910559" cy="1691640"/>
          </a:xfrm>
          <a:prstGeom prst="rect">
            <a:avLst/>
          </a:prstGeom>
          <a:noFill/>
        </p:spPr>
        <p:txBody>
          <a:bodyPr wrap="square" lIns="0" rIns="0" tIns="0" bIns="0" anchor="ctr">
            <a:noAutofit/>
          </a:bodyPr>
          <a:lstStyle/>
          <a:p>
            <a:pPr algn="ctr">
              <a:lnSpc>
                <a:spcPct val="100000"/>
              </a:lnSpc>
              <a:spcAft>
                <a:spcPts val="600"/>
              </a:spcAft>
              <a:buNone/>
            </a:pPr>
            <a:r>
              <a:rPr sz="1600" b="1" i="0">
                <a:solidFill>
                  <a:srgbClr val="002060"/>
                </a:solidFill>
                <a:latin typeface="Arial"/>
              </a:rPr>
              <a:t>Registro PROSPERO: </a:t>
            </a:r>
            <a:r>
              <a:rPr sz="1600" b="0" i="0">
                <a:solidFill>
                  <a:srgbClr val="1F2433"/>
                </a:solidFill>
                <a:latin typeface="Arial"/>
              </a:rPr>
              <a:t>CRD420251238727   ·   </a:t>
            </a:r>
            <a:r>
              <a:rPr sz="1600" b="1" i="0">
                <a:solidFill>
                  <a:srgbClr val="002060"/>
                </a:solidFill>
                <a:latin typeface="Arial"/>
              </a:rPr>
              <a:t>Dados, código e figuras: </a:t>
            </a:r>
            <a:r>
              <a:rPr sz="1600" b="0" i="0">
                <a:solidFill>
                  <a:srgbClr val="1F2433"/>
                </a:solidFill>
                <a:latin typeface="Arial"/>
              </a:rPr>
              <a:t>osf.io/jktmn</a:t>
            </a:r>
          </a:p>
          <a:p>
            <a:pPr algn="ctr">
              <a:lnSpc>
                <a:spcPct val="100000"/>
              </a:lnSpc>
              <a:spcAft>
                <a:spcPts val="600"/>
              </a:spcAft>
              <a:buNone/>
            </a:pPr>
            <a:r>
              <a:rPr sz="1600" b="1" i="0">
                <a:solidFill>
                  <a:srgbClr val="002060"/>
                </a:solidFill>
                <a:latin typeface="Arial"/>
              </a:rPr>
              <a:t>Financiamento: </a:t>
            </a:r>
            <a:r>
              <a:rPr sz="1600" b="0" i="0">
                <a:solidFill>
                  <a:srgbClr val="1F2433"/>
                </a:solidFill>
                <a:latin typeface="Arial"/>
              </a:rPr>
              <a:t>nenhum.   ·   </a:t>
            </a:r>
            <a:r>
              <a:rPr sz="1600" b="1" i="0">
                <a:solidFill>
                  <a:srgbClr val="002060"/>
                </a:solidFill>
                <a:latin typeface="Arial"/>
              </a:rPr>
              <a:t>Conflitos de interesse: </a:t>
            </a:r>
            <a:r>
              <a:rPr sz="1600" b="0" i="0">
                <a:solidFill>
                  <a:srgbClr val="1F2433"/>
                </a:solidFill>
                <a:latin typeface="Arial"/>
              </a:rPr>
              <a:t>nenhum.   ·   </a:t>
            </a:r>
            <a:r>
              <a:rPr sz="1600" b="1" i="0">
                <a:solidFill>
                  <a:srgbClr val="002060"/>
                </a:solidFill>
                <a:latin typeface="Arial"/>
              </a:rPr>
              <a:t>Dispensa do CEP: </a:t>
            </a:r>
            <a:r>
              <a:rPr sz="1600" b="0" i="0">
                <a:solidFill>
                  <a:srgbClr val="1F2433"/>
                </a:solidFill>
                <a:latin typeface="Arial"/>
              </a:rPr>
              <a:t>protocolo 2025/0743 (Res. CNS 510/2016).</a:t>
            </a:r>
          </a:p>
          <a:p>
            <a:pPr algn="ctr">
              <a:lnSpc>
                <a:spcPct val="100000"/>
              </a:lnSpc>
              <a:spcAft>
                <a:spcPts val="600"/>
              </a:spcAft>
              <a:buNone/>
            </a:pPr>
            <a:r>
              <a:rPr sz="1600" b="1" i="0">
                <a:solidFill>
                  <a:srgbClr val="002060"/>
                </a:solidFill>
                <a:latin typeface="Arial"/>
              </a:rPr>
              <a:t>Contato: </a:t>
            </a:r>
            <a:r>
              <a:rPr sz="1600" b="0" i="0">
                <a:solidFill>
                  <a:srgbClr val="1F2433"/>
                </a:solidFill>
                <a:latin typeface="Arial"/>
              </a:rPr>
              <a:t>theo.baccaro@med.slmandic.edu.br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