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charts/chart1.xml" ContentType="application/vnd.openxmlformats-officedocument.drawingml.chart+xml"/>
  <Override PartName="/ppt/media/image2.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8" r:id="rId2"/>
    <p:sldId id="261" r:id="rId10"/>
    <p:sldId id="262" r:id="rId11"/>
    <p:sldId id="263" r:id="rId9"/>
    <p:sldId id="264" r:id="rId8"/>
    <p:sldId id="265" r:id="rId7"/>
    <p:sldId id="266" r:id="rId6"/>
    <p:sldId id="267" r:id="rId5"/>
    <p:sldId id="268" r:id="rId4"/>
    <p:sldId id="269" r:id="rId3"/>
    <p:sldId id="270" r:id="rId19"/>
    <p:sldId id="271" r:id="rId20"/>
    <p:sldId id="272" r:id="rId21"/>
    <p:sldId id="273" r:id="rId22"/>
    <p:sldId id="274" r:id="rId23"/>
    <p:sldId id="275" r:id="rId24"/>
    <p:sldId id="276" r:id="rId25"/>
    <p:sldId id="277" r:id="rId26"/>
    <p:sldId id="278" r:id="rId27"/>
    <p:sldId id="279" r:id="rId28"/>
    <p:sldId id="260" r:id="rId12"/>
  </p:sldIdLst>
  <p:sldSz cx="18288000" cy="10287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A015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60" d="100"/>
          <a:sy n="60" d="100"/>
        </p:scale>
        <p:origin x="370"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11.xml"/><Relationship Id="rId4" Type="http://schemas.openxmlformats.org/officeDocument/2006/relationships/slide" Target="slides/slide10.xml"/><Relationship Id="rId5" Type="http://schemas.openxmlformats.org/officeDocument/2006/relationships/slide" Target="slides/slide9.xml"/><Relationship Id="rId6" Type="http://schemas.openxmlformats.org/officeDocument/2006/relationships/slide" Target="slides/slide8.xml"/><Relationship Id="rId7" Type="http://schemas.openxmlformats.org/officeDocument/2006/relationships/slide" Target="slides/slide7.xml"/><Relationship Id="rId8" Type="http://schemas.openxmlformats.org/officeDocument/2006/relationships/slide" Target="slides/slide6.xml"/><Relationship Id="rId9" Type="http://schemas.openxmlformats.org/officeDocument/2006/relationships/slide" Target="slides/slide5.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2.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microsoft.com/office/2016/11/relationships/changesInfo" Target="changesInfos/changesInfo1.xml"/><Relationship Id="rId18" Type="http://schemas.openxmlformats.org/officeDocument/2006/relationships/notesMaster" Target="notesMasters/notesMaster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lávia Alves" userId="b26f7b41b6da3d18" providerId="LiveId" clId="{48279B96-E656-47C8-AE37-55BD5486B1B4}"/>
    <pc:docChg chg="modSld">
      <pc:chgData name="Flávia Alves" userId="b26f7b41b6da3d18" providerId="LiveId" clId="{48279B96-E656-47C8-AE37-55BD5486B1B4}" dt="2026-10-02T15:48:52.725" v="25" actId="20577"/>
      <pc:docMkLst>
        <pc:docMk/>
      </pc:docMkLst>
      <pc:sldChg chg="modSp mod">
        <pc:chgData name="Flávia Alves" userId="b26f7b41b6da3d18" providerId="LiveId" clId="{48279B96-E656-47C8-AE37-55BD5486B1B4}" dt="2026-10-02T15:48:52.725" v="25" actId="20577"/>
        <pc:sldMkLst>
          <pc:docMk/>
          <pc:sldMk cId="0" sldId="258"/>
        </pc:sldMkLst>
        <pc:spChg chg="mod">
          <ac:chgData name="Flávia Alves" userId="b26f7b41b6da3d18" providerId="LiveId" clId="{48279B96-E656-47C8-AE37-55BD5486B1B4}" dt="2026-10-02T15:48:52.725" v="25" actId="20577"/>
          <ac:spMkLst>
            <pc:docMk/>
            <pc:sldMk cId="0" sldId="258"/>
            <ac:spMk id="5" creationId="{13EED535-3E35-9C1D-2B6B-5464675B12C6}"/>
          </ac:spMkLst>
        </pc:spChg>
        <pc:spChg chg="mod">
          <ac:chgData name="Flávia Alves" userId="b26f7b41b6da3d18" providerId="LiveId" clId="{48279B96-E656-47C8-AE37-55BD5486B1B4}" dt="2026-10-02T15:47:38.326" v="12" actId="20577"/>
          <ac:spMkLst>
            <pc:docMk/>
            <pc:sldMk cId="0" sldId="258"/>
            <ac:spMk id="7" creationId="{17DF7FDA-FA4B-CFC4-F048-39EA88B7B7C3}"/>
          </ac:spMkLst>
        </pc:spChg>
      </pc:sldChg>
      <pc:sldChg chg="modSp mod">
        <pc:chgData name="Flávia Alves" userId="b26f7b41b6da3d18" providerId="LiveId" clId="{48279B96-E656-47C8-AE37-55BD5486B1B4}" dt="2026-10-02T15:47:14.136" v="11" actId="20577"/>
        <pc:sldMkLst>
          <pc:docMk/>
          <pc:sldMk cId="43250430" sldId="260"/>
        </pc:sldMkLst>
        <pc:spChg chg="mod">
          <ac:chgData name="Flávia Alves" userId="b26f7b41b6da3d18" providerId="LiveId" clId="{48279B96-E656-47C8-AE37-55BD5486B1B4}" dt="2026-10-02T15:47:14.136" v="11" actId="20577"/>
          <ac:spMkLst>
            <pc:docMk/>
            <pc:sldMk cId="43250430" sldId="260"/>
            <ac:spMk id="10" creationId="{F7C5D084-7D27-940F-6996-698E06882E08}"/>
          </ac:spMkLst>
        </pc:spChg>
      </pc:sldChg>
      <pc:sldChg chg="modSp mod">
        <pc:chgData name="Flávia Alves" userId="b26f7b41b6da3d18" providerId="LiveId" clId="{48279B96-E656-47C8-AE37-55BD5486B1B4}" dt="2026-10-02T15:47:01.268" v="10" actId="1035"/>
        <pc:sldMkLst>
          <pc:docMk/>
          <pc:sldMk cId="333493163" sldId="280"/>
        </pc:sldMkLst>
        <pc:spChg chg="mod">
          <ac:chgData name="Flávia Alves" userId="b26f7b41b6da3d18" providerId="LiveId" clId="{48279B96-E656-47C8-AE37-55BD5486B1B4}" dt="2026-10-02T15:46:56.449" v="8" actId="14100"/>
          <ac:spMkLst>
            <pc:docMk/>
            <pc:sldMk cId="333493163" sldId="280"/>
            <ac:spMk id="3" creationId="{D367EA2F-EAAF-7687-9AFE-7DBE4216341E}"/>
          </ac:spMkLst>
        </pc:spChg>
        <pc:picChg chg="mod">
          <ac:chgData name="Flávia Alves" userId="b26f7b41b6da3d18" providerId="LiveId" clId="{48279B96-E656-47C8-AE37-55BD5486B1B4}" dt="2026-10-02T15:47:01.268" v="10" actId="1035"/>
          <ac:picMkLst>
            <pc:docMk/>
            <pc:sldMk cId="333493163" sldId="280"/>
            <ac:picMk id="2" creationId="{1E344D4C-B05B-36E8-6A59-3414AE69FCF3}"/>
          </ac:picMkLst>
        </pc:pic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Registros</c:v>
                </c:pt>
              </c:strCache>
            </c:strRef>
          </c:tx>
          <c:spPr>
            <a:solidFill>
              <a:srgbClr val="002060"/>
            </a:solidFill>
          </c:spPr>
          <c:dLbls>
            <c:dLbl>
              <c:idx val="0"/>
              <c:tx>
                <c:rich>
                  <a:bodyPr/>
                  <a:lstStyle/>
                  <a:p>
                    <a:r>
                      <a:rPr sz="1400">
                        <a:solidFill>
                          <a:srgbClr val="1F2433"/>
                        </a:solidFill>
                        <a:latin typeface="Arial"/>
                      </a:rPr>
                      <a:t>4.522</a:t>
                    </a:r>
                  </a:p>
                </c:rich>
              </c:tx>
              <c:dLblPos val="outEnd"/>
              <c:showLegendKey val="0"/>
              <c:showVal val="1"/>
              <c:showCatName val="0"/>
              <c:showSerName val="0"/>
              <c:showPercent val="0"/>
              <c:showBubbleSize val="0"/>
            </c:dLbl>
            <c:dLbl>
              <c:idx val="1"/>
              <c:tx>
                <c:rich>
                  <a:bodyPr/>
                  <a:lstStyle/>
                  <a:p>
                    <a:r>
                      <a:rPr sz="1400">
                        <a:solidFill>
                          <a:srgbClr val="1F2433"/>
                        </a:solidFill>
                        <a:latin typeface="Arial"/>
                      </a:rPr>
                      <a:t>4.660</a:t>
                    </a:r>
                  </a:p>
                </c:rich>
              </c:tx>
              <c:dLblPos val="outEnd"/>
              <c:showLegendKey val="0"/>
              <c:showVal val="1"/>
              <c:showCatName val="0"/>
              <c:showSerName val="0"/>
              <c:showPercent val="0"/>
              <c:showBubbleSize val="0"/>
            </c:dLbl>
            <c:dLbl>
              <c:idx val="2"/>
              <c:tx>
                <c:rich>
                  <a:bodyPr/>
                  <a:lstStyle/>
                  <a:p>
                    <a:r>
                      <a:rPr sz="1400">
                        <a:solidFill>
                          <a:srgbClr val="1F2433"/>
                        </a:solidFill>
                        <a:latin typeface="Arial"/>
                      </a:rPr>
                      <a:t>3.629</a:t>
                    </a:r>
                  </a:p>
                </c:rich>
              </c:tx>
              <c:dLblPos val="outEnd"/>
              <c:showLegendKey val="0"/>
              <c:showVal val="1"/>
              <c:showCatName val="0"/>
              <c:showSerName val="0"/>
              <c:showPercent val="0"/>
              <c:showBubbleSize val="0"/>
            </c:dLbl>
            <c:dLbl>
              <c:idx val="3"/>
              <c:tx>
                <c:rich>
                  <a:bodyPr/>
                  <a:lstStyle/>
                  <a:p>
                    <a:r>
                      <a:rPr sz="1400">
                        <a:solidFill>
                          <a:srgbClr val="1F2433"/>
                        </a:solidFill>
                        <a:latin typeface="Arial"/>
                      </a:rPr>
                      <a:t>2.639</a:t>
                    </a:r>
                  </a:p>
                </c:rich>
              </c:tx>
              <c:dLblPos val="outEnd"/>
              <c:showLegendKey val="0"/>
              <c:showVal val="1"/>
              <c:showCatName val="0"/>
              <c:showSerName val="0"/>
              <c:showPercent val="0"/>
              <c:showBubbleSize val="0"/>
            </c:dLbl>
            <c:dLbl>
              <c:idx val="4"/>
              <c:tx>
                <c:rich>
                  <a:bodyPr/>
                  <a:lstStyle/>
                  <a:p>
                    <a:r>
                      <a:rPr sz="1400">
                        <a:solidFill>
                          <a:srgbClr val="1F2433"/>
                        </a:solidFill>
                        <a:latin typeface="Arial"/>
                      </a:rPr>
                      <a:t>1.229</a:t>
                    </a:r>
                  </a:p>
                </c:rich>
              </c:tx>
              <c:dLblPos val="outEnd"/>
              <c:showLegendKey val="0"/>
              <c:showVal val="1"/>
              <c:showCatName val="0"/>
              <c:showSerName val="0"/>
              <c:showPercent val="0"/>
              <c:showBubbleSize val="0"/>
            </c:dLbl>
            <c:dLbl>
              <c:idx val="5"/>
              <c:tx>
                <c:rich>
                  <a:bodyPr/>
                  <a:lstStyle/>
                  <a:p>
                    <a:r>
                      <a:rPr sz="1400">
                        <a:solidFill>
                          <a:srgbClr val="1F2433"/>
                        </a:solidFill>
                        <a:latin typeface="Arial"/>
                      </a:rPr>
                      <a:t>50</a:t>
                    </a:r>
                  </a:p>
                </c:rich>
              </c:tx>
              <c:dLblPos val="outEnd"/>
              <c:showLegendKey val="0"/>
              <c:showVal val="1"/>
              <c:showCatName val="0"/>
              <c:showSerName val="0"/>
              <c:showPercent val="0"/>
              <c:showBubbleSize val="0"/>
            </c:dLbl>
            <c:dLbl>
              <c:idx val="6"/>
              <c:tx>
                <c:rich>
                  <a:bodyPr/>
                  <a:lstStyle/>
                  <a:p>
                    <a:r>
                      <a:rPr sz="1400">
                        <a:solidFill>
                          <a:srgbClr val="1F2433"/>
                        </a:solidFill>
                        <a:latin typeface="Arial"/>
                      </a:rPr>
                      <a:t>28</a:t>
                    </a:r>
                  </a:p>
                </c:rich>
              </c:tx>
              <c:dLblPos val="outEnd"/>
              <c:showLegendKey val="0"/>
              <c:showVal val="1"/>
              <c:showCatName val="0"/>
              <c:showSerName val="0"/>
              <c:showPercent val="0"/>
              <c:showBubbleSize val="0"/>
            </c:dLbl>
            <c:dLbl>
              <c:idx val="7"/>
              <c:tx>
                <c:rich>
                  <a:bodyPr/>
                  <a:lstStyle/>
                  <a:p>
                    <a:r>
                      <a:rPr sz="1400">
                        <a:solidFill>
                          <a:srgbClr val="1F2433"/>
                        </a:solidFill>
                        <a:latin typeface="Arial"/>
                      </a:rPr>
                      <a:t>0</a:t>
                    </a:r>
                  </a:p>
                </c:rich>
              </c:tx>
              <c:dLblPos val="outEnd"/>
              <c:showLegendKey val="0"/>
              <c:showVal val="1"/>
              <c:showCatName val="0"/>
              <c:showSerName val="0"/>
              <c:showPercent val="0"/>
              <c:showBubbleSize val="0"/>
            </c:dLbl>
            <c:dLbl>
              <c:idx val="8"/>
              <c:tx>
                <c:rich>
                  <a:bodyPr/>
                  <a:lstStyle/>
                  <a:p>
                    <a:r>
                      <a:rPr sz="1400">
                        <a:solidFill>
                          <a:srgbClr val="1F2433"/>
                        </a:solidFill>
                        <a:latin typeface="Arial"/>
                      </a:rPr>
                      <a:t>0</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Sheet1!$A$2:$A$10</c:f>
              <c:strCache>
                <c:ptCount val="9"/>
                <c:pt idx="0">
                  <c:v>PubMed/MEDLINE</c:v>
                </c:pt>
                <c:pt idx="1">
                  <c:v>Embase</c:v>
                </c:pt>
                <c:pt idx="2">
                  <c:v>Web of Science</c:v>
                </c:pt>
                <c:pt idx="3">
                  <c:v>Scopus</c:v>
                </c:pt>
                <c:pt idx="4">
                  <c:v>BVS (LILACS/IBECS)</c:v>
                </c:pt>
                <c:pt idx="5">
                  <c:v>Google Scholar</c:v>
                </c:pt>
                <c:pt idx="6">
                  <c:v>SciELO</c:v>
                </c:pt>
                <c:pt idx="7">
                  <c:v>Cochrane CENTRAL</c:v>
                </c:pt>
                <c:pt idx="8">
                  <c:v>Catálogo CAPES</c:v>
                </c:pt>
              </c:strCache>
            </c:strRef>
          </c:cat>
          <c:val>
            <c:numRef>
              <c:f>Sheet1!$B$2:$B$10</c:f>
              <c:numCache>
                <c:formatCode>General</c:formatCode>
                <c:ptCount val="9"/>
                <c:pt idx="0">
                  <c:v>4522</c:v>
                </c:pt>
                <c:pt idx="1">
                  <c:v>4660</c:v>
                </c:pt>
                <c:pt idx="2">
                  <c:v>3629</c:v>
                </c:pt>
                <c:pt idx="3">
                  <c:v>2639</c:v>
                </c:pt>
                <c:pt idx="4">
                  <c:v>1229</c:v>
                </c:pt>
                <c:pt idx="5">
                  <c:v>50</c:v>
                </c:pt>
                <c:pt idx="6">
                  <c:v>28</c:v>
                </c:pt>
                <c:pt idx="7">
                  <c:v>0</c:v>
                </c:pt>
                <c:pt idx="8">
                  <c:v>0</c:v>
                </c:pt>
              </c:numCache>
            </c:numRef>
          </c:val>
        </c:ser>
        <c:dLbls>
          <c:numFmt formatCode="#,##0" sourceLinked="0"/>
          <c:txPr>
            <a:bodyPr/>
            <a:lstStyle/>
            <a:p>
              <a:pPr>
                <a:defRPr sz="1400">
                  <a:solidFill>
                    <a:srgbClr val="1F2433"/>
                  </a:solidFill>
                  <a:latin typeface="Aria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axMin"/>
        </c:scaling>
        <c:delete val="0"/>
        <c:axPos val="l"/>
        <c:majorTickMark val="out"/>
        <c:minorTickMark val="none"/>
        <c:tickLblPos val="nextTo"/>
        <c:spPr>
          <a:ln>
            <a:solidFill>
              <a:srgbClr val="C9CFDA"/>
            </a:solidFill>
          </a:ln>
        </c:spPr>
        <c:txPr>
          <a:bodyPr/>
          <a:lstStyle/>
          <a:p>
            <a:pPr>
              <a:defRPr sz="1400">
                <a:latin typeface="Arial"/>
              </a:defRPr>
            </a:pPr>
          </a:p>
        </c:txPr>
        <c:crossAx val="-2113994440"/>
        <c:crosses val="autoZero"/>
        <c:auto val="1"/>
        <c:lblAlgn val="ctr"/>
        <c:lblOffset val="100"/>
        <c:noMultiLvlLbl val="0"/>
      </c:catAx>
      <c:valAx>
        <c:axId val="-2113994440"/>
        <c:scaling>
          <c:max val="5685.2"/>
        </c:scaling>
        <c:delete/>
        <c:axPos val="b"/>
        <c:majorTickMark val="out"/>
        <c:minorTickMark val="none"/>
        <c:tickLblPos val="nextTo"/>
        <c:crossAx val="-2068027336"/>
        <c:crosses val="autoZero"/>
      </c:valAx>
    </c:plotArea>
    <c:dispBlanksAs val="gap"/>
  </c:chart>
  <c:txPr>
    <a:bodyPr/>
    <a:lstStyle/>
    <a:p>
      <a:pPr>
        <a:defRPr sz="1400">
          <a:solidFill>
            <a:srgbClr val="1F2433"/>
          </a:solidFill>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[0:00–0:15] CAPA (~15 s · 40 palavras)</a:t>
            </a:r>
          </a:p>
          <a:p>
            <a:r>
              <a:t>FALA:</a:t>
            </a:r>
          </a:p>
          <a:p>
            <a:r>
              <a:t>Bom dia. Sou Theo Báccaro, aluno de Medicina da São Leopoldo Mandic, orientado pela Profa. Lisie Tocci Justo. Vou apresentar nossa revisão sistemática com metanálise de prevalência sobre os efeitos da fumaça cirúrgica na saúde da equipe do centro cirúrgico.</a:t>
            </a:r>
          </a:p>
          <a:p/>
          <a:p>
            <a:r>
              <a:t>APOIO (não ler):</a:t>
            </a:r>
          </a:p>
          <a:p>
            <a:r>
              <a:t>- Coautores: Luiz Henrique Ledesma Pereira e Dra. Mariana Matera Veras (LIM05, HC-FMUSP); cite-os se sobrar fôlego.</a:t>
            </a:r>
          </a:p>
          <a:p>
            <a:r>
              <a:t>- Fale o título de forma natural, sem ler palavra por palavra. Respire e avance.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[0:15–0:35] TRAJETÓRIA (~20 s · 40 palavras)</a:t>
            </a:r>
          </a:p>
          <a:p>
            <a:r>
              <a:t>FALA:</a:t>
            </a:r>
          </a:p>
          <a:p>
            <a:r>
              <a:t>Antes de começar, o caminho. Em julho de 2025 concluí o curso de revisão sistemática e metanálise da Unicamp, com distinção, e um de escrita científica; registrei o protocolo no PROSPERO e li, um a um, 10.910 títulos e resumos.</a:t>
            </a:r>
          </a:p>
          <a:p/>
          <a:p>
            <a:r>
              <a:t>APOIO (não ler):</a:t>
            </a:r>
          </a:p>
          <a:p>
            <a:r>
              <a:t>- Cursos: Revisão Sistemática e Metanálise (Unicamp, via Coursera), 40 h, com distinção (20/07/2025); Escrita Científica: Produção de Artigos de Alto Impacto (ZucoEscrita), 3,6 h (31/07/2025); Fiocruz: ABNT, 3 h (11/03/2026) e referências, 2 h (25/03/2026). Total ≈ 49 h.</a:t>
            </a:r>
          </a:p>
          <a:p>
            <a:r>
              <a:t>- Capas (falam por si; não precisa citar): Diretrizes Metodológicas do Ministério da Saúde (estudos observacionais; Sistema GRADE) e os checklists do JBI usados (prevalência, transversal analítico, coorte).</a:t>
            </a:r>
          </a:p>
          <a:p>
            <a:r>
              <a:t>- Busca final em 09/07/2026; triagem entre julho e agosto de 2026; depois extração, JBI, metanálise em Python, GRADE e manuscrito.</a:t>
            </a:r>
          </a:p>
          <a:p>
            <a:r>
              <a:t>- A animação monta o slide sozinha (~3 s): comece a falar sem esperar. Não leia as legendas.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[0:35–1:20] INTRODUÇÃO (~45 s · 112 palavras)</a:t>
            </a:r>
          </a:p>
          <a:p>
            <a:r>
              <a:t>FALA:</a:t>
            </a:r>
          </a:p>
          <a:p>
            <a:r>
              <a:t>Fumaça cirúrgica é o subproduto da destruição térmica dos tecidos pelo eletrocautério, pelo laser e pelo bisturi ultrassônico. Ela contém hidrocarbonetos aromáticos, compostos orgânicos voláteis como o benzeno, material particulado fino e ultrafino e até material genético viral, como o HPV.</a:t>
            </a:r>
          </a:p>
          <a:p>
            <a:r>
              <a:t>Quem trabalha no centro cirúrgico relata com frequência irritação ocular, tosse, irritação de mucosas e cefaleia. Os efeitos crônicos são plausíveis, mas sem relação causal estabelecida, e o tema é controverso. Enquanto isso, exaustão de fumaça e máscaras de alta filtração ainda são pouco adotadas, e as revisões anteriores eram descritivas. Por isso propusemos uma síntese em camadas: metanálise da prevalência dos sintomas e síntese narrativa, com GRADE, dos desfechos objetivos.</a:t>
            </a:r>
          </a:p>
          <a:p/>
          <a:p>
            <a:r>
              <a:t>APOIO (não ler):</a:t>
            </a:r>
          </a:p>
          <a:p>
            <a:r>
              <a:t>- PM2,5 = fração fina (diâmetro aerodinâmico &lt; 2,5 µm); ultrafina = &lt; 0,1 µm. O manuscrito cita as duas.</a:t>
            </a:r>
          </a:p>
          <a:p>
            <a:r>
              <a:t>- Controvérsia: Hurst; Stewart (2024) argumentam que o risco pode estar superestimado; Benaim; Jaspers (2024) revisam composição e mitigação.</a:t>
            </a:r>
          </a:p>
          <a:p>
            <a:r>
              <a:t>- "Por que mais uma revisão?": as revisões que encontramos (Mowbray et al., 2013; Dixon; Dasgupta; Vasdev, 2023) não fizeram síntese quantitativa; aqui há estimativa combinada com intervalo de predição, subgrupo por país e GRADE.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[1:20–1:45] OBJETIVOS (~25 s · 55 palavras)</a:t>
            </a:r>
          </a:p>
          <a:p>
            <a:r>
              <a:t>FALA:</a:t>
            </a:r>
          </a:p>
          <a:p>
            <a:r>
              <a:t>O objetivo foi avaliar os desfechos de saúde da exposição ocupacional à fumaça cirúrgica, com ênfase na prevalência de sintomas, nos desfechos objetivos e nos biomarcadores. A pergunta seguiu o PECO e, para a prevalência, o CoCoPop, recomendado pelo JBI. Um alerta desde já: a metanálise de proporções estima frequência em expostos, não efeito causal.</a:t>
            </a:r>
          </a:p>
          <a:p/>
          <a:p>
            <a:r>
              <a:t>APOIO (não ler):</a:t>
            </a:r>
          </a:p>
          <a:p>
            <a:r>
              <a:t>- PECO e não PICO: é exposição, não intervenção alocada.</a:t>
            </a:r>
          </a:p>
          <a:p>
            <a:r>
              <a:t>- O (desfecho) no protocolo = efeitos à saúde relacionados à exposição; os que apareceram foram sintomas, espirometria, biomarcadores urinários, mucosa nasal e HPV-DNA.</a:t>
            </a:r>
          </a:p>
          <a:p>
            <a:r>
              <a:t>- CoCoPop = Condição, Contexto, População (Munn et al., 2015).</a:t>
            </a:r>
          </a:p>
          <a:p>
            <a:r>
              <a:t>- Específicos: ocular como desfecho principal e respiratório exploratório; síntese narrativa dos desfechos objetivos; GRADE por desfecho.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[1:45–2:15] METODOLOGIA – MAPA (~30 s · 68 palavras)</a:t>
            </a:r>
          </a:p>
          <a:p>
            <a:r>
              <a:t>FALA:</a:t>
            </a:r>
          </a:p>
          <a:p>
            <a:r>
              <a:t>O método é a parte de que mais me orgulho, e vou apresentá-lo como um passo a passo em sete etapas, seguindo o relato PRISMA 2020: protocolo, busca, seleção, extração, risco de viés, síntese e certeza da evidência. Usei Zotero, Rayyan, OpenAlex e análise em Python. Um assistente de IA teve só apoio operacional; elegibilidade, extração e interpretação foram decisões humanas, e o código está aberto no OSF.</a:t>
            </a:r>
          </a:p>
          <a:p/>
          <a:p>
            <a:r>
              <a:t>APOIO (não ler):</a:t>
            </a:r>
          </a:p>
          <a:p>
            <a:r>
              <a:t>- Protocolo no PROSPERO (CRD420251238727), registrado antes da extração; dispensa do CEP (protocolo 2025/0743; Res. CNS 510/2016).</a:t>
            </a:r>
          </a:p>
          <a:p>
            <a:r>
              <a:t>- IA (julho–agosto de 2026): priorização da ordem de leitura, leitura assistida de resumos e organização do fluxo; nada gerado por IA entrou sem verificação humana. Declarada conforme a Portaria CNPq nº 2.664/2026.</a:t>
            </a:r>
          </a:p>
          <a:p>
            <a:r>
              <a:t>- Ferramentas: Zotero 6 (referências), Rayyan (deduplicação e triagem), OpenAlex (metadados e citações), Python 3.13 com NumPy, SciPy e statsmodels.</a:t>
            </a:r>
          </a:p>
          <a:p>
            <a:r>
              <a:t>- Não detalhe nada aqui: é só o mapa. As colunas aparecem sozinhas, uma a uma.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[2:15–2:50] PASSOS 1 E 2 (~35 s · 81 palavras)</a:t>
            </a:r>
          </a:p>
          <a:p>
            <a:r>
              <a:t>FALA:</a:t>
            </a:r>
          </a:p>
          <a:p>
            <a:r>
              <a:t>Incluímos estudos observacionais com profissionais de centro cirúrgico expostos à fumaça, com qualquer efeito à saúde ou marcador de exposição, em português, inglês ou espanhol, sem limite de data. Resumos de congresso só entraram com eventos e denominador extraíveis, numa decisão posterior ao registro e declarada. A busca foi feita para máxima sensibilidade: dois blocos, população e exposição, sem filtro de idioma ou data, em sete bases, literatura cinzenta e busca por citação. Foram 16.757 registros, mais 443 referências por citação.</a:t>
            </a:r>
          </a:p>
          <a:p/>
          <a:p>
            <a:r>
              <a:t>APOIO (não ler):</a:t>
            </a:r>
          </a:p>
          <a:p>
            <a:r>
              <a:t>- Exclusões: in vitro ou animais; fora do centro cirúrgico; desfecho só no paciente; só medição do ar; revisões, editoriais e cartas; exposição não atribuível à fumaça (gases, radiação).</a:t>
            </a:r>
          </a:p>
          <a:p>
            <a:r>
              <a:t>- PubMed e Embase, juntos, trouxeram mais da metade dos registros (cerca de 55%).</a:t>
            </a:r>
          </a:p>
          <a:p>
            <a:r>
              <a:t>- Cochrane CENTRAL = 0: indexa ensaios clínicos, e só incluímos observacionais; era esperado.</a:t>
            </a:r>
          </a:p>
          <a:p>
            <a:r>
              <a:t>- Sem bloco de desfecho porque os desfechos eram heterogêneos (sintomas, espirometria, HPV...): um bloco de desfecho reduziria a sensibilidade.</a:t>
            </a:r>
          </a:p>
          <a:p>
            <a:r>
              <a:t>- Literatura cinzenta: Google Scholar (4 × 50 resultados) e Catálogo CAPES. A busca não tem filtro de idioma, mas a elegibilidade é restrita a pt/en/es (limitação declarada).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[2:50–3:25] PASSO 3 – SELEÇÃO (~35 s · 80 palavras)</a:t>
            </a:r>
          </a:p>
          <a:p>
            <a:r>
              <a:t>FALA:</a:t>
            </a:r>
          </a:p>
          <a:p>
            <a:r>
              <a:t>Os registros foram para o Rayyan, que removeu 5.839 duplicatas. Li título e resumo dos 10.910 registros únicos; um script e a IA ordenaram a fila e apoiaram a leitura, mas cada decisão foi minha. Trinta e dois relatórios foram buscados na íntegra, seis não foram recuperados, 26 foram avaliados e 22 incluídos. Um cuidado importante: sete publicações do mesmo grupo brasileiro tinham amostras sobrepostas, e cada análise usou um único representante, para não contar a mesma amostra duas vezes.</a:t>
            </a:r>
          </a:p>
          <a:p/>
          <a:p>
            <a:r>
              <a:t>APOIO (não ler):</a:t>
            </a:r>
          </a:p>
          <a:p>
            <a:r>
              <a:t>- Fluxo: 16.757 identificados → 16.749 importados (8 não exportados) → 5.839 duplicatas (DOI, PMID e similaridade de título) → 10.910 triados → 10.882 excluídos → 28 + 4 por citação = 32 buscados → 6 não recuperados → 26 avaliados → 4 excluídos (1 resumo sem dados; 3 por população ou contexto) → 22 incluídos.</a:t>
            </a:r>
          </a:p>
          <a:p>
            <a:r>
              <a:t>- Representante do cluster (Paraná): Bieniek et al., 2022, definido antes da síntese.</a:t>
            </a:r>
          </a:p>
          <a:p>
            <a:r>
              <a:t>- Os 6 não recuperados incluem 2 inquéritos de sintomas e 1 estudo de olho seco; tentativas: acesso institucional, repositórios, páginas dos autores, comutação e contato com autores.</a:t>
            </a:r>
          </a:p>
          <a:p>
            <a:r>
              <a:t>- HONESTIDADE: triagem por revisor único, declarada como limitação. O PRISMA 2020 é guia de RELATO; a seleção em duplicata é recomendação METODOLÓGICA (JBI, Cochrane, Diretrizes do MS). A replicação em duplicata está nas perspectivas.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[3:25–3:55] PASSOS 4 E 5 (~30 s · 64 palavras)</a:t>
            </a:r>
          </a:p>
          <a:p>
            <a:r>
              <a:t>FALA:</a:t>
            </a:r>
          </a:p>
          <a:p>
            <a:r>
              <a:t>A extração usou planilha padronizada: desenho, população, dispositivo, comparador, definição do desfecho e, para a metanálise, eventos e denominador; por exemplo, 33 de 81 profissionais com lacrimejamento no İlçe 2017. O risco de viés usou as ferramentas do JBI, escolhidas pela função de cada estudo. No semáforo, nenhum estudo teve preocupação baixa, sobretudo por amostragem não probabilística, taxa de resposta não relatada e autorrelato.</a:t>
            </a:r>
          </a:p>
          <a:p/>
          <a:p>
            <a:r>
              <a:t>APOIO (não ler):</a:t>
            </a:r>
          </a:p>
          <a:p>
            <a:r>
              <a:t>- Listas JBI: prevalência (9 itens; os 7 estudos das metanálises), transversal analítico (8; comparativos e objetivos), coorte (11; 3 coortes).</a:t>
            </a:r>
          </a:p>
          <a:p>
            <a:r>
              <a:t>- Julgamento global qualitativo pelos domínios críticos (amostragem, tamanho, validade da mensuração, taxa de resposta); "não" pesa mais que "incerto". Todos os estudos foram mantidos e a classificação alimentou o GRADE.</a:t>
            </a:r>
          </a:p>
          <a:p>
            <a:r>
              <a:t>- Por que JBI e não Newcastle-Ottawa ou ROBINS-E: o JBI tem lista específica para prevalência, alinhada ao CoCoPop; NOS não cobre prevalência e ROBINS-E é para efeito de exposição comparativa.</a:t>
            </a:r>
          </a:p>
          <a:p>
            <a:r>
              <a:t>- Mohd Fikri Rosely 2022 é resumo de congresso: itens incertos e preocupação alta.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[3:55–4:45] PASSO 6 – METANÁLISE (~50 s · 110 palavras) ← o coração da apresentação</a:t>
            </a:r>
          </a:p>
          <a:p>
            <a:r>
              <a:t>FALA:</a:t>
            </a:r>
          </a:p>
          <a:p>
            <a:r>
              <a:t>A metanálise, em cinco passos. Um: cada estudo vira uma proporção, eventos sobre n. Dois: a transformação logito leva essa proporção para uma escala sem limites, mais próxima da normal, e garante resultados entre 0 e 100%. Três: modelo de efeitos aleatórios, porque a prevalência verdadeira varia entre hospitais e países; a variância entre estudos, o tau-quadrado, foi estimada por Paule-Mandel. Quatro: o ajuste de Hartung-Knapp torna o intervalo de confiança mais honesto com poucos estudos. Cinco: voltamos para porcentagem e relatamos o I² e o intervalo de predição, a faixa esperada para um novo estudo. A robustez foi testada com mais dois modelos, leave-one-out, Baujat e subgrupo por país.</a:t>
            </a:r>
          </a:p>
          <a:p/>
          <a:p>
            <a:r>
              <a:t>APOIO (não ler):</a:t>
            </a:r>
          </a:p>
          <a:p>
            <a:r>
              <a:t>- Peso de cada estudo = 1 ÷ (variância do estudo + τ²). IC95% individual pelo método de Wilson. Sem 0% ou 100%: não precisou de correção de continuidade.</a:t>
            </a:r>
          </a:p>
          <a:p>
            <a:r>
              <a:t>- Hartung-Knapp: IC pela distribuição t com k − 1 graus de liberdade (IntHout; Ioannidis; Borm, 2014).</a:t>
            </a:r>
          </a:p>
          <a:p>
            <a:r>
              <a:t>- Sem teste de Egger nem funil por erro-padrão: em proporções o erro-padrão depende da própria proporção (assimetria espúria) e os testes exigem ≥ 10 estudos. Há uma dispersão prevalência × tamanho amostral (Anexo G3, ocular), sem teste formal.</a:t>
            </a:r>
          </a:p>
          <a:p>
            <a:r>
              <a:t>- Paule-Mandel: o DerSimonian-Laird tende a subestimar τ² quando a heterogeneidade é alta; com k = 6–7 todo estimador de τ² é impreciso. Sem metarregressão: poucos estudos por covariável. RR dos desfechos objetivos na escala log (Wald).</a:t>
            </a:r>
          </a:p>
          <a:p>
            <a:r>
              <a:t>- Analogia: efeitos fixos = todos medem a mesma coisa com ruído; efeitos aleatórios = cada estudo tem a sua prevalência, e queremos a média e a dispersão delas.</a:t>
            </a:r>
          </a:p>
          <a:p>
            <a:r>
              <a:t>- Os cinco cards aparecem sozinhos enquanto você fala.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[4:45–5:15] PASSO 7 – GRADE (~30 s · 65 palavras)</a:t>
            </a:r>
          </a:p>
          <a:p>
            <a:r>
              <a:t>FALA:</a:t>
            </a:r>
          </a:p>
          <a:p>
            <a:r>
              <a:t>Por fim, a certeza da evidência pelo GRADE, em cinco domínios. Partimos de certeza baixa, por ser evidência observacional, e um domínio grave já leva a muito baixa. Dois cuidados: a evidência indireta não foi rebaixada nos sintomas, porque o sintoma relatado é o próprio desfecho, mas foi rebaixada nos desfechos objetivos, por coexposições e desfechos substitutos; e evitamos dupla contagem entre inconsistência e imprecisão.</a:t>
            </a:r>
          </a:p>
          <a:p/>
          <a:p>
            <a:r>
              <a:t>APOIO (não ler):</a:t>
            </a:r>
          </a:p>
          <a:p>
            <a:r>
              <a:t>- Intervalo de predição entra em inconsistência; amplitude do IC95% entra em imprecisão.</a:t>
            </a:r>
          </a:p>
          <a:p>
            <a:r>
              <a:t>- "Se começasse em alta, mudaria?": não. Inconsistência muito grave + risco de viés grave + imprecisão grave levariam igualmente a muito baixa.</a:t>
            </a:r>
          </a:p>
          <a:p>
            <a:r>
              <a:t>- Desfechos com um único estudo: inconsistência não aplicável; viés de publicação não avaliável.</a:t>
            </a:r>
          </a:p>
          <a:p>
            <a:r>
              <a:t>- Decisões posteriores ao registro, todas declaradas: ocular principal e respiratório exploratório; modelo logito + Hartung-Knapp; uma publicação por desfecho no cluster; resumos de congresso com dados suficientes; regra do sintoma-índice e sensibilidade por definição.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[5:15–5:35] RESULTADOS – SELEÇÃO E CARACTERÍSTICAS (~20 s · 43 palavras)</a:t>
            </a:r>
          </a:p>
          <a:p>
            <a:r>
              <a:t>FALA:</a:t>
            </a:r>
          </a:p>
          <a:p>
            <a:r>
              <a:t>Este é o fluxograma PRISMA. Ficaram 22 relatórios de nove países, 19 transversais e três coortes. Depois do controle de sobreposição, seis amostras, com 756 profissionais, entraram na metanálise ocular e sete, com 1.428, na respiratória. Nenhum estudo teve preocupação baixa com viés.</a:t>
            </a:r>
          </a:p>
          <a:p/>
          <a:p>
            <a:r>
              <a:t>APOIO (não ler):</a:t>
            </a:r>
          </a:p>
          <a:p>
            <a:r>
              <a:t>- Coortes prospectivas: Navarro 2016; Stanganelli 2019; Stanganelli Caus 2025.</a:t>
            </a:r>
          </a:p>
          <a:p>
            <a:r>
              <a:t>- Só Mohd Fikri Rosely e Titi Rahmawati (2019) usaram amostragem aleatória estratificada.</a:t>
            </a:r>
          </a:p>
          <a:p>
            <a:r>
              <a:t>- A busca por citação (443 referências) trouxe 4 relatórios, que entram em "Buscados na íntegra" (28 + 4 = 32).</a:t>
            </a:r>
          </a:p>
          <a:p>
            <a:r>
              <a:t>- Países: Turquia, Malásia, Brasil, Paquistão, China, México, EUA, Sudão e Tailândia.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[5:35–6:25] RESULTADO PRINCIPAL – OCULAR (~50 s · 93 palavras) ← dê tempo a este slide</a:t>
            </a:r>
          </a:p>
          <a:p>
            <a:r>
              <a:t>FALA:</a:t>
            </a:r>
          </a:p>
          <a:p>
            <a:r>
              <a:t>Este é o resultado principal: 37,6% de prevalência combinada de sintoma ocular, com intervalo de confiança de 21,9 a 56,5%, em seis amostras e 756 profissionais. Cada quadrado é um estudo e o losango, a estimativa combinada; a linha vermelha mais longa é o intervalo de predição, de 7 a 83%, a mensagem honesta do trabalho: com I² de 93%, os estudos vão de 19% na Malásia a 56% na Turquia. Então 37,6% é o centro de uma distribuição ampla, não "a" prevalência, e descreve a carga de sintomas, não um excesso atribuível.</a:t>
            </a:r>
          </a:p>
          <a:p/>
          <a:p>
            <a:r>
              <a:t>APOIO (não ler):</a:t>
            </a:r>
          </a:p>
          <a:p>
            <a:r>
              <a:t>- Tamanho do quadrado ∝ peso; linha preta = IC95% de Wilson. Não há grupo não exposto no agrupamento: é a proporção que relatou o sintoma.</a:t>
            </a:r>
          </a:p>
          <a:p>
            <a:r>
              <a:t>- Na escala logito, a estimativa retrotransformada é o centro (mediana) da distribuição das prevalências verdadeiras, não a média aritmética.</a:t>
            </a:r>
          </a:p>
          <a:p>
            <a:r>
              <a:t>- O maior inquérito (Van Giersbergen et al., 2019; n = 672) ficou fora do ocular por não ter numerador e denominador oculares extraíveis.</a:t>
            </a:r>
          </a:p>
          <a:p>
            <a:r>
              <a:t>- "I² de 93% não invalida a metanálise?": em prevalência, I² alto é a regra (Barker et al., 2021); por isso relatamos o intervalo de predição e investigamos as fontes (país, definição) em vez de esconder a heterogeneidade num único número.</a:t>
            </a:r>
          </a:p>
          <a:p>
            <a:r>
              <a:t>- Definições: lacrimejamento, irritação ocular ou escala do sistema ocular; o período de recordatório não é homogêneo entre estudos.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[6:25–6:50] RESPIRATÓRIO E ROBUSTEZ (~25 s · 47 palavras) ← aponte a tabela, não leia linha por linha</a:t>
            </a:r>
          </a:p>
          <a:p>
            <a:r>
              <a:t>FALA:</a:t>
            </a:r>
          </a:p>
          <a:p>
            <a:r>
              <a:t>O desfecho respiratório, exploratório, deu 41,7%, com intervalo de predição de 15 a 74%. A tabela diz uma coisa só: trocar o modelo, retirar um estudo ou o resumo de congresso não muda a leitura. E, com definições específicas, o I² respiratório cai de 91 para 61%.</a:t>
            </a:r>
          </a:p>
          <a:p/>
          <a:p>
            <a:r>
              <a:t>APOIO (não ler):</a:t>
            </a:r>
          </a:p>
          <a:p>
            <a:r>
              <a:t>- Tabela: logito-HK 37,6/41,7; Freeman-Tukey 38,1/41,7; GLMM 37,5/42,0; leave-one-out 34,3–42,1 e 38,9–45,5; sem resumo de congresso 42,1 (I² 89%) e 42,4 (I² 90%); definições específicas 36,5 (I² 94%) e 35,8 (I² 61%).</a:t>
            </a:r>
          </a:p>
          <a:p>
            <a:r>
              <a:t>- O mínimo respiratório do leave-one-out (38,9%) é sem Van Giersbergen 2019, a definição mais divergente.</a:t>
            </a:r>
          </a:p>
          <a:p>
            <a:r>
              <a:t>- Subgrupo ocular: Turquia 50,5% (k = 3; n = 268; I² 57%); Malásia 19,8% (k = 2; n = 333; I² 0%); p &lt; 0,001 entre subgrupos, mas exploratório (poucos estudos e um resumo na Malásia).</a:t>
            </a:r>
          </a:p>
          <a:p>
            <a:r>
              <a:t>- Baujat: Mohd Fikri Rosely 2022 é o estudo mais influente; mesmo assim o I² ocular segue alto sem o resumo (89%) ou sem Bieniek (94%).</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[6:50–7:30] DESFECHOS OBJETIVOS E GRADE (~40 s · 94 palavras)</a:t>
            </a:r>
          </a:p>
          <a:p>
            <a:r>
              <a:t>FALA:</a:t>
            </a:r>
          </a:p>
          <a:p>
            <a:r>
              <a:t>Além dos sintomas, quatro estudos, um por desfecho, trouxeram medidas objetivas, todas na mesma direção. No Sudão, espirometria com valores menores nos expostos e gradiente pelo tempo de atuação. No Brasil, metabólitos urinários de benzeno e xileno e malondialdeído bem mais altos. No México, metaplasia nasal em 70% contra 5%, risco relativo de 13,9. Na China, DNA de HPV na mucosa nasal em 9% contra 1,7%, risco relativo de 5,2. A certeza foi muito baixa em todos, e nenhum estudo elegível avaliou câncer ou DPOC: isso é vazio de evidência, não ausência de risco.</a:t>
            </a:r>
          </a:p>
          <a:p/>
          <a:p>
            <a:r>
              <a:t>APOIO (não ler):</a:t>
            </a:r>
          </a:p>
          <a:p>
            <a:r>
              <a:t>- Ibrahim 2025 (92 vs 92 pareados): VEF1 2,78 vs 3,14 L; CVF 3,02 vs 3,45 L; PFE 327,5 vs 483,5 L/min; p = 0,001; VEF1/CVF ≈ 91% nos dois grupos; PFE depende de esforço.</a:t>
            </a:r>
          </a:p>
          <a:p>
            <a:r>
              <a:t>- Canicoba 2025: 52 expostos vs 49 controles para os metabólitos (três amostras do controle se perderam) e 52 vs 52 para o perfil oxidativo; t,t-mucônico 202,9 vs 46,1 µg/L; metil-hipúrico 468,2 vs 184,4 µg/L; malondialdeído 9,33 vs 3,22 nmol/mg; sem IC95%; t,t-mucônico é inespecífico (dieta, tabagismo).</a:t>
            </a:r>
          </a:p>
          <a:p>
            <a:r>
              <a:t>- Navarro 2016: 16/23 vs 1/20; RR 13,9 (IC95% 2,0–95,8), IC amplo por haver 1 evento no grupo não exposto.</a:t>
            </a:r>
          </a:p>
          <a:p>
            <a:r>
              <a:t>- Hu 2021: 42/469 vs 4/231; RR 5,2 (IC95% 1,9–14,2); DNA ≠ infecção ou doença; o achado da N95 (0/196) não tem ajuste.</a:t>
            </a:r>
          </a:p>
          <a:p>
            <a:r>
              <a:t>- Para decorar: 37,6% ocular; 41,7% respiratório; RR 13,9 metaplasia; RR 5,2 HPV; 0 estudos elegíveis de câncer ou DPOC.</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[7:30–8:00] DISCUSSÃO – INTERPRETAÇÃO (~30 s · 74 palavras)</a:t>
            </a:r>
          </a:p>
          <a:p>
            <a:r>
              <a:t>FALA:</a:t>
            </a:r>
          </a:p>
          <a:p>
            <a:r>
              <a:t>Três leituras. Primeira: a carga de sintomas é alta e coerente com a literatura, agora com estimativa combinada e GRADE. Segunda: heterogeneidade acima de 90% é esperada em prevalência; a definição do sintoma explicou parte dela, e tempo de exposição, exaustão e EPI são fontes plausíveis, não testadas. Terceira: os desfechos objetivos são marcadores, não doença. E o achado talvez mais relevante é o que não foi encontrado: estudos elegíveis sobre câncer ou DPOC.</a:t>
            </a:r>
          </a:p>
          <a:p/>
          <a:p>
            <a:r>
              <a:t>APOIO (não ler):</a:t>
            </a:r>
          </a:p>
          <a:p>
            <a:r>
              <a:t>- Literatura prévia sem síntese quantitativa: Mowbray et al., 2013; Dixon; Dasgupta; Vasdev, 2023.</a:t>
            </a:r>
          </a:p>
          <a:p>
            <a:r>
              <a:t>- "Qualquer sintoma": 55,6% (Mohd Fikri Rosely, 2022) e 73,2% (Van Giersbergen et al., 2019), síntese narrativa.</a:t>
            </a:r>
          </a:p>
          <a:p>
            <a:r>
              <a:t>- A favor da causalidade: gradiente com o tempo de exposição, temporalidade (coorte), plausibilidade. Contra: um estudo por desfecho, IC amplos, coexposições (gases anestésicos, radiação).</a:t>
            </a:r>
          </a:p>
          <a:p>
            <a:r>
              <a:t>- Relatos de caso de papilomatose laríngea e carcinoma orofaríngeo por HPV em cirurgiões (Hallmo; Naess, 1991; Rioux et al., 2013) reforçam a plausibilidade, mas não estimam risco.</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[8:00–8:25] PONTOS FORTES E LIMITAÇÕES (~25 s · 60 palavras)</a:t>
            </a:r>
          </a:p>
          <a:p>
            <a:r>
              <a:t>FALA:</a:t>
            </a:r>
          </a:p>
          <a:p>
            <a:r>
              <a:t>Os pontos fortes são a busca ampla, o protocolo registrado, a síntese com três modelos concordantes, o GRADE por desfecho e a reprodutibilidade no OSF. As limitações estão declaradas: estudos transversais com autorrelato, sem grupo não exposto nos agrupamentos, efeito do trabalhador sadio, heterogeneidade alta e revisor único. Elas não invalidam a síntese; delimitam o que a evidência permite afirmar.</a:t>
            </a:r>
          </a:p>
          <a:p/>
          <a:p>
            <a:r>
              <a:t>APOIO (não ler):</a:t>
            </a:r>
          </a:p>
          <a:p>
            <a:r>
              <a:t>- Viés de atribuição: o respondente sabe que o questionário é sobre fumaça.</a:t>
            </a:r>
          </a:p>
          <a:p>
            <a:r>
              <a:t>- Trabalhador sadio: quem adoece tende a sair do centro cirúrgico, o que subestima a prevalência.</a:t>
            </a:r>
          </a:p>
          <a:p>
            <a:r>
              <a:t>- Elegibilidade restrita a português, inglês e espanhol; periódicos de indexação limitada (análise restrita ao MEDLINE não foi factível); 6 relatórios não recuperados.</a:t>
            </a:r>
          </a:p>
          <a:p>
            <a:r>
              <a:t>- ATITUDE: fale as limitações com segurança. A banca valoriza quem conhece as fraquezas do próprio trabalho.</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[8:25–8:50] CONCLUSÃO (~25 s · 63 palavras)</a:t>
            </a:r>
          </a:p>
          <a:p>
            <a:r>
              <a:t>FALA:</a:t>
            </a:r>
          </a:p>
          <a:p>
            <a:r>
              <a:t>Concluindo: sintomas oculares e respiratórios são frequentes na equipe exposta, com grande variação entre contextos, e estudos isolados sugerem alterações além do incômodo agudo. Nenhum estudo elegível avaliou câncer ou DPOC, o que não é ausência de risco, e a certeza é muito baixa. Pela carga de sintomas e por precaução, proteger a equipe hoje é prudente: exaustão na fonte, respiradores e educação.</a:t>
            </a:r>
          </a:p>
          <a:p/>
          <a:p>
            <a:r>
              <a:t>APOIO (não ler):</a:t>
            </a:r>
          </a:p>
          <a:p>
            <a:r>
              <a:t>- Proteção (NIOSH, 1996): evacuação local na fonte é a medida principal; N95/PFF2 não substituem a exaustão; educação da equipe. A efetividade das medidas não foi avaliada nesta revisão.</a:t>
            </a:r>
          </a:p>
          <a:p>
            <a:r>
              <a:t>- NR-32: marco geral de gestão de riscos em serviços de saúde, mas não trata especificamente da fumaça cirúrgica.</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[8:50–9:05] PERSPECTIVAS FUTURAS (~15 s · 35 palavras)</a:t>
            </a:r>
          </a:p>
          <a:p>
            <a:r>
              <a:t>FALA:</a:t>
            </a:r>
          </a:p>
          <a:p>
            <a:r>
              <a:t>Para o campo, faltam coortes com medida objetiva da exposição, definições padronizadas, desfechos crônicos e estudos de efetividade da proteção. Para este trabalho: submeter o manuscrito, atualizar a busca e replicar a triagem em duplicata.</a:t>
            </a:r>
          </a:p>
          <a:p/>
          <a:p>
            <a:r>
              <a:t>APOIO (não ler):</a:t>
            </a:r>
          </a:p>
          <a:p>
            <a:r>
              <a:t>- Também: devolutiva institucional (proposta de protocolo de proteção no centro cirúrgico) e vigilância dos 6 relatórios não recuperados.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[9:05–9:10] REFERÊNCIAS (~5 s · 10 palavras)</a:t>
            </a:r>
          </a:p>
          <a:p>
            <a:r>
              <a:t>FALA:</a:t>
            </a:r>
          </a:p>
          <a:p>
            <a:r>
              <a:t>As referências completas e os suplementos estão no QR code.</a:t>
            </a:r>
          </a:p>
          <a:p/>
          <a:p>
            <a:r>
              <a:t>APOIO (não ler):</a:t>
            </a:r>
          </a:p>
          <a:p>
            <a:r>
              <a:t>- Não leia a lista; mencione e avance.</a:t>
            </a:r>
          </a:p>
          <a:p>
            <a:r>
              <a:t>- O QR code leva ao projeto público do OSF (osf.io/jktmn): hoje, suplementos, código e planilhas. As legendas dizem isso.</a:t>
            </a:r>
          </a:p>
          <a:p>
            <a:r>
              <a:t>- Se você publicar o PDF do manuscrito no OSF (confira antes a política de preprint da revista escolhida), as legendas podem passar a citar o manuscrito: é uma troca de uma linha no gerador (MANUSCRITO_NO_OSF = True).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[9:10–9:20] AGRADECIMENTOS (~10 s · 25 palavras)</a:t>
            </a:r>
          </a:p>
          <a:p>
            <a:r>
              <a:t>FALA:</a:t>
            </a:r>
          </a:p>
          <a:p>
            <a:r>
              <a:t>Agradeço à Profa. Lisie, aos coautores Luiz Henrique e Dra. Mariana, e à São Leopoldo Mandic e ao PIC. Obrigado; estou à disposição para perguntas.</a:t>
            </a:r>
          </a:p>
          <a:p/>
          <a:p>
            <a:r>
              <a:t>APOIO (não ler):</a:t>
            </a:r>
          </a:p>
          <a:p>
            <a:r>
              <a:t>- PROSPERO CRD420251238727 · OSF osf.io/jktmn · sem financiamento · sem conflitos de interesse.</a:t>
            </a:r>
          </a:p>
          <a:p>
            <a:r>
              <a:t>- Ao dizer "perguntas", AVANCE para o slide 21 (QR code grande do OSF) e deixe-o na tela durante a arguição.</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ENCERRAMENTO</a:t>
            </a:r>
          </a:p>
          <a:p>
            <a:r>
              <a:t>Deixe este slide na tela durante as perguntas: o QR code leva ao projeto do OSF. Ouça a pergunta inteira, repita-a em uma frase ("a pergunta é sobre…") e responda em 30 a 40 segundos. Se não souber, diga o que o estudo permite afirmar e o que seria necessário para responder.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image" Target="../media/image3.png"/><Relationship Id="rId4" Type="http://schemas.openxmlformats.org/officeDocument/2006/relationships/image" Target="../media/image65.png"/><Relationship Id="rId5" Type="http://schemas.openxmlformats.org/officeDocument/2006/relationships/notesSlide" Target="../notesSlides/notesSlide2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image" Target="../media/image10.png"/><Relationship Id="rId9" Type="http://schemas.openxmlformats.org/officeDocument/2006/relationships/image" Target="../media/image11.png"/><Relationship Id="rId10" Type="http://schemas.openxmlformats.org/officeDocument/2006/relationships/image" Target="../media/image12.jpg"/><Relationship Id="rId11" Type="http://schemas.openxmlformats.org/officeDocument/2006/relationships/image" Target="../media/image13.jpg"/><Relationship Id="rId12" Type="http://schemas.openxmlformats.org/officeDocument/2006/relationships/image" Target="../media/image14.jpg"/><Relationship Id="rId13" Type="http://schemas.openxmlformats.org/officeDocument/2006/relationships/image" Target="../media/image15.jpg"/><Relationship Id="rId14" Type="http://schemas.openxmlformats.org/officeDocument/2006/relationships/image" Target="../media/image16.jpg"/><Relationship Id="rId15" Type="http://schemas.openxmlformats.org/officeDocument/2006/relationships/image" Target="../media/image17.jpg"/><Relationship Id="rId16" Type="http://schemas.openxmlformats.org/officeDocument/2006/relationships/image" Target="../media/image18.jpg"/><Relationship Id="rId17" Type="http://schemas.openxmlformats.org/officeDocument/2006/relationships/image" Target="../media/image19.jpg"/><Relationship Id="rId18" Type="http://schemas.openxmlformats.org/officeDocument/2006/relationships/image" Target="../media/image20.jpg"/><Relationship Id="rId19"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1.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23.png"/><Relationship Id="rId7" Type="http://schemas.openxmlformats.org/officeDocument/2006/relationships/image" Target="../media/image24.png"/><Relationship Id="rId8" Type="http://schemas.openxmlformats.org/officeDocument/2006/relationships/image" Target="../media/image25.png"/><Relationship Id="rId9" Type="http://schemas.openxmlformats.org/officeDocument/2006/relationships/image" Target="../media/image26.png"/><Relationship Id="rId10" Type="http://schemas.openxmlformats.org/officeDocument/2006/relationships/image" Target="../media/image27.png"/><Relationship Id="rId11" Type="http://schemas.openxmlformats.org/officeDocument/2006/relationships/image" Target="../media/image28.png"/><Relationship Id="rId12" Type="http://schemas.openxmlformats.org/officeDocument/2006/relationships/image" Target="../media/image29.png"/><Relationship Id="rId1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1.png"/><Relationship Id="rId4" Type="http://schemas.openxmlformats.org/officeDocument/2006/relationships/image" Target="../media/image30.png"/><Relationship Id="rId5"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1.png"/><Relationship Id="rId4" Type="http://schemas.openxmlformats.org/officeDocument/2006/relationships/image" Target="../media/image31.png"/><Relationship Id="rId5" Type="http://schemas.openxmlformats.org/officeDocument/2006/relationships/image" Target="../media/image32.png"/><Relationship Id="rId6" Type="http://schemas.openxmlformats.org/officeDocument/2006/relationships/image" Target="../media/image33.png"/><Relationship Id="rId7" Type="http://schemas.openxmlformats.org/officeDocument/2006/relationships/image" Target="../media/image34.png"/><Relationship Id="rId8" Type="http://schemas.openxmlformats.org/officeDocument/2006/relationships/image" Target="../media/image35.png"/><Relationship Id="rId9"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1.png"/><Relationship Id="rId4" Type="http://schemas.openxmlformats.org/officeDocument/2006/relationships/image" Target="../media/image36.png"/><Relationship Id="rId5" Type="http://schemas.openxmlformats.org/officeDocument/2006/relationships/image" Target="../media/image37.png"/><Relationship Id="rId6" Type="http://schemas.openxmlformats.org/officeDocument/2006/relationships/chart" Target="../charts/chart1.xml"/><Relationship Id="rId7"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1.png"/><Relationship Id="rId4" Type="http://schemas.openxmlformats.org/officeDocument/2006/relationships/image" Target="../media/image10.png"/><Relationship Id="rId5" Type="http://schemas.openxmlformats.org/officeDocument/2006/relationships/image" Target="../media/image8.png"/><Relationship Id="rId6" Type="http://schemas.openxmlformats.org/officeDocument/2006/relationships/image" Target="../media/image38.png"/><Relationship Id="rId7" Type="http://schemas.openxmlformats.org/officeDocument/2006/relationships/image" Target="../media/image25.png"/><Relationship Id="rId8"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1.png"/><Relationship Id="rId4" Type="http://schemas.openxmlformats.org/officeDocument/2006/relationships/image" Target="../media/image39.png"/><Relationship Id="rId5"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1.png"/><Relationship Id="rId4" Type="http://schemas.openxmlformats.org/officeDocument/2006/relationships/image" Target="../media/image40.png"/><Relationship Id="rId5"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1.png"/><Relationship Id="rId4" Type="http://schemas.openxmlformats.org/officeDocument/2006/relationships/image" Target="../media/image41.png"/><Relationship Id="rId5" Type="http://schemas.openxmlformats.org/officeDocument/2006/relationships/image" Target="../media/image42.png"/><Relationship Id="rId6" Type="http://schemas.openxmlformats.org/officeDocument/2006/relationships/image" Target="../media/image43.png"/><Relationship Id="rId7" Type="http://schemas.openxmlformats.org/officeDocument/2006/relationships/image" Target="../media/image44.png"/><Relationship Id="rId8" Type="http://schemas.openxmlformats.org/officeDocument/2006/relationships/image" Target="../media/image9.png"/><Relationship Id="rId9"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1.png"/><Relationship Id="rId4" Type="http://schemas.openxmlformats.org/officeDocument/2006/relationships/image" Target="../media/image41.png"/><Relationship Id="rId5"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1.png"/><Relationship Id="rId4" Type="http://schemas.openxmlformats.org/officeDocument/2006/relationships/image" Target="../media/image45.png"/><Relationship Id="rId5"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1.png"/><Relationship Id="rId4" Type="http://schemas.openxmlformats.org/officeDocument/2006/relationships/image" Target="../media/image46.png"/><Relationship Id="rId5"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1.png"/><Relationship Id="rId4" Type="http://schemas.openxmlformats.org/officeDocument/2006/relationships/image" Target="../media/image47.png"/><Relationship Id="rId5" Type="http://schemas.openxmlformats.org/officeDocument/2006/relationships/image" Target="../media/image48.png"/><Relationship Id="rId6" Type="http://schemas.openxmlformats.org/officeDocument/2006/relationships/image" Target="../media/image49.png"/><Relationship Id="rId7" Type="http://schemas.openxmlformats.org/officeDocument/2006/relationships/image" Target="../media/image50.png"/><Relationship Id="rId8"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1.png"/><Relationship Id="rId4" Type="http://schemas.openxmlformats.org/officeDocument/2006/relationships/image" Target="../media/image11.png"/><Relationship Id="rId5" Type="http://schemas.openxmlformats.org/officeDocument/2006/relationships/image" Target="../media/image42.png"/><Relationship Id="rId6" Type="http://schemas.openxmlformats.org/officeDocument/2006/relationships/image" Target="../media/image49.png"/><Relationship Id="rId7" Type="http://schemas.openxmlformats.org/officeDocument/2006/relationships/image" Target="../media/image51.png"/><Relationship Id="rId8"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1.png"/><Relationship Id="rId4" Type="http://schemas.openxmlformats.org/officeDocument/2006/relationships/image" Target="../media/image52.png"/><Relationship Id="rId5" Type="http://schemas.openxmlformats.org/officeDocument/2006/relationships/image" Target="../media/image28.png"/><Relationship Id="rId6" Type="http://schemas.openxmlformats.org/officeDocument/2006/relationships/image" Target="../media/image53.png"/><Relationship Id="rId7"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1.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29.png"/><Relationship Id="rId8"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1.png"/><Relationship Id="rId4" Type="http://schemas.openxmlformats.org/officeDocument/2006/relationships/image" Target="../media/image57.png"/><Relationship Id="rId5" Type="http://schemas.openxmlformats.org/officeDocument/2006/relationships/image" Target="../media/image58.png"/><Relationship Id="rId6" Type="http://schemas.openxmlformats.org/officeDocument/2006/relationships/image" Target="../media/image47.png"/><Relationship Id="rId7" Type="http://schemas.openxmlformats.org/officeDocument/2006/relationships/image" Target="../media/image59.png"/><Relationship Id="rId8" Type="http://schemas.openxmlformats.org/officeDocument/2006/relationships/image" Target="../media/image60.png"/><Relationship Id="rId9" Type="http://schemas.openxmlformats.org/officeDocument/2006/relationships/image" Target="../media/image61.png"/><Relationship Id="rId10" Type="http://schemas.openxmlformats.org/officeDocument/2006/relationships/image" Target="../media/image62.png"/><Relationship Id="rId11" Type="http://schemas.openxmlformats.org/officeDocument/2006/relationships/image" Target="../media/image63.png"/><Relationship Id="rId12" Type="http://schemas.openxmlformats.org/officeDocument/2006/relationships/image" Target="../media/image64.png"/><Relationship Id="rId13"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1.png"/><Relationship Id="rId4" Type="http://schemas.openxmlformats.org/officeDocument/2006/relationships/image" Target="../media/image65.png"/><Relationship Id="rId5" Type="http://schemas.openxmlformats.org/officeDocument/2006/relationships/image" Target="../media/image66.png"/><Relationship Id="rId6"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1.png"/><Relationship Id="rId4" Type="http://schemas.openxmlformats.org/officeDocument/2006/relationships/image" Target="../media/image67.png"/><Relationship Id="rId5" Type="http://schemas.openxmlformats.org/officeDocument/2006/relationships/image" Target="../media/image6.png"/><Relationship Id="rId6" Type="http://schemas.openxmlformats.org/officeDocument/2006/relationships/image" Target="../media/image38.png"/><Relationship Id="rId7" Type="http://schemas.openxmlformats.org/officeDocument/2006/relationships/image" Target="../media/image68.png"/><Relationship Id="rId8"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a:off x="14142676" y="8191500"/>
            <a:ext cx="4174632" cy="1959689"/>
          </a:xfrm>
          <a:custGeom>
            <a:avLst/>
            <a:gdLst/>
            <a:ahLst/>
            <a:cxnLst/>
            <a:rect l="l" t="t" r="r" b="b"/>
            <a:pathLst>
              <a:path w="4174632" h="1959689">
                <a:moveTo>
                  <a:pt x="0" y="0"/>
                </a:moveTo>
                <a:lnTo>
                  <a:pt x="4174632" y="0"/>
                </a:lnTo>
                <a:lnTo>
                  <a:pt x="4174632" y="1959690"/>
                </a:lnTo>
                <a:lnTo>
                  <a:pt x="0" y="1959690"/>
                </a:lnTo>
                <a:lnTo>
                  <a:pt x="0" y="0"/>
                </a:lnTo>
                <a:close/>
              </a:path>
            </a:pathLst>
          </a:custGeom>
          <a:blipFill>
            <a:blip r:embed="rId2"/>
            <a:stretch>
              <a:fillRect/>
            </a:stretch>
          </a:blipFill>
        </p:spPr>
        <p:txBody>
          <a:bodyPr/>
          <a:lstStyle/>
          <a:p>
            <a:endParaRPr lang="pt-BR"/>
          </a:p>
        </p:txBody>
      </p:sp>
      <p:sp>
        <p:nvSpPr>
          <p:cNvPr id="5" name="CaixaDeTexto 4">
            <a:extLst>
              <a:ext uri="{FF2B5EF4-FFF2-40B4-BE49-F238E27FC236}">
                <a16:creationId xmlns:a16="http://schemas.microsoft.com/office/drawing/2014/main" id="{13EED535-3E35-9C1D-2B6B-5464675B12C6}"/>
              </a:ext>
            </a:extLst>
          </p:cNvPr>
          <p:cNvSpPr txBox="1"/>
          <p:nvPr/>
        </p:nvSpPr>
        <p:spPr>
          <a:xfrm>
            <a:off x="3657600" y="6675120"/>
            <a:ext cx="10972800" cy="1280160"/>
          </a:xfrm>
          <a:prstGeom prst="rect">
            <a:avLst/>
          </a:prstGeom>
          <a:noFill/>
        </p:spPr>
        <p:txBody>
          <a:bodyPr wrap="square" rtlCol="0">
            <a:noAutofit/>
          </a:bodyPr>
          <a:lstStyle/>
          <a:p>
            <a:pPr algn="ctr">
              <a:lnSpc>
                <a:spcPct val="100000"/>
              </a:lnSpc>
              <a:spcAft>
                <a:spcPts val="300"/>
              </a:spcAft>
              <a:buNone/>
            </a:pPr>
            <a:r>
              <a:rPr sz="1800" b="1" i="0">
                <a:solidFill>
                  <a:srgbClr val="1F2433"/>
                </a:solidFill>
                <a:latin typeface="Tahoma"/>
              </a:rPr>
              <a:t>Autor: </a:t>
            </a:r>
            <a:r>
              <a:rPr sz="1800" b="0" i="0">
                <a:solidFill>
                  <a:srgbClr val="1F2433"/>
                </a:solidFill>
                <a:latin typeface="Tahoma"/>
              </a:rPr>
              <a:t>Theo Augusto Lopes de Moraes Báccaro</a:t>
            </a:r>
            <a:endParaRPr lang="pt-BR" sz="2800" dirty="0">
              <a:latin typeface="Arial" panose="020B0604020202020204" pitchFamily="34" charset="0"/>
              <a:cs typeface="Arial" panose="020B0604020202020204" pitchFamily="34" charset="0"/>
            </a:endParaRPr>
          </a:p>
          <a:p>
            <a:pPr algn="ctr">
              <a:lnSpc>
                <a:spcPct val="100000"/>
              </a:lnSpc>
              <a:spcAft>
                <a:spcPts val="300"/>
              </a:spcAft>
              <a:buNone/>
            </a:pPr>
            <a:r>
              <a:rPr sz="1800" b="1" i="0">
                <a:solidFill>
                  <a:srgbClr val="1F2433"/>
                </a:solidFill>
                <a:latin typeface="Tahoma"/>
              </a:rPr>
              <a:t>Orientadora: </a:t>
            </a:r>
            <a:r>
              <a:rPr sz="1800" b="0" i="0">
                <a:solidFill>
                  <a:srgbClr val="1F2433"/>
                </a:solidFill>
                <a:latin typeface="Tahoma"/>
              </a:rPr>
              <a:t>Profa. Lisie Tocci Justo</a:t>
            </a:r>
          </a:p>
          <a:p>
            <a:pPr algn="ctr">
              <a:lnSpc>
                <a:spcPct val="100000"/>
              </a:lnSpc>
              <a:spcBef>
                <a:spcPts val="400"/>
              </a:spcBef>
              <a:spcAft>
                <a:spcPts val="300"/>
              </a:spcAft>
              <a:buNone/>
            </a:pPr>
            <a:r>
              <a:rPr sz="1600" b="0" i="0">
                <a:solidFill>
                  <a:srgbClr val="5A6270"/>
                </a:solidFill>
                <a:latin typeface="Tahoma"/>
              </a:rPr>
              <a:t>Coautores: Luiz Henrique Ledesma Pereira; Mariana Matera Veras (LIM05, HC-FMUSP)</a:t>
            </a:r>
          </a:p>
        </p:txBody>
      </p:sp>
      <p:sp>
        <p:nvSpPr>
          <p:cNvPr id="6" name="CaixaDeTexto 5">
            <a:extLst>
              <a:ext uri="{FF2B5EF4-FFF2-40B4-BE49-F238E27FC236}">
                <a16:creationId xmlns:a16="http://schemas.microsoft.com/office/drawing/2014/main" id="{35B56E3E-8734-A45C-A55E-A28633526BAC}"/>
              </a:ext>
            </a:extLst>
          </p:cNvPr>
          <p:cNvSpPr txBox="1"/>
          <p:nvPr/>
        </p:nvSpPr>
        <p:spPr>
          <a:xfrm>
            <a:off x="2377440" y="4892040"/>
            <a:ext cx="13533120" cy="1600200"/>
          </a:xfrm>
          <a:prstGeom prst="rect">
            <a:avLst/>
          </a:prstGeom>
          <a:noFill/>
        </p:spPr>
        <p:txBody>
          <a:bodyPr wrap="square" rtlCol="0">
            <a:noAutofit/>
          </a:bodyPr>
          <a:lstStyle/>
          <a:p>
            <a:pPr algn="ctr">
              <a:lnSpc>
                <a:spcPct val="100000"/>
              </a:lnSpc>
              <a:spcAft>
                <a:spcPts val="0"/>
              </a:spcAft>
              <a:buNone/>
            </a:pPr>
            <a:r>
              <a:rPr sz="3200" b="1" i="0">
                <a:solidFill>
                  <a:srgbClr val="002060"/>
                </a:solidFill>
                <a:latin typeface="Calibri"/>
              </a:rPr>
              <a:t>Sintomas, desfechos objetivos e biomarcadores em profissionais de centro cirúrgico ocupacionalmente expostos à fumaça cirúrgica: revisão sistemática e metanálise de prevalência</a:t>
            </a:r>
            <a:endParaRPr lang="pt-BR" sz="3200" dirty="0">
              <a:cs typeface="Arial" panose="020B0604020202020204" pitchFamily="34" charset="0"/>
            </a:endParaRPr>
          </a:p>
        </p:txBody>
      </p:sp>
      <p:sp>
        <p:nvSpPr>
          <p:cNvPr id="7" name="CaixaDeTexto 6">
            <a:extLst>
              <a:ext uri="{FF2B5EF4-FFF2-40B4-BE49-F238E27FC236}">
                <a16:creationId xmlns:a16="http://schemas.microsoft.com/office/drawing/2014/main" id="{17DF7FDA-FA4B-CFC4-F048-39EA88B7B7C3}"/>
              </a:ext>
            </a:extLst>
          </p:cNvPr>
          <p:cNvSpPr txBox="1"/>
          <p:nvPr/>
        </p:nvSpPr>
        <p:spPr>
          <a:xfrm>
            <a:off x="2377440" y="3978106"/>
            <a:ext cx="13533120" cy="707886"/>
          </a:xfrm>
          <a:prstGeom prst="rect">
            <a:avLst/>
          </a:prstGeom>
          <a:noFill/>
        </p:spPr>
        <p:txBody>
          <a:bodyPr wrap="square" rtlCol="0">
            <a:spAutoFit/>
          </a:bodyPr>
          <a:lstStyle/>
          <a:p>
            <a:pPr algn="ctr"/>
            <a:r>
              <a:rPr lang="pt-BR" sz="4000" dirty="0">
                <a:latin typeface="Arial" panose="020B0604020202020204" pitchFamily="34" charset="0"/>
                <a:cs typeface="Arial" panose="020B0604020202020204" pitchFamily="34" charset="0"/>
              </a:rPr>
              <a:t>VIII SEMICA – SEMINÁRIO DE INICIAÇÃO CIENTÍFICA</a:t>
            </a:r>
          </a:p>
        </p:txBody>
      </p:sp>
      <p:sp>
        <p:nvSpPr>
          <p:cNvPr id="11" name="Freeform 7">
            <a:extLst>
              <a:ext uri="{FF2B5EF4-FFF2-40B4-BE49-F238E27FC236}">
                <a16:creationId xmlns:a16="http://schemas.microsoft.com/office/drawing/2014/main" id="{7B7C3954-A502-B216-C1D2-7F55EE788122}"/>
              </a:ext>
            </a:extLst>
          </p:cNvPr>
          <p:cNvSpPr/>
          <p:nvPr/>
        </p:nvSpPr>
        <p:spPr>
          <a:xfrm rot="-10800000">
            <a:off x="0" y="0"/>
            <a:ext cx="18288000" cy="1968910"/>
          </a:xfrm>
          <a:custGeom>
            <a:avLst/>
            <a:gdLst/>
            <a:ahLst/>
            <a:cxnLst/>
            <a:rect l="l" t="t" r="r" b="b"/>
            <a:pathLst>
              <a:path w="7315200" h="3274807">
                <a:moveTo>
                  <a:pt x="0" y="0"/>
                </a:moveTo>
                <a:lnTo>
                  <a:pt x="7315200" y="0"/>
                </a:lnTo>
                <a:lnTo>
                  <a:pt x="7315200" y="3274807"/>
                </a:lnTo>
                <a:lnTo>
                  <a:pt x="0" y="3274807"/>
                </a:lnTo>
                <a:lnTo>
                  <a:pt x="0" y="0"/>
                </a:lnTo>
                <a:close/>
              </a:path>
            </a:pathLst>
          </a:custGeom>
          <a:blipFill>
            <a:blip>
              <a:extLst>
                <a:ext uri="{96DAC541-7B7A-43D3-8B79-37D633B846F1}">
                  <asvg:svgBlip xmlns:asvg="http://schemas.microsoft.com/office/drawing/2016/SVG/main" r:embed="rId3"/>
                </a:ext>
              </a:extLst>
            </a:blip>
            <a:stretch>
              <a:fillRect l="-9812" t="-3" r="-15473" b="-66323"/>
            </a:stretch>
          </a:blipFill>
        </p:spPr>
        <p:txBody>
          <a:bodyPr/>
          <a:lstStyle/>
          <a:p>
            <a:endParaRPr lang="pt-BR"/>
          </a:p>
        </p:txBody>
      </p:sp>
      <p:pic>
        <p:nvPicPr>
          <p:cNvPr id="1026" name="Picture 2" descr="Uma nova SLMANDIC de Araras para você - São Leopoldo Mandic Araras">
            <a:extLst>
              <a:ext uri="{FF2B5EF4-FFF2-40B4-BE49-F238E27FC236}">
                <a16:creationId xmlns:a16="http://schemas.microsoft.com/office/drawing/2014/main" id="{F41A3293-2A1D-554E-AE84-E597AB7A8325}"/>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2563" t="7525" r="19809" b="7525"/>
          <a:stretch>
            <a:fillRect/>
          </a:stretch>
        </p:blipFill>
        <p:spPr bwMode="auto">
          <a:xfrm>
            <a:off x="381000" y="7448739"/>
            <a:ext cx="2156252" cy="267260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Conector reto 7">
            <a:extLst>
              <a:ext uri="{FF2B5EF4-FFF2-40B4-BE49-F238E27FC236}">
                <a16:creationId xmlns:a16="http://schemas.microsoft.com/office/drawing/2014/main" id="{F5B3B6FD-A9BC-8FFA-D352-065DF936FD8C}"/>
              </a:ext>
            </a:extLst>
          </p:cNvPr>
          <p:cNvCxnSpPr>
            <a:cxnSpLocks/>
          </p:cNvCxnSpPr>
          <p:nvPr/>
        </p:nvCxnSpPr>
        <p:spPr>
          <a:xfrm>
            <a:off x="11035412" y="2091778"/>
            <a:ext cx="0" cy="5334000"/>
          </a:xfrm>
          <a:prstGeom prst="line">
            <a:avLst/>
          </a:prstGeom>
          <a:ln w="28575">
            <a:solidFill>
              <a:srgbClr val="1A015F"/>
            </a:solidFill>
          </a:ln>
        </p:spPr>
        <p:style>
          <a:lnRef idx="2">
            <a:schemeClr val="accent1"/>
          </a:lnRef>
          <a:fillRef idx="0">
            <a:schemeClr val="accent1"/>
          </a:fillRef>
          <a:effectRef idx="1">
            <a:schemeClr val="accent1"/>
          </a:effectRef>
          <a:fontRef idx="minor">
            <a:schemeClr val="tx1"/>
          </a:fontRef>
        </p:style>
      </p:cxnSp>
      <p:sp>
        <p:nvSpPr>
          <p:cNvPr id="10" name="CaixaDeTexto 9">
            <a:extLst>
              <a:ext uri="{FF2B5EF4-FFF2-40B4-BE49-F238E27FC236}">
                <a16:creationId xmlns:a16="http://schemas.microsoft.com/office/drawing/2014/main" id="{F7C5D084-7D27-940F-6996-698E06882E08}"/>
              </a:ext>
            </a:extLst>
          </p:cNvPr>
          <p:cNvSpPr txBox="1"/>
          <p:nvPr/>
        </p:nvSpPr>
        <p:spPr>
          <a:xfrm>
            <a:off x="5347855" y="3600743"/>
            <a:ext cx="5562600" cy="2185214"/>
          </a:xfrm>
          <a:prstGeom prst="rect">
            <a:avLst/>
          </a:prstGeom>
          <a:noFill/>
        </p:spPr>
        <p:txBody>
          <a:bodyPr wrap="square" rtlCol="0">
            <a:spAutoFit/>
          </a:bodyPr>
          <a:lstStyle/>
          <a:p>
            <a:pPr algn="ctr"/>
            <a:r>
              <a:rPr lang="pt-BR" sz="7200" dirty="0">
                <a:ln w="0"/>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rPr>
              <a:t>VIII SEMICA </a:t>
            </a:r>
          </a:p>
          <a:p>
            <a:pPr algn="ctr"/>
            <a:r>
              <a:rPr lang="pt-BR" sz="3200" dirty="0">
                <a:ln w="0"/>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rPr>
              <a:t>SEMINÁRIO DE INICIAÇÃO CIENTÍFICA</a:t>
            </a:r>
          </a:p>
        </p:txBody>
      </p:sp>
      <p:sp>
        <p:nvSpPr>
          <p:cNvPr id="12" name="CaixaDeTexto 11">
            <a:extLst>
              <a:ext uri="{FF2B5EF4-FFF2-40B4-BE49-F238E27FC236}">
                <a16:creationId xmlns:a16="http://schemas.microsoft.com/office/drawing/2014/main" id="{FA55075D-6FAB-04F6-9FAF-94B1098B5FAD}"/>
              </a:ext>
            </a:extLst>
          </p:cNvPr>
          <p:cNvSpPr txBox="1"/>
          <p:nvPr/>
        </p:nvSpPr>
        <p:spPr>
          <a:xfrm>
            <a:off x="11734800" y="4480647"/>
            <a:ext cx="5867395" cy="769440"/>
          </a:xfrm>
          <a:prstGeom prst="rect">
            <a:avLst/>
          </a:prstGeom>
          <a:noFill/>
        </p:spPr>
        <p:txBody>
          <a:bodyPr wrap="square" rtlCol="0">
            <a:spAutoFit/>
          </a:bodyPr>
          <a:lstStyle/>
          <a:p>
            <a:pPr algn="ctr"/>
            <a:r>
              <a:rPr lang="pt-BR" sz="4400" dirty="0">
                <a:ln w="0"/>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rPr>
              <a:t>OBRIGADO (A)!</a:t>
            </a:r>
          </a:p>
        </p:txBody>
      </p:sp>
      <p:pic>
        <p:nvPicPr>
          <p:cNvPr id="17" name="Imagem 16" descr="Logotipo&#10;&#10;O conteúdo gerado por IA pode estar incorreto.">
            <a:extLst>
              <a:ext uri="{FF2B5EF4-FFF2-40B4-BE49-F238E27FC236}">
                <a16:creationId xmlns:a16="http://schemas.microsoft.com/office/drawing/2014/main" id="{0D0FC99C-AA58-7690-EFFA-687CC2A3FCDD}"/>
              </a:ext>
            </a:extLst>
          </p:cNvPr>
          <p:cNvPicPr>
            <a:picLocks noChangeAspect="1"/>
          </p:cNvPicPr>
          <p:nvPr/>
        </p:nvPicPr>
        <p:blipFill>
          <a:blip r:embed="rId2">
            <a:extLst>
              <a:ext uri="{28A0092B-C50C-407E-A947-70E740481C1C}">
                <a14:useLocalDpi xmlns:a14="http://schemas.microsoft.com/office/drawing/2010/main" val="0"/>
              </a:ext>
            </a:extLst>
          </a:blip>
          <a:srcRect t="3135" b="4779"/>
          <a:stretch>
            <a:fillRect/>
          </a:stretch>
        </p:blipFill>
        <p:spPr>
          <a:xfrm>
            <a:off x="177979" y="2213031"/>
            <a:ext cx="5205045" cy="4558867"/>
          </a:xfrm>
          <a:prstGeom prst="rect">
            <a:avLst/>
          </a:prstGeom>
        </p:spPr>
      </p:pic>
      <p:sp>
        <p:nvSpPr>
          <p:cNvPr id="18" name="Freeform 2">
            <a:extLst>
              <a:ext uri="{FF2B5EF4-FFF2-40B4-BE49-F238E27FC236}">
                <a16:creationId xmlns:a16="http://schemas.microsoft.com/office/drawing/2014/main" id="{D8AB2630-64AC-CEF6-D4B2-14914D6C4709}"/>
              </a:ext>
            </a:extLst>
          </p:cNvPr>
          <p:cNvSpPr/>
          <p:nvPr/>
        </p:nvSpPr>
        <p:spPr>
          <a:xfrm>
            <a:off x="0" y="8879943"/>
            <a:ext cx="18288000" cy="1064157"/>
          </a:xfrm>
          <a:custGeom>
            <a:avLst/>
            <a:gdLst/>
            <a:ahLst/>
            <a:cxnLst/>
            <a:rect l="l" t="t" r="r" b="b"/>
            <a:pathLst>
              <a:path w="10648950" h="612315">
                <a:moveTo>
                  <a:pt x="0" y="0"/>
                </a:moveTo>
                <a:lnTo>
                  <a:pt x="10648950" y="0"/>
                </a:lnTo>
                <a:lnTo>
                  <a:pt x="10648950" y="612315"/>
                </a:lnTo>
                <a:lnTo>
                  <a:pt x="0" y="612315"/>
                </a:lnTo>
                <a:lnTo>
                  <a:pt x="0" y="0"/>
                </a:lnTo>
                <a:close/>
              </a:path>
            </a:pathLst>
          </a:custGeom>
          <a:solidFill>
            <a:srgbClr val="002060"/>
          </a:solidFill>
        </p:spPr>
        <p:txBody>
          <a:bodyPr/>
          <a:lstStyle/>
          <a:p>
            <a:endParaRPr lang="pt-BR" dirty="0">
              <a:highlight>
                <a:srgbClr val="1A015F"/>
              </a:highlight>
            </a:endParaRPr>
          </a:p>
        </p:txBody>
      </p:sp>
      <p:sp>
        <p:nvSpPr>
          <p:cNvPr id="19" name="CaixaDeTexto 18">
            <a:extLst>
              <a:ext uri="{FF2B5EF4-FFF2-40B4-BE49-F238E27FC236}">
                <a16:creationId xmlns:a16="http://schemas.microsoft.com/office/drawing/2014/main" id="{B0992EB5-ED4B-5892-9C40-AF7B65CAB4FD}"/>
              </a:ext>
            </a:extLst>
          </p:cNvPr>
          <p:cNvSpPr txBox="1"/>
          <p:nvPr/>
        </p:nvSpPr>
        <p:spPr>
          <a:xfrm>
            <a:off x="177979" y="9193411"/>
            <a:ext cx="17932042" cy="461665"/>
          </a:xfrm>
          <a:prstGeom prst="rect">
            <a:avLst/>
          </a:prstGeom>
          <a:noFill/>
        </p:spPr>
        <p:txBody>
          <a:bodyPr wrap="square" rtlCol="0">
            <a:spAutoFit/>
          </a:bodyPr>
          <a:lstStyle/>
          <a:p>
            <a:pPr algn="ctr"/>
            <a:r>
              <a:rPr lang="pt-BR" sz="2400" dirty="0">
                <a:ln w="0"/>
                <a:solidFill>
                  <a:schemeClr val="bg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rPr>
              <a:t>APOIO: PROGRAMA DE INICIAÇÃO CIENTÍFICA (PIC)</a:t>
            </a:r>
          </a:p>
        </p:txBody>
      </p:sp>
      <p:pic>
        <p:nvPicPr>
          <p:cNvPr id="20" name="Picture 2" descr="Uma nova SLMANDIC de Araras para você - São Leopoldo Mandic Araras">
            <a:extLst>
              <a:ext uri="{FF2B5EF4-FFF2-40B4-BE49-F238E27FC236}">
                <a16:creationId xmlns:a16="http://schemas.microsoft.com/office/drawing/2014/main" id="{76927D54-1347-A313-62EA-D31EE40AB0C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2563" t="7525" r="19809" b="7525"/>
          <a:stretch>
            <a:fillRect/>
          </a:stretch>
        </p:blipFill>
        <p:spPr bwMode="auto">
          <a:xfrm>
            <a:off x="15953769" y="261047"/>
            <a:ext cx="2156252" cy="2672607"/>
          </a:xfrm>
          <a:prstGeom prst="rect">
            <a:avLst/>
          </a:prstGeom>
          <a:noFill/>
          <a:extLst>
            <a:ext uri="{909E8E84-426E-40DD-AFC4-6F175D3DCCD1}">
              <a14:hiddenFill xmlns:a14="http://schemas.microsoft.com/office/drawing/2010/main">
                <a:solidFill>
                  <a:srgbClr val="FFFFFF"/>
                </a:solidFill>
              </a14:hiddenFill>
            </a:ext>
          </a:extLst>
        </p:spPr>
      </p:pic>
      <p:pic>
        <p:nvPicPr>
          <p:cNvPr id="21" name="QR code OSF" descr="qr_osf_jktmn.png"/>
          <p:cNvPicPr>
            <a:picLocks noChangeAspect="1"/>
          </p:cNvPicPr>
          <p:nvPr/>
        </p:nvPicPr>
        <p:blipFill>
          <a:blip r:embed="rId4"/>
          <a:stretch>
            <a:fillRect/>
          </a:stretch>
        </p:blipFill>
        <p:spPr>
          <a:xfrm>
            <a:off x="13569696" y="5349240"/>
            <a:ext cx="2194560" cy="2194560"/>
          </a:xfrm>
          <a:prstGeom prst="rect">
            <a:avLst/>
          </a:prstGeom>
        </p:spPr>
      </p:pic>
      <p:sp>
        <p:nvSpPr>
          <p:cNvPr id="22" name="TextBox 21"/>
          <p:cNvSpPr txBox="1"/>
          <p:nvPr/>
        </p:nvSpPr>
        <p:spPr>
          <a:xfrm>
            <a:off x="11740896" y="7635240"/>
            <a:ext cx="5852160" cy="365760"/>
          </a:xfrm>
          <a:prstGeom prst="rect">
            <a:avLst/>
          </a:prstGeom>
          <a:noFill/>
        </p:spPr>
        <p:txBody>
          <a:bodyPr wrap="square" lIns="0" rIns="0" tIns="0" bIns="0" anchor="t">
            <a:noAutofit/>
          </a:bodyPr>
          <a:lstStyle/>
          <a:p>
            <a:pPr algn="ctr">
              <a:lnSpc>
                <a:spcPct val="100000"/>
              </a:lnSpc>
              <a:spcAft>
                <a:spcPts val="0"/>
              </a:spcAft>
              <a:buNone/>
            </a:pPr>
            <a:r>
              <a:rPr sz="1600" b="0" i="0">
                <a:solidFill>
                  <a:srgbClr val="5A6270"/>
                </a:solidFill>
                <a:latin typeface="Arial"/>
              </a:rPr>
              <a:t>Suplementos  ·  </a:t>
            </a:r>
            <a:r>
              <a:rPr sz="1600" b="1" i="0">
                <a:solidFill>
                  <a:srgbClr val="002060"/>
                </a:solidFill>
                <a:latin typeface="Arial"/>
              </a:rPr>
              <a:t>osf.io/jktmn</a:t>
            </a:r>
          </a:p>
        </p:txBody>
      </p:sp>
    </p:spTree>
    <p:extLst>
      <p:ext uri="{BB962C8B-B14F-4D97-AF65-F5344CB8AC3E}">
        <p14:creationId xmlns:p14="http://schemas.microsoft.com/office/powerpoint/2010/main" val="43250430"/>
      </p:ext>
    </p:extLst>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lano de fundo do modelo" descr="tpl_bg.png"/>
          <p:cNvPicPr>
            <a:picLocks noChangeAspect="1"/>
          </p:cNvPicPr>
          <p:nvPr/>
        </p:nvPicPr>
        <p:blipFill>
          <a:blip r:embed="rId2"/>
          <a:stretch>
            <a:fillRect/>
          </a:stretch>
        </p:blipFill>
        <p:spPr>
          <a:xfrm>
            <a:off x="20" y="1923"/>
            <a:ext cx="18287980" cy="10285077"/>
          </a:xfrm>
          <a:prstGeom prst="rect">
            <a:avLst/>
          </a:prstGeom>
        </p:spPr>
      </p:pic>
      <p:sp>
        <p:nvSpPr>
          <p:cNvPr id="3" name="Retângulo branco (modelo)"/>
          <p:cNvSpPr/>
          <p:nvPr/>
        </p:nvSpPr>
        <p:spPr>
          <a:xfrm>
            <a:off x="15888345" y="279974"/>
            <a:ext cx="2362200" cy="863025"/>
          </a:xfrm>
          <a:prstGeom prst="rect">
            <a:avLst/>
          </a:prstGeom>
          <a:solidFill>
            <a:srgbClr val="FFFFFF"/>
          </a:solidFill>
          <a:ln>
            <a:noFill/>
          </a:ln>
        </p:spPr>
        <p:txBody>
          <a:bodyPr rtlCol="0" anchor="ctr"/>
          <a:lstStyle/>
          <a:p>
            <a:pPr algn="ctr"/>
          </a:p>
        </p:txBody>
      </p:sp>
      <p:pic>
        <p:nvPicPr>
          <p:cNvPr id="4" name="Logo SEMICA" descr="image.png"/>
          <p:cNvPicPr>
            <a:picLocks noChangeAspect="1"/>
          </p:cNvPicPr>
          <p:nvPr/>
        </p:nvPicPr>
        <p:blipFill>
          <a:blip r:embed="rId3"/>
          <a:stretch>
            <a:fillRect/>
          </a:stretch>
        </p:blipFill>
        <p:spPr>
          <a:xfrm>
            <a:off x="15544800" y="279974"/>
            <a:ext cx="2512314" cy="1234862"/>
          </a:xfrm>
          <a:prstGeom prst="rect">
            <a:avLst/>
          </a:prstGeom>
        </p:spPr>
      </p:pic>
      <p:sp>
        <p:nvSpPr>
          <p:cNvPr id="5" name="Título da seção"/>
          <p:cNvSpPr txBox="1"/>
          <p:nvPr/>
        </p:nvSpPr>
        <p:spPr>
          <a:xfrm>
            <a:off x="1143000" y="558224"/>
            <a:ext cx="10058400" cy="584775"/>
          </a:xfrm>
          <a:prstGeom prst="rect">
            <a:avLst/>
          </a:prstGeom>
          <a:noFill/>
        </p:spPr>
        <p:txBody>
          <a:bodyPr wrap="square">
            <a:noAutofit/>
          </a:bodyPr>
          <a:lstStyle/>
          <a:p>
            <a:pPr algn="l">
              <a:lnSpc>
                <a:spcPct val="100000"/>
              </a:lnSpc>
              <a:spcAft>
                <a:spcPts val="0"/>
              </a:spcAft>
              <a:buNone/>
            </a:pPr>
            <a:r>
              <a:rPr sz="3200" b="0" i="0">
                <a:solidFill>
                  <a:srgbClr val="000000"/>
                </a:solidFill>
                <a:latin typeface="Arial"/>
              </a:rPr>
              <a:t>TRAJETÓRIA</a:t>
            </a:r>
          </a:p>
        </p:txBody>
      </p:sp>
      <p:sp>
        <p:nvSpPr>
          <p:cNvPr id="6" name="Subtítulo"/>
          <p:cNvSpPr txBox="1"/>
          <p:nvPr/>
        </p:nvSpPr>
        <p:spPr>
          <a:xfrm>
            <a:off x="1143000" y="1097280"/>
            <a:ext cx="14173200" cy="502920"/>
          </a:xfrm>
          <a:prstGeom prst="rect">
            <a:avLst/>
          </a:prstGeom>
          <a:noFill/>
        </p:spPr>
        <p:txBody>
          <a:bodyPr wrap="square" lIns="0" rIns="0" tIns="0" bIns="0" anchor="t">
            <a:noAutofit/>
          </a:bodyPr>
          <a:lstStyle/>
          <a:p>
            <a:pPr algn="l">
              <a:lnSpc>
                <a:spcPct val="100000"/>
              </a:lnSpc>
              <a:spcAft>
                <a:spcPts val="0"/>
              </a:spcAft>
              <a:buNone/>
            </a:pPr>
            <a:r>
              <a:rPr sz="2400" b="1" i="0">
                <a:solidFill>
                  <a:srgbClr val="002060"/>
                </a:solidFill>
                <a:latin typeface="Arial"/>
              </a:rPr>
              <a:t>Mais de um ano de preparação: formação, protocolo, leitura de 10.910 registros e análise</a:t>
            </a:r>
          </a:p>
        </p:txBody>
      </p:sp>
      <p:cxnSp>
        <p:nvCxnSpPr>
          <p:cNvPr id="7" name="Connector 6"/>
          <p:cNvCxnSpPr/>
          <p:nvPr/>
        </p:nvCxnSpPr>
        <p:spPr>
          <a:xfrm>
            <a:off x="2529840" y="2240280"/>
            <a:ext cx="13868400" cy="0"/>
          </a:xfrm>
          <a:prstGeom prst="line">
            <a:avLst/>
          </a:prstGeom>
          <a:ln w="50800">
            <a:solidFill>
              <a:srgbClr val="C9CFDA"/>
            </a:solidFill>
          </a:ln>
        </p:spPr>
      </p:cxnSp>
      <p:sp>
        <p:nvSpPr>
          <p:cNvPr id="8" name="Oval 7"/>
          <p:cNvSpPr/>
          <p:nvPr/>
        </p:nvSpPr>
        <p:spPr>
          <a:xfrm>
            <a:off x="2141220" y="1851660"/>
            <a:ext cx="777240" cy="777240"/>
          </a:xfrm>
          <a:prstGeom prst="ellipse">
            <a:avLst/>
          </a:prstGeom>
          <a:solidFill>
            <a:srgbClr val="002060"/>
          </a:solidFill>
          <a:ln>
            <a:noFill/>
          </a:ln>
          <a:effectLst/>
        </p:spPr>
        <p:txBody>
          <a:bodyPr rtlCol="0" anchor="ctr" lIns="0" rIns="0" tIns="0" bIns="0"/>
          <a:lstStyle/>
          <a:p/>
        </p:txBody>
      </p:sp>
      <p:pic>
        <p:nvPicPr>
          <p:cNvPr id="9" name="icone graduation" descr="graduation_white.png"/>
          <p:cNvPicPr>
            <a:picLocks noChangeAspect="1"/>
          </p:cNvPicPr>
          <p:nvPr/>
        </p:nvPicPr>
        <p:blipFill>
          <a:blip r:embed="rId4"/>
          <a:stretch>
            <a:fillRect/>
          </a:stretch>
        </p:blipFill>
        <p:spPr>
          <a:xfrm>
            <a:off x="2335530" y="2045970"/>
            <a:ext cx="388620" cy="388620"/>
          </a:xfrm>
          <a:prstGeom prst="rect">
            <a:avLst/>
          </a:prstGeom>
        </p:spPr>
      </p:pic>
      <p:sp>
        <p:nvSpPr>
          <p:cNvPr id="10" name="TextBox 9"/>
          <p:cNvSpPr txBox="1"/>
          <p:nvPr/>
        </p:nvSpPr>
        <p:spPr>
          <a:xfrm>
            <a:off x="1234440" y="2743200"/>
            <a:ext cx="2590799" cy="365760"/>
          </a:xfrm>
          <a:prstGeom prst="rect">
            <a:avLst/>
          </a:prstGeom>
          <a:noFill/>
        </p:spPr>
        <p:txBody>
          <a:bodyPr wrap="square" lIns="0" rIns="0" tIns="0" bIns="0" anchor="t">
            <a:noAutofit/>
          </a:bodyPr>
          <a:lstStyle/>
          <a:p>
            <a:pPr algn="ctr">
              <a:lnSpc>
                <a:spcPct val="100000"/>
              </a:lnSpc>
              <a:spcAft>
                <a:spcPts val="0"/>
              </a:spcAft>
              <a:buNone/>
            </a:pPr>
            <a:r>
              <a:rPr sz="1800" b="1" i="0">
                <a:solidFill>
                  <a:srgbClr val="002060"/>
                </a:solidFill>
                <a:latin typeface="Arial"/>
              </a:rPr>
              <a:t>Jul/2025</a:t>
            </a:r>
          </a:p>
        </p:txBody>
      </p:sp>
      <p:sp>
        <p:nvSpPr>
          <p:cNvPr id="11" name="TextBox 10"/>
          <p:cNvSpPr txBox="1"/>
          <p:nvPr/>
        </p:nvSpPr>
        <p:spPr>
          <a:xfrm>
            <a:off x="1325880" y="3127248"/>
            <a:ext cx="2407920" cy="777240"/>
          </a:xfrm>
          <a:prstGeom prst="rect">
            <a:avLst/>
          </a:prstGeom>
          <a:noFill/>
        </p:spPr>
        <p:txBody>
          <a:bodyPr wrap="square" lIns="0" rIns="0" tIns="0" bIns="0" anchor="t">
            <a:noAutofit/>
          </a:bodyPr>
          <a:lstStyle/>
          <a:p>
            <a:pPr algn="ctr">
              <a:lnSpc>
                <a:spcPct val="100000"/>
              </a:lnSpc>
              <a:spcAft>
                <a:spcPts val="0"/>
              </a:spcAft>
              <a:buNone/>
            </a:pPr>
            <a:r>
              <a:rPr sz="1500" b="0" i="0">
                <a:solidFill>
                  <a:srgbClr val="1F2433"/>
                </a:solidFill>
                <a:latin typeface="Arial"/>
              </a:rPr>
              <a:t>RS e metanálise (Unicamp) e escrita científica</a:t>
            </a:r>
          </a:p>
        </p:txBody>
      </p:sp>
      <p:sp>
        <p:nvSpPr>
          <p:cNvPr id="12" name="Oval 11"/>
          <p:cNvSpPr/>
          <p:nvPr/>
        </p:nvSpPr>
        <p:spPr>
          <a:xfrm>
            <a:off x="4914900" y="1851660"/>
            <a:ext cx="777240" cy="777240"/>
          </a:xfrm>
          <a:prstGeom prst="ellipse">
            <a:avLst/>
          </a:prstGeom>
          <a:solidFill>
            <a:srgbClr val="002060"/>
          </a:solidFill>
          <a:ln>
            <a:noFill/>
          </a:ln>
          <a:effectLst/>
        </p:spPr>
        <p:txBody>
          <a:bodyPr rtlCol="0" anchor="ctr" lIns="0" rIns="0" tIns="0" bIns="0"/>
          <a:lstStyle/>
          <a:p/>
        </p:txBody>
      </p:sp>
      <p:pic>
        <p:nvPicPr>
          <p:cNvPr id="13" name="icone clipboard" descr="clipboard_white.png"/>
          <p:cNvPicPr>
            <a:picLocks noChangeAspect="1"/>
          </p:cNvPicPr>
          <p:nvPr/>
        </p:nvPicPr>
        <p:blipFill>
          <a:blip r:embed="rId5"/>
          <a:stretch>
            <a:fillRect/>
          </a:stretch>
        </p:blipFill>
        <p:spPr>
          <a:xfrm>
            <a:off x="5109209" y="2045970"/>
            <a:ext cx="388620" cy="388620"/>
          </a:xfrm>
          <a:prstGeom prst="rect">
            <a:avLst/>
          </a:prstGeom>
        </p:spPr>
      </p:pic>
      <p:sp>
        <p:nvSpPr>
          <p:cNvPr id="14" name="TextBox 13"/>
          <p:cNvSpPr txBox="1"/>
          <p:nvPr/>
        </p:nvSpPr>
        <p:spPr>
          <a:xfrm>
            <a:off x="4008119" y="2743200"/>
            <a:ext cx="2590799" cy="365760"/>
          </a:xfrm>
          <a:prstGeom prst="rect">
            <a:avLst/>
          </a:prstGeom>
          <a:noFill/>
        </p:spPr>
        <p:txBody>
          <a:bodyPr wrap="square" lIns="0" rIns="0" tIns="0" bIns="0" anchor="t">
            <a:noAutofit/>
          </a:bodyPr>
          <a:lstStyle/>
          <a:p>
            <a:pPr algn="ctr">
              <a:lnSpc>
                <a:spcPct val="100000"/>
              </a:lnSpc>
              <a:spcAft>
                <a:spcPts val="0"/>
              </a:spcAft>
              <a:buNone/>
            </a:pPr>
            <a:r>
              <a:rPr sz="1800" b="1" i="0">
                <a:solidFill>
                  <a:srgbClr val="002060"/>
                </a:solidFill>
                <a:latin typeface="Arial"/>
              </a:rPr>
              <a:t>2025</a:t>
            </a:r>
          </a:p>
        </p:txBody>
      </p:sp>
      <p:sp>
        <p:nvSpPr>
          <p:cNvPr id="15" name="TextBox 14"/>
          <p:cNvSpPr txBox="1"/>
          <p:nvPr/>
        </p:nvSpPr>
        <p:spPr>
          <a:xfrm>
            <a:off x="4099560" y="3127248"/>
            <a:ext cx="2407920" cy="777240"/>
          </a:xfrm>
          <a:prstGeom prst="rect">
            <a:avLst/>
          </a:prstGeom>
          <a:noFill/>
        </p:spPr>
        <p:txBody>
          <a:bodyPr wrap="square" lIns="0" rIns="0" tIns="0" bIns="0" anchor="t">
            <a:noAutofit/>
          </a:bodyPr>
          <a:lstStyle/>
          <a:p>
            <a:pPr algn="ctr">
              <a:lnSpc>
                <a:spcPct val="100000"/>
              </a:lnSpc>
              <a:spcAft>
                <a:spcPts val="0"/>
              </a:spcAft>
              <a:buNone/>
            </a:pPr>
            <a:r>
              <a:rPr sz="1500" b="0" i="0">
                <a:solidFill>
                  <a:srgbClr val="1F2433"/>
                </a:solidFill>
                <a:latin typeface="Arial"/>
              </a:rPr>
              <a:t>Protocolo no PROSPERO e dispensa do CEP</a:t>
            </a:r>
          </a:p>
        </p:txBody>
      </p:sp>
      <p:sp>
        <p:nvSpPr>
          <p:cNvPr id="16" name="Oval 15"/>
          <p:cNvSpPr/>
          <p:nvPr/>
        </p:nvSpPr>
        <p:spPr>
          <a:xfrm>
            <a:off x="7688579" y="1851660"/>
            <a:ext cx="777240" cy="777240"/>
          </a:xfrm>
          <a:prstGeom prst="ellipse">
            <a:avLst/>
          </a:prstGeom>
          <a:solidFill>
            <a:srgbClr val="002060"/>
          </a:solidFill>
          <a:ln>
            <a:noFill/>
          </a:ln>
          <a:effectLst/>
        </p:spPr>
        <p:txBody>
          <a:bodyPr rtlCol="0" anchor="ctr" lIns="0" rIns="0" tIns="0" bIns="0"/>
          <a:lstStyle/>
          <a:p/>
        </p:txBody>
      </p:sp>
      <p:pic>
        <p:nvPicPr>
          <p:cNvPr id="17" name="icone book" descr="book_white.png"/>
          <p:cNvPicPr>
            <a:picLocks noChangeAspect="1"/>
          </p:cNvPicPr>
          <p:nvPr/>
        </p:nvPicPr>
        <p:blipFill>
          <a:blip r:embed="rId6"/>
          <a:stretch>
            <a:fillRect/>
          </a:stretch>
        </p:blipFill>
        <p:spPr>
          <a:xfrm>
            <a:off x="7882889" y="2045970"/>
            <a:ext cx="388620" cy="388620"/>
          </a:xfrm>
          <a:prstGeom prst="rect">
            <a:avLst/>
          </a:prstGeom>
        </p:spPr>
      </p:pic>
      <p:sp>
        <p:nvSpPr>
          <p:cNvPr id="18" name="TextBox 17"/>
          <p:cNvSpPr txBox="1"/>
          <p:nvPr/>
        </p:nvSpPr>
        <p:spPr>
          <a:xfrm>
            <a:off x="6781799" y="2743200"/>
            <a:ext cx="2590799" cy="365760"/>
          </a:xfrm>
          <a:prstGeom prst="rect">
            <a:avLst/>
          </a:prstGeom>
          <a:noFill/>
        </p:spPr>
        <p:txBody>
          <a:bodyPr wrap="square" lIns="0" rIns="0" tIns="0" bIns="0" anchor="t">
            <a:noAutofit/>
          </a:bodyPr>
          <a:lstStyle/>
          <a:p>
            <a:pPr algn="ctr">
              <a:lnSpc>
                <a:spcPct val="100000"/>
              </a:lnSpc>
              <a:spcAft>
                <a:spcPts val="0"/>
              </a:spcAft>
              <a:buNone/>
            </a:pPr>
            <a:r>
              <a:rPr sz="1800" b="1" i="0">
                <a:solidFill>
                  <a:srgbClr val="002060"/>
                </a:solidFill>
                <a:latin typeface="Arial"/>
              </a:rPr>
              <a:t>Mar/2026</a:t>
            </a:r>
          </a:p>
        </p:txBody>
      </p:sp>
      <p:sp>
        <p:nvSpPr>
          <p:cNvPr id="19" name="TextBox 18"/>
          <p:cNvSpPr txBox="1"/>
          <p:nvPr/>
        </p:nvSpPr>
        <p:spPr>
          <a:xfrm>
            <a:off x="6873239" y="3127248"/>
            <a:ext cx="2407920" cy="777240"/>
          </a:xfrm>
          <a:prstGeom prst="rect">
            <a:avLst/>
          </a:prstGeom>
          <a:noFill/>
        </p:spPr>
        <p:txBody>
          <a:bodyPr wrap="square" lIns="0" rIns="0" tIns="0" bIns="0" anchor="t">
            <a:noAutofit/>
          </a:bodyPr>
          <a:lstStyle/>
          <a:p>
            <a:pPr algn="ctr">
              <a:lnSpc>
                <a:spcPct val="100000"/>
              </a:lnSpc>
              <a:spcAft>
                <a:spcPts val="0"/>
              </a:spcAft>
              <a:buNone/>
            </a:pPr>
            <a:r>
              <a:rPr sz="1500" b="0" i="0">
                <a:solidFill>
                  <a:srgbClr val="1F2433"/>
                </a:solidFill>
                <a:latin typeface="Arial"/>
              </a:rPr>
              <a:t>Normalização ABNT e referências (Fiocruz)</a:t>
            </a:r>
          </a:p>
        </p:txBody>
      </p:sp>
      <p:sp>
        <p:nvSpPr>
          <p:cNvPr id="20" name="Oval 19"/>
          <p:cNvSpPr/>
          <p:nvPr/>
        </p:nvSpPr>
        <p:spPr>
          <a:xfrm>
            <a:off x="10462260" y="1851660"/>
            <a:ext cx="777240" cy="777240"/>
          </a:xfrm>
          <a:prstGeom prst="ellipse">
            <a:avLst/>
          </a:prstGeom>
          <a:solidFill>
            <a:srgbClr val="002060"/>
          </a:solidFill>
          <a:ln>
            <a:noFill/>
          </a:ln>
          <a:effectLst/>
        </p:spPr>
        <p:txBody>
          <a:bodyPr rtlCol="0" anchor="ctr" lIns="0" rIns="0" tIns="0" bIns="0"/>
          <a:lstStyle/>
          <a:p/>
        </p:txBody>
      </p:sp>
      <p:pic>
        <p:nvPicPr>
          <p:cNvPr id="21" name="icone search" descr="search_white.png"/>
          <p:cNvPicPr>
            <a:picLocks noChangeAspect="1"/>
          </p:cNvPicPr>
          <p:nvPr/>
        </p:nvPicPr>
        <p:blipFill>
          <a:blip r:embed="rId7"/>
          <a:stretch>
            <a:fillRect/>
          </a:stretch>
        </p:blipFill>
        <p:spPr>
          <a:xfrm>
            <a:off x="10656570" y="2045970"/>
            <a:ext cx="388620" cy="388620"/>
          </a:xfrm>
          <a:prstGeom prst="rect">
            <a:avLst/>
          </a:prstGeom>
        </p:spPr>
      </p:pic>
      <p:sp>
        <p:nvSpPr>
          <p:cNvPr id="22" name="TextBox 21"/>
          <p:cNvSpPr txBox="1"/>
          <p:nvPr/>
        </p:nvSpPr>
        <p:spPr>
          <a:xfrm>
            <a:off x="9555480" y="2743200"/>
            <a:ext cx="2590799" cy="365760"/>
          </a:xfrm>
          <a:prstGeom prst="rect">
            <a:avLst/>
          </a:prstGeom>
          <a:noFill/>
        </p:spPr>
        <p:txBody>
          <a:bodyPr wrap="square" lIns="0" rIns="0" tIns="0" bIns="0" anchor="t">
            <a:noAutofit/>
          </a:bodyPr>
          <a:lstStyle/>
          <a:p>
            <a:pPr algn="ctr">
              <a:lnSpc>
                <a:spcPct val="100000"/>
              </a:lnSpc>
              <a:spcAft>
                <a:spcPts val="0"/>
              </a:spcAft>
              <a:buNone/>
            </a:pPr>
            <a:r>
              <a:rPr sz="1800" b="1" i="0">
                <a:solidFill>
                  <a:srgbClr val="002060"/>
                </a:solidFill>
                <a:latin typeface="Arial"/>
              </a:rPr>
              <a:t>Jul/2026</a:t>
            </a:r>
          </a:p>
        </p:txBody>
      </p:sp>
      <p:sp>
        <p:nvSpPr>
          <p:cNvPr id="23" name="TextBox 22"/>
          <p:cNvSpPr txBox="1"/>
          <p:nvPr/>
        </p:nvSpPr>
        <p:spPr>
          <a:xfrm>
            <a:off x="9646920" y="3127248"/>
            <a:ext cx="2407920" cy="777240"/>
          </a:xfrm>
          <a:prstGeom prst="rect">
            <a:avLst/>
          </a:prstGeom>
          <a:noFill/>
        </p:spPr>
        <p:txBody>
          <a:bodyPr wrap="square" lIns="0" rIns="0" tIns="0" bIns="0" anchor="t">
            <a:noAutofit/>
          </a:bodyPr>
          <a:lstStyle/>
          <a:p>
            <a:pPr algn="ctr">
              <a:lnSpc>
                <a:spcPct val="100000"/>
              </a:lnSpc>
              <a:spcAft>
                <a:spcPts val="0"/>
              </a:spcAft>
              <a:buNone/>
            </a:pPr>
            <a:r>
              <a:rPr sz="1500" b="0" i="0">
                <a:solidFill>
                  <a:srgbClr val="1F2433"/>
                </a:solidFill>
                <a:latin typeface="Arial"/>
              </a:rPr>
              <a:t>Busca final em 7 bases (09/07) e projeto no OSF</a:t>
            </a:r>
          </a:p>
        </p:txBody>
      </p:sp>
      <p:sp>
        <p:nvSpPr>
          <p:cNvPr id="24" name="Oval 23"/>
          <p:cNvSpPr/>
          <p:nvPr/>
        </p:nvSpPr>
        <p:spPr>
          <a:xfrm>
            <a:off x="13235939" y="1851660"/>
            <a:ext cx="777240" cy="777240"/>
          </a:xfrm>
          <a:prstGeom prst="ellipse">
            <a:avLst/>
          </a:prstGeom>
          <a:solidFill>
            <a:srgbClr val="002060"/>
          </a:solidFill>
          <a:ln>
            <a:noFill/>
          </a:ln>
          <a:effectLst/>
        </p:spPr>
        <p:txBody>
          <a:bodyPr rtlCol="0" anchor="ctr" lIns="0" rIns="0" tIns="0" bIns="0"/>
          <a:lstStyle/>
          <a:p/>
        </p:txBody>
      </p:sp>
      <p:pic>
        <p:nvPicPr>
          <p:cNvPr id="25" name="icone filter" descr="filter_white.png"/>
          <p:cNvPicPr>
            <a:picLocks noChangeAspect="1"/>
          </p:cNvPicPr>
          <p:nvPr/>
        </p:nvPicPr>
        <p:blipFill>
          <a:blip r:embed="rId8"/>
          <a:stretch>
            <a:fillRect/>
          </a:stretch>
        </p:blipFill>
        <p:spPr>
          <a:xfrm>
            <a:off x="13430249" y="2045970"/>
            <a:ext cx="388620" cy="388620"/>
          </a:xfrm>
          <a:prstGeom prst="rect">
            <a:avLst/>
          </a:prstGeom>
        </p:spPr>
      </p:pic>
      <p:sp>
        <p:nvSpPr>
          <p:cNvPr id="26" name="TextBox 25"/>
          <p:cNvSpPr txBox="1"/>
          <p:nvPr/>
        </p:nvSpPr>
        <p:spPr>
          <a:xfrm>
            <a:off x="12329160" y="2743200"/>
            <a:ext cx="2590799" cy="365760"/>
          </a:xfrm>
          <a:prstGeom prst="rect">
            <a:avLst/>
          </a:prstGeom>
          <a:noFill/>
        </p:spPr>
        <p:txBody>
          <a:bodyPr wrap="square" lIns="0" rIns="0" tIns="0" bIns="0" anchor="t">
            <a:noAutofit/>
          </a:bodyPr>
          <a:lstStyle/>
          <a:p>
            <a:pPr algn="ctr">
              <a:lnSpc>
                <a:spcPct val="100000"/>
              </a:lnSpc>
              <a:spcAft>
                <a:spcPts val="0"/>
              </a:spcAft>
              <a:buNone/>
            </a:pPr>
            <a:r>
              <a:rPr sz="1800" b="1" i="0">
                <a:solidFill>
                  <a:srgbClr val="002060"/>
                </a:solidFill>
                <a:latin typeface="Arial"/>
              </a:rPr>
              <a:t>Jul–Ago/2026</a:t>
            </a:r>
          </a:p>
        </p:txBody>
      </p:sp>
      <p:sp>
        <p:nvSpPr>
          <p:cNvPr id="27" name="TextBox 26"/>
          <p:cNvSpPr txBox="1"/>
          <p:nvPr/>
        </p:nvSpPr>
        <p:spPr>
          <a:xfrm>
            <a:off x="12420599" y="3127248"/>
            <a:ext cx="2407920" cy="777240"/>
          </a:xfrm>
          <a:prstGeom prst="rect">
            <a:avLst/>
          </a:prstGeom>
          <a:noFill/>
        </p:spPr>
        <p:txBody>
          <a:bodyPr wrap="square" lIns="0" rIns="0" tIns="0" bIns="0" anchor="t">
            <a:noAutofit/>
          </a:bodyPr>
          <a:lstStyle/>
          <a:p>
            <a:pPr algn="ctr">
              <a:lnSpc>
                <a:spcPct val="100000"/>
              </a:lnSpc>
              <a:spcAft>
                <a:spcPts val="0"/>
              </a:spcAft>
              <a:buNone/>
            </a:pPr>
            <a:r>
              <a:rPr sz="1500" b="0" i="0">
                <a:solidFill>
                  <a:srgbClr val="1F2433"/>
                </a:solidFill>
                <a:latin typeface="Arial"/>
              </a:rPr>
              <a:t>10.910 títulos e resumos lidos, um a um</a:t>
            </a:r>
          </a:p>
        </p:txBody>
      </p:sp>
      <p:sp>
        <p:nvSpPr>
          <p:cNvPr id="28" name="Oval 27"/>
          <p:cNvSpPr/>
          <p:nvPr/>
        </p:nvSpPr>
        <p:spPr>
          <a:xfrm>
            <a:off x="16009620" y="1851660"/>
            <a:ext cx="777240" cy="777240"/>
          </a:xfrm>
          <a:prstGeom prst="ellipse">
            <a:avLst/>
          </a:prstGeom>
          <a:solidFill>
            <a:srgbClr val="8B0000"/>
          </a:solidFill>
          <a:ln>
            <a:noFill/>
          </a:ln>
          <a:effectLst/>
        </p:spPr>
        <p:txBody>
          <a:bodyPr rtlCol="0" anchor="ctr" lIns="0" rIns="0" tIns="0" bIns="0"/>
          <a:lstStyle/>
          <a:p/>
        </p:txBody>
      </p:sp>
      <p:pic>
        <p:nvPicPr>
          <p:cNvPr id="29" name="icone chart" descr="chart_white.png"/>
          <p:cNvPicPr>
            <a:picLocks noChangeAspect="1"/>
          </p:cNvPicPr>
          <p:nvPr/>
        </p:nvPicPr>
        <p:blipFill>
          <a:blip r:embed="rId9"/>
          <a:stretch>
            <a:fillRect/>
          </a:stretch>
        </p:blipFill>
        <p:spPr>
          <a:xfrm>
            <a:off x="16203930" y="2045970"/>
            <a:ext cx="388620" cy="388620"/>
          </a:xfrm>
          <a:prstGeom prst="rect">
            <a:avLst/>
          </a:prstGeom>
        </p:spPr>
      </p:pic>
      <p:sp>
        <p:nvSpPr>
          <p:cNvPr id="30" name="TextBox 29"/>
          <p:cNvSpPr txBox="1"/>
          <p:nvPr/>
        </p:nvSpPr>
        <p:spPr>
          <a:xfrm>
            <a:off x="15102840" y="2743200"/>
            <a:ext cx="2590799" cy="365760"/>
          </a:xfrm>
          <a:prstGeom prst="rect">
            <a:avLst/>
          </a:prstGeom>
          <a:noFill/>
        </p:spPr>
        <p:txBody>
          <a:bodyPr wrap="square" lIns="0" rIns="0" tIns="0" bIns="0" anchor="t">
            <a:noAutofit/>
          </a:bodyPr>
          <a:lstStyle/>
          <a:p>
            <a:pPr algn="ctr">
              <a:lnSpc>
                <a:spcPct val="100000"/>
              </a:lnSpc>
              <a:spcAft>
                <a:spcPts val="0"/>
              </a:spcAft>
              <a:buNone/>
            </a:pPr>
            <a:r>
              <a:rPr sz="1800" b="1" i="0">
                <a:solidFill>
                  <a:srgbClr val="002060"/>
                </a:solidFill>
                <a:latin typeface="Arial"/>
              </a:rPr>
              <a:t>Até Out/2026</a:t>
            </a:r>
          </a:p>
        </p:txBody>
      </p:sp>
      <p:sp>
        <p:nvSpPr>
          <p:cNvPr id="31" name="TextBox 30"/>
          <p:cNvSpPr txBox="1"/>
          <p:nvPr/>
        </p:nvSpPr>
        <p:spPr>
          <a:xfrm>
            <a:off x="15194280" y="3127248"/>
            <a:ext cx="2407920" cy="777240"/>
          </a:xfrm>
          <a:prstGeom prst="rect">
            <a:avLst/>
          </a:prstGeom>
          <a:noFill/>
        </p:spPr>
        <p:txBody>
          <a:bodyPr wrap="square" lIns="0" rIns="0" tIns="0" bIns="0" anchor="t">
            <a:noAutofit/>
          </a:bodyPr>
          <a:lstStyle/>
          <a:p>
            <a:pPr algn="ctr">
              <a:lnSpc>
                <a:spcPct val="100000"/>
              </a:lnSpc>
              <a:spcAft>
                <a:spcPts val="0"/>
              </a:spcAft>
              <a:buNone/>
            </a:pPr>
            <a:r>
              <a:rPr sz="1500" b="0" i="0">
                <a:solidFill>
                  <a:srgbClr val="1F2433"/>
                </a:solidFill>
                <a:latin typeface="Arial"/>
              </a:rPr>
              <a:t>Extração, JBI, metanálise, GRADE e manuscrito</a:t>
            </a:r>
          </a:p>
        </p:txBody>
      </p:sp>
      <p:sp>
        <p:nvSpPr>
          <p:cNvPr id="32" name="Rounded Rectangle 31"/>
          <p:cNvSpPr/>
          <p:nvPr/>
        </p:nvSpPr>
        <p:spPr>
          <a:xfrm>
            <a:off x="1143000" y="3977639"/>
            <a:ext cx="8183879" cy="4069080"/>
          </a:xfrm>
          <a:prstGeom prst="roundRect">
            <a:avLst>
              <a:gd name="adj" fmla="val 6000"/>
            </a:avLst>
          </a:prstGeom>
          <a:solidFill>
            <a:srgbClr val="F2F4F8"/>
          </a:solidFill>
          <a:ln>
            <a:noFill/>
          </a:ln>
          <a:effectLst/>
        </p:spPr>
        <p:txBody>
          <a:bodyPr rtlCol="0" anchor="ctr"/>
          <a:lstStyle/>
          <a:p/>
        </p:txBody>
      </p:sp>
      <p:sp>
        <p:nvSpPr>
          <p:cNvPr id="33" name="Oval 32"/>
          <p:cNvSpPr/>
          <p:nvPr/>
        </p:nvSpPr>
        <p:spPr>
          <a:xfrm>
            <a:off x="1463040" y="4297679"/>
            <a:ext cx="640080" cy="640080"/>
          </a:xfrm>
          <a:prstGeom prst="ellipse">
            <a:avLst/>
          </a:prstGeom>
          <a:solidFill>
            <a:srgbClr val="002060"/>
          </a:solidFill>
          <a:ln>
            <a:noFill/>
          </a:ln>
          <a:effectLst/>
        </p:spPr>
        <p:txBody>
          <a:bodyPr rtlCol="0" anchor="ctr" lIns="0" rIns="0" tIns="0" bIns="0"/>
          <a:lstStyle/>
          <a:p/>
        </p:txBody>
      </p:sp>
      <p:pic>
        <p:nvPicPr>
          <p:cNvPr id="34" name="icone graduation" descr="graduation_white.png"/>
          <p:cNvPicPr>
            <a:picLocks noChangeAspect="1"/>
          </p:cNvPicPr>
          <p:nvPr/>
        </p:nvPicPr>
        <p:blipFill>
          <a:blip r:embed="rId4"/>
          <a:stretch>
            <a:fillRect/>
          </a:stretch>
        </p:blipFill>
        <p:spPr>
          <a:xfrm>
            <a:off x="1623060" y="4457699"/>
            <a:ext cx="320040" cy="320040"/>
          </a:xfrm>
          <a:prstGeom prst="rect">
            <a:avLst/>
          </a:prstGeom>
        </p:spPr>
      </p:pic>
      <p:sp>
        <p:nvSpPr>
          <p:cNvPr id="35" name="TextBox 34"/>
          <p:cNvSpPr txBox="1"/>
          <p:nvPr/>
        </p:nvSpPr>
        <p:spPr>
          <a:xfrm>
            <a:off x="2331720" y="4297679"/>
            <a:ext cx="6675120" cy="640080"/>
          </a:xfrm>
          <a:prstGeom prst="rect">
            <a:avLst/>
          </a:prstGeom>
          <a:noFill/>
        </p:spPr>
        <p:txBody>
          <a:bodyPr wrap="square" lIns="0" rIns="0" tIns="0" bIns="0" anchor="ctr">
            <a:noAutofit/>
          </a:bodyPr>
          <a:lstStyle/>
          <a:p>
            <a:pPr algn="l">
              <a:lnSpc>
                <a:spcPct val="100000"/>
              </a:lnSpc>
              <a:spcAft>
                <a:spcPts val="0"/>
              </a:spcAft>
              <a:buNone/>
            </a:pPr>
            <a:r>
              <a:rPr sz="1900" b="1" i="0">
                <a:solidFill>
                  <a:srgbClr val="002060"/>
                </a:solidFill>
                <a:latin typeface="Arial"/>
              </a:rPr>
              <a:t>Formação certificada · ≈ 49 h</a:t>
            </a:r>
          </a:p>
        </p:txBody>
      </p:sp>
      <p:pic>
        <p:nvPicPr>
          <p:cNvPr id="36" name="Picture 35" descr="cert_unicamp_rs_metanalise.jpg"/>
          <p:cNvPicPr>
            <a:picLocks noChangeAspect="1"/>
          </p:cNvPicPr>
          <p:nvPr/>
        </p:nvPicPr>
        <p:blipFill>
          <a:blip r:embed="rId10"/>
          <a:stretch>
            <a:fillRect/>
          </a:stretch>
        </p:blipFill>
        <p:spPr>
          <a:xfrm>
            <a:off x="1463040" y="5705855"/>
            <a:ext cx="1513285" cy="1170431"/>
          </a:xfrm>
          <a:prstGeom prst="rect">
            <a:avLst/>
          </a:prstGeom>
          <a:ln w="9525">
            <a:solidFill>
              <a:srgbClr val="C9CFDA"/>
            </a:solidFill>
          </a:ln>
        </p:spPr>
      </p:pic>
      <p:sp>
        <p:nvSpPr>
          <p:cNvPr id="37" name="TextBox 36"/>
          <p:cNvSpPr txBox="1"/>
          <p:nvPr/>
        </p:nvSpPr>
        <p:spPr>
          <a:xfrm>
            <a:off x="1351002" y="6986016"/>
            <a:ext cx="1737360" cy="685800"/>
          </a:xfrm>
          <a:prstGeom prst="rect">
            <a:avLst/>
          </a:prstGeom>
          <a:noFill/>
        </p:spPr>
        <p:txBody>
          <a:bodyPr wrap="square" lIns="0" rIns="0" tIns="0" bIns="0" anchor="t">
            <a:noAutofit/>
          </a:bodyPr>
          <a:lstStyle/>
          <a:p>
            <a:pPr algn="ctr">
              <a:lnSpc>
                <a:spcPct val="100000"/>
              </a:lnSpc>
              <a:spcAft>
                <a:spcPts val="100"/>
              </a:spcAft>
              <a:buNone/>
            </a:pPr>
            <a:r>
              <a:rPr sz="1400" b="1" i="0">
                <a:solidFill>
                  <a:srgbClr val="002060"/>
                </a:solidFill>
                <a:latin typeface="Arial"/>
              </a:rPr>
              <a:t>RS e Metanálise</a:t>
            </a:r>
          </a:p>
          <a:p>
            <a:pPr algn="ctr">
              <a:lnSpc>
                <a:spcPct val="100000"/>
              </a:lnSpc>
              <a:spcAft>
                <a:spcPts val="0"/>
              </a:spcAft>
              <a:buNone/>
            </a:pPr>
            <a:r>
              <a:rPr sz="1400" b="0" i="0">
                <a:solidFill>
                  <a:srgbClr val="5A6270"/>
                </a:solidFill>
                <a:latin typeface="Arial"/>
              </a:rPr>
              <a:t>Unicamp · 40 h</a:t>
            </a:r>
          </a:p>
          <a:p>
            <a:pPr algn="ctr">
              <a:lnSpc>
                <a:spcPct val="100000"/>
              </a:lnSpc>
              <a:spcAft>
                <a:spcPts val="0"/>
              </a:spcAft>
              <a:buNone/>
            </a:pPr>
            <a:r>
              <a:rPr sz="1400" b="1" i="0">
                <a:solidFill>
                  <a:srgbClr val="8A6D1F"/>
                </a:solidFill>
                <a:latin typeface="Arial"/>
              </a:rPr>
              <a:t>com distinção</a:t>
            </a:r>
          </a:p>
        </p:txBody>
      </p:sp>
      <p:pic>
        <p:nvPicPr>
          <p:cNvPr id="38" name="Picture 37" descr="cert_zuco_escrita.jpg"/>
          <p:cNvPicPr>
            <a:picLocks noChangeAspect="1"/>
          </p:cNvPicPr>
          <p:nvPr/>
        </p:nvPicPr>
        <p:blipFill>
          <a:blip r:embed="rId11"/>
          <a:stretch>
            <a:fillRect/>
          </a:stretch>
        </p:blipFill>
        <p:spPr>
          <a:xfrm>
            <a:off x="3312378" y="5705855"/>
            <a:ext cx="1570390" cy="1170432"/>
          </a:xfrm>
          <a:prstGeom prst="rect">
            <a:avLst/>
          </a:prstGeom>
          <a:ln w="9525">
            <a:solidFill>
              <a:srgbClr val="C9CFDA"/>
            </a:solidFill>
          </a:ln>
        </p:spPr>
      </p:pic>
      <p:sp>
        <p:nvSpPr>
          <p:cNvPr id="39" name="TextBox 38"/>
          <p:cNvSpPr txBox="1"/>
          <p:nvPr/>
        </p:nvSpPr>
        <p:spPr>
          <a:xfrm>
            <a:off x="3228893" y="6986016"/>
            <a:ext cx="1737360" cy="685800"/>
          </a:xfrm>
          <a:prstGeom prst="rect">
            <a:avLst/>
          </a:prstGeom>
          <a:noFill/>
        </p:spPr>
        <p:txBody>
          <a:bodyPr wrap="square" lIns="0" rIns="0" tIns="0" bIns="0" anchor="t">
            <a:noAutofit/>
          </a:bodyPr>
          <a:lstStyle/>
          <a:p>
            <a:pPr algn="ctr">
              <a:lnSpc>
                <a:spcPct val="100000"/>
              </a:lnSpc>
              <a:spcAft>
                <a:spcPts val="100"/>
              </a:spcAft>
              <a:buNone/>
            </a:pPr>
            <a:r>
              <a:rPr sz="1400" b="1" i="0">
                <a:solidFill>
                  <a:srgbClr val="002060"/>
                </a:solidFill>
                <a:latin typeface="Arial"/>
              </a:rPr>
              <a:t>Escrita científica</a:t>
            </a:r>
          </a:p>
          <a:p>
            <a:pPr algn="ctr">
              <a:lnSpc>
                <a:spcPct val="100000"/>
              </a:lnSpc>
              <a:spcAft>
                <a:spcPts val="0"/>
              </a:spcAft>
              <a:buNone/>
            </a:pPr>
            <a:r>
              <a:rPr sz="1400" b="0" i="0">
                <a:solidFill>
                  <a:srgbClr val="5A6270"/>
                </a:solidFill>
                <a:latin typeface="Arial"/>
              </a:rPr>
              <a:t>ZucoEscrita · 3,6 h</a:t>
            </a:r>
          </a:p>
        </p:txBody>
      </p:sp>
      <p:pic>
        <p:nvPicPr>
          <p:cNvPr id="40" name="Picture 39" descr="cert_fiocruz_abnt.jpg"/>
          <p:cNvPicPr>
            <a:picLocks noChangeAspect="1"/>
          </p:cNvPicPr>
          <p:nvPr/>
        </p:nvPicPr>
        <p:blipFill>
          <a:blip r:embed="rId12"/>
          <a:stretch>
            <a:fillRect/>
          </a:stretch>
        </p:blipFill>
        <p:spPr>
          <a:xfrm>
            <a:off x="5218822" y="5705855"/>
            <a:ext cx="1725982" cy="1170432"/>
          </a:xfrm>
          <a:prstGeom prst="rect">
            <a:avLst/>
          </a:prstGeom>
          <a:ln w="9525">
            <a:solidFill>
              <a:srgbClr val="C9CFDA"/>
            </a:solidFill>
          </a:ln>
        </p:spPr>
      </p:pic>
      <p:sp>
        <p:nvSpPr>
          <p:cNvPr id="41" name="TextBox 40"/>
          <p:cNvSpPr txBox="1"/>
          <p:nvPr/>
        </p:nvSpPr>
        <p:spPr>
          <a:xfrm>
            <a:off x="5213133" y="6986016"/>
            <a:ext cx="1737360" cy="685800"/>
          </a:xfrm>
          <a:prstGeom prst="rect">
            <a:avLst/>
          </a:prstGeom>
          <a:noFill/>
        </p:spPr>
        <p:txBody>
          <a:bodyPr wrap="square" lIns="0" rIns="0" tIns="0" bIns="0" anchor="t">
            <a:noAutofit/>
          </a:bodyPr>
          <a:lstStyle/>
          <a:p>
            <a:pPr algn="ctr">
              <a:lnSpc>
                <a:spcPct val="100000"/>
              </a:lnSpc>
              <a:spcAft>
                <a:spcPts val="100"/>
              </a:spcAft>
              <a:buNone/>
            </a:pPr>
            <a:r>
              <a:rPr sz="1400" b="1" i="0">
                <a:solidFill>
                  <a:srgbClr val="002060"/>
                </a:solidFill>
                <a:latin typeface="Arial"/>
              </a:rPr>
              <a:t>Normas ABNT</a:t>
            </a:r>
          </a:p>
          <a:p>
            <a:pPr algn="ctr">
              <a:lnSpc>
                <a:spcPct val="100000"/>
              </a:lnSpc>
              <a:spcAft>
                <a:spcPts val="0"/>
              </a:spcAft>
              <a:buNone/>
            </a:pPr>
            <a:r>
              <a:rPr sz="1400" b="0" i="0">
                <a:solidFill>
                  <a:srgbClr val="5A6270"/>
                </a:solidFill>
                <a:latin typeface="Arial"/>
              </a:rPr>
              <a:t>Fiocruz · 3 h</a:t>
            </a:r>
          </a:p>
        </p:txBody>
      </p:sp>
      <p:pic>
        <p:nvPicPr>
          <p:cNvPr id="42" name="Picture 41" descr="cert_fiocruz_referencias.jpg"/>
          <p:cNvPicPr>
            <a:picLocks noChangeAspect="1"/>
          </p:cNvPicPr>
          <p:nvPr/>
        </p:nvPicPr>
        <p:blipFill>
          <a:blip r:embed="rId13"/>
          <a:stretch>
            <a:fillRect/>
          </a:stretch>
        </p:blipFill>
        <p:spPr>
          <a:xfrm>
            <a:off x="7280857" y="5705855"/>
            <a:ext cx="1725982" cy="1170432"/>
          </a:xfrm>
          <a:prstGeom prst="rect">
            <a:avLst/>
          </a:prstGeom>
          <a:ln w="9525">
            <a:solidFill>
              <a:srgbClr val="C9CFDA"/>
            </a:solidFill>
          </a:ln>
        </p:spPr>
      </p:pic>
      <p:sp>
        <p:nvSpPr>
          <p:cNvPr id="43" name="TextBox 42"/>
          <p:cNvSpPr txBox="1"/>
          <p:nvPr/>
        </p:nvSpPr>
        <p:spPr>
          <a:xfrm>
            <a:off x="7275168" y="6986016"/>
            <a:ext cx="1737360" cy="685800"/>
          </a:xfrm>
          <a:prstGeom prst="rect">
            <a:avLst/>
          </a:prstGeom>
          <a:noFill/>
        </p:spPr>
        <p:txBody>
          <a:bodyPr wrap="square" lIns="0" rIns="0" tIns="0" bIns="0" anchor="t">
            <a:noAutofit/>
          </a:bodyPr>
          <a:lstStyle/>
          <a:p>
            <a:pPr algn="ctr">
              <a:lnSpc>
                <a:spcPct val="100000"/>
              </a:lnSpc>
              <a:spcAft>
                <a:spcPts val="100"/>
              </a:spcAft>
              <a:buNone/>
            </a:pPr>
            <a:r>
              <a:rPr sz="1400" b="1" i="0">
                <a:solidFill>
                  <a:srgbClr val="002060"/>
                </a:solidFill>
                <a:latin typeface="Arial"/>
              </a:rPr>
              <a:t>Referências (ABNT)</a:t>
            </a:r>
          </a:p>
          <a:p>
            <a:pPr algn="ctr">
              <a:lnSpc>
                <a:spcPct val="100000"/>
              </a:lnSpc>
              <a:spcAft>
                <a:spcPts val="0"/>
              </a:spcAft>
              <a:buNone/>
            </a:pPr>
            <a:r>
              <a:rPr sz="1400" b="0" i="0">
                <a:solidFill>
                  <a:srgbClr val="5A6270"/>
                </a:solidFill>
                <a:latin typeface="Arial"/>
              </a:rPr>
              <a:t>Fiocruz · 2 h</a:t>
            </a:r>
          </a:p>
        </p:txBody>
      </p:sp>
      <p:sp>
        <p:nvSpPr>
          <p:cNvPr id="44" name="Rounded Rectangle 43"/>
          <p:cNvSpPr/>
          <p:nvPr/>
        </p:nvSpPr>
        <p:spPr>
          <a:xfrm>
            <a:off x="9601200" y="3977639"/>
            <a:ext cx="8183879" cy="4069080"/>
          </a:xfrm>
          <a:prstGeom prst="roundRect">
            <a:avLst>
              <a:gd name="adj" fmla="val 6000"/>
            </a:avLst>
          </a:prstGeom>
          <a:solidFill>
            <a:srgbClr val="F2F4F8"/>
          </a:solidFill>
          <a:ln>
            <a:noFill/>
          </a:ln>
          <a:effectLst/>
        </p:spPr>
        <p:txBody>
          <a:bodyPr rtlCol="0" anchor="ctr"/>
          <a:lstStyle/>
          <a:p/>
        </p:txBody>
      </p:sp>
      <p:sp>
        <p:nvSpPr>
          <p:cNvPr id="45" name="Oval 44"/>
          <p:cNvSpPr/>
          <p:nvPr/>
        </p:nvSpPr>
        <p:spPr>
          <a:xfrm>
            <a:off x="9921240" y="4297679"/>
            <a:ext cx="640080" cy="640080"/>
          </a:xfrm>
          <a:prstGeom prst="ellipse">
            <a:avLst/>
          </a:prstGeom>
          <a:solidFill>
            <a:srgbClr val="002060"/>
          </a:solidFill>
          <a:ln>
            <a:noFill/>
          </a:ln>
          <a:effectLst/>
        </p:spPr>
        <p:txBody>
          <a:bodyPr rtlCol="0" anchor="ctr" lIns="0" rIns="0" tIns="0" bIns="0"/>
          <a:lstStyle/>
          <a:p/>
        </p:txBody>
      </p:sp>
      <p:pic>
        <p:nvPicPr>
          <p:cNvPr id="46" name="icone book" descr="book_white.png"/>
          <p:cNvPicPr>
            <a:picLocks noChangeAspect="1"/>
          </p:cNvPicPr>
          <p:nvPr/>
        </p:nvPicPr>
        <p:blipFill>
          <a:blip r:embed="rId6"/>
          <a:stretch>
            <a:fillRect/>
          </a:stretch>
        </p:blipFill>
        <p:spPr>
          <a:xfrm>
            <a:off x="10081259" y="4457699"/>
            <a:ext cx="320040" cy="320040"/>
          </a:xfrm>
          <a:prstGeom prst="rect">
            <a:avLst/>
          </a:prstGeom>
        </p:spPr>
      </p:pic>
      <p:sp>
        <p:nvSpPr>
          <p:cNvPr id="47" name="TextBox 46"/>
          <p:cNvSpPr txBox="1"/>
          <p:nvPr/>
        </p:nvSpPr>
        <p:spPr>
          <a:xfrm>
            <a:off x="10789919" y="4297679"/>
            <a:ext cx="6675119" cy="640080"/>
          </a:xfrm>
          <a:prstGeom prst="rect">
            <a:avLst/>
          </a:prstGeom>
          <a:noFill/>
        </p:spPr>
        <p:txBody>
          <a:bodyPr wrap="square" lIns="0" rIns="0" tIns="0" bIns="0" anchor="ctr">
            <a:noAutofit/>
          </a:bodyPr>
          <a:lstStyle/>
          <a:p>
            <a:pPr algn="l">
              <a:lnSpc>
                <a:spcPct val="100000"/>
              </a:lnSpc>
              <a:spcAft>
                <a:spcPts val="0"/>
              </a:spcAft>
              <a:buNone/>
            </a:pPr>
            <a:r>
              <a:rPr sz="1900" b="1" i="0">
                <a:solidFill>
                  <a:srgbClr val="002060"/>
                </a:solidFill>
                <a:latin typeface="Arial"/>
              </a:rPr>
              <a:t>Base metodológica: diretrizes e ferramentas JBI</a:t>
            </a:r>
          </a:p>
        </p:txBody>
      </p:sp>
      <p:pic>
        <p:nvPicPr>
          <p:cNvPr id="48" name="Picture 47" descr="capa_ms_observacionais.jpg"/>
          <p:cNvPicPr>
            <a:picLocks noChangeAspect="1"/>
          </p:cNvPicPr>
          <p:nvPr/>
        </p:nvPicPr>
        <p:blipFill>
          <a:blip r:embed="rId14"/>
          <a:stretch>
            <a:fillRect/>
          </a:stretch>
        </p:blipFill>
        <p:spPr>
          <a:xfrm>
            <a:off x="10035639" y="5276088"/>
            <a:ext cx="1133656" cy="1600200"/>
          </a:xfrm>
          <a:prstGeom prst="rect">
            <a:avLst/>
          </a:prstGeom>
          <a:ln w="9525">
            <a:solidFill>
              <a:srgbClr val="C9CFDA"/>
            </a:solidFill>
          </a:ln>
        </p:spPr>
      </p:pic>
      <p:sp>
        <p:nvSpPr>
          <p:cNvPr id="49" name="TextBox 48"/>
          <p:cNvSpPr txBox="1"/>
          <p:nvPr/>
        </p:nvSpPr>
        <p:spPr>
          <a:xfrm>
            <a:off x="9921240" y="6986016"/>
            <a:ext cx="1362455" cy="502920"/>
          </a:xfrm>
          <a:prstGeom prst="rect">
            <a:avLst/>
          </a:prstGeom>
          <a:noFill/>
        </p:spPr>
        <p:txBody>
          <a:bodyPr wrap="square" lIns="0" rIns="0" tIns="0" bIns="0" anchor="t">
            <a:noAutofit/>
          </a:bodyPr>
          <a:lstStyle/>
          <a:p>
            <a:pPr algn="ctr">
              <a:lnSpc>
                <a:spcPct val="100000"/>
              </a:lnSpc>
              <a:spcAft>
                <a:spcPts val="100"/>
              </a:spcAft>
              <a:buNone/>
            </a:pPr>
            <a:r>
              <a:rPr sz="1400" b="1" i="0">
                <a:solidFill>
                  <a:srgbClr val="002060"/>
                </a:solidFill>
                <a:latin typeface="Arial"/>
              </a:rPr>
              <a:t>MS 2014</a:t>
            </a:r>
          </a:p>
          <a:p>
            <a:pPr algn="ctr">
              <a:lnSpc>
                <a:spcPct val="100000"/>
              </a:lnSpc>
              <a:spcAft>
                <a:spcPts val="0"/>
              </a:spcAft>
              <a:buNone/>
            </a:pPr>
            <a:r>
              <a:rPr sz="1400" b="0" i="0">
                <a:solidFill>
                  <a:srgbClr val="5A6270"/>
                </a:solidFill>
                <a:latin typeface="Arial"/>
              </a:rPr>
              <a:t>Observacionais</a:t>
            </a:r>
          </a:p>
        </p:txBody>
      </p:sp>
      <p:pic>
        <p:nvPicPr>
          <p:cNvPr id="50" name="Picture 49" descr="capa_ms_grade.jpg"/>
          <p:cNvPicPr>
            <a:picLocks noChangeAspect="1"/>
          </p:cNvPicPr>
          <p:nvPr/>
        </p:nvPicPr>
        <p:blipFill>
          <a:blip r:embed="rId15"/>
          <a:stretch>
            <a:fillRect/>
          </a:stretch>
        </p:blipFill>
        <p:spPr>
          <a:xfrm>
            <a:off x="11580975" y="5276088"/>
            <a:ext cx="1133656" cy="1600200"/>
          </a:xfrm>
          <a:prstGeom prst="rect">
            <a:avLst/>
          </a:prstGeom>
          <a:ln w="9525">
            <a:solidFill>
              <a:srgbClr val="C9CFDA"/>
            </a:solidFill>
          </a:ln>
        </p:spPr>
      </p:pic>
      <p:sp>
        <p:nvSpPr>
          <p:cNvPr id="51" name="TextBox 50"/>
          <p:cNvSpPr txBox="1"/>
          <p:nvPr/>
        </p:nvSpPr>
        <p:spPr>
          <a:xfrm>
            <a:off x="11466576" y="6986016"/>
            <a:ext cx="1362455" cy="502920"/>
          </a:xfrm>
          <a:prstGeom prst="rect">
            <a:avLst/>
          </a:prstGeom>
          <a:noFill/>
        </p:spPr>
        <p:txBody>
          <a:bodyPr wrap="square" lIns="0" rIns="0" tIns="0" bIns="0" anchor="t">
            <a:noAutofit/>
          </a:bodyPr>
          <a:lstStyle/>
          <a:p>
            <a:pPr algn="ctr">
              <a:lnSpc>
                <a:spcPct val="100000"/>
              </a:lnSpc>
              <a:spcAft>
                <a:spcPts val="100"/>
              </a:spcAft>
              <a:buNone/>
            </a:pPr>
            <a:r>
              <a:rPr sz="1400" b="1" i="0">
                <a:solidFill>
                  <a:srgbClr val="002060"/>
                </a:solidFill>
                <a:latin typeface="Arial"/>
              </a:rPr>
              <a:t>MS 2014</a:t>
            </a:r>
          </a:p>
          <a:p>
            <a:pPr algn="ctr">
              <a:lnSpc>
                <a:spcPct val="100000"/>
              </a:lnSpc>
              <a:spcAft>
                <a:spcPts val="0"/>
              </a:spcAft>
              <a:buNone/>
            </a:pPr>
            <a:r>
              <a:rPr sz="1400" b="0" i="0">
                <a:solidFill>
                  <a:srgbClr val="5A6270"/>
                </a:solidFill>
                <a:latin typeface="Arial"/>
              </a:rPr>
              <a:t>Sistema GRADE</a:t>
            </a:r>
          </a:p>
        </p:txBody>
      </p:sp>
      <p:pic>
        <p:nvPicPr>
          <p:cNvPr id="52" name="Picture 51" descr="capa_jbi_prevalencia.jpg"/>
          <p:cNvPicPr>
            <a:picLocks noChangeAspect="1"/>
          </p:cNvPicPr>
          <p:nvPr/>
        </p:nvPicPr>
        <p:blipFill>
          <a:blip r:embed="rId16"/>
          <a:stretch>
            <a:fillRect/>
          </a:stretch>
        </p:blipFill>
        <p:spPr>
          <a:xfrm>
            <a:off x="13107975" y="5276088"/>
            <a:ext cx="1170329" cy="1600200"/>
          </a:xfrm>
          <a:prstGeom prst="rect">
            <a:avLst/>
          </a:prstGeom>
          <a:ln w="9525">
            <a:solidFill>
              <a:srgbClr val="C9CFDA"/>
            </a:solidFill>
          </a:ln>
        </p:spPr>
      </p:pic>
      <p:sp>
        <p:nvSpPr>
          <p:cNvPr id="53" name="TextBox 52"/>
          <p:cNvSpPr txBox="1"/>
          <p:nvPr/>
        </p:nvSpPr>
        <p:spPr>
          <a:xfrm>
            <a:off x="13011911" y="6986016"/>
            <a:ext cx="1362455" cy="502920"/>
          </a:xfrm>
          <a:prstGeom prst="rect">
            <a:avLst/>
          </a:prstGeom>
          <a:noFill/>
        </p:spPr>
        <p:txBody>
          <a:bodyPr wrap="square" lIns="0" rIns="0" tIns="0" bIns="0" anchor="t">
            <a:noAutofit/>
          </a:bodyPr>
          <a:lstStyle/>
          <a:p>
            <a:pPr algn="ctr">
              <a:lnSpc>
                <a:spcPct val="100000"/>
              </a:lnSpc>
              <a:spcAft>
                <a:spcPts val="100"/>
              </a:spcAft>
              <a:buNone/>
            </a:pPr>
            <a:r>
              <a:rPr sz="1400" b="1" i="0">
                <a:solidFill>
                  <a:srgbClr val="002060"/>
                </a:solidFill>
                <a:latin typeface="Arial"/>
              </a:rPr>
              <a:t>JBI</a:t>
            </a:r>
          </a:p>
          <a:p>
            <a:pPr algn="ctr">
              <a:lnSpc>
                <a:spcPct val="100000"/>
              </a:lnSpc>
              <a:spcAft>
                <a:spcPts val="0"/>
              </a:spcAft>
              <a:buNone/>
            </a:pPr>
            <a:r>
              <a:rPr sz="1400" b="0" i="0">
                <a:solidFill>
                  <a:srgbClr val="5A6270"/>
                </a:solidFill>
                <a:latin typeface="Arial"/>
              </a:rPr>
              <a:t>Prevalência</a:t>
            </a:r>
          </a:p>
        </p:txBody>
      </p:sp>
      <p:pic>
        <p:nvPicPr>
          <p:cNvPr id="54" name="Picture 53" descr="capa_jbi_transversal.jpg"/>
          <p:cNvPicPr>
            <a:picLocks noChangeAspect="1"/>
          </p:cNvPicPr>
          <p:nvPr/>
        </p:nvPicPr>
        <p:blipFill>
          <a:blip r:embed="rId17"/>
          <a:stretch>
            <a:fillRect/>
          </a:stretch>
        </p:blipFill>
        <p:spPr>
          <a:xfrm>
            <a:off x="14671647" y="5276088"/>
            <a:ext cx="1133656" cy="1600200"/>
          </a:xfrm>
          <a:prstGeom prst="rect">
            <a:avLst/>
          </a:prstGeom>
          <a:ln w="9525">
            <a:solidFill>
              <a:srgbClr val="C9CFDA"/>
            </a:solidFill>
          </a:ln>
        </p:spPr>
      </p:pic>
      <p:sp>
        <p:nvSpPr>
          <p:cNvPr id="55" name="TextBox 54"/>
          <p:cNvSpPr txBox="1"/>
          <p:nvPr/>
        </p:nvSpPr>
        <p:spPr>
          <a:xfrm>
            <a:off x="14557247" y="6986016"/>
            <a:ext cx="1362455" cy="502920"/>
          </a:xfrm>
          <a:prstGeom prst="rect">
            <a:avLst/>
          </a:prstGeom>
          <a:noFill/>
        </p:spPr>
        <p:txBody>
          <a:bodyPr wrap="square" lIns="0" rIns="0" tIns="0" bIns="0" anchor="t">
            <a:noAutofit/>
          </a:bodyPr>
          <a:lstStyle/>
          <a:p>
            <a:pPr algn="ctr">
              <a:lnSpc>
                <a:spcPct val="100000"/>
              </a:lnSpc>
              <a:spcAft>
                <a:spcPts val="100"/>
              </a:spcAft>
              <a:buNone/>
            </a:pPr>
            <a:r>
              <a:rPr sz="1400" b="1" i="0">
                <a:solidFill>
                  <a:srgbClr val="002060"/>
                </a:solidFill>
                <a:latin typeface="Arial"/>
              </a:rPr>
              <a:t>JBI</a:t>
            </a:r>
          </a:p>
          <a:p>
            <a:pPr algn="ctr">
              <a:lnSpc>
                <a:spcPct val="100000"/>
              </a:lnSpc>
              <a:spcAft>
                <a:spcPts val="0"/>
              </a:spcAft>
              <a:buNone/>
            </a:pPr>
            <a:r>
              <a:rPr sz="1400" b="0" i="0">
                <a:solidFill>
                  <a:srgbClr val="5A6270"/>
                </a:solidFill>
                <a:latin typeface="Arial"/>
              </a:rPr>
              <a:t>Transversal</a:t>
            </a:r>
          </a:p>
        </p:txBody>
      </p:sp>
      <p:pic>
        <p:nvPicPr>
          <p:cNvPr id="56" name="Picture 55" descr="capa_jbi_coorte.jpg"/>
          <p:cNvPicPr>
            <a:picLocks noChangeAspect="1"/>
          </p:cNvPicPr>
          <p:nvPr/>
        </p:nvPicPr>
        <p:blipFill>
          <a:blip r:embed="rId18"/>
          <a:stretch>
            <a:fillRect/>
          </a:stretch>
        </p:blipFill>
        <p:spPr>
          <a:xfrm>
            <a:off x="16216983" y="5276088"/>
            <a:ext cx="1133656" cy="1600200"/>
          </a:xfrm>
          <a:prstGeom prst="rect">
            <a:avLst/>
          </a:prstGeom>
          <a:ln w="9525">
            <a:solidFill>
              <a:srgbClr val="C9CFDA"/>
            </a:solidFill>
          </a:ln>
        </p:spPr>
      </p:pic>
      <p:sp>
        <p:nvSpPr>
          <p:cNvPr id="57" name="TextBox 56"/>
          <p:cNvSpPr txBox="1"/>
          <p:nvPr/>
        </p:nvSpPr>
        <p:spPr>
          <a:xfrm>
            <a:off x="16102584" y="6986016"/>
            <a:ext cx="1362455" cy="502920"/>
          </a:xfrm>
          <a:prstGeom prst="rect">
            <a:avLst/>
          </a:prstGeom>
          <a:noFill/>
        </p:spPr>
        <p:txBody>
          <a:bodyPr wrap="square" lIns="0" rIns="0" tIns="0" bIns="0" anchor="t">
            <a:noAutofit/>
          </a:bodyPr>
          <a:lstStyle/>
          <a:p>
            <a:pPr algn="ctr">
              <a:lnSpc>
                <a:spcPct val="100000"/>
              </a:lnSpc>
              <a:spcAft>
                <a:spcPts val="100"/>
              </a:spcAft>
              <a:buNone/>
            </a:pPr>
            <a:r>
              <a:rPr sz="1400" b="1" i="0">
                <a:solidFill>
                  <a:srgbClr val="002060"/>
                </a:solidFill>
                <a:latin typeface="Arial"/>
              </a:rPr>
              <a:t>JBI</a:t>
            </a:r>
          </a:p>
          <a:p>
            <a:pPr algn="ctr">
              <a:lnSpc>
                <a:spcPct val="100000"/>
              </a:lnSpc>
              <a:spcAft>
                <a:spcPts val="0"/>
              </a:spcAft>
              <a:buNone/>
            </a:pPr>
            <a:r>
              <a:rPr sz="1400" b="0" i="0">
                <a:solidFill>
                  <a:srgbClr val="5A6270"/>
                </a:solidFill>
                <a:latin typeface="Arial"/>
              </a:rPr>
              <a:t>Coorte</a:t>
            </a:r>
          </a:p>
        </p:txBody>
      </p:sp>
      <p:sp>
        <p:nvSpPr>
          <p:cNvPr id="58" name="Rounded Rectangle 57"/>
          <p:cNvSpPr/>
          <p:nvPr/>
        </p:nvSpPr>
        <p:spPr>
          <a:xfrm>
            <a:off x="1143000" y="8321040"/>
            <a:ext cx="16642080" cy="1417319"/>
          </a:xfrm>
          <a:prstGeom prst="roundRect">
            <a:avLst>
              <a:gd name="adj" fmla="val 6000"/>
            </a:avLst>
          </a:prstGeom>
          <a:solidFill>
            <a:srgbClr val="002060"/>
          </a:solidFill>
          <a:ln>
            <a:noFill/>
          </a:ln>
          <a:effectLst/>
        </p:spPr>
        <p:txBody>
          <a:bodyPr rtlCol="0" anchor="ctr"/>
          <a:lstStyle/>
          <a:p/>
        </p:txBody>
      </p:sp>
      <p:sp>
        <p:nvSpPr>
          <p:cNvPr id="59" name="TextBox 58"/>
          <p:cNvSpPr txBox="1"/>
          <p:nvPr/>
        </p:nvSpPr>
        <p:spPr>
          <a:xfrm>
            <a:off x="1463040" y="8522208"/>
            <a:ext cx="3054095" cy="548640"/>
          </a:xfrm>
          <a:prstGeom prst="rect">
            <a:avLst/>
          </a:prstGeom>
          <a:noFill/>
        </p:spPr>
        <p:txBody>
          <a:bodyPr wrap="square" lIns="0" rIns="0" tIns="0" bIns="0" anchor="t">
            <a:noAutofit/>
          </a:bodyPr>
          <a:lstStyle/>
          <a:p>
            <a:pPr algn="ctr">
              <a:lnSpc>
                <a:spcPct val="100000"/>
              </a:lnSpc>
              <a:spcAft>
                <a:spcPts val="0"/>
              </a:spcAft>
              <a:buNone/>
            </a:pPr>
            <a:r>
              <a:rPr sz="3000" b="1" i="0">
                <a:solidFill>
                  <a:srgbClr val="C8A951"/>
                </a:solidFill>
                <a:latin typeface="Arial"/>
              </a:rPr>
              <a:t>≈ 49 h</a:t>
            </a:r>
          </a:p>
        </p:txBody>
      </p:sp>
      <p:sp>
        <p:nvSpPr>
          <p:cNvPr id="60" name="TextBox 59"/>
          <p:cNvSpPr txBox="1"/>
          <p:nvPr/>
        </p:nvSpPr>
        <p:spPr>
          <a:xfrm>
            <a:off x="1463040" y="9070848"/>
            <a:ext cx="3054095" cy="411480"/>
          </a:xfrm>
          <a:prstGeom prst="rect">
            <a:avLst/>
          </a:prstGeom>
          <a:noFill/>
        </p:spPr>
        <p:txBody>
          <a:bodyPr wrap="square" lIns="0" rIns="0" tIns="0" bIns="0" anchor="t">
            <a:noAutofit/>
          </a:bodyPr>
          <a:lstStyle/>
          <a:p>
            <a:pPr algn="ctr">
              <a:lnSpc>
                <a:spcPct val="100000"/>
              </a:lnSpc>
              <a:spcAft>
                <a:spcPts val="0"/>
              </a:spcAft>
              <a:buNone/>
            </a:pPr>
            <a:r>
              <a:rPr sz="1500" b="0" i="0">
                <a:solidFill>
                  <a:srgbClr val="FFFFFF"/>
                </a:solidFill>
                <a:latin typeface="Arial"/>
              </a:rPr>
              <a:t>de cursos com certificado</a:t>
            </a:r>
          </a:p>
        </p:txBody>
      </p:sp>
      <p:sp>
        <p:nvSpPr>
          <p:cNvPr id="61" name="TextBox 60"/>
          <p:cNvSpPr txBox="1"/>
          <p:nvPr/>
        </p:nvSpPr>
        <p:spPr>
          <a:xfrm>
            <a:off x="4700015" y="8522208"/>
            <a:ext cx="3054095" cy="548640"/>
          </a:xfrm>
          <a:prstGeom prst="rect">
            <a:avLst/>
          </a:prstGeom>
          <a:noFill/>
        </p:spPr>
        <p:txBody>
          <a:bodyPr wrap="square" lIns="0" rIns="0" tIns="0" bIns="0" anchor="t">
            <a:noAutofit/>
          </a:bodyPr>
          <a:lstStyle/>
          <a:p>
            <a:pPr algn="ctr">
              <a:lnSpc>
                <a:spcPct val="100000"/>
              </a:lnSpc>
              <a:spcAft>
                <a:spcPts val="0"/>
              </a:spcAft>
              <a:buNone/>
            </a:pPr>
            <a:r>
              <a:rPr sz="3000" b="1" i="0">
                <a:solidFill>
                  <a:srgbClr val="C8A951"/>
                </a:solidFill>
                <a:latin typeface="Arial"/>
              </a:rPr>
              <a:t>16.757</a:t>
            </a:r>
          </a:p>
        </p:txBody>
      </p:sp>
      <p:sp>
        <p:nvSpPr>
          <p:cNvPr id="62" name="TextBox 61"/>
          <p:cNvSpPr txBox="1"/>
          <p:nvPr/>
        </p:nvSpPr>
        <p:spPr>
          <a:xfrm>
            <a:off x="4700015" y="9070848"/>
            <a:ext cx="3054095" cy="411480"/>
          </a:xfrm>
          <a:prstGeom prst="rect">
            <a:avLst/>
          </a:prstGeom>
          <a:noFill/>
        </p:spPr>
        <p:txBody>
          <a:bodyPr wrap="square" lIns="0" rIns="0" tIns="0" bIns="0" anchor="t">
            <a:noAutofit/>
          </a:bodyPr>
          <a:lstStyle/>
          <a:p>
            <a:pPr algn="ctr">
              <a:lnSpc>
                <a:spcPct val="100000"/>
              </a:lnSpc>
              <a:spcAft>
                <a:spcPts val="0"/>
              </a:spcAft>
              <a:buNone/>
            </a:pPr>
            <a:r>
              <a:rPr sz="1500" b="0" i="0">
                <a:solidFill>
                  <a:srgbClr val="FFFFFF"/>
                </a:solidFill>
                <a:latin typeface="Arial"/>
              </a:rPr>
              <a:t>registros identificados</a:t>
            </a:r>
          </a:p>
        </p:txBody>
      </p:sp>
      <p:sp>
        <p:nvSpPr>
          <p:cNvPr id="63" name="TextBox 62"/>
          <p:cNvSpPr txBox="1"/>
          <p:nvPr/>
        </p:nvSpPr>
        <p:spPr>
          <a:xfrm>
            <a:off x="7936991" y="8522208"/>
            <a:ext cx="3054095" cy="548640"/>
          </a:xfrm>
          <a:prstGeom prst="rect">
            <a:avLst/>
          </a:prstGeom>
          <a:noFill/>
        </p:spPr>
        <p:txBody>
          <a:bodyPr wrap="square" lIns="0" rIns="0" tIns="0" bIns="0" anchor="t">
            <a:noAutofit/>
          </a:bodyPr>
          <a:lstStyle/>
          <a:p>
            <a:pPr algn="ctr">
              <a:lnSpc>
                <a:spcPct val="100000"/>
              </a:lnSpc>
              <a:spcAft>
                <a:spcPts val="0"/>
              </a:spcAft>
              <a:buNone/>
            </a:pPr>
            <a:r>
              <a:rPr sz="3000" b="1" i="0">
                <a:solidFill>
                  <a:srgbClr val="C8A951"/>
                </a:solidFill>
                <a:latin typeface="Arial"/>
              </a:rPr>
              <a:t>10.910</a:t>
            </a:r>
          </a:p>
        </p:txBody>
      </p:sp>
      <p:sp>
        <p:nvSpPr>
          <p:cNvPr id="64" name="TextBox 63"/>
          <p:cNvSpPr txBox="1"/>
          <p:nvPr/>
        </p:nvSpPr>
        <p:spPr>
          <a:xfrm>
            <a:off x="7936991" y="9070848"/>
            <a:ext cx="3054095" cy="411480"/>
          </a:xfrm>
          <a:prstGeom prst="rect">
            <a:avLst/>
          </a:prstGeom>
          <a:noFill/>
        </p:spPr>
        <p:txBody>
          <a:bodyPr wrap="square" lIns="0" rIns="0" tIns="0" bIns="0" anchor="t">
            <a:noAutofit/>
          </a:bodyPr>
          <a:lstStyle/>
          <a:p>
            <a:pPr algn="ctr">
              <a:lnSpc>
                <a:spcPct val="100000"/>
              </a:lnSpc>
              <a:spcAft>
                <a:spcPts val="0"/>
              </a:spcAft>
              <a:buNone/>
            </a:pPr>
            <a:r>
              <a:rPr sz="1500" b="0" i="0">
                <a:solidFill>
                  <a:srgbClr val="FFFFFF"/>
                </a:solidFill>
                <a:latin typeface="Arial"/>
              </a:rPr>
              <a:t>títulos e resumos lidos</a:t>
            </a:r>
          </a:p>
        </p:txBody>
      </p:sp>
      <p:sp>
        <p:nvSpPr>
          <p:cNvPr id="65" name="TextBox 64"/>
          <p:cNvSpPr txBox="1"/>
          <p:nvPr/>
        </p:nvSpPr>
        <p:spPr>
          <a:xfrm>
            <a:off x="11173967" y="8522208"/>
            <a:ext cx="3054095" cy="548640"/>
          </a:xfrm>
          <a:prstGeom prst="rect">
            <a:avLst/>
          </a:prstGeom>
          <a:noFill/>
        </p:spPr>
        <p:txBody>
          <a:bodyPr wrap="square" lIns="0" rIns="0" tIns="0" bIns="0" anchor="t">
            <a:noAutofit/>
          </a:bodyPr>
          <a:lstStyle/>
          <a:p>
            <a:pPr algn="ctr">
              <a:lnSpc>
                <a:spcPct val="100000"/>
              </a:lnSpc>
              <a:spcAft>
                <a:spcPts val="0"/>
              </a:spcAft>
              <a:buNone/>
            </a:pPr>
            <a:r>
              <a:rPr sz="3000" b="1" i="0">
                <a:solidFill>
                  <a:srgbClr val="C8A951"/>
                </a:solidFill>
                <a:latin typeface="Arial"/>
              </a:rPr>
              <a:t>26</a:t>
            </a:r>
          </a:p>
        </p:txBody>
      </p:sp>
      <p:sp>
        <p:nvSpPr>
          <p:cNvPr id="66" name="TextBox 65"/>
          <p:cNvSpPr txBox="1"/>
          <p:nvPr/>
        </p:nvSpPr>
        <p:spPr>
          <a:xfrm>
            <a:off x="11173967" y="9070848"/>
            <a:ext cx="3054095" cy="411480"/>
          </a:xfrm>
          <a:prstGeom prst="rect">
            <a:avLst/>
          </a:prstGeom>
          <a:noFill/>
        </p:spPr>
        <p:txBody>
          <a:bodyPr wrap="square" lIns="0" rIns="0" tIns="0" bIns="0" anchor="t">
            <a:noAutofit/>
          </a:bodyPr>
          <a:lstStyle/>
          <a:p>
            <a:pPr algn="ctr">
              <a:lnSpc>
                <a:spcPct val="100000"/>
              </a:lnSpc>
              <a:spcAft>
                <a:spcPts val="0"/>
              </a:spcAft>
              <a:buNone/>
            </a:pPr>
            <a:r>
              <a:rPr sz="1500" b="0" i="0">
                <a:solidFill>
                  <a:srgbClr val="FFFFFF"/>
                </a:solidFill>
                <a:latin typeface="Arial"/>
              </a:rPr>
              <a:t>textos completos avaliados</a:t>
            </a:r>
          </a:p>
        </p:txBody>
      </p:sp>
      <p:sp>
        <p:nvSpPr>
          <p:cNvPr id="67" name="TextBox 66"/>
          <p:cNvSpPr txBox="1"/>
          <p:nvPr/>
        </p:nvSpPr>
        <p:spPr>
          <a:xfrm>
            <a:off x="14410943" y="8522208"/>
            <a:ext cx="3054095" cy="548640"/>
          </a:xfrm>
          <a:prstGeom prst="rect">
            <a:avLst/>
          </a:prstGeom>
          <a:noFill/>
        </p:spPr>
        <p:txBody>
          <a:bodyPr wrap="square" lIns="0" rIns="0" tIns="0" bIns="0" anchor="t">
            <a:noAutofit/>
          </a:bodyPr>
          <a:lstStyle/>
          <a:p>
            <a:pPr algn="ctr">
              <a:lnSpc>
                <a:spcPct val="100000"/>
              </a:lnSpc>
              <a:spcAft>
                <a:spcPts val="0"/>
              </a:spcAft>
              <a:buNone/>
            </a:pPr>
            <a:r>
              <a:rPr sz="3000" b="1" i="0">
                <a:solidFill>
                  <a:srgbClr val="C8A951"/>
                </a:solidFill>
                <a:latin typeface="Arial"/>
              </a:rPr>
              <a:t>22</a:t>
            </a:r>
          </a:p>
        </p:txBody>
      </p:sp>
      <p:sp>
        <p:nvSpPr>
          <p:cNvPr id="68" name="TextBox 67"/>
          <p:cNvSpPr txBox="1"/>
          <p:nvPr/>
        </p:nvSpPr>
        <p:spPr>
          <a:xfrm>
            <a:off x="14410943" y="9070848"/>
            <a:ext cx="3054095" cy="411480"/>
          </a:xfrm>
          <a:prstGeom prst="rect">
            <a:avLst/>
          </a:prstGeom>
          <a:noFill/>
        </p:spPr>
        <p:txBody>
          <a:bodyPr wrap="square" lIns="0" rIns="0" tIns="0" bIns="0" anchor="t">
            <a:noAutofit/>
          </a:bodyPr>
          <a:lstStyle/>
          <a:p>
            <a:pPr algn="ctr">
              <a:lnSpc>
                <a:spcPct val="100000"/>
              </a:lnSpc>
              <a:spcAft>
                <a:spcPts val="0"/>
              </a:spcAft>
              <a:buNone/>
            </a:pPr>
            <a:r>
              <a:rPr sz="1500" b="0" i="0">
                <a:solidFill>
                  <a:srgbClr val="FFFFFF"/>
                </a:solidFill>
                <a:latin typeface="Arial"/>
              </a:rPr>
              <a:t>relatórios incluídos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35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350"/>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350"/>
                                        <p:tgtEl>
                                          <p:spTgt spid="1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350"/>
                                        <p:tgtEl>
                                          <p:spTgt spid="11"/>
                                        </p:tgtEl>
                                      </p:cBhvr>
                                    </p:animEffect>
                                  </p:childTnLst>
                                </p:cTn>
                              </p:par>
                            </p:childTnLst>
                          </p:cTn>
                        </p:par>
                        <p:par>
                          <p:cTn id="17" fill="hold">
                            <p:stCondLst>
                              <p:cond delay="350"/>
                            </p:stCondLst>
                            <p:childTnLst>
                              <p:par>
                                <p:cTn id="18" presetID="10" presetClass="entr" presetSubtype="0" fill="hold" grpId="0" nodeType="after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350"/>
                                        <p:tgtEl>
                                          <p:spTgt spid="12"/>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350"/>
                                        <p:tgtEl>
                                          <p:spTgt spid="13"/>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fade">
                                      <p:cBhvr>
                                        <p:cTn id="26" dur="350"/>
                                        <p:tgtEl>
                                          <p:spTgt spid="14"/>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350"/>
                                        <p:tgtEl>
                                          <p:spTgt spid="15"/>
                                        </p:tgtEl>
                                      </p:cBhvr>
                                    </p:animEffect>
                                  </p:childTnLst>
                                </p:cTn>
                              </p:par>
                            </p:childTnLst>
                          </p:cTn>
                        </p:par>
                        <p:par>
                          <p:cTn id="30" fill="hold">
                            <p:stCondLst>
                              <p:cond delay="700"/>
                            </p:stCondLst>
                            <p:childTnLst>
                              <p:par>
                                <p:cTn id="31" presetID="10" presetClass="entr" presetSubtype="0" fill="hold" grpId="0" nodeType="after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350"/>
                                        <p:tgtEl>
                                          <p:spTgt spid="16"/>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350"/>
                                        <p:tgtEl>
                                          <p:spTgt spid="17"/>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350"/>
                                        <p:tgtEl>
                                          <p:spTgt spid="18"/>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350"/>
                                        <p:tgtEl>
                                          <p:spTgt spid="19"/>
                                        </p:tgtEl>
                                      </p:cBhvr>
                                    </p:animEffect>
                                  </p:childTnLst>
                                </p:cTn>
                              </p:par>
                            </p:childTnLst>
                          </p:cTn>
                        </p:par>
                        <p:par>
                          <p:cTn id="43" fill="hold">
                            <p:stCondLst>
                              <p:cond delay="1050"/>
                            </p:stCondLst>
                            <p:childTnLst>
                              <p:par>
                                <p:cTn id="44" presetID="10" presetClass="entr" presetSubtype="0" fill="hold" grpId="0" nodeType="afterEffect">
                                  <p:stCondLst>
                                    <p:cond delay="0"/>
                                  </p:stCondLst>
                                  <p:childTnLst>
                                    <p:set>
                                      <p:cBhvr>
                                        <p:cTn id="45" dur="1" fill="hold">
                                          <p:stCondLst>
                                            <p:cond delay="0"/>
                                          </p:stCondLst>
                                        </p:cTn>
                                        <p:tgtEl>
                                          <p:spTgt spid="20"/>
                                        </p:tgtEl>
                                        <p:attrNameLst>
                                          <p:attrName>style.visibility</p:attrName>
                                        </p:attrNameLst>
                                      </p:cBhvr>
                                      <p:to>
                                        <p:strVal val="visible"/>
                                      </p:to>
                                    </p:set>
                                    <p:animEffect transition="in" filter="fade">
                                      <p:cBhvr>
                                        <p:cTn id="46" dur="350"/>
                                        <p:tgtEl>
                                          <p:spTgt spid="2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1"/>
                                        </p:tgtEl>
                                        <p:attrNameLst>
                                          <p:attrName>style.visibility</p:attrName>
                                        </p:attrNameLst>
                                      </p:cBhvr>
                                      <p:to>
                                        <p:strVal val="visible"/>
                                      </p:to>
                                    </p:set>
                                    <p:animEffect transition="in" filter="fade">
                                      <p:cBhvr>
                                        <p:cTn id="49" dur="350"/>
                                        <p:tgtEl>
                                          <p:spTgt spid="21"/>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2"/>
                                        </p:tgtEl>
                                        <p:attrNameLst>
                                          <p:attrName>style.visibility</p:attrName>
                                        </p:attrNameLst>
                                      </p:cBhvr>
                                      <p:to>
                                        <p:strVal val="visible"/>
                                      </p:to>
                                    </p:set>
                                    <p:animEffect transition="in" filter="fade">
                                      <p:cBhvr>
                                        <p:cTn id="52" dur="350"/>
                                        <p:tgtEl>
                                          <p:spTgt spid="22"/>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3"/>
                                        </p:tgtEl>
                                        <p:attrNameLst>
                                          <p:attrName>style.visibility</p:attrName>
                                        </p:attrNameLst>
                                      </p:cBhvr>
                                      <p:to>
                                        <p:strVal val="visible"/>
                                      </p:to>
                                    </p:set>
                                    <p:animEffect transition="in" filter="fade">
                                      <p:cBhvr>
                                        <p:cTn id="55" dur="350"/>
                                        <p:tgtEl>
                                          <p:spTgt spid="23"/>
                                        </p:tgtEl>
                                      </p:cBhvr>
                                    </p:animEffect>
                                  </p:childTnLst>
                                </p:cTn>
                              </p:par>
                            </p:childTnLst>
                          </p:cTn>
                        </p:par>
                        <p:par>
                          <p:cTn id="56" fill="hold">
                            <p:stCondLst>
                              <p:cond delay="1400"/>
                            </p:stCondLst>
                            <p:childTnLst>
                              <p:par>
                                <p:cTn id="57" presetID="10" presetClass="entr" presetSubtype="0" fill="hold" grpId="0" nodeType="afterEffect">
                                  <p:stCondLst>
                                    <p:cond delay="0"/>
                                  </p:stCondLst>
                                  <p:childTnLst>
                                    <p:set>
                                      <p:cBhvr>
                                        <p:cTn id="58" dur="1" fill="hold">
                                          <p:stCondLst>
                                            <p:cond delay="0"/>
                                          </p:stCondLst>
                                        </p:cTn>
                                        <p:tgtEl>
                                          <p:spTgt spid="24"/>
                                        </p:tgtEl>
                                        <p:attrNameLst>
                                          <p:attrName>style.visibility</p:attrName>
                                        </p:attrNameLst>
                                      </p:cBhvr>
                                      <p:to>
                                        <p:strVal val="visible"/>
                                      </p:to>
                                    </p:set>
                                    <p:animEffect transition="in" filter="fade">
                                      <p:cBhvr>
                                        <p:cTn id="59" dur="350"/>
                                        <p:tgtEl>
                                          <p:spTgt spid="24"/>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5"/>
                                        </p:tgtEl>
                                        <p:attrNameLst>
                                          <p:attrName>style.visibility</p:attrName>
                                        </p:attrNameLst>
                                      </p:cBhvr>
                                      <p:to>
                                        <p:strVal val="visible"/>
                                      </p:to>
                                    </p:set>
                                    <p:animEffect transition="in" filter="fade">
                                      <p:cBhvr>
                                        <p:cTn id="62" dur="350"/>
                                        <p:tgtEl>
                                          <p:spTgt spid="25"/>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6"/>
                                        </p:tgtEl>
                                        <p:attrNameLst>
                                          <p:attrName>style.visibility</p:attrName>
                                        </p:attrNameLst>
                                      </p:cBhvr>
                                      <p:to>
                                        <p:strVal val="visible"/>
                                      </p:to>
                                    </p:set>
                                    <p:animEffect transition="in" filter="fade">
                                      <p:cBhvr>
                                        <p:cTn id="65" dur="350"/>
                                        <p:tgtEl>
                                          <p:spTgt spid="26"/>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7"/>
                                        </p:tgtEl>
                                        <p:attrNameLst>
                                          <p:attrName>style.visibility</p:attrName>
                                        </p:attrNameLst>
                                      </p:cBhvr>
                                      <p:to>
                                        <p:strVal val="visible"/>
                                      </p:to>
                                    </p:set>
                                    <p:animEffect transition="in" filter="fade">
                                      <p:cBhvr>
                                        <p:cTn id="68" dur="350"/>
                                        <p:tgtEl>
                                          <p:spTgt spid="27"/>
                                        </p:tgtEl>
                                      </p:cBhvr>
                                    </p:animEffect>
                                  </p:childTnLst>
                                </p:cTn>
                              </p:par>
                            </p:childTnLst>
                          </p:cTn>
                        </p:par>
                        <p:par>
                          <p:cTn id="69" fill="hold">
                            <p:stCondLst>
                              <p:cond delay="1750"/>
                            </p:stCondLst>
                            <p:childTnLst>
                              <p:par>
                                <p:cTn id="70" presetID="10" presetClass="entr" presetSubtype="0" fill="hold" grpId="0" nodeType="afterEffect">
                                  <p:stCondLst>
                                    <p:cond delay="0"/>
                                  </p:stCondLst>
                                  <p:childTnLst>
                                    <p:set>
                                      <p:cBhvr>
                                        <p:cTn id="71" dur="1" fill="hold">
                                          <p:stCondLst>
                                            <p:cond delay="0"/>
                                          </p:stCondLst>
                                        </p:cTn>
                                        <p:tgtEl>
                                          <p:spTgt spid="28"/>
                                        </p:tgtEl>
                                        <p:attrNameLst>
                                          <p:attrName>style.visibility</p:attrName>
                                        </p:attrNameLst>
                                      </p:cBhvr>
                                      <p:to>
                                        <p:strVal val="visible"/>
                                      </p:to>
                                    </p:set>
                                    <p:animEffect transition="in" filter="fade">
                                      <p:cBhvr>
                                        <p:cTn id="72" dur="350"/>
                                        <p:tgtEl>
                                          <p:spTgt spid="28"/>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9"/>
                                        </p:tgtEl>
                                        <p:attrNameLst>
                                          <p:attrName>style.visibility</p:attrName>
                                        </p:attrNameLst>
                                      </p:cBhvr>
                                      <p:to>
                                        <p:strVal val="visible"/>
                                      </p:to>
                                    </p:set>
                                    <p:animEffect transition="in" filter="fade">
                                      <p:cBhvr>
                                        <p:cTn id="75" dur="350"/>
                                        <p:tgtEl>
                                          <p:spTgt spid="29"/>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30"/>
                                        </p:tgtEl>
                                        <p:attrNameLst>
                                          <p:attrName>style.visibility</p:attrName>
                                        </p:attrNameLst>
                                      </p:cBhvr>
                                      <p:to>
                                        <p:strVal val="visible"/>
                                      </p:to>
                                    </p:set>
                                    <p:animEffect transition="in" filter="fade">
                                      <p:cBhvr>
                                        <p:cTn id="78" dur="350"/>
                                        <p:tgtEl>
                                          <p:spTgt spid="30"/>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31"/>
                                        </p:tgtEl>
                                        <p:attrNameLst>
                                          <p:attrName>style.visibility</p:attrName>
                                        </p:attrNameLst>
                                      </p:cBhvr>
                                      <p:to>
                                        <p:strVal val="visible"/>
                                      </p:to>
                                    </p:set>
                                    <p:animEffect transition="in" filter="fade">
                                      <p:cBhvr>
                                        <p:cTn id="81" dur="350"/>
                                        <p:tgtEl>
                                          <p:spTgt spid="31"/>
                                        </p:tgtEl>
                                      </p:cBhvr>
                                    </p:animEffect>
                                  </p:childTnLst>
                                </p:cTn>
                              </p:par>
                            </p:childTnLst>
                          </p:cTn>
                        </p:par>
                        <p:par>
                          <p:cTn id="82" fill="hold">
                            <p:stCondLst>
                              <p:cond delay="2100"/>
                            </p:stCondLst>
                            <p:childTnLst>
                              <p:par>
                                <p:cTn id="83" presetID="10" presetClass="entr" presetSubtype="0" fill="hold" grpId="0" nodeType="afterEffect">
                                  <p:stCondLst>
                                    <p:cond delay="0"/>
                                  </p:stCondLst>
                                  <p:childTnLst>
                                    <p:set>
                                      <p:cBhvr>
                                        <p:cTn id="84" dur="1" fill="hold">
                                          <p:stCondLst>
                                            <p:cond delay="0"/>
                                          </p:stCondLst>
                                        </p:cTn>
                                        <p:tgtEl>
                                          <p:spTgt spid="32"/>
                                        </p:tgtEl>
                                        <p:attrNameLst>
                                          <p:attrName>style.visibility</p:attrName>
                                        </p:attrNameLst>
                                      </p:cBhvr>
                                      <p:to>
                                        <p:strVal val="visible"/>
                                      </p:to>
                                    </p:set>
                                    <p:animEffect transition="in" filter="fade">
                                      <p:cBhvr>
                                        <p:cTn id="85" dur="350"/>
                                        <p:tgtEl>
                                          <p:spTgt spid="32"/>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33"/>
                                        </p:tgtEl>
                                        <p:attrNameLst>
                                          <p:attrName>style.visibility</p:attrName>
                                        </p:attrNameLst>
                                      </p:cBhvr>
                                      <p:to>
                                        <p:strVal val="visible"/>
                                      </p:to>
                                    </p:set>
                                    <p:animEffect transition="in" filter="fade">
                                      <p:cBhvr>
                                        <p:cTn id="88" dur="350"/>
                                        <p:tgtEl>
                                          <p:spTgt spid="33"/>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4"/>
                                        </p:tgtEl>
                                        <p:attrNameLst>
                                          <p:attrName>style.visibility</p:attrName>
                                        </p:attrNameLst>
                                      </p:cBhvr>
                                      <p:to>
                                        <p:strVal val="visible"/>
                                      </p:to>
                                    </p:set>
                                    <p:animEffect transition="in" filter="fade">
                                      <p:cBhvr>
                                        <p:cTn id="91" dur="350"/>
                                        <p:tgtEl>
                                          <p:spTgt spid="34"/>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350"/>
                                        <p:tgtEl>
                                          <p:spTgt spid="35"/>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36"/>
                                        </p:tgtEl>
                                        <p:attrNameLst>
                                          <p:attrName>style.visibility</p:attrName>
                                        </p:attrNameLst>
                                      </p:cBhvr>
                                      <p:to>
                                        <p:strVal val="visible"/>
                                      </p:to>
                                    </p:set>
                                    <p:animEffect transition="in" filter="fade">
                                      <p:cBhvr>
                                        <p:cTn id="97" dur="350"/>
                                        <p:tgtEl>
                                          <p:spTgt spid="36"/>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37"/>
                                        </p:tgtEl>
                                        <p:attrNameLst>
                                          <p:attrName>style.visibility</p:attrName>
                                        </p:attrNameLst>
                                      </p:cBhvr>
                                      <p:to>
                                        <p:strVal val="visible"/>
                                      </p:to>
                                    </p:set>
                                    <p:animEffect transition="in" filter="fade">
                                      <p:cBhvr>
                                        <p:cTn id="100" dur="350"/>
                                        <p:tgtEl>
                                          <p:spTgt spid="37"/>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38"/>
                                        </p:tgtEl>
                                        <p:attrNameLst>
                                          <p:attrName>style.visibility</p:attrName>
                                        </p:attrNameLst>
                                      </p:cBhvr>
                                      <p:to>
                                        <p:strVal val="visible"/>
                                      </p:to>
                                    </p:set>
                                    <p:animEffect transition="in" filter="fade">
                                      <p:cBhvr>
                                        <p:cTn id="103" dur="350"/>
                                        <p:tgtEl>
                                          <p:spTgt spid="38"/>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39"/>
                                        </p:tgtEl>
                                        <p:attrNameLst>
                                          <p:attrName>style.visibility</p:attrName>
                                        </p:attrNameLst>
                                      </p:cBhvr>
                                      <p:to>
                                        <p:strVal val="visible"/>
                                      </p:to>
                                    </p:set>
                                    <p:animEffect transition="in" filter="fade">
                                      <p:cBhvr>
                                        <p:cTn id="106" dur="350"/>
                                        <p:tgtEl>
                                          <p:spTgt spid="39"/>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40"/>
                                        </p:tgtEl>
                                        <p:attrNameLst>
                                          <p:attrName>style.visibility</p:attrName>
                                        </p:attrNameLst>
                                      </p:cBhvr>
                                      <p:to>
                                        <p:strVal val="visible"/>
                                      </p:to>
                                    </p:set>
                                    <p:animEffect transition="in" filter="fade">
                                      <p:cBhvr>
                                        <p:cTn id="109" dur="350"/>
                                        <p:tgtEl>
                                          <p:spTgt spid="40"/>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41"/>
                                        </p:tgtEl>
                                        <p:attrNameLst>
                                          <p:attrName>style.visibility</p:attrName>
                                        </p:attrNameLst>
                                      </p:cBhvr>
                                      <p:to>
                                        <p:strVal val="visible"/>
                                      </p:to>
                                    </p:set>
                                    <p:animEffect transition="in" filter="fade">
                                      <p:cBhvr>
                                        <p:cTn id="112" dur="350"/>
                                        <p:tgtEl>
                                          <p:spTgt spid="41"/>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42"/>
                                        </p:tgtEl>
                                        <p:attrNameLst>
                                          <p:attrName>style.visibility</p:attrName>
                                        </p:attrNameLst>
                                      </p:cBhvr>
                                      <p:to>
                                        <p:strVal val="visible"/>
                                      </p:to>
                                    </p:set>
                                    <p:animEffect transition="in" filter="fade">
                                      <p:cBhvr>
                                        <p:cTn id="115" dur="350"/>
                                        <p:tgtEl>
                                          <p:spTgt spid="42"/>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43"/>
                                        </p:tgtEl>
                                        <p:attrNameLst>
                                          <p:attrName>style.visibility</p:attrName>
                                        </p:attrNameLst>
                                      </p:cBhvr>
                                      <p:to>
                                        <p:strVal val="visible"/>
                                      </p:to>
                                    </p:set>
                                    <p:animEffect transition="in" filter="fade">
                                      <p:cBhvr>
                                        <p:cTn id="118" dur="350"/>
                                        <p:tgtEl>
                                          <p:spTgt spid="43"/>
                                        </p:tgtEl>
                                      </p:cBhvr>
                                    </p:animEffect>
                                  </p:childTnLst>
                                </p:cTn>
                              </p:par>
                            </p:childTnLst>
                          </p:cTn>
                        </p:par>
                        <p:par>
                          <p:cTn id="119" fill="hold">
                            <p:stCondLst>
                              <p:cond delay="2450"/>
                            </p:stCondLst>
                            <p:childTnLst>
                              <p:par>
                                <p:cTn id="120" presetID="10" presetClass="entr" presetSubtype="0" fill="hold" grpId="0" nodeType="afterEffect">
                                  <p:stCondLst>
                                    <p:cond delay="0"/>
                                  </p:stCondLst>
                                  <p:childTnLst>
                                    <p:set>
                                      <p:cBhvr>
                                        <p:cTn id="121" dur="1" fill="hold">
                                          <p:stCondLst>
                                            <p:cond delay="0"/>
                                          </p:stCondLst>
                                        </p:cTn>
                                        <p:tgtEl>
                                          <p:spTgt spid="44"/>
                                        </p:tgtEl>
                                        <p:attrNameLst>
                                          <p:attrName>style.visibility</p:attrName>
                                        </p:attrNameLst>
                                      </p:cBhvr>
                                      <p:to>
                                        <p:strVal val="visible"/>
                                      </p:to>
                                    </p:set>
                                    <p:animEffect transition="in" filter="fade">
                                      <p:cBhvr>
                                        <p:cTn id="122" dur="350"/>
                                        <p:tgtEl>
                                          <p:spTgt spid="44"/>
                                        </p:tgtEl>
                                      </p:cBhvr>
                                    </p:animEffect>
                                  </p:childTnLst>
                                </p:cTn>
                              </p:par>
                              <p:par>
                                <p:cTn id="123" presetID="10" presetClass="entr" presetSubtype="0" fill="hold" grpId="0" nodeType="withEffect">
                                  <p:stCondLst>
                                    <p:cond delay="0"/>
                                  </p:stCondLst>
                                  <p:childTnLst>
                                    <p:set>
                                      <p:cBhvr>
                                        <p:cTn id="124" dur="1" fill="hold">
                                          <p:stCondLst>
                                            <p:cond delay="0"/>
                                          </p:stCondLst>
                                        </p:cTn>
                                        <p:tgtEl>
                                          <p:spTgt spid="45"/>
                                        </p:tgtEl>
                                        <p:attrNameLst>
                                          <p:attrName>style.visibility</p:attrName>
                                        </p:attrNameLst>
                                      </p:cBhvr>
                                      <p:to>
                                        <p:strVal val="visible"/>
                                      </p:to>
                                    </p:set>
                                    <p:animEffect transition="in" filter="fade">
                                      <p:cBhvr>
                                        <p:cTn id="125" dur="350"/>
                                        <p:tgtEl>
                                          <p:spTgt spid="45"/>
                                        </p:tgtEl>
                                      </p:cBhvr>
                                    </p:animEffect>
                                  </p:childTnLst>
                                </p:cTn>
                              </p:par>
                              <p:par>
                                <p:cTn id="126" presetID="10" presetClass="entr" presetSubtype="0" fill="hold" grpId="0" nodeType="withEffect">
                                  <p:stCondLst>
                                    <p:cond delay="0"/>
                                  </p:stCondLst>
                                  <p:childTnLst>
                                    <p:set>
                                      <p:cBhvr>
                                        <p:cTn id="127" dur="1" fill="hold">
                                          <p:stCondLst>
                                            <p:cond delay="0"/>
                                          </p:stCondLst>
                                        </p:cTn>
                                        <p:tgtEl>
                                          <p:spTgt spid="46"/>
                                        </p:tgtEl>
                                        <p:attrNameLst>
                                          <p:attrName>style.visibility</p:attrName>
                                        </p:attrNameLst>
                                      </p:cBhvr>
                                      <p:to>
                                        <p:strVal val="visible"/>
                                      </p:to>
                                    </p:set>
                                    <p:animEffect transition="in" filter="fade">
                                      <p:cBhvr>
                                        <p:cTn id="128" dur="350"/>
                                        <p:tgtEl>
                                          <p:spTgt spid="46"/>
                                        </p:tgtEl>
                                      </p:cBhvr>
                                    </p:animEffect>
                                  </p:childTnLst>
                                </p:cTn>
                              </p:par>
                              <p:par>
                                <p:cTn id="129" presetID="10" presetClass="entr" presetSubtype="0" fill="hold" grpId="0" nodeType="withEffect">
                                  <p:stCondLst>
                                    <p:cond delay="0"/>
                                  </p:stCondLst>
                                  <p:childTnLst>
                                    <p:set>
                                      <p:cBhvr>
                                        <p:cTn id="130" dur="1" fill="hold">
                                          <p:stCondLst>
                                            <p:cond delay="0"/>
                                          </p:stCondLst>
                                        </p:cTn>
                                        <p:tgtEl>
                                          <p:spTgt spid="47"/>
                                        </p:tgtEl>
                                        <p:attrNameLst>
                                          <p:attrName>style.visibility</p:attrName>
                                        </p:attrNameLst>
                                      </p:cBhvr>
                                      <p:to>
                                        <p:strVal val="visible"/>
                                      </p:to>
                                    </p:set>
                                    <p:animEffect transition="in" filter="fade">
                                      <p:cBhvr>
                                        <p:cTn id="131" dur="350"/>
                                        <p:tgtEl>
                                          <p:spTgt spid="47"/>
                                        </p:tgtEl>
                                      </p:cBhvr>
                                    </p:animEffect>
                                  </p:childTnLst>
                                </p:cTn>
                              </p:par>
                              <p:par>
                                <p:cTn id="132" presetID="10" presetClass="entr" presetSubtype="0" fill="hold" grpId="0" nodeType="withEffect">
                                  <p:stCondLst>
                                    <p:cond delay="0"/>
                                  </p:stCondLst>
                                  <p:childTnLst>
                                    <p:set>
                                      <p:cBhvr>
                                        <p:cTn id="133" dur="1" fill="hold">
                                          <p:stCondLst>
                                            <p:cond delay="0"/>
                                          </p:stCondLst>
                                        </p:cTn>
                                        <p:tgtEl>
                                          <p:spTgt spid="48"/>
                                        </p:tgtEl>
                                        <p:attrNameLst>
                                          <p:attrName>style.visibility</p:attrName>
                                        </p:attrNameLst>
                                      </p:cBhvr>
                                      <p:to>
                                        <p:strVal val="visible"/>
                                      </p:to>
                                    </p:set>
                                    <p:animEffect transition="in" filter="fade">
                                      <p:cBhvr>
                                        <p:cTn id="134" dur="350"/>
                                        <p:tgtEl>
                                          <p:spTgt spid="48"/>
                                        </p:tgtEl>
                                      </p:cBhvr>
                                    </p:animEffect>
                                  </p:childTnLst>
                                </p:cTn>
                              </p:par>
                              <p:par>
                                <p:cTn id="135" presetID="10" presetClass="entr" presetSubtype="0" fill="hold" grpId="0" nodeType="withEffect">
                                  <p:stCondLst>
                                    <p:cond delay="0"/>
                                  </p:stCondLst>
                                  <p:childTnLst>
                                    <p:set>
                                      <p:cBhvr>
                                        <p:cTn id="136" dur="1" fill="hold">
                                          <p:stCondLst>
                                            <p:cond delay="0"/>
                                          </p:stCondLst>
                                        </p:cTn>
                                        <p:tgtEl>
                                          <p:spTgt spid="49"/>
                                        </p:tgtEl>
                                        <p:attrNameLst>
                                          <p:attrName>style.visibility</p:attrName>
                                        </p:attrNameLst>
                                      </p:cBhvr>
                                      <p:to>
                                        <p:strVal val="visible"/>
                                      </p:to>
                                    </p:set>
                                    <p:animEffect transition="in" filter="fade">
                                      <p:cBhvr>
                                        <p:cTn id="137" dur="350"/>
                                        <p:tgtEl>
                                          <p:spTgt spid="49"/>
                                        </p:tgtEl>
                                      </p:cBhvr>
                                    </p:animEffect>
                                  </p:childTnLst>
                                </p:cTn>
                              </p:par>
                              <p:par>
                                <p:cTn id="138" presetID="10" presetClass="entr" presetSubtype="0" fill="hold" grpId="0" nodeType="withEffect">
                                  <p:stCondLst>
                                    <p:cond delay="0"/>
                                  </p:stCondLst>
                                  <p:childTnLst>
                                    <p:set>
                                      <p:cBhvr>
                                        <p:cTn id="139" dur="1" fill="hold">
                                          <p:stCondLst>
                                            <p:cond delay="0"/>
                                          </p:stCondLst>
                                        </p:cTn>
                                        <p:tgtEl>
                                          <p:spTgt spid="50"/>
                                        </p:tgtEl>
                                        <p:attrNameLst>
                                          <p:attrName>style.visibility</p:attrName>
                                        </p:attrNameLst>
                                      </p:cBhvr>
                                      <p:to>
                                        <p:strVal val="visible"/>
                                      </p:to>
                                    </p:set>
                                    <p:animEffect transition="in" filter="fade">
                                      <p:cBhvr>
                                        <p:cTn id="140" dur="350"/>
                                        <p:tgtEl>
                                          <p:spTgt spid="50"/>
                                        </p:tgtEl>
                                      </p:cBhvr>
                                    </p:animEffect>
                                  </p:childTnLst>
                                </p:cTn>
                              </p:par>
                              <p:par>
                                <p:cTn id="141" presetID="10" presetClass="entr" presetSubtype="0" fill="hold" grpId="0" nodeType="withEffect">
                                  <p:stCondLst>
                                    <p:cond delay="0"/>
                                  </p:stCondLst>
                                  <p:childTnLst>
                                    <p:set>
                                      <p:cBhvr>
                                        <p:cTn id="142" dur="1" fill="hold">
                                          <p:stCondLst>
                                            <p:cond delay="0"/>
                                          </p:stCondLst>
                                        </p:cTn>
                                        <p:tgtEl>
                                          <p:spTgt spid="51"/>
                                        </p:tgtEl>
                                        <p:attrNameLst>
                                          <p:attrName>style.visibility</p:attrName>
                                        </p:attrNameLst>
                                      </p:cBhvr>
                                      <p:to>
                                        <p:strVal val="visible"/>
                                      </p:to>
                                    </p:set>
                                    <p:animEffect transition="in" filter="fade">
                                      <p:cBhvr>
                                        <p:cTn id="143" dur="350"/>
                                        <p:tgtEl>
                                          <p:spTgt spid="51"/>
                                        </p:tgtEl>
                                      </p:cBhvr>
                                    </p:animEffect>
                                  </p:childTnLst>
                                </p:cTn>
                              </p:par>
                              <p:par>
                                <p:cTn id="144" presetID="10" presetClass="entr" presetSubtype="0" fill="hold" grpId="0" nodeType="withEffect">
                                  <p:stCondLst>
                                    <p:cond delay="0"/>
                                  </p:stCondLst>
                                  <p:childTnLst>
                                    <p:set>
                                      <p:cBhvr>
                                        <p:cTn id="145" dur="1" fill="hold">
                                          <p:stCondLst>
                                            <p:cond delay="0"/>
                                          </p:stCondLst>
                                        </p:cTn>
                                        <p:tgtEl>
                                          <p:spTgt spid="52"/>
                                        </p:tgtEl>
                                        <p:attrNameLst>
                                          <p:attrName>style.visibility</p:attrName>
                                        </p:attrNameLst>
                                      </p:cBhvr>
                                      <p:to>
                                        <p:strVal val="visible"/>
                                      </p:to>
                                    </p:set>
                                    <p:animEffect transition="in" filter="fade">
                                      <p:cBhvr>
                                        <p:cTn id="146" dur="350"/>
                                        <p:tgtEl>
                                          <p:spTgt spid="52"/>
                                        </p:tgtEl>
                                      </p:cBhvr>
                                    </p:animEffect>
                                  </p:childTnLst>
                                </p:cTn>
                              </p:par>
                              <p:par>
                                <p:cTn id="147" presetID="10" presetClass="entr" presetSubtype="0" fill="hold" grpId="0" nodeType="withEffect">
                                  <p:stCondLst>
                                    <p:cond delay="0"/>
                                  </p:stCondLst>
                                  <p:childTnLst>
                                    <p:set>
                                      <p:cBhvr>
                                        <p:cTn id="148" dur="1" fill="hold">
                                          <p:stCondLst>
                                            <p:cond delay="0"/>
                                          </p:stCondLst>
                                        </p:cTn>
                                        <p:tgtEl>
                                          <p:spTgt spid="53"/>
                                        </p:tgtEl>
                                        <p:attrNameLst>
                                          <p:attrName>style.visibility</p:attrName>
                                        </p:attrNameLst>
                                      </p:cBhvr>
                                      <p:to>
                                        <p:strVal val="visible"/>
                                      </p:to>
                                    </p:set>
                                    <p:animEffect transition="in" filter="fade">
                                      <p:cBhvr>
                                        <p:cTn id="149" dur="350"/>
                                        <p:tgtEl>
                                          <p:spTgt spid="53"/>
                                        </p:tgtEl>
                                      </p:cBhvr>
                                    </p:animEffect>
                                  </p:childTnLst>
                                </p:cTn>
                              </p:par>
                              <p:par>
                                <p:cTn id="150" presetID="10" presetClass="entr" presetSubtype="0" fill="hold" grpId="0" nodeType="withEffect">
                                  <p:stCondLst>
                                    <p:cond delay="0"/>
                                  </p:stCondLst>
                                  <p:childTnLst>
                                    <p:set>
                                      <p:cBhvr>
                                        <p:cTn id="151" dur="1" fill="hold">
                                          <p:stCondLst>
                                            <p:cond delay="0"/>
                                          </p:stCondLst>
                                        </p:cTn>
                                        <p:tgtEl>
                                          <p:spTgt spid="54"/>
                                        </p:tgtEl>
                                        <p:attrNameLst>
                                          <p:attrName>style.visibility</p:attrName>
                                        </p:attrNameLst>
                                      </p:cBhvr>
                                      <p:to>
                                        <p:strVal val="visible"/>
                                      </p:to>
                                    </p:set>
                                    <p:animEffect transition="in" filter="fade">
                                      <p:cBhvr>
                                        <p:cTn id="152" dur="350"/>
                                        <p:tgtEl>
                                          <p:spTgt spid="54"/>
                                        </p:tgtEl>
                                      </p:cBhvr>
                                    </p:animEffect>
                                  </p:childTnLst>
                                </p:cTn>
                              </p:par>
                              <p:par>
                                <p:cTn id="153" presetID="10" presetClass="entr" presetSubtype="0" fill="hold" grpId="0" nodeType="withEffect">
                                  <p:stCondLst>
                                    <p:cond delay="0"/>
                                  </p:stCondLst>
                                  <p:childTnLst>
                                    <p:set>
                                      <p:cBhvr>
                                        <p:cTn id="154" dur="1" fill="hold">
                                          <p:stCondLst>
                                            <p:cond delay="0"/>
                                          </p:stCondLst>
                                        </p:cTn>
                                        <p:tgtEl>
                                          <p:spTgt spid="55"/>
                                        </p:tgtEl>
                                        <p:attrNameLst>
                                          <p:attrName>style.visibility</p:attrName>
                                        </p:attrNameLst>
                                      </p:cBhvr>
                                      <p:to>
                                        <p:strVal val="visible"/>
                                      </p:to>
                                    </p:set>
                                    <p:animEffect transition="in" filter="fade">
                                      <p:cBhvr>
                                        <p:cTn id="155" dur="350"/>
                                        <p:tgtEl>
                                          <p:spTgt spid="55"/>
                                        </p:tgtEl>
                                      </p:cBhvr>
                                    </p:animEffect>
                                  </p:childTnLst>
                                </p:cTn>
                              </p:par>
                              <p:par>
                                <p:cTn id="156" presetID="10" presetClass="entr" presetSubtype="0" fill="hold" grpId="0" nodeType="withEffect">
                                  <p:stCondLst>
                                    <p:cond delay="0"/>
                                  </p:stCondLst>
                                  <p:childTnLst>
                                    <p:set>
                                      <p:cBhvr>
                                        <p:cTn id="157" dur="1" fill="hold">
                                          <p:stCondLst>
                                            <p:cond delay="0"/>
                                          </p:stCondLst>
                                        </p:cTn>
                                        <p:tgtEl>
                                          <p:spTgt spid="56"/>
                                        </p:tgtEl>
                                        <p:attrNameLst>
                                          <p:attrName>style.visibility</p:attrName>
                                        </p:attrNameLst>
                                      </p:cBhvr>
                                      <p:to>
                                        <p:strVal val="visible"/>
                                      </p:to>
                                    </p:set>
                                    <p:animEffect transition="in" filter="fade">
                                      <p:cBhvr>
                                        <p:cTn id="158" dur="350"/>
                                        <p:tgtEl>
                                          <p:spTgt spid="56"/>
                                        </p:tgtEl>
                                      </p:cBhvr>
                                    </p:animEffect>
                                  </p:childTnLst>
                                </p:cTn>
                              </p:par>
                              <p:par>
                                <p:cTn id="159" presetID="10" presetClass="entr" presetSubtype="0" fill="hold" grpId="0" nodeType="withEffect">
                                  <p:stCondLst>
                                    <p:cond delay="0"/>
                                  </p:stCondLst>
                                  <p:childTnLst>
                                    <p:set>
                                      <p:cBhvr>
                                        <p:cTn id="160" dur="1" fill="hold">
                                          <p:stCondLst>
                                            <p:cond delay="0"/>
                                          </p:stCondLst>
                                        </p:cTn>
                                        <p:tgtEl>
                                          <p:spTgt spid="57"/>
                                        </p:tgtEl>
                                        <p:attrNameLst>
                                          <p:attrName>style.visibility</p:attrName>
                                        </p:attrNameLst>
                                      </p:cBhvr>
                                      <p:to>
                                        <p:strVal val="visible"/>
                                      </p:to>
                                    </p:set>
                                    <p:animEffect transition="in" filter="fade">
                                      <p:cBhvr>
                                        <p:cTn id="161" dur="350"/>
                                        <p:tgtEl>
                                          <p:spTgt spid="57"/>
                                        </p:tgtEl>
                                      </p:cBhvr>
                                    </p:animEffect>
                                  </p:childTnLst>
                                </p:cTn>
                              </p:par>
                            </p:childTnLst>
                          </p:cTn>
                        </p:par>
                        <p:par>
                          <p:cTn id="162" fill="hold">
                            <p:stCondLst>
                              <p:cond delay="2800"/>
                            </p:stCondLst>
                            <p:childTnLst>
                              <p:par>
                                <p:cTn id="163" presetID="10" presetClass="entr" presetSubtype="0" fill="hold" grpId="0" nodeType="afterEffect">
                                  <p:stCondLst>
                                    <p:cond delay="0"/>
                                  </p:stCondLst>
                                  <p:childTnLst>
                                    <p:set>
                                      <p:cBhvr>
                                        <p:cTn id="164" dur="1" fill="hold">
                                          <p:stCondLst>
                                            <p:cond delay="0"/>
                                          </p:stCondLst>
                                        </p:cTn>
                                        <p:tgtEl>
                                          <p:spTgt spid="58"/>
                                        </p:tgtEl>
                                        <p:attrNameLst>
                                          <p:attrName>style.visibility</p:attrName>
                                        </p:attrNameLst>
                                      </p:cBhvr>
                                      <p:to>
                                        <p:strVal val="visible"/>
                                      </p:to>
                                    </p:set>
                                    <p:animEffect transition="in" filter="fade">
                                      <p:cBhvr>
                                        <p:cTn id="165" dur="350"/>
                                        <p:tgtEl>
                                          <p:spTgt spid="58"/>
                                        </p:tgtEl>
                                      </p:cBhvr>
                                    </p:animEffect>
                                  </p:childTnLst>
                                </p:cTn>
                              </p:par>
                              <p:par>
                                <p:cTn id="166" presetID="10" presetClass="entr" presetSubtype="0" fill="hold" grpId="0" nodeType="withEffect">
                                  <p:stCondLst>
                                    <p:cond delay="0"/>
                                  </p:stCondLst>
                                  <p:childTnLst>
                                    <p:set>
                                      <p:cBhvr>
                                        <p:cTn id="167" dur="1" fill="hold">
                                          <p:stCondLst>
                                            <p:cond delay="0"/>
                                          </p:stCondLst>
                                        </p:cTn>
                                        <p:tgtEl>
                                          <p:spTgt spid="59"/>
                                        </p:tgtEl>
                                        <p:attrNameLst>
                                          <p:attrName>style.visibility</p:attrName>
                                        </p:attrNameLst>
                                      </p:cBhvr>
                                      <p:to>
                                        <p:strVal val="visible"/>
                                      </p:to>
                                    </p:set>
                                    <p:animEffect transition="in" filter="fade">
                                      <p:cBhvr>
                                        <p:cTn id="168" dur="350"/>
                                        <p:tgtEl>
                                          <p:spTgt spid="59"/>
                                        </p:tgtEl>
                                      </p:cBhvr>
                                    </p:animEffect>
                                  </p:childTnLst>
                                </p:cTn>
                              </p:par>
                              <p:par>
                                <p:cTn id="169" presetID="10" presetClass="entr" presetSubtype="0" fill="hold" grpId="0" nodeType="withEffect">
                                  <p:stCondLst>
                                    <p:cond delay="0"/>
                                  </p:stCondLst>
                                  <p:childTnLst>
                                    <p:set>
                                      <p:cBhvr>
                                        <p:cTn id="170" dur="1" fill="hold">
                                          <p:stCondLst>
                                            <p:cond delay="0"/>
                                          </p:stCondLst>
                                        </p:cTn>
                                        <p:tgtEl>
                                          <p:spTgt spid="60"/>
                                        </p:tgtEl>
                                        <p:attrNameLst>
                                          <p:attrName>style.visibility</p:attrName>
                                        </p:attrNameLst>
                                      </p:cBhvr>
                                      <p:to>
                                        <p:strVal val="visible"/>
                                      </p:to>
                                    </p:set>
                                    <p:animEffect transition="in" filter="fade">
                                      <p:cBhvr>
                                        <p:cTn id="171" dur="350"/>
                                        <p:tgtEl>
                                          <p:spTgt spid="60"/>
                                        </p:tgtEl>
                                      </p:cBhvr>
                                    </p:animEffect>
                                  </p:childTnLst>
                                </p:cTn>
                              </p:par>
                              <p:par>
                                <p:cTn id="172" presetID="10" presetClass="entr" presetSubtype="0" fill="hold" grpId="0" nodeType="withEffect">
                                  <p:stCondLst>
                                    <p:cond delay="0"/>
                                  </p:stCondLst>
                                  <p:childTnLst>
                                    <p:set>
                                      <p:cBhvr>
                                        <p:cTn id="173" dur="1" fill="hold">
                                          <p:stCondLst>
                                            <p:cond delay="0"/>
                                          </p:stCondLst>
                                        </p:cTn>
                                        <p:tgtEl>
                                          <p:spTgt spid="61"/>
                                        </p:tgtEl>
                                        <p:attrNameLst>
                                          <p:attrName>style.visibility</p:attrName>
                                        </p:attrNameLst>
                                      </p:cBhvr>
                                      <p:to>
                                        <p:strVal val="visible"/>
                                      </p:to>
                                    </p:set>
                                    <p:animEffect transition="in" filter="fade">
                                      <p:cBhvr>
                                        <p:cTn id="174" dur="350"/>
                                        <p:tgtEl>
                                          <p:spTgt spid="61"/>
                                        </p:tgtEl>
                                      </p:cBhvr>
                                    </p:animEffect>
                                  </p:childTnLst>
                                </p:cTn>
                              </p:par>
                              <p:par>
                                <p:cTn id="175" presetID="10" presetClass="entr" presetSubtype="0" fill="hold" grpId="0" nodeType="withEffect">
                                  <p:stCondLst>
                                    <p:cond delay="0"/>
                                  </p:stCondLst>
                                  <p:childTnLst>
                                    <p:set>
                                      <p:cBhvr>
                                        <p:cTn id="176" dur="1" fill="hold">
                                          <p:stCondLst>
                                            <p:cond delay="0"/>
                                          </p:stCondLst>
                                        </p:cTn>
                                        <p:tgtEl>
                                          <p:spTgt spid="62"/>
                                        </p:tgtEl>
                                        <p:attrNameLst>
                                          <p:attrName>style.visibility</p:attrName>
                                        </p:attrNameLst>
                                      </p:cBhvr>
                                      <p:to>
                                        <p:strVal val="visible"/>
                                      </p:to>
                                    </p:set>
                                    <p:animEffect transition="in" filter="fade">
                                      <p:cBhvr>
                                        <p:cTn id="177" dur="350"/>
                                        <p:tgtEl>
                                          <p:spTgt spid="62"/>
                                        </p:tgtEl>
                                      </p:cBhvr>
                                    </p:animEffect>
                                  </p:childTnLst>
                                </p:cTn>
                              </p:par>
                              <p:par>
                                <p:cTn id="178" presetID="10" presetClass="entr" presetSubtype="0" fill="hold" grpId="0" nodeType="withEffect">
                                  <p:stCondLst>
                                    <p:cond delay="0"/>
                                  </p:stCondLst>
                                  <p:childTnLst>
                                    <p:set>
                                      <p:cBhvr>
                                        <p:cTn id="179" dur="1" fill="hold">
                                          <p:stCondLst>
                                            <p:cond delay="0"/>
                                          </p:stCondLst>
                                        </p:cTn>
                                        <p:tgtEl>
                                          <p:spTgt spid="63"/>
                                        </p:tgtEl>
                                        <p:attrNameLst>
                                          <p:attrName>style.visibility</p:attrName>
                                        </p:attrNameLst>
                                      </p:cBhvr>
                                      <p:to>
                                        <p:strVal val="visible"/>
                                      </p:to>
                                    </p:set>
                                    <p:animEffect transition="in" filter="fade">
                                      <p:cBhvr>
                                        <p:cTn id="180" dur="350"/>
                                        <p:tgtEl>
                                          <p:spTgt spid="63"/>
                                        </p:tgtEl>
                                      </p:cBhvr>
                                    </p:animEffect>
                                  </p:childTnLst>
                                </p:cTn>
                              </p:par>
                              <p:par>
                                <p:cTn id="181" presetID="10" presetClass="entr" presetSubtype="0" fill="hold" grpId="0" nodeType="withEffect">
                                  <p:stCondLst>
                                    <p:cond delay="0"/>
                                  </p:stCondLst>
                                  <p:childTnLst>
                                    <p:set>
                                      <p:cBhvr>
                                        <p:cTn id="182" dur="1" fill="hold">
                                          <p:stCondLst>
                                            <p:cond delay="0"/>
                                          </p:stCondLst>
                                        </p:cTn>
                                        <p:tgtEl>
                                          <p:spTgt spid="64"/>
                                        </p:tgtEl>
                                        <p:attrNameLst>
                                          <p:attrName>style.visibility</p:attrName>
                                        </p:attrNameLst>
                                      </p:cBhvr>
                                      <p:to>
                                        <p:strVal val="visible"/>
                                      </p:to>
                                    </p:set>
                                    <p:animEffect transition="in" filter="fade">
                                      <p:cBhvr>
                                        <p:cTn id="183" dur="350"/>
                                        <p:tgtEl>
                                          <p:spTgt spid="64"/>
                                        </p:tgtEl>
                                      </p:cBhvr>
                                    </p:animEffect>
                                  </p:childTnLst>
                                </p:cTn>
                              </p:par>
                              <p:par>
                                <p:cTn id="184" presetID="10" presetClass="entr" presetSubtype="0" fill="hold" grpId="0" nodeType="withEffect">
                                  <p:stCondLst>
                                    <p:cond delay="0"/>
                                  </p:stCondLst>
                                  <p:childTnLst>
                                    <p:set>
                                      <p:cBhvr>
                                        <p:cTn id="185" dur="1" fill="hold">
                                          <p:stCondLst>
                                            <p:cond delay="0"/>
                                          </p:stCondLst>
                                        </p:cTn>
                                        <p:tgtEl>
                                          <p:spTgt spid="65"/>
                                        </p:tgtEl>
                                        <p:attrNameLst>
                                          <p:attrName>style.visibility</p:attrName>
                                        </p:attrNameLst>
                                      </p:cBhvr>
                                      <p:to>
                                        <p:strVal val="visible"/>
                                      </p:to>
                                    </p:set>
                                    <p:animEffect transition="in" filter="fade">
                                      <p:cBhvr>
                                        <p:cTn id="186" dur="350"/>
                                        <p:tgtEl>
                                          <p:spTgt spid="65"/>
                                        </p:tgtEl>
                                      </p:cBhvr>
                                    </p:animEffect>
                                  </p:childTnLst>
                                </p:cTn>
                              </p:par>
                              <p:par>
                                <p:cTn id="187" presetID="10" presetClass="entr" presetSubtype="0" fill="hold" grpId="0" nodeType="withEffect">
                                  <p:stCondLst>
                                    <p:cond delay="0"/>
                                  </p:stCondLst>
                                  <p:childTnLst>
                                    <p:set>
                                      <p:cBhvr>
                                        <p:cTn id="188" dur="1" fill="hold">
                                          <p:stCondLst>
                                            <p:cond delay="0"/>
                                          </p:stCondLst>
                                        </p:cTn>
                                        <p:tgtEl>
                                          <p:spTgt spid="66"/>
                                        </p:tgtEl>
                                        <p:attrNameLst>
                                          <p:attrName>style.visibility</p:attrName>
                                        </p:attrNameLst>
                                      </p:cBhvr>
                                      <p:to>
                                        <p:strVal val="visible"/>
                                      </p:to>
                                    </p:set>
                                    <p:animEffect transition="in" filter="fade">
                                      <p:cBhvr>
                                        <p:cTn id="189" dur="350"/>
                                        <p:tgtEl>
                                          <p:spTgt spid="66"/>
                                        </p:tgtEl>
                                      </p:cBhvr>
                                    </p:animEffect>
                                  </p:childTnLst>
                                </p:cTn>
                              </p:par>
                              <p:par>
                                <p:cTn id="190" presetID="10" presetClass="entr" presetSubtype="0" fill="hold" grpId="0" nodeType="withEffect">
                                  <p:stCondLst>
                                    <p:cond delay="0"/>
                                  </p:stCondLst>
                                  <p:childTnLst>
                                    <p:set>
                                      <p:cBhvr>
                                        <p:cTn id="191" dur="1" fill="hold">
                                          <p:stCondLst>
                                            <p:cond delay="0"/>
                                          </p:stCondLst>
                                        </p:cTn>
                                        <p:tgtEl>
                                          <p:spTgt spid="67"/>
                                        </p:tgtEl>
                                        <p:attrNameLst>
                                          <p:attrName>style.visibility</p:attrName>
                                        </p:attrNameLst>
                                      </p:cBhvr>
                                      <p:to>
                                        <p:strVal val="visible"/>
                                      </p:to>
                                    </p:set>
                                    <p:animEffect transition="in" filter="fade">
                                      <p:cBhvr>
                                        <p:cTn id="192" dur="350"/>
                                        <p:tgtEl>
                                          <p:spTgt spid="67"/>
                                        </p:tgtEl>
                                      </p:cBhvr>
                                    </p:animEffect>
                                  </p:childTnLst>
                                </p:cTn>
                              </p:par>
                              <p:par>
                                <p:cTn id="193" presetID="10" presetClass="entr" presetSubtype="0" fill="hold" grpId="0" nodeType="withEffect">
                                  <p:stCondLst>
                                    <p:cond delay="0"/>
                                  </p:stCondLst>
                                  <p:childTnLst>
                                    <p:set>
                                      <p:cBhvr>
                                        <p:cTn id="194" dur="1" fill="hold">
                                          <p:stCondLst>
                                            <p:cond delay="0"/>
                                          </p:stCondLst>
                                        </p:cTn>
                                        <p:tgtEl>
                                          <p:spTgt spid="68"/>
                                        </p:tgtEl>
                                        <p:attrNameLst>
                                          <p:attrName>style.visibility</p:attrName>
                                        </p:attrNameLst>
                                      </p:cBhvr>
                                      <p:to>
                                        <p:strVal val="visible"/>
                                      </p:to>
                                    </p:set>
                                    <p:animEffect transition="in" filter="fade">
                                      <p:cBhvr>
                                        <p:cTn id="195" dur="35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2" grpId="0" animBg="1"/>
      <p:bldP spid="14" grpId="0" animBg="1"/>
      <p:bldP spid="15" grpId="0" animBg="1"/>
      <p:bldP spid="16" grpId="0" animBg="1"/>
      <p:bldP spid="18" grpId="0" animBg="1"/>
      <p:bldP spid="19" grpId="0" animBg="1"/>
      <p:bldP spid="20" grpId="0" animBg="1"/>
      <p:bldP spid="22" grpId="0" animBg="1"/>
      <p:bldP spid="23" grpId="0" animBg="1"/>
      <p:bldP spid="24" grpId="0" animBg="1"/>
      <p:bldP spid="26" grpId="0" animBg="1"/>
      <p:bldP spid="27" grpId="0" animBg="1"/>
      <p:bldP spid="28" grpId="0" animBg="1"/>
      <p:bldP spid="30" grpId="0" animBg="1"/>
      <p:bldP spid="31" grpId="0" animBg="1"/>
      <p:bldP spid="32" grpId="0" animBg="1"/>
      <p:bldP spid="33" grpId="0" animBg="1"/>
      <p:bldP spid="35" grpId="0" animBg="1"/>
      <p:bldP spid="37" grpId="0" animBg="1"/>
      <p:bldP spid="39" grpId="0" animBg="1"/>
      <p:bldP spid="41" grpId="0" animBg="1"/>
      <p:bldP spid="43" grpId="0" animBg="1"/>
      <p:bldP spid="44" grpId="0" animBg="1"/>
      <p:bldP spid="45" grpId="0" animBg="1"/>
      <p:bldP spid="47" grpId="0" animBg="1"/>
      <p:bldP spid="49" grpId="0" animBg="1"/>
      <p:bldP spid="51" grpId="0" animBg="1"/>
      <p:bldP spid="53" grpId="0" animBg="1"/>
      <p:bldP spid="55"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lano de fundo do modelo" descr="tpl_bg.png"/>
          <p:cNvPicPr>
            <a:picLocks noChangeAspect="1"/>
          </p:cNvPicPr>
          <p:nvPr/>
        </p:nvPicPr>
        <p:blipFill>
          <a:blip r:embed="rId2"/>
          <a:stretch>
            <a:fillRect/>
          </a:stretch>
        </p:blipFill>
        <p:spPr>
          <a:xfrm>
            <a:off x="20" y="1923"/>
            <a:ext cx="18287980" cy="10285077"/>
          </a:xfrm>
          <a:prstGeom prst="rect">
            <a:avLst/>
          </a:prstGeom>
        </p:spPr>
      </p:pic>
      <p:sp>
        <p:nvSpPr>
          <p:cNvPr id="3" name="Retângulo branco (modelo)"/>
          <p:cNvSpPr/>
          <p:nvPr/>
        </p:nvSpPr>
        <p:spPr>
          <a:xfrm>
            <a:off x="15888345" y="279974"/>
            <a:ext cx="2362200" cy="863025"/>
          </a:xfrm>
          <a:prstGeom prst="rect">
            <a:avLst/>
          </a:prstGeom>
          <a:solidFill>
            <a:srgbClr val="FFFFFF"/>
          </a:solidFill>
          <a:ln>
            <a:noFill/>
          </a:ln>
        </p:spPr>
        <p:txBody>
          <a:bodyPr rtlCol="0" anchor="ctr"/>
          <a:lstStyle/>
          <a:p>
            <a:pPr algn="ctr"/>
          </a:p>
        </p:txBody>
      </p:sp>
      <p:pic>
        <p:nvPicPr>
          <p:cNvPr id="4" name="Logo SEMICA" descr="image.png"/>
          <p:cNvPicPr>
            <a:picLocks noChangeAspect="1"/>
          </p:cNvPicPr>
          <p:nvPr/>
        </p:nvPicPr>
        <p:blipFill>
          <a:blip r:embed="rId3"/>
          <a:stretch>
            <a:fillRect/>
          </a:stretch>
        </p:blipFill>
        <p:spPr>
          <a:xfrm>
            <a:off x="15544800" y="279974"/>
            <a:ext cx="2512314" cy="1234862"/>
          </a:xfrm>
          <a:prstGeom prst="rect">
            <a:avLst/>
          </a:prstGeom>
        </p:spPr>
      </p:pic>
      <p:sp>
        <p:nvSpPr>
          <p:cNvPr id="5" name="Título da seção"/>
          <p:cNvSpPr txBox="1"/>
          <p:nvPr/>
        </p:nvSpPr>
        <p:spPr>
          <a:xfrm>
            <a:off x="1143000" y="558224"/>
            <a:ext cx="10058400" cy="584775"/>
          </a:xfrm>
          <a:prstGeom prst="rect">
            <a:avLst/>
          </a:prstGeom>
          <a:noFill/>
        </p:spPr>
        <p:txBody>
          <a:bodyPr wrap="square">
            <a:noAutofit/>
          </a:bodyPr>
          <a:lstStyle/>
          <a:p>
            <a:pPr algn="l">
              <a:lnSpc>
                <a:spcPct val="100000"/>
              </a:lnSpc>
              <a:spcAft>
                <a:spcPts val="0"/>
              </a:spcAft>
              <a:buNone/>
            </a:pPr>
            <a:r>
              <a:rPr sz="3200" b="0" i="0">
                <a:solidFill>
                  <a:srgbClr val="000000"/>
                </a:solidFill>
                <a:latin typeface="Arial"/>
              </a:rPr>
              <a:t>INTRODUÇÃO</a:t>
            </a:r>
          </a:p>
        </p:txBody>
      </p:sp>
      <p:sp>
        <p:nvSpPr>
          <p:cNvPr id="6" name="Subtítulo"/>
          <p:cNvSpPr txBox="1"/>
          <p:nvPr/>
        </p:nvSpPr>
        <p:spPr>
          <a:xfrm>
            <a:off x="1143000" y="1097280"/>
            <a:ext cx="14173200" cy="502920"/>
          </a:xfrm>
          <a:prstGeom prst="rect">
            <a:avLst/>
          </a:prstGeom>
          <a:noFill/>
        </p:spPr>
        <p:txBody>
          <a:bodyPr wrap="square" lIns="0" rIns="0" tIns="0" bIns="0" anchor="t">
            <a:noAutofit/>
          </a:bodyPr>
          <a:lstStyle/>
          <a:p>
            <a:pPr algn="l">
              <a:lnSpc>
                <a:spcPct val="100000"/>
              </a:lnSpc>
              <a:spcAft>
                <a:spcPts val="0"/>
              </a:spcAft>
              <a:buNone/>
            </a:pPr>
            <a:r>
              <a:rPr sz="2400" b="1" i="0">
                <a:solidFill>
                  <a:srgbClr val="002060"/>
                </a:solidFill>
                <a:latin typeface="Arial"/>
              </a:rPr>
              <a:t>Fumaça cirúrgica: o que é e por que importa</a:t>
            </a:r>
          </a:p>
        </p:txBody>
      </p:sp>
      <p:pic>
        <p:nvPicPr>
          <p:cNvPr id="7" name="Foto centro cirúrgico" descr="centro_cirurgico_fumaca.png"/>
          <p:cNvPicPr>
            <a:picLocks noChangeAspect="1"/>
          </p:cNvPicPr>
          <p:nvPr/>
        </p:nvPicPr>
        <p:blipFill>
          <a:blip r:embed="rId4"/>
          <a:stretch>
            <a:fillRect/>
          </a:stretch>
        </p:blipFill>
        <p:spPr>
          <a:xfrm>
            <a:off x="1143000" y="1783080"/>
            <a:ext cx="7589520" cy="4246517"/>
          </a:xfrm>
          <a:prstGeom prst="rect">
            <a:avLst/>
          </a:prstGeom>
        </p:spPr>
      </p:pic>
      <p:sp>
        <p:nvSpPr>
          <p:cNvPr id="8" name="TextBox 7"/>
          <p:cNvSpPr txBox="1"/>
          <p:nvPr/>
        </p:nvSpPr>
        <p:spPr>
          <a:xfrm>
            <a:off x="1143000" y="6121037"/>
            <a:ext cx="7589520" cy="320040"/>
          </a:xfrm>
          <a:prstGeom prst="rect">
            <a:avLst/>
          </a:prstGeom>
          <a:noFill/>
        </p:spPr>
        <p:txBody>
          <a:bodyPr wrap="square" lIns="0" rIns="0" tIns="0" bIns="0" anchor="t">
            <a:noAutofit/>
          </a:bodyPr>
          <a:lstStyle/>
          <a:p>
            <a:pPr algn="l">
              <a:lnSpc>
                <a:spcPct val="100000"/>
              </a:lnSpc>
              <a:spcAft>
                <a:spcPts val="0"/>
              </a:spcAft>
              <a:buNone/>
            </a:pPr>
            <a:r>
              <a:rPr sz="1400" b="0" i="0">
                <a:solidFill>
                  <a:srgbClr val="5A6270"/>
                </a:solidFill>
                <a:latin typeface="Arial"/>
              </a:rPr>
              <a:t>Imagem ilustrativa (gerada por IA): pluma de fumaça do eletrocautério no campo cirúrgico.</a:t>
            </a:r>
          </a:p>
        </p:txBody>
      </p:sp>
      <p:sp>
        <p:nvSpPr>
          <p:cNvPr id="9" name="Rounded Rectangle 8"/>
          <p:cNvSpPr/>
          <p:nvPr/>
        </p:nvSpPr>
        <p:spPr>
          <a:xfrm>
            <a:off x="1143000" y="6578237"/>
            <a:ext cx="7589520" cy="3160123"/>
          </a:xfrm>
          <a:prstGeom prst="roundRect">
            <a:avLst>
              <a:gd name="adj" fmla="val 6000"/>
            </a:avLst>
          </a:prstGeom>
          <a:solidFill>
            <a:srgbClr val="E6EBF5"/>
          </a:solidFill>
          <a:ln>
            <a:noFill/>
          </a:ln>
          <a:effectLst/>
        </p:spPr>
        <p:txBody>
          <a:bodyPr rtlCol="0" anchor="ctr"/>
          <a:lstStyle/>
          <a:p/>
        </p:txBody>
      </p:sp>
      <p:sp>
        <p:nvSpPr>
          <p:cNvPr id="10" name="TextBox 9"/>
          <p:cNvSpPr txBox="1"/>
          <p:nvPr/>
        </p:nvSpPr>
        <p:spPr>
          <a:xfrm>
            <a:off x="1463040" y="6898276"/>
            <a:ext cx="6949440" cy="411480"/>
          </a:xfrm>
          <a:prstGeom prst="rect">
            <a:avLst/>
          </a:prstGeom>
          <a:noFill/>
        </p:spPr>
        <p:txBody>
          <a:bodyPr wrap="square" lIns="0" rIns="0" tIns="0" bIns="0" anchor="t">
            <a:noAutofit/>
          </a:bodyPr>
          <a:lstStyle/>
          <a:p>
            <a:pPr algn="l">
              <a:lnSpc>
                <a:spcPct val="100000"/>
              </a:lnSpc>
              <a:spcAft>
                <a:spcPts val="0"/>
              </a:spcAft>
              <a:buNone/>
            </a:pPr>
            <a:r>
              <a:rPr sz="1900" b="1" i="0">
                <a:solidFill>
                  <a:srgbClr val="002060"/>
                </a:solidFill>
                <a:latin typeface="Arial"/>
              </a:rPr>
              <a:t>Sintomas agudos relatados pela equipe exposta</a:t>
            </a:r>
          </a:p>
        </p:txBody>
      </p:sp>
      <p:pic>
        <p:nvPicPr>
          <p:cNvPr id="11" name="icone eye" descr="eye_navy.png"/>
          <p:cNvPicPr>
            <a:picLocks noChangeAspect="1"/>
          </p:cNvPicPr>
          <p:nvPr/>
        </p:nvPicPr>
        <p:blipFill>
          <a:blip r:embed="rId5"/>
          <a:stretch>
            <a:fillRect/>
          </a:stretch>
        </p:blipFill>
        <p:spPr>
          <a:xfrm>
            <a:off x="1463040" y="7501318"/>
            <a:ext cx="384048" cy="384048"/>
          </a:xfrm>
          <a:prstGeom prst="rect">
            <a:avLst/>
          </a:prstGeom>
        </p:spPr>
      </p:pic>
      <p:sp>
        <p:nvSpPr>
          <p:cNvPr id="12" name="TextBox 11"/>
          <p:cNvSpPr txBox="1"/>
          <p:nvPr/>
        </p:nvSpPr>
        <p:spPr>
          <a:xfrm>
            <a:off x="2029968" y="7446916"/>
            <a:ext cx="6382512" cy="492850"/>
          </a:xfrm>
          <a:prstGeom prst="rect">
            <a:avLst/>
          </a:prstGeom>
          <a:noFill/>
        </p:spPr>
        <p:txBody>
          <a:bodyPr wrap="square" lIns="0" rIns="0" tIns="0" bIns="0" anchor="ctr">
            <a:noAutofit/>
          </a:bodyPr>
          <a:lstStyle/>
          <a:p>
            <a:pPr algn="l">
              <a:lnSpc>
                <a:spcPct val="100000"/>
              </a:lnSpc>
              <a:spcAft>
                <a:spcPts val="0"/>
              </a:spcAft>
              <a:buNone/>
            </a:pPr>
            <a:r>
              <a:rPr sz="1800" b="0" i="0">
                <a:solidFill>
                  <a:srgbClr val="1F2433"/>
                </a:solidFill>
                <a:latin typeface="Arial"/>
              </a:rPr>
              <a:t>Irritação ocular e lacrimejamento</a:t>
            </a:r>
          </a:p>
        </p:txBody>
      </p:sp>
      <p:pic>
        <p:nvPicPr>
          <p:cNvPr id="13" name="icone lungs" descr="lungs_navy.png"/>
          <p:cNvPicPr>
            <a:picLocks noChangeAspect="1"/>
          </p:cNvPicPr>
          <p:nvPr/>
        </p:nvPicPr>
        <p:blipFill>
          <a:blip r:embed="rId6"/>
          <a:stretch>
            <a:fillRect/>
          </a:stretch>
        </p:blipFill>
        <p:spPr>
          <a:xfrm>
            <a:off x="1463040" y="7994169"/>
            <a:ext cx="384048" cy="384048"/>
          </a:xfrm>
          <a:prstGeom prst="rect">
            <a:avLst/>
          </a:prstGeom>
        </p:spPr>
      </p:pic>
      <p:sp>
        <p:nvSpPr>
          <p:cNvPr id="14" name="TextBox 13"/>
          <p:cNvSpPr txBox="1"/>
          <p:nvPr/>
        </p:nvSpPr>
        <p:spPr>
          <a:xfrm>
            <a:off x="2029968" y="7939767"/>
            <a:ext cx="6382512" cy="492850"/>
          </a:xfrm>
          <a:prstGeom prst="rect">
            <a:avLst/>
          </a:prstGeom>
          <a:noFill/>
        </p:spPr>
        <p:txBody>
          <a:bodyPr wrap="square" lIns="0" rIns="0" tIns="0" bIns="0" anchor="ctr">
            <a:noAutofit/>
          </a:bodyPr>
          <a:lstStyle/>
          <a:p>
            <a:pPr algn="l">
              <a:lnSpc>
                <a:spcPct val="100000"/>
              </a:lnSpc>
              <a:spcAft>
                <a:spcPts val="0"/>
              </a:spcAft>
              <a:buNone/>
            </a:pPr>
            <a:r>
              <a:rPr sz="1800" b="0" i="0">
                <a:solidFill>
                  <a:srgbClr val="1F2433"/>
                </a:solidFill>
                <a:latin typeface="Arial"/>
              </a:rPr>
              <a:t>Tosse e irritação das vias aéreas</a:t>
            </a:r>
          </a:p>
        </p:txBody>
      </p:sp>
      <p:pic>
        <p:nvPicPr>
          <p:cNvPr id="15" name="icone nose" descr="nose_navy.png"/>
          <p:cNvPicPr>
            <a:picLocks noChangeAspect="1"/>
          </p:cNvPicPr>
          <p:nvPr/>
        </p:nvPicPr>
        <p:blipFill>
          <a:blip r:embed="rId7"/>
          <a:stretch>
            <a:fillRect/>
          </a:stretch>
        </p:blipFill>
        <p:spPr>
          <a:xfrm>
            <a:off x="1463040" y="8487019"/>
            <a:ext cx="384048" cy="384048"/>
          </a:xfrm>
          <a:prstGeom prst="rect">
            <a:avLst/>
          </a:prstGeom>
        </p:spPr>
      </p:pic>
      <p:sp>
        <p:nvSpPr>
          <p:cNvPr id="16" name="TextBox 15"/>
          <p:cNvSpPr txBox="1"/>
          <p:nvPr/>
        </p:nvSpPr>
        <p:spPr>
          <a:xfrm>
            <a:off x="2029968" y="8432618"/>
            <a:ext cx="6382512" cy="492850"/>
          </a:xfrm>
          <a:prstGeom prst="rect">
            <a:avLst/>
          </a:prstGeom>
          <a:noFill/>
        </p:spPr>
        <p:txBody>
          <a:bodyPr wrap="square" lIns="0" rIns="0" tIns="0" bIns="0" anchor="ctr">
            <a:noAutofit/>
          </a:bodyPr>
          <a:lstStyle/>
          <a:p>
            <a:pPr algn="l">
              <a:lnSpc>
                <a:spcPct val="100000"/>
              </a:lnSpc>
              <a:spcAft>
                <a:spcPts val="0"/>
              </a:spcAft>
              <a:buNone/>
            </a:pPr>
            <a:r>
              <a:rPr sz="1800" b="0" i="0">
                <a:solidFill>
                  <a:srgbClr val="1F2433"/>
                </a:solidFill>
                <a:latin typeface="Arial"/>
              </a:rPr>
              <a:t>Irritação de mucosas</a:t>
            </a:r>
          </a:p>
        </p:txBody>
      </p:sp>
      <p:pic>
        <p:nvPicPr>
          <p:cNvPr id="17" name="icone exclaim" descr="exclaim_navy.png"/>
          <p:cNvPicPr>
            <a:picLocks noChangeAspect="1"/>
          </p:cNvPicPr>
          <p:nvPr/>
        </p:nvPicPr>
        <p:blipFill>
          <a:blip r:embed="rId8"/>
          <a:stretch>
            <a:fillRect/>
          </a:stretch>
        </p:blipFill>
        <p:spPr>
          <a:xfrm>
            <a:off x="1463040" y="8979870"/>
            <a:ext cx="384048" cy="384048"/>
          </a:xfrm>
          <a:prstGeom prst="rect">
            <a:avLst/>
          </a:prstGeom>
        </p:spPr>
      </p:pic>
      <p:sp>
        <p:nvSpPr>
          <p:cNvPr id="18" name="TextBox 17"/>
          <p:cNvSpPr txBox="1"/>
          <p:nvPr/>
        </p:nvSpPr>
        <p:spPr>
          <a:xfrm>
            <a:off x="2029968" y="8925469"/>
            <a:ext cx="6382512" cy="492850"/>
          </a:xfrm>
          <a:prstGeom prst="rect">
            <a:avLst/>
          </a:prstGeom>
          <a:noFill/>
        </p:spPr>
        <p:txBody>
          <a:bodyPr wrap="square" lIns="0" rIns="0" tIns="0" bIns="0" anchor="ctr">
            <a:noAutofit/>
          </a:bodyPr>
          <a:lstStyle/>
          <a:p>
            <a:pPr algn="l">
              <a:lnSpc>
                <a:spcPct val="100000"/>
              </a:lnSpc>
              <a:spcAft>
                <a:spcPts val="0"/>
              </a:spcAft>
              <a:buNone/>
            </a:pPr>
            <a:r>
              <a:rPr sz="1800" b="0" i="0">
                <a:solidFill>
                  <a:srgbClr val="1F2433"/>
                </a:solidFill>
                <a:latin typeface="Arial"/>
              </a:rPr>
              <a:t>Cefaleia e náusea</a:t>
            </a:r>
          </a:p>
        </p:txBody>
      </p:sp>
      <p:sp>
        <p:nvSpPr>
          <p:cNvPr id="19" name="Oval 18"/>
          <p:cNvSpPr/>
          <p:nvPr/>
        </p:nvSpPr>
        <p:spPr>
          <a:xfrm>
            <a:off x="9281160" y="1783080"/>
            <a:ext cx="822960" cy="822960"/>
          </a:xfrm>
          <a:prstGeom prst="ellipse">
            <a:avLst/>
          </a:prstGeom>
          <a:solidFill>
            <a:srgbClr val="002060"/>
          </a:solidFill>
          <a:ln>
            <a:noFill/>
          </a:ln>
          <a:effectLst/>
        </p:spPr>
        <p:txBody>
          <a:bodyPr rtlCol="0" anchor="ctr" lIns="0" rIns="0" tIns="0" bIns="0"/>
          <a:lstStyle/>
          <a:p/>
        </p:txBody>
      </p:sp>
      <p:pic>
        <p:nvPicPr>
          <p:cNvPr id="20" name="icone smoke" descr="smoke_white.png"/>
          <p:cNvPicPr>
            <a:picLocks noChangeAspect="1"/>
          </p:cNvPicPr>
          <p:nvPr/>
        </p:nvPicPr>
        <p:blipFill>
          <a:blip r:embed="rId9"/>
          <a:stretch>
            <a:fillRect/>
          </a:stretch>
        </p:blipFill>
        <p:spPr>
          <a:xfrm>
            <a:off x="9486900" y="1988819"/>
            <a:ext cx="411480" cy="411480"/>
          </a:xfrm>
          <a:prstGeom prst="rect">
            <a:avLst/>
          </a:prstGeom>
        </p:spPr>
      </p:pic>
      <p:sp>
        <p:nvSpPr>
          <p:cNvPr id="21" name="TextBox 20"/>
          <p:cNvSpPr txBox="1"/>
          <p:nvPr/>
        </p:nvSpPr>
        <p:spPr>
          <a:xfrm>
            <a:off x="10378440" y="1783080"/>
            <a:ext cx="7406640" cy="411480"/>
          </a:xfrm>
          <a:prstGeom prst="rect">
            <a:avLst/>
          </a:prstGeom>
          <a:noFill/>
        </p:spPr>
        <p:txBody>
          <a:bodyPr wrap="square" lIns="0" rIns="0" tIns="0" bIns="0" anchor="t">
            <a:noAutofit/>
          </a:bodyPr>
          <a:lstStyle/>
          <a:p>
            <a:pPr algn="l">
              <a:lnSpc>
                <a:spcPct val="100000"/>
              </a:lnSpc>
              <a:spcAft>
                <a:spcPts val="0"/>
              </a:spcAft>
              <a:buNone/>
            </a:pPr>
            <a:r>
              <a:rPr sz="2000" b="1" i="0">
                <a:solidFill>
                  <a:srgbClr val="002060"/>
                </a:solidFill>
                <a:latin typeface="Arial"/>
              </a:rPr>
              <a:t>O que é</a:t>
            </a:r>
          </a:p>
        </p:txBody>
      </p:sp>
      <p:sp>
        <p:nvSpPr>
          <p:cNvPr id="22" name="TextBox 21"/>
          <p:cNvSpPr txBox="1"/>
          <p:nvPr/>
        </p:nvSpPr>
        <p:spPr>
          <a:xfrm>
            <a:off x="10378440" y="2221991"/>
            <a:ext cx="7406640" cy="1085850"/>
          </a:xfrm>
          <a:prstGeom prst="rect">
            <a:avLst/>
          </a:prstGeom>
          <a:noFill/>
        </p:spPr>
        <p:txBody>
          <a:bodyPr wrap="square" lIns="0" rIns="0" tIns="0" bIns="0" anchor="t">
            <a:noAutofit/>
          </a:bodyPr>
          <a:lstStyle/>
          <a:p>
            <a:pPr algn="l">
              <a:lnSpc>
                <a:spcPct val="102000"/>
              </a:lnSpc>
              <a:spcAft>
                <a:spcPts val="0"/>
              </a:spcAft>
              <a:buNone/>
            </a:pPr>
            <a:r>
              <a:rPr sz="1700" b="0" i="0">
                <a:solidFill>
                  <a:srgbClr val="1F2433"/>
                </a:solidFill>
                <a:latin typeface="Arial"/>
              </a:rPr>
              <a:t>Subproduto da </a:t>
            </a:r>
            <a:r>
              <a:rPr sz="1700" b="1" i="0">
                <a:solidFill>
                  <a:srgbClr val="1F2433"/>
                </a:solidFill>
                <a:latin typeface="Arial"/>
              </a:rPr>
              <a:t>destruição térmica dos tecidos</a:t>
            </a:r>
            <a:r>
              <a:rPr sz="1700" b="0" i="0">
                <a:solidFill>
                  <a:srgbClr val="1F2433"/>
                </a:solidFill>
                <a:latin typeface="Arial"/>
              </a:rPr>
              <a:t> por dispositivos de energia: eletrocautério, laser e bisturi ultrassônico (Benaim; Jaspers, 2024).</a:t>
            </a:r>
          </a:p>
        </p:txBody>
      </p:sp>
      <p:sp>
        <p:nvSpPr>
          <p:cNvPr id="23" name="Oval 22"/>
          <p:cNvSpPr/>
          <p:nvPr/>
        </p:nvSpPr>
        <p:spPr>
          <a:xfrm>
            <a:off x="9281160" y="3371850"/>
            <a:ext cx="822960" cy="822960"/>
          </a:xfrm>
          <a:prstGeom prst="ellipse">
            <a:avLst/>
          </a:prstGeom>
          <a:solidFill>
            <a:srgbClr val="002060"/>
          </a:solidFill>
          <a:ln>
            <a:noFill/>
          </a:ln>
          <a:effectLst/>
        </p:spPr>
        <p:txBody>
          <a:bodyPr rtlCol="0" anchor="ctr" lIns="0" rIns="0" tIns="0" bIns="0"/>
          <a:lstStyle/>
          <a:p/>
        </p:txBody>
      </p:sp>
      <p:pic>
        <p:nvPicPr>
          <p:cNvPr id="24" name="icone flask" descr="flask_white.png"/>
          <p:cNvPicPr>
            <a:picLocks noChangeAspect="1"/>
          </p:cNvPicPr>
          <p:nvPr/>
        </p:nvPicPr>
        <p:blipFill>
          <a:blip r:embed="rId10"/>
          <a:stretch>
            <a:fillRect/>
          </a:stretch>
        </p:blipFill>
        <p:spPr>
          <a:xfrm>
            <a:off x="9486900" y="3577590"/>
            <a:ext cx="411480" cy="411480"/>
          </a:xfrm>
          <a:prstGeom prst="rect">
            <a:avLst/>
          </a:prstGeom>
        </p:spPr>
      </p:pic>
      <p:sp>
        <p:nvSpPr>
          <p:cNvPr id="25" name="TextBox 24"/>
          <p:cNvSpPr txBox="1"/>
          <p:nvPr/>
        </p:nvSpPr>
        <p:spPr>
          <a:xfrm>
            <a:off x="10378440" y="3371850"/>
            <a:ext cx="7406640" cy="411480"/>
          </a:xfrm>
          <a:prstGeom prst="rect">
            <a:avLst/>
          </a:prstGeom>
          <a:noFill/>
        </p:spPr>
        <p:txBody>
          <a:bodyPr wrap="square" lIns="0" rIns="0" tIns="0" bIns="0" anchor="t">
            <a:noAutofit/>
          </a:bodyPr>
          <a:lstStyle/>
          <a:p>
            <a:pPr algn="l">
              <a:lnSpc>
                <a:spcPct val="100000"/>
              </a:lnSpc>
              <a:spcAft>
                <a:spcPts val="0"/>
              </a:spcAft>
              <a:buNone/>
            </a:pPr>
            <a:r>
              <a:rPr sz="2000" b="1" i="0">
                <a:solidFill>
                  <a:srgbClr val="002060"/>
                </a:solidFill>
                <a:latin typeface="Arial"/>
              </a:rPr>
              <a:t>O que contém</a:t>
            </a:r>
          </a:p>
        </p:txBody>
      </p:sp>
      <p:sp>
        <p:nvSpPr>
          <p:cNvPr id="26" name="TextBox 25"/>
          <p:cNvSpPr txBox="1"/>
          <p:nvPr/>
        </p:nvSpPr>
        <p:spPr>
          <a:xfrm>
            <a:off x="10378440" y="3810762"/>
            <a:ext cx="7406640" cy="1085850"/>
          </a:xfrm>
          <a:prstGeom prst="rect">
            <a:avLst/>
          </a:prstGeom>
          <a:noFill/>
        </p:spPr>
        <p:txBody>
          <a:bodyPr wrap="square" lIns="0" rIns="0" tIns="0" bIns="0" anchor="t">
            <a:noAutofit/>
          </a:bodyPr>
          <a:lstStyle/>
          <a:p>
            <a:pPr algn="l">
              <a:lnSpc>
                <a:spcPct val="102000"/>
              </a:lnSpc>
              <a:spcAft>
                <a:spcPts val="0"/>
              </a:spcAft>
              <a:buNone/>
            </a:pPr>
            <a:r>
              <a:rPr sz="1700" b="0" i="0">
                <a:solidFill>
                  <a:srgbClr val="1F2433"/>
                </a:solidFill>
                <a:latin typeface="Arial"/>
              </a:rPr>
              <a:t>Hidrocarbonetos aromáticos policíclicos, </a:t>
            </a:r>
            <a:r>
              <a:rPr sz="1700" b="1" i="0">
                <a:solidFill>
                  <a:srgbClr val="1F2433"/>
                </a:solidFill>
                <a:latin typeface="Arial"/>
              </a:rPr>
              <a:t>compostos orgânicos voláteis</a:t>
            </a:r>
            <a:r>
              <a:rPr sz="1700" b="0" i="0">
                <a:solidFill>
                  <a:srgbClr val="1F2433"/>
                </a:solidFill>
                <a:latin typeface="Arial"/>
              </a:rPr>
              <a:t> (benzeno, tolueno, xileno), </a:t>
            </a:r>
            <a:r>
              <a:rPr sz="1700" b="1" i="0">
                <a:solidFill>
                  <a:srgbClr val="1F2433"/>
                </a:solidFill>
                <a:latin typeface="Arial"/>
              </a:rPr>
              <a:t>material particulado fino (PM2,5) e ultrafino</a:t>
            </a:r>
            <a:r>
              <a:rPr sz="1700" b="0" i="0">
                <a:solidFill>
                  <a:srgbClr val="1F2433"/>
                </a:solidFill>
                <a:latin typeface="Arial"/>
              </a:rPr>
              <a:t> e material genético viral, como o HPV.</a:t>
            </a:r>
          </a:p>
        </p:txBody>
      </p:sp>
      <p:sp>
        <p:nvSpPr>
          <p:cNvPr id="27" name="Oval 26"/>
          <p:cNvSpPr/>
          <p:nvPr/>
        </p:nvSpPr>
        <p:spPr>
          <a:xfrm>
            <a:off x="9281160" y="4960620"/>
            <a:ext cx="822960" cy="822960"/>
          </a:xfrm>
          <a:prstGeom prst="ellipse">
            <a:avLst/>
          </a:prstGeom>
          <a:solidFill>
            <a:srgbClr val="002060"/>
          </a:solidFill>
          <a:ln>
            <a:noFill/>
          </a:ln>
          <a:effectLst/>
        </p:spPr>
        <p:txBody>
          <a:bodyPr rtlCol="0" anchor="ctr" lIns="0" rIns="0" tIns="0" bIns="0"/>
          <a:lstStyle/>
          <a:p/>
        </p:txBody>
      </p:sp>
      <p:pic>
        <p:nvPicPr>
          <p:cNvPr id="28" name="icone warning" descr="warning_white.png"/>
          <p:cNvPicPr>
            <a:picLocks noChangeAspect="1"/>
          </p:cNvPicPr>
          <p:nvPr/>
        </p:nvPicPr>
        <p:blipFill>
          <a:blip r:embed="rId11"/>
          <a:stretch>
            <a:fillRect/>
          </a:stretch>
        </p:blipFill>
        <p:spPr>
          <a:xfrm>
            <a:off x="9486900" y="5166360"/>
            <a:ext cx="411480" cy="411480"/>
          </a:xfrm>
          <a:prstGeom prst="rect">
            <a:avLst/>
          </a:prstGeom>
        </p:spPr>
      </p:pic>
      <p:sp>
        <p:nvSpPr>
          <p:cNvPr id="29" name="TextBox 28"/>
          <p:cNvSpPr txBox="1"/>
          <p:nvPr/>
        </p:nvSpPr>
        <p:spPr>
          <a:xfrm>
            <a:off x="10378440" y="4960620"/>
            <a:ext cx="7406640" cy="411480"/>
          </a:xfrm>
          <a:prstGeom prst="rect">
            <a:avLst/>
          </a:prstGeom>
          <a:noFill/>
        </p:spPr>
        <p:txBody>
          <a:bodyPr wrap="square" lIns="0" rIns="0" tIns="0" bIns="0" anchor="t">
            <a:noAutofit/>
          </a:bodyPr>
          <a:lstStyle/>
          <a:p>
            <a:pPr algn="l">
              <a:lnSpc>
                <a:spcPct val="100000"/>
              </a:lnSpc>
              <a:spcAft>
                <a:spcPts val="0"/>
              </a:spcAft>
              <a:buNone/>
            </a:pPr>
            <a:r>
              <a:rPr sz="2000" b="1" i="0">
                <a:solidFill>
                  <a:srgbClr val="002060"/>
                </a:solidFill>
                <a:latin typeface="Arial"/>
              </a:rPr>
              <a:t>O que se sabe (e o que não se sabe)</a:t>
            </a:r>
          </a:p>
        </p:txBody>
      </p:sp>
      <p:sp>
        <p:nvSpPr>
          <p:cNvPr id="30" name="TextBox 29"/>
          <p:cNvSpPr txBox="1"/>
          <p:nvPr/>
        </p:nvSpPr>
        <p:spPr>
          <a:xfrm>
            <a:off x="10378440" y="5399531"/>
            <a:ext cx="7406640" cy="1085850"/>
          </a:xfrm>
          <a:prstGeom prst="rect">
            <a:avLst/>
          </a:prstGeom>
          <a:noFill/>
        </p:spPr>
        <p:txBody>
          <a:bodyPr wrap="square" lIns="0" rIns="0" tIns="0" bIns="0" anchor="t">
            <a:noAutofit/>
          </a:bodyPr>
          <a:lstStyle/>
          <a:p>
            <a:pPr algn="l">
              <a:lnSpc>
                <a:spcPct val="102000"/>
              </a:lnSpc>
              <a:spcAft>
                <a:spcPts val="0"/>
              </a:spcAft>
              <a:buNone/>
            </a:pPr>
            <a:r>
              <a:rPr sz="1700" b="0" i="0">
                <a:solidFill>
                  <a:srgbClr val="1F2433"/>
                </a:solidFill>
                <a:latin typeface="Arial"/>
              </a:rPr>
              <a:t>Sintomas agudos são frequentes. Efeitos crônicos (neoplasias, doença respiratória) são plausíveis, mas </a:t>
            </a:r>
            <a:r>
              <a:rPr sz="1700" b="1" i="0">
                <a:solidFill>
                  <a:srgbClr val="1F2433"/>
                </a:solidFill>
                <a:highlight>
                  <a:srgbClr val="FFEB99"/>
                </a:highlight>
                <a:latin typeface="Arial"/>
              </a:rPr>
              <a:t>sem relação causal estabelecida</a:t>
            </a:r>
            <a:r>
              <a:rPr sz="1700" b="0" i="0">
                <a:solidFill>
                  <a:srgbClr val="1F2433"/>
                </a:solidFill>
                <a:latin typeface="Arial"/>
              </a:rPr>
              <a:t>; o tema é controverso (Hurst; Stewart, 2024).</a:t>
            </a:r>
          </a:p>
        </p:txBody>
      </p:sp>
      <p:sp>
        <p:nvSpPr>
          <p:cNvPr id="31" name="Oval 30"/>
          <p:cNvSpPr/>
          <p:nvPr/>
        </p:nvSpPr>
        <p:spPr>
          <a:xfrm>
            <a:off x="9281160" y="6549390"/>
            <a:ext cx="822960" cy="822960"/>
          </a:xfrm>
          <a:prstGeom prst="ellipse">
            <a:avLst/>
          </a:prstGeom>
          <a:solidFill>
            <a:srgbClr val="002060"/>
          </a:solidFill>
          <a:ln>
            <a:noFill/>
          </a:ln>
          <a:effectLst/>
        </p:spPr>
        <p:txBody>
          <a:bodyPr rtlCol="0" anchor="ctr" lIns="0" rIns="0" tIns="0" bIns="0"/>
          <a:lstStyle/>
          <a:p/>
        </p:txBody>
      </p:sp>
      <p:pic>
        <p:nvPicPr>
          <p:cNvPr id="32" name="icone shield" descr="shield_white.png"/>
          <p:cNvPicPr>
            <a:picLocks noChangeAspect="1"/>
          </p:cNvPicPr>
          <p:nvPr/>
        </p:nvPicPr>
        <p:blipFill>
          <a:blip r:embed="rId12"/>
          <a:stretch>
            <a:fillRect/>
          </a:stretch>
        </p:blipFill>
        <p:spPr>
          <a:xfrm>
            <a:off x="9486900" y="6755130"/>
            <a:ext cx="411480" cy="411480"/>
          </a:xfrm>
          <a:prstGeom prst="rect">
            <a:avLst/>
          </a:prstGeom>
        </p:spPr>
      </p:pic>
      <p:sp>
        <p:nvSpPr>
          <p:cNvPr id="33" name="TextBox 32"/>
          <p:cNvSpPr txBox="1"/>
          <p:nvPr/>
        </p:nvSpPr>
        <p:spPr>
          <a:xfrm>
            <a:off x="10378440" y="6549390"/>
            <a:ext cx="7406640" cy="411480"/>
          </a:xfrm>
          <a:prstGeom prst="rect">
            <a:avLst/>
          </a:prstGeom>
          <a:noFill/>
        </p:spPr>
        <p:txBody>
          <a:bodyPr wrap="square" lIns="0" rIns="0" tIns="0" bIns="0" anchor="t">
            <a:noAutofit/>
          </a:bodyPr>
          <a:lstStyle/>
          <a:p>
            <a:pPr algn="l">
              <a:lnSpc>
                <a:spcPct val="100000"/>
              </a:lnSpc>
              <a:spcAft>
                <a:spcPts val="0"/>
              </a:spcAft>
              <a:buNone/>
            </a:pPr>
            <a:r>
              <a:rPr sz="2000" b="1" i="0">
                <a:solidFill>
                  <a:srgbClr val="002060"/>
                </a:solidFill>
                <a:latin typeface="Arial"/>
              </a:rPr>
              <a:t>Por que importa</a:t>
            </a:r>
          </a:p>
        </p:txBody>
      </p:sp>
      <p:sp>
        <p:nvSpPr>
          <p:cNvPr id="34" name="TextBox 33"/>
          <p:cNvSpPr txBox="1"/>
          <p:nvPr/>
        </p:nvSpPr>
        <p:spPr>
          <a:xfrm>
            <a:off x="10378440" y="6988302"/>
            <a:ext cx="7406640" cy="1085850"/>
          </a:xfrm>
          <a:prstGeom prst="rect">
            <a:avLst/>
          </a:prstGeom>
          <a:noFill/>
        </p:spPr>
        <p:txBody>
          <a:bodyPr wrap="square" lIns="0" rIns="0" tIns="0" bIns="0" anchor="t">
            <a:noAutofit/>
          </a:bodyPr>
          <a:lstStyle/>
          <a:p>
            <a:pPr algn="l">
              <a:lnSpc>
                <a:spcPct val="102000"/>
              </a:lnSpc>
              <a:spcAft>
                <a:spcPts val="0"/>
              </a:spcAft>
              <a:buNone/>
            </a:pPr>
            <a:r>
              <a:rPr sz="1700" b="0" i="0">
                <a:solidFill>
                  <a:srgbClr val="1F2433"/>
                </a:solidFill>
                <a:latin typeface="Arial"/>
              </a:rPr>
              <a:t>Exaustão de fumaça e máscaras de alta filtração ainda são </a:t>
            </a:r>
            <a:r>
              <a:rPr sz="1700" b="1" i="0">
                <a:solidFill>
                  <a:srgbClr val="1F2433"/>
                </a:solidFill>
                <a:latin typeface="Arial"/>
              </a:rPr>
              <a:t>pouco adotadas</a:t>
            </a:r>
            <a:r>
              <a:rPr sz="1700" b="0" i="0">
                <a:solidFill>
                  <a:srgbClr val="1F2433"/>
                </a:solidFill>
                <a:latin typeface="Arial"/>
              </a:rPr>
              <a:t> e não há diretrizes harmonizadas. As revisões anteriores eram descritivas, sem síntese quantitativa.</a:t>
            </a:r>
          </a:p>
        </p:txBody>
      </p:sp>
      <p:sp>
        <p:nvSpPr>
          <p:cNvPr id="35" name="Rounded Rectangle 34"/>
          <p:cNvSpPr/>
          <p:nvPr/>
        </p:nvSpPr>
        <p:spPr>
          <a:xfrm>
            <a:off x="9281160" y="8412480"/>
            <a:ext cx="8503919" cy="1325880"/>
          </a:xfrm>
          <a:prstGeom prst="roundRect">
            <a:avLst>
              <a:gd name="adj" fmla="val 6000"/>
            </a:avLst>
          </a:prstGeom>
          <a:solidFill>
            <a:srgbClr val="FBF5E3"/>
          </a:solidFill>
          <a:ln>
            <a:noFill/>
          </a:ln>
          <a:effectLst/>
        </p:spPr>
        <p:txBody>
          <a:bodyPr rtlCol="0" anchor="ctr"/>
          <a:lstStyle/>
          <a:p/>
        </p:txBody>
      </p:sp>
      <p:sp>
        <p:nvSpPr>
          <p:cNvPr id="36" name="TextBox 35"/>
          <p:cNvSpPr txBox="1"/>
          <p:nvPr/>
        </p:nvSpPr>
        <p:spPr>
          <a:xfrm>
            <a:off x="9601200" y="8595360"/>
            <a:ext cx="7863840" cy="960119"/>
          </a:xfrm>
          <a:prstGeom prst="rect">
            <a:avLst/>
          </a:prstGeom>
          <a:noFill/>
        </p:spPr>
        <p:txBody>
          <a:bodyPr wrap="square" lIns="0" rIns="0" tIns="0" bIns="0" anchor="ctr">
            <a:noAutofit/>
          </a:bodyPr>
          <a:lstStyle/>
          <a:p>
            <a:pPr algn="l">
              <a:lnSpc>
                <a:spcPct val="100000"/>
              </a:lnSpc>
              <a:spcAft>
                <a:spcPts val="0"/>
              </a:spcAft>
              <a:buNone/>
            </a:pPr>
            <a:r>
              <a:rPr sz="1700" b="1" i="0">
                <a:solidFill>
                  <a:srgbClr val="8B0000"/>
                </a:solidFill>
                <a:latin typeface="Arial"/>
              </a:rPr>
              <a:t>Lacuna → </a:t>
            </a:r>
            <a:r>
              <a:rPr sz="1700" b="1" i="0">
                <a:solidFill>
                  <a:srgbClr val="1F2433"/>
                </a:solidFill>
                <a:latin typeface="Arial"/>
              </a:rPr>
              <a:t>síntese em camadas: </a:t>
            </a:r>
            <a:r>
              <a:rPr sz="1700" b="0" i="0">
                <a:solidFill>
                  <a:srgbClr val="1F2433"/>
                </a:solidFill>
                <a:latin typeface="Arial"/>
              </a:rPr>
              <a:t>metanálise da prevalência de sintomas + síntese narrativa, com GRADE, dos desfechos objetivos e biomarcadores.</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lano de fundo do modelo" descr="tpl_bg.png"/>
          <p:cNvPicPr>
            <a:picLocks noChangeAspect="1"/>
          </p:cNvPicPr>
          <p:nvPr/>
        </p:nvPicPr>
        <p:blipFill>
          <a:blip r:embed="rId2"/>
          <a:stretch>
            <a:fillRect/>
          </a:stretch>
        </p:blipFill>
        <p:spPr>
          <a:xfrm>
            <a:off x="20" y="1923"/>
            <a:ext cx="18287980" cy="10285077"/>
          </a:xfrm>
          <a:prstGeom prst="rect">
            <a:avLst/>
          </a:prstGeom>
        </p:spPr>
      </p:pic>
      <p:sp>
        <p:nvSpPr>
          <p:cNvPr id="3" name="Retângulo branco (modelo)"/>
          <p:cNvSpPr/>
          <p:nvPr/>
        </p:nvSpPr>
        <p:spPr>
          <a:xfrm>
            <a:off x="15888345" y="279974"/>
            <a:ext cx="2362200" cy="863025"/>
          </a:xfrm>
          <a:prstGeom prst="rect">
            <a:avLst/>
          </a:prstGeom>
          <a:solidFill>
            <a:srgbClr val="FFFFFF"/>
          </a:solidFill>
          <a:ln>
            <a:noFill/>
          </a:ln>
        </p:spPr>
        <p:txBody>
          <a:bodyPr rtlCol="0" anchor="ctr"/>
          <a:lstStyle/>
          <a:p>
            <a:pPr algn="ctr"/>
          </a:p>
        </p:txBody>
      </p:sp>
      <p:pic>
        <p:nvPicPr>
          <p:cNvPr id="4" name="Logo SEMICA" descr="image.png"/>
          <p:cNvPicPr>
            <a:picLocks noChangeAspect="1"/>
          </p:cNvPicPr>
          <p:nvPr/>
        </p:nvPicPr>
        <p:blipFill>
          <a:blip r:embed="rId3"/>
          <a:stretch>
            <a:fillRect/>
          </a:stretch>
        </p:blipFill>
        <p:spPr>
          <a:xfrm>
            <a:off x="15544800" y="279974"/>
            <a:ext cx="2512314" cy="1234862"/>
          </a:xfrm>
          <a:prstGeom prst="rect">
            <a:avLst/>
          </a:prstGeom>
        </p:spPr>
      </p:pic>
      <p:sp>
        <p:nvSpPr>
          <p:cNvPr id="5" name="Título da seção"/>
          <p:cNvSpPr txBox="1"/>
          <p:nvPr/>
        </p:nvSpPr>
        <p:spPr>
          <a:xfrm>
            <a:off x="1143000" y="558224"/>
            <a:ext cx="10058400" cy="584775"/>
          </a:xfrm>
          <a:prstGeom prst="rect">
            <a:avLst/>
          </a:prstGeom>
          <a:noFill/>
        </p:spPr>
        <p:txBody>
          <a:bodyPr wrap="square">
            <a:noAutofit/>
          </a:bodyPr>
          <a:lstStyle/>
          <a:p>
            <a:pPr algn="l">
              <a:lnSpc>
                <a:spcPct val="100000"/>
              </a:lnSpc>
              <a:spcAft>
                <a:spcPts val="0"/>
              </a:spcAft>
              <a:buNone/>
            </a:pPr>
            <a:r>
              <a:rPr sz="3200" b="0" i="0">
                <a:solidFill>
                  <a:srgbClr val="000000"/>
                </a:solidFill>
                <a:latin typeface="Arial"/>
              </a:rPr>
              <a:t>OBJETIVOS</a:t>
            </a:r>
          </a:p>
        </p:txBody>
      </p:sp>
      <p:sp>
        <p:nvSpPr>
          <p:cNvPr id="6" name="Subtítulo"/>
          <p:cNvSpPr txBox="1"/>
          <p:nvPr/>
        </p:nvSpPr>
        <p:spPr>
          <a:xfrm>
            <a:off x="1143000" y="1097280"/>
            <a:ext cx="14173200" cy="502920"/>
          </a:xfrm>
          <a:prstGeom prst="rect">
            <a:avLst/>
          </a:prstGeom>
          <a:noFill/>
        </p:spPr>
        <p:txBody>
          <a:bodyPr wrap="square" lIns="0" rIns="0" tIns="0" bIns="0" anchor="t">
            <a:noAutofit/>
          </a:bodyPr>
          <a:lstStyle/>
          <a:p>
            <a:pPr algn="l">
              <a:lnSpc>
                <a:spcPct val="100000"/>
              </a:lnSpc>
              <a:spcAft>
                <a:spcPts val="0"/>
              </a:spcAft>
              <a:buNone/>
            </a:pPr>
            <a:r>
              <a:rPr sz="2400" b="1" i="0">
                <a:solidFill>
                  <a:srgbClr val="002060"/>
                </a:solidFill>
                <a:latin typeface="Arial"/>
              </a:rPr>
              <a:t>Pergunta estruturada: PECO para os desfechos comparativos e CoCoPop para a prevalência</a:t>
            </a:r>
          </a:p>
        </p:txBody>
      </p:sp>
      <p:sp>
        <p:nvSpPr>
          <p:cNvPr id="7" name="Rounded Rectangle 6"/>
          <p:cNvSpPr/>
          <p:nvPr/>
        </p:nvSpPr>
        <p:spPr>
          <a:xfrm>
            <a:off x="1143000" y="1783080"/>
            <a:ext cx="16642080" cy="1234440"/>
          </a:xfrm>
          <a:prstGeom prst="roundRect">
            <a:avLst>
              <a:gd name="adj" fmla="val 6000"/>
            </a:avLst>
          </a:prstGeom>
          <a:solidFill>
            <a:srgbClr val="002060"/>
          </a:solidFill>
          <a:ln>
            <a:noFill/>
          </a:ln>
          <a:effectLst/>
        </p:spPr>
        <p:txBody>
          <a:bodyPr rtlCol="0" anchor="ctr"/>
          <a:lstStyle/>
          <a:p/>
        </p:txBody>
      </p:sp>
      <p:sp>
        <p:nvSpPr>
          <p:cNvPr id="8" name="TextBox 7"/>
          <p:cNvSpPr txBox="1"/>
          <p:nvPr/>
        </p:nvSpPr>
        <p:spPr>
          <a:xfrm>
            <a:off x="1554480" y="1920240"/>
            <a:ext cx="15819120" cy="960120"/>
          </a:xfrm>
          <a:prstGeom prst="rect">
            <a:avLst/>
          </a:prstGeom>
          <a:noFill/>
        </p:spPr>
        <p:txBody>
          <a:bodyPr wrap="square" lIns="0" rIns="0" tIns="0" bIns="0" anchor="ctr">
            <a:noAutofit/>
          </a:bodyPr>
          <a:lstStyle/>
          <a:p>
            <a:pPr algn="l">
              <a:lnSpc>
                <a:spcPct val="100000"/>
              </a:lnSpc>
              <a:spcAft>
                <a:spcPts val="0"/>
              </a:spcAft>
              <a:buNone/>
            </a:pPr>
            <a:r>
              <a:rPr sz="2100" b="1" i="0">
                <a:solidFill>
                  <a:srgbClr val="C8A951"/>
                </a:solidFill>
                <a:latin typeface="Arial"/>
              </a:rPr>
              <a:t>Objetivo geral: </a:t>
            </a:r>
            <a:r>
              <a:rPr sz="2100" b="0" i="0">
                <a:solidFill>
                  <a:srgbClr val="FFFFFF"/>
                </a:solidFill>
                <a:latin typeface="Arial"/>
              </a:rPr>
              <a:t>avaliar os desfechos de saúde associados à exposição ocupacional à fumaça cirúrgica na equipe de centro cirúrgico, com ênfase na prevalência de sintomas, nos desfechos objetivos e nos biomarcadores de exposição ou de possível efeito.</a:t>
            </a:r>
          </a:p>
        </p:txBody>
      </p:sp>
      <p:sp>
        <p:nvSpPr>
          <p:cNvPr id="9" name="Rounded Rectangle 8"/>
          <p:cNvSpPr/>
          <p:nvPr/>
        </p:nvSpPr>
        <p:spPr>
          <a:xfrm>
            <a:off x="1143000" y="3291840"/>
            <a:ext cx="3954780" cy="2423160"/>
          </a:xfrm>
          <a:prstGeom prst="roundRect">
            <a:avLst>
              <a:gd name="adj" fmla="val 6000"/>
            </a:avLst>
          </a:prstGeom>
          <a:solidFill>
            <a:srgbClr val="F2F4F8"/>
          </a:solidFill>
          <a:ln>
            <a:noFill/>
          </a:ln>
          <a:effectLst/>
        </p:spPr>
        <p:txBody>
          <a:bodyPr rtlCol="0" anchor="ctr"/>
          <a:lstStyle/>
          <a:p/>
        </p:txBody>
      </p:sp>
      <p:sp>
        <p:nvSpPr>
          <p:cNvPr id="10" name="Oval 9"/>
          <p:cNvSpPr/>
          <p:nvPr/>
        </p:nvSpPr>
        <p:spPr>
          <a:xfrm>
            <a:off x="1463040" y="3611880"/>
            <a:ext cx="685800" cy="685800"/>
          </a:xfrm>
          <a:prstGeom prst="ellipse">
            <a:avLst/>
          </a:prstGeom>
          <a:solidFill>
            <a:srgbClr val="002060"/>
          </a:solidFill>
          <a:ln>
            <a:noFill/>
          </a:ln>
          <a:effectLst/>
        </p:spPr>
        <p:txBody>
          <a:bodyPr rtlCol="0" anchor="ctr" lIns="0" rIns="0" tIns="0" bIns="0" wrap="square">
            <a:noAutofit/>
          </a:bodyPr>
          <a:lstStyle/>
          <a:p>
            <a:pPr algn="ctr">
              <a:lnSpc>
                <a:spcPct val="100000"/>
              </a:lnSpc>
              <a:spcAft>
                <a:spcPts val="0"/>
              </a:spcAft>
              <a:buNone/>
            </a:pPr>
            <a:r>
              <a:rPr sz="2600" b="1" i="0">
                <a:solidFill>
                  <a:srgbClr val="FFFFFF"/>
                </a:solidFill>
                <a:latin typeface="Arial"/>
              </a:rPr>
              <a:t>P</a:t>
            </a:r>
          </a:p>
        </p:txBody>
      </p:sp>
      <p:sp>
        <p:nvSpPr>
          <p:cNvPr id="11" name="TextBox 10"/>
          <p:cNvSpPr txBox="1"/>
          <p:nvPr/>
        </p:nvSpPr>
        <p:spPr>
          <a:xfrm>
            <a:off x="2377440" y="3611880"/>
            <a:ext cx="2400300" cy="685800"/>
          </a:xfrm>
          <a:prstGeom prst="rect">
            <a:avLst/>
          </a:prstGeom>
          <a:noFill/>
        </p:spPr>
        <p:txBody>
          <a:bodyPr wrap="square" lIns="0" rIns="0" tIns="0" bIns="0" anchor="ctr">
            <a:noAutofit/>
          </a:bodyPr>
          <a:lstStyle/>
          <a:p>
            <a:pPr algn="l">
              <a:lnSpc>
                <a:spcPct val="100000"/>
              </a:lnSpc>
              <a:spcAft>
                <a:spcPts val="0"/>
              </a:spcAft>
              <a:buNone/>
            </a:pPr>
            <a:r>
              <a:rPr sz="2000" b="1" i="0">
                <a:solidFill>
                  <a:srgbClr val="002060"/>
                </a:solidFill>
                <a:latin typeface="Arial"/>
              </a:rPr>
              <a:t>População</a:t>
            </a:r>
          </a:p>
        </p:txBody>
      </p:sp>
      <p:sp>
        <p:nvSpPr>
          <p:cNvPr id="12" name="TextBox 11"/>
          <p:cNvSpPr txBox="1"/>
          <p:nvPr/>
        </p:nvSpPr>
        <p:spPr>
          <a:xfrm>
            <a:off x="1463040" y="4480560"/>
            <a:ext cx="3314700" cy="914400"/>
          </a:xfrm>
          <a:prstGeom prst="rect">
            <a:avLst/>
          </a:prstGeom>
          <a:noFill/>
        </p:spPr>
        <p:txBody>
          <a:bodyPr wrap="square" lIns="0" rIns="0" tIns="0" bIns="0" anchor="t">
            <a:noAutofit/>
          </a:bodyPr>
          <a:lstStyle/>
          <a:p>
            <a:pPr algn="l">
              <a:lnSpc>
                <a:spcPct val="105000"/>
              </a:lnSpc>
              <a:spcAft>
                <a:spcPts val="0"/>
              </a:spcAft>
              <a:buNone/>
            </a:pPr>
            <a:r>
              <a:rPr sz="1600" b="0" i="0">
                <a:solidFill>
                  <a:srgbClr val="1F2433"/>
                </a:solidFill>
                <a:latin typeface="Arial"/>
              </a:rPr>
              <a:t>Equipe de centro cirúrgico: cirurgiões, residentes, enfermagem, instrumentadores e anestesia.</a:t>
            </a:r>
          </a:p>
        </p:txBody>
      </p:sp>
      <p:sp>
        <p:nvSpPr>
          <p:cNvPr id="13" name="Rounded Rectangle 12"/>
          <p:cNvSpPr/>
          <p:nvPr/>
        </p:nvSpPr>
        <p:spPr>
          <a:xfrm>
            <a:off x="5372100" y="3291840"/>
            <a:ext cx="3954780" cy="2423160"/>
          </a:xfrm>
          <a:prstGeom prst="roundRect">
            <a:avLst>
              <a:gd name="adj" fmla="val 6000"/>
            </a:avLst>
          </a:prstGeom>
          <a:solidFill>
            <a:srgbClr val="F2F4F8"/>
          </a:solidFill>
          <a:ln>
            <a:noFill/>
          </a:ln>
          <a:effectLst/>
        </p:spPr>
        <p:txBody>
          <a:bodyPr rtlCol="0" anchor="ctr"/>
          <a:lstStyle/>
          <a:p/>
        </p:txBody>
      </p:sp>
      <p:sp>
        <p:nvSpPr>
          <p:cNvPr id="14" name="Oval 13"/>
          <p:cNvSpPr/>
          <p:nvPr/>
        </p:nvSpPr>
        <p:spPr>
          <a:xfrm>
            <a:off x="5692140" y="3611880"/>
            <a:ext cx="685800" cy="685800"/>
          </a:xfrm>
          <a:prstGeom prst="ellipse">
            <a:avLst/>
          </a:prstGeom>
          <a:solidFill>
            <a:srgbClr val="002060"/>
          </a:solidFill>
          <a:ln>
            <a:noFill/>
          </a:ln>
          <a:effectLst/>
        </p:spPr>
        <p:txBody>
          <a:bodyPr rtlCol="0" anchor="ctr" lIns="0" rIns="0" tIns="0" bIns="0" wrap="square">
            <a:noAutofit/>
          </a:bodyPr>
          <a:lstStyle/>
          <a:p>
            <a:pPr algn="ctr">
              <a:lnSpc>
                <a:spcPct val="100000"/>
              </a:lnSpc>
              <a:spcAft>
                <a:spcPts val="0"/>
              </a:spcAft>
              <a:buNone/>
            </a:pPr>
            <a:r>
              <a:rPr sz="2600" b="1" i="0">
                <a:solidFill>
                  <a:srgbClr val="FFFFFF"/>
                </a:solidFill>
                <a:latin typeface="Arial"/>
              </a:rPr>
              <a:t>E</a:t>
            </a:r>
          </a:p>
        </p:txBody>
      </p:sp>
      <p:sp>
        <p:nvSpPr>
          <p:cNvPr id="15" name="TextBox 14"/>
          <p:cNvSpPr txBox="1"/>
          <p:nvPr/>
        </p:nvSpPr>
        <p:spPr>
          <a:xfrm>
            <a:off x="6606540" y="3611880"/>
            <a:ext cx="2400300" cy="685800"/>
          </a:xfrm>
          <a:prstGeom prst="rect">
            <a:avLst/>
          </a:prstGeom>
          <a:noFill/>
        </p:spPr>
        <p:txBody>
          <a:bodyPr wrap="square" lIns="0" rIns="0" tIns="0" bIns="0" anchor="ctr">
            <a:noAutofit/>
          </a:bodyPr>
          <a:lstStyle/>
          <a:p>
            <a:pPr algn="l">
              <a:lnSpc>
                <a:spcPct val="100000"/>
              </a:lnSpc>
              <a:spcAft>
                <a:spcPts val="0"/>
              </a:spcAft>
              <a:buNone/>
            </a:pPr>
            <a:r>
              <a:rPr sz="2000" b="1" i="0">
                <a:solidFill>
                  <a:srgbClr val="002060"/>
                </a:solidFill>
                <a:latin typeface="Arial"/>
              </a:rPr>
              <a:t>Exposição</a:t>
            </a:r>
          </a:p>
        </p:txBody>
      </p:sp>
      <p:sp>
        <p:nvSpPr>
          <p:cNvPr id="16" name="TextBox 15"/>
          <p:cNvSpPr txBox="1"/>
          <p:nvPr/>
        </p:nvSpPr>
        <p:spPr>
          <a:xfrm>
            <a:off x="5692140" y="4480560"/>
            <a:ext cx="3314700" cy="914400"/>
          </a:xfrm>
          <a:prstGeom prst="rect">
            <a:avLst/>
          </a:prstGeom>
          <a:noFill/>
        </p:spPr>
        <p:txBody>
          <a:bodyPr wrap="square" lIns="0" rIns="0" tIns="0" bIns="0" anchor="t">
            <a:noAutofit/>
          </a:bodyPr>
          <a:lstStyle/>
          <a:p>
            <a:pPr algn="l">
              <a:lnSpc>
                <a:spcPct val="105000"/>
              </a:lnSpc>
              <a:spcAft>
                <a:spcPts val="0"/>
              </a:spcAft>
              <a:buNone/>
            </a:pPr>
            <a:r>
              <a:rPr sz="1600" b="0" i="0">
                <a:solidFill>
                  <a:srgbClr val="1F2433"/>
                </a:solidFill>
                <a:latin typeface="Arial"/>
              </a:rPr>
              <a:t>Fumaça gerada por dispositivos de energia (eletrocautério, laser, bisturi ultrassônico).</a:t>
            </a:r>
          </a:p>
        </p:txBody>
      </p:sp>
      <p:sp>
        <p:nvSpPr>
          <p:cNvPr id="17" name="Rounded Rectangle 16"/>
          <p:cNvSpPr/>
          <p:nvPr/>
        </p:nvSpPr>
        <p:spPr>
          <a:xfrm>
            <a:off x="9601200" y="3291840"/>
            <a:ext cx="3954780" cy="2423160"/>
          </a:xfrm>
          <a:prstGeom prst="roundRect">
            <a:avLst>
              <a:gd name="adj" fmla="val 6000"/>
            </a:avLst>
          </a:prstGeom>
          <a:solidFill>
            <a:srgbClr val="F2F4F8"/>
          </a:solidFill>
          <a:ln>
            <a:noFill/>
          </a:ln>
          <a:effectLst/>
        </p:spPr>
        <p:txBody>
          <a:bodyPr rtlCol="0" anchor="ctr"/>
          <a:lstStyle/>
          <a:p/>
        </p:txBody>
      </p:sp>
      <p:sp>
        <p:nvSpPr>
          <p:cNvPr id="18" name="Oval 17"/>
          <p:cNvSpPr/>
          <p:nvPr/>
        </p:nvSpPr>
        <p:spPr>
          <a:xfrm>
            <a:off x="9921240" y="3611880"/>
            <a:ext cx="685800" cy="685800"/>
          </a:xfrm>
          <a:prstGeom prst="ellipse">
            <a:avLst/>
          </a:prstGeom>
          <a:solidFill>
            <a:srgbClr val="002060"/>
          </a:solidFill>
          <a:ln>
            <a:noFill/>
          </a:ln>
          <a:effectLst/>
        </p:spPr>
        <p:txBody>
          <a:bodyPr rtlCol="0" anchor="ctr" lIns="0" rIns="0" tIns="0" bIns="0" wrap="square">
            <a:noAutofit/>
          </a:bodyPr>
          <a:lstStyle/>
          <a:p>
            <a:pPr algn="ctr">
              <a:lnSpc>
                <a:spcPct val="100000"/>
              </a:lnSpc>
              <a:spcAft>
                <a:spcPts val="0"/>
              </a:spcAft>
              <a:buNone/>
            </a:pPr>
            <a:r>
              <a:rPr sz="2600" b="1" i="0">
                <a:solidFill>
                  <a:srgbClr val="FFFFFF"/>
                </a:solidFill>
                <a:latin typeface="Arial"/>
              </a:rPr>
              <a:t>C</a:t>
            </a:r>
          </a:p>
        </p:txBody>
      </p:sp>
      <p:sp>
        <p:nvSpPr>
          <p:cNvPr id="19" name="TextBox 18"/>
          <p:cNvSpPr txBox="1"/>
          <p:nvPr/>
        </p:nvSpPr>
        <p:spPr>
          <a:xfrm>
            <a:off x="10835640" y="3611880"/>
            <a:ext cx="2400300" cy="685800"/>
          </a:xfrm>
          <a:prstGeom prst="rect">
            <a:avLst/>
          </a:prstGeom>
          <a:noFill/>
        </p:spPr>
        <p:txBody>
          <a:bodyPr wrap="square" lIns="0" rIns="0" tIns="0" bIns="0" anchor="ctr">
            <a:noAutofit/>
          </a:bodyPr>
          <a:lstStyle/>
          <a:p>
            <a:pPr algn="l">
              <a:lnSpc>
                <a:spcPct val="100000"/>
              </a:lnSpc>
              <a:spcAft>
                <a:spcPts val="0"/>
              </a:spcAft>
              <a:buNone/>
            </a:pPr>
            <a:r>
              <a:rPr sz="2000" b="1" i="0">
                <a:solidFill>
                  <a:srgbClr val="002060"/>
                </a:solidFill>
                <a:latin typeface="Arial"/>
              </a:rPr>
              <a:t>Comparador</a:t>
            </a:r>
          </a:p>
        </p:txBody>
      </p:sp>
      <p:sp>
        <p:nvSpPr>
          <p:cNvPr id="20" name="TextBox 19"/>
          <p:cNvSpPr txBox="1"/>
          <p:nvPr/>
        </p:nvSpPr>
        <p:spPr>
          <a:xfrm>
            <a:off x="9921240" y="4480560"/>
            <a:ext cx="3314700" cy="914400"/>
          </a:xfrm>
          <a:prstGeom prst="rect">
            <a:avLst/>
          </a:prstGeom>
          <a:noFill/>
        </p:spPr>
        <p:txBody>
          <a:bodyPr wrap="square" lIns="0" rIns="0" tIns="0" bIns="0" anchor="t">
            <a:noAutofit/>
          </a:bodyPr>
          <a:lstStyle/>
          <a:p>
            <a:pPr algn="l">
              <a:lnSpc>
                <a:spcPct val="105000"/>
              </a:lnSpc>
              <a:spcAft>
                <a:spcPts val="0"/>
              </a:spcAft>
              <a:buNone/>
            </a:pPr>
            <a:r>
              <a:rPr sz="1600" b="0" i="0">
                <a:solidFill>
                  <a:srgbClr val="1F2433"/>
                </a:solidFill>
                <a:latin typeface="Arial"/>
              </a:rPr>
              <a:t>Não expostos, pouco expostos ou protegidos (exaustão local, máscaras de alta filtração).</a:t>
            </a:r>
          </a:p>
        </p:txBody>
      </p:sp>
      <p:sp>
        <p:nvSpPr>
          <p:cNvPr id="21" name="Rounded Rectangle 20"/>
          <p:cNvSpPr/>
          <p:nvPr/>
        </p:nvSpPr>
        <p:spPr>
          <a:xfrm>
            <a:off x="13830300" y="3291840"/>
            <a:ext cx="3954780" cy="2423160"/>
          </a:xfrm>
          <a:prstGeom prst="roundRect">
            <a:avLst>
              <a:gd name="adj" fmla="val 6000"/>
            </a:avLst>
          </a:prstGeom>
          <a:solidFill>
            <a:srgbClr val="F2F4F8"/>
          </a:solidFill>
          <a:ln>
            <a:noFill/>
          </a:ln>
          <a:effectLst/>
        </p:spPr>
        <p:txBody>
          <a:bodyPr rtlCol="0" anchor="ctr"/>
          <a:lstStyle/>
          <a:p/>
        </p:txBody>
      </p:sp>
      <p:sp>
        <p:nvSpPr>
          <p:cNvPr id="22" name="Oval 21"/>
          <p:cNvSpPr/>
          <p:nvPr/>
        </p:nvSpPr>
        <p:spPr>
          <a:xfrm>
            <a:off x="14150340" y="3611880"/>
            <a:ext cx="685800" cy="685800"/>
          </a:xfrm>
          <a:prstGeom prst="ellipse">
            <a:avLst/>
          </a:prstGeom>
          <a:solidFill>
            <a:srgbClr val="002060"/>
          </a:solidFill>
          <a:ln>
            <a:noFill/>
          </a:ln>
          <a:effectLst/>
        </p:spPr>
        <p:txBody>
          <a:bodyPr rtlCol="0" anchor="ctr" lIns="0" rIns="0" tIns="0" bIns="0" wrap="square">
            <a:noAutofit/>
          </a:bodyPr>
          <a:lstStyle/>
          <a:p>
            <a:pPr algn="ctr">
              <a:lnSpc>
                <a:spcPct val="100000"/>
              </a:lnSpc>
              <a:spcAft>
                <a:spcPts val="0"/>
              </a:spcAft>
              <a:buNone/>
            </a:pPr>
            <a:r>
              <a:rPr sz="2600" b="1" i="0">
                <a:solidFill>
                  <a:srgbClr val="FFFFFF"/>
                </a:solidFill>
                <a:latin typeface="Arial"/>
              </a:rPr>
              <a:t>O</a:t>
            </a:r>
          </a:p>
        </p:txBody>
      </p:sp>
      <p:sp>
        <p:nvSpPr>
          <p:cNvPr id="23" name="TextBox 22"/>
          <p:cNvSpPr txBox="1"/>
          <p:nvPr/>
        </p:nvSpPr>
        <p:spPr>
          <a:xfrm>
            <a:off x="15064740" y="3611880"/>
            <a:ext cx="2400300" cy="685800"/>
          </a:xfrm>
          <a:prstGeom prst="rect">
            <a:avLst/>
          </a:prstGeom>
          <a:noFill/>
        </p:spPr>
        <p:txBody>
          <a:bodyPr wrap="square" lIns="0" rIns="0" tIns="0" bIns="0" anchor="ctr">
            <a:noAutofit/>
          </a:bodyPr>
          <a:lstStyle/>
          <a:p>
            <a:pPr algn="l">
              <a:lnSpc>
                <a:spcPct val="100000"/>
              </a:lnSpc>
              <a:spcAft>
                <a:spcPts val="0"/>
              </a:spcAft>
              <a:buNone/>
            </a:pPr>
            <a:r>
              <a:rPr sz="2000" b="1" i="0">
                <a:solidFill>
                  <a:srgbClr val="002060"/>
                </a:solidFill>
                <a:latin typeface="Arial"/>
              </a:rPr>
              <a:t>Outcome</a:t>
            </a:r>
            <a:r>
              <a:rPr sz="1700" b="0" i="0">
                <a:solidFill>
                  <a:srgbClr val="002060"/>
                </a:solidFill>
                <a:latin typeface="Arial"/>
              </a:rPr>
              <a:t> (desfecho)</a:t>
            </a:r>
          </a:p>
        </p:txBody>
      </p:sp>
      <p:sp>
        <p:nvSpPr>
          <p:cNvPr id="24" name="TextBox 23"/>
          <p:cNvSpPr txBox="1"/>
          <p:nvPr/>
        </p:nvSpPr>
        <p:spPr>
          <a:xfrm>
            <a:off x="14150340" y="4480560"/>
            <a:ext cx="3314700" cy="914400"/>
          </a:xfrm>
          <a:prstGeom prst="rect">
            <a:avLst/>
          </a:prstGeom>
          <a:noFill/>
        </p:spPr>
        <p:txBody>
          <a:bodyPr wrap="square" lIns="0" rIns="0" tIns="0" bIns="0" anchor="t">
            <a:noAutofit/>
          </a:bodyPr>
          <a:lstStyle/>
          <a:p>
            <a:pPr algn="l">
              <a:lnSpc>
                <a:spcPct val="105000"/>
              </a:lnSpc>
              <a:spcAft>
                <a:spcPts val="0"/>
              </a:spcAft>
              <a:buNone/>
            </a:pPr>
            <a:r>
              <a:rPr sz="1600" b="0" i="0">
                <a:solidFill>
                  <a:srgbClr val="1F2433"/>
                </a:solidFill>
                <a:latin typeface="Arial"/>
              </a:rPr>
              <a:t>Efeitos à saúde relacionados à exposição: sintomas, medidas objetivas e biomarcadores.</a:t>
            </a:r>
          </a:p>
        </p:txBody>
      </p:sp>
      <p:sp>
        <p:nvSpPr>
          <p:cNvPr id="25" name="TextBox 24"/>
          <p:cNvSpPr txBox="1"/>
          <p:nvPr/>
        </p:nvSpPr>
        <p:spPr>
          <a:xfrm>
            <a:off x="1143000" y="5943600"/>
            <a:ext cx="16642080" cy="365760"/>
          </a:xfrm>
          <a:prstGeom prst="rect">
            <a:avLst/>
          </a:prstGeom>
          <a:noFill/>
        </p:spPr>
        <p:txBody>
          <a:bodyPr wrap="square" lIns="0" rIns="0" tIns="0" bIns="0" anchor="t">
            <a:noAutofit/>
          </a:bodyPr>
          <a:lstStyle/>
          <a:p>
            <a:pPr algn="l">
              <a:lnSpc>
                <a:spcPct val="100000"/>
              </a:lnSpc>
              <a:spcAft>
                <a:spcPts val="0"/>
              </a:spcAft>
              <a:buNone/>
            </a:pPr>
            <a:r>
              <a:rPr sz="1800" b="1" i="0">
                <a:solidFill>
                  <a:srgbClr val="002060"/>
                </a:solidFill>
                <a:latin typeface="Arial"/>
              </a:rPr>
              <a:t>Para a prevalência (metanálise de proporções): </a:t>
            </a:r>
            <a:r>
              <a:rPr sz="1800" b="0" i="0">
                <a:solidFill>
                  <a:srgbClr val="5A6270"/>
                </a:solidFill>
                <a:latin typeface="Arial"/>
              </a:rPr>
              <a:t>esquema CoCoPop (Munn et al., 2015)</a:t>
            </a:r>
          </a:p>
        </p:txBody>
      </p:sp>
      <p:sp>
        <p:nvSpPr>
          <p:cNvPr id="26" name="Rounded Rectangle 25"/>
          <p:cNvSpPr/>
          <p:nvPr/>
        </p:nvSpPr>
        <p:spPr>
          <a:xfrm>
            <a:off x="1143000" y="6400800"/>
            <a:ext cx="5364480" cy="1371600"/>
          </a:xfrm>
          <a:prstGeom prst="roundRect">
            <a:avLst>
              <a:gd name="adj" fmla="val 6000"/>
            </a:avLst>
          </a:prstGeom>
          <a:solidFill>
            <a:srgbClr val="E3F3F4"/>
          </a:solidFill>
          <a:ln>
            <a:noFill/>
          </a:ln>
          <a:effectLst/>
        </p:spPr>
        <p:txBody>
          <a:bodyPr rtlCol="0" anchor="ctr"/>
          <a:lstStyle/>
          <a:p/>
        </p:txBody>
      </p:sp>
      <p:sp>
        <p:nvSpPr>
          <p:cNvPr id="27" name="TextBox 26"/>
          <p:cNvSpPr txBox="1"/>
          <p:nvPr/>
        </p:nvSpPr>
        <p:spPr>
          <a:xfrm>
            <a:off x="1463040" y="6647688"/>
            <a:ext cx="4724399" cy="347472"/>
          </a:xfrm>
          <a:prstGeom prst="rect">
            <a:avLst/>
          </a:prstGeom>
          <a:noFill/>
        </p:spPr>
        <p:txBody>
          <a:bodyPr wrap="square" lIns="0" rIns="0" tIns="0" bIns="0" anchor="t">
            <a:noAutofit/>
          </a:bodyPr>
          <a:lstStyle/>
          <a:p>
            <a:pPr algn="l">
              <a:lnSpc>
                <a:spcPct val="100000"/>
              </a:lnSpc>
              <a:spcAft>
                <a:spcPts val="0"/>
              </a:spcAft>
              <a:buNone/>
            </a:pPr>
            <a:r>
              <a:rPr sz="1800" b="1" i="0">
                <a:solidFill>
                  <a:srgbClr val="0E7C86"/>
                </a:solidFill>
                <a:latin typeface="Arial"/>
              </a:rPr>
              <a:t>Condição</a:t>
            </a:r>
          </a:p>
        </p:txBody>
      </p:sp>
      <p:sp>
        <p:nvSpPr>
          <p:cNvPr id="28" name="TextBox 27"/>
          <p:cNvSpPr txBox="1"/>
          <p:nvPr/>
        </p:nvSpPr>
        <p:spPr>
          <a:xfrm>
            <a:off x="1463040" y="7040880"/>
            <a:ext cx="4724399" cy="502920"/>
          </a:xfrm>
          <a:prstGeom prst="rect">
            <a:avLst/>
          </a:prstGeom>
          <a:noFill/>
        </p:spPr>
        <p:txBody>
          <a:bodyPr wrap="square" lIns="0" rIns="0" tIns="0" bIns="0" anchor="t">
            <a:noAutofit/>
          </a:bodyPr>
          <a:lstStyle/>
          <a:p>
            <a:pPr algn="l">
              <a:lnSpc>
                <a:spcPct val="100000"/>
              </a:lnSpc>
              <a:spcAft>
                <a:spcPts val="0"/>
              </a:spcAft>
              <a:buNone/>
            </a:pPr>
            <a:r>
              <a:rPr sz="1600" b="0" i="0">
                <a:solidFill>
                  <a:srgbClr val="1F2433"/>
                </a:solidFill>
                <a:latin typeface="Arial"/>
              </a:rPr>
              <a:t>Sintomas oculares e respiratórios autorrelatados, relacionados à exposição</a:t>
            </a:r>
          </a:p>
        </p:txBody>
      </p:sp>
      <p:sp>
        <p:nvSpPr>
          <p:cNvPr id="29" name="Rounded Rectangle 28"/>
          <p:cNvSpPr/>
          <p:nvPr/>
        </p:nvSpPr>
        <p:spPr>
          <a:xfrm>
            <a:off x="6781799" y="6400800"/>
            <a:ext cx="5364480" cy="1371600"/>
          </a:xfrm>
          <a:prstGeom prst="roundRect">
            <a:avLst>
              <a:gd name="adj" fmla="val 6000"/>
            </a:avLst>
          </a:prstGeom>
          <a:solidFill>
            <a:srgbClr val="E3F3F4"/>
          </a:solidFill>
          <a:ln>
            <a:noFill/>
          </a:ln>
          <a:effectLst/>
        </p:spPr>
        <p:txBody>
          <a:bodyPr rtlCol="0" anchor="ctr"/>
          <a:lstStyle/>
          <a:p/>
        </p:txBody>
      </p:sp>
      <p:sp>
        <p:nvSpPr>
          <p:cNvPr id="30" name="TextBox 29"/>
          <p:cNvSpPr txBox="1"/>
          <p:nvPr/>
        </p:nvSpPr>
        <p:spPr>
          <a:xfrm>
            <a:off x="7101839" y="6647688"/>
            <a:ext cx="4724399" cy="347472"/>
          </a:xfrm>
          <a:prstGeom prst="rect">
            <a:avLst/>
          </a:prstGeom>
          <a:noFill/>
        </p:spPr>
        <p:txBody>
          <a:bodyPr wrap="square" lIns="0" rIns="0" tIns="0" bIns="0" anchor="t">
            <a:noAutofit/>
          </a:bodyPr>
          <a:lstStyle/>
          <a:p>
            <a:pPr algn="l">
              <a:lnSpc>
                <a:spcPct val="100000"/>
              </a:lnSpc>
              <a:spcAft>
                <a:spcPts val="0"/>
              </a:spcAft>
              <a:buNone/>
            </a:pPr>
            <a:r>
              <a:rPr sz="1800" b="1" i="0">
                <a:solidFill>
                  <a:srgbClr val="0E7C86"/>
                </a:solidFill>
                <a:latin typeface="Arial"/>
              </a:rPr>
              <a:t>Contexto</a:t>
            </a:r>
          </a:p>
        </p:txBody>
      </p:sp>
      <p:sp>
        <p:nvSpPr>
          <p:cNvPr id="31" name="TextBox 30"/>
          <p:cNvSpPr txBox="1"/>
          <p:nvPr/>
        </p:nvSpPr>
        <p:spPr>
          <a:xfrm>
            <a:off x="7101839" y="7040880"/>
            <a:ext cx="4724399" cy="502920"/>
          </a:xfrm>
          <a:prstGeom prst="rect">
            <a:avLst/>
          </a:prstGeom>
          <a:noFill/>
        </p:spPr>
        <p:txBody>
          <a:bodyPr wrap="square" lIns="0" rIns="0" tIns="0" bIns="0" anchor="t">
            <a:noAutofit/>
          </a:bodyPr>
          <a:lstStyle/>
          <a:p>
            <a:pPr algn="l">
              <a:lnSpc>
                <a:spcPct val="100000"/>
              </a:lnSpc>
              <a:spcAft>
                <a:spcPts val="0"/>
              </a:spcAft>
              <a:buNone/>
            </a:pPr>
            <a:r>
              <a:rPr sz="1600" b="0" i="0">
                <a:solidFill>
                  <a:srgbClr val="1F2433"/>
                </a:solidFill>
                <a:latin typeface="Arial"/>
              </a:rPr>
              <a:t>Centro cirúrgico com uso de dispositivos de energia</a:t>
            </a:r>
          </a:p>
        </p:txBody>
      </p:sp>
      <p:sp>
        <p:nvSpPr>
          <p:cNvPr id="32" name="Rounded Rectangle 31"/>
          <p:cNvSpPr/>
          <p:nvPr/>
        </p:nvSpPr>
        <p:spPr>
          <a:xfrm>
            <a:off x="12420599" y="6400800"/>
            <a:ext cx="5364480" cy="1371600"/>
          </a:xfrm>
          <a:prstGeom prst="roundRect">
            <a:avLst>
              <a:gd name="adj" fmla="val 6000"/>
            </a:avLst>
          </a:prstGeom>
          <a:solidFill>
            <a:srgbClr val="E3F3F4"/>
          </a:solidFill>
          <a:ln>
            <a:noFill/>
          </a:ln>
          <a:effectLst/>
        </p:spPr>
        <p:txBody>
          <a:bodyPr rtlCol="0" anchor="ctr"/>
          <a:lstStyle/>
          <a:p/>
        </p:txBody>
      </p:sp>
      <p:sp>
        <p:nvSpPr>
          <p:cNvPr id="33" name="TextBox 32"/>
          <p:cNvSpPr txBox="1"/>
          <p:nvPr/>
        </p:nvSpPr>
        <p:spPr>
          <a:xfrm>
            <a:off x="12740639" y="6647688"/>
            <a:ext cx="4724399" cy="347472"/>
          </a:xfrm>
          <a:prstGeom prst="rect">
            <a:avLst/>
          </a:prstGeom>
          <a:noFill/>
        </p:spPr>
        <p:txBody>
          <a:bodyPr wrap="square" lIns="0" rIns="0" tIns="0" bIns="0" anchor="t">
            <a:noAutofit/>
          </a:bodyPr>
          <a:lstStyle/>
          <a:p>
            <a:pPr algn="l">
              <a:lnSpc>
                <a:spcPct val="100000"/>
              </a:lnSpc>
              <a:spcAft>
                <a:spcPts val="0"/>
              </a:spcAft>
              <a:buNone/>
            </a:pPr>
            <a:r>
              <a:rPr sz="1800" b="1" i="0">
                <a:solidFill>
                  <a:srgbClr val="0E7C86"/>
                </a:solidFill>
                <a:latin typeface="Arial"/>
              </a:rPr>
              <a:t>População</a:t>
            </a:r>
          </a:p>
        </p:txBody>
      </p:sp>
      <p:sp>
        <p:nvSpPr>
          <p:cNvPr id="34" name="TextBox 33"/>
          <p:cNvSpPr txBox="1"/>
          <p:nvPr/>
        </p:nvSpPr>
        <p:spPr>
          <a:xfrm>
            <a:off x="12740639" y="7040880"/>
            <a:ext cx="4724399" cy="502920"/>
          </a:xfrm>
          <a:prstGeom prst="rect">
            <a:avLst/>
          </a:prstGeom>
          <a:noFill/>
        </p:spPr>
        <p:txBody>
          <a:bodyPr wrap="square" lIns="0" rIns="0" tIns="0" bIns="0" anchor="t">
            <a:noAutofit/>
          </a:bodyPr>
          <a:lstStyle/>
          <a:p>
            <a:pPr algn="l">
              <a:lnSpc>
                <a:spcPct val="100000"/>
              </a:lnSpc>
              <a:spcAft>
                <a:spcPts val="0"/>
              </a:spcAft>
              <a:buNone/>
            </a:pPr>
            <a:r>
              <a:rPr sz="1600" b="0" i="0">
                <a:solidFill>
                  <a:srgbClr val="1F2433"/>
                </a:solidFill>
                <a:latin typeface="Arial"/>
              </a:rPr>
              <a:t>Equipe de centro cirúrgico</a:t>
            </a:r>
          </a:p>
        </p:txBody>
      </p:sp>
      <p:sp>
        <p:nvSpPr>
          <p:cNvPr id="35" name="Rounded Rectangle 34"/>
          <p:cNvSpPr/>
          <p:nvPr/>
        </p:nvSpPr>
        <p:spPr>
          <a:xfrm>
            <a:off x="1143000" y="8046720"/>
            <a:ext cx="10241280" cy="1691639"/>
          </a:xfrm>
          <a:prstGeom prst="roundRect">
            <a:avLst>
              <a:gd name="adj" fmla="val 6000"/>
            </a:avLst>
          </a:prstGeom>
          <a:solidFill>
            <a:srgbClr val="FBF5E3"/>
          </a:solidFill>
          <a:ln>
            <a:noFill/>
          </a:ln>
          <a:effectLst/>
        </p:spPr>
        <p:txBody>
          <a:bodyPr rtlCol="0" anchor="ctr"/>
          <a:lstStyle/>
          <a:p/>
        </p:txBody>
      </p:sp>
      <p:sp>
        <p:nvSpPr>
          <p:cNvPr id="36" name="TextBox 35"/>
          <p:cNvSpPr txBox="1"/>
          <p:nvPr/>
        </p:nvSpPr>
        <p:spPr>
          <a:xfrm>
            <a:off x="1463040" y="8302752"/>
            <a:ext cx="9601200" cy="1234439"/>
          </a:xfrm>
          <a:prstGeom prst="rect">
            <a:avLst/>
          </a:prstGeom>
          <a:noFill/>
        </p:spPr>
        <p:txBody>
          <a:bodyPr wrap="square" lIns="0" rIns="0" tIns="0" bIns="0" anchor="t">
            <a:noAutofit/>
          </a:bodyPr>
          <a:lstStyle/>
          <a:p>
            <a:pPr algn="l">
              <a:lnSpc>
                <a:spcPct val="100000"/>
              </a:lnSpc>
              <a:spcAft>
                <a:spcPts val="400"/>
              </a:spcAft>
              <a:buNone/>
            </a:pPr>
            <a:r>
              <a:rPr sz="1700" b="1" i="0">
                <a:solidFill>
                  <a:srgbClr val="002060"/>
                </a:solidFill>
                <a:latin typeface="Arial"/>
              </a:rPr>
              <a:t>Objetivos específicos</a:t>
            </a:r>
          </a:p>
          <a:p>
            <a:pPr algn="l" marL="274320" indent="-274320">
              <a:lnSpc>
                <a:spcPct val="100000"/>
              </a:lnSpc>
              <a:spcAft>
                <a:spcPts val="300"/>
              </a:spcAft>
              <a:buFont typeface="Arial"/>
              <a:buChar char="1."/>
            </a:pPr>
            <a:r>
              <a:rPr sz="1600" b="0" i="0">
                <a:solidFill>
                  <a:srgbClr val="1F2433"/>
                </a:solidFill>
                <a:latin typeface="Arial"/>
              </a:rPr>
              <a:t>Metanálise da prevalência de sintoma </a:t>
            </a:r>
            <a:r>
              <a:rPr sz="1600" b="1" i="0">
                <a:solidFill>
                  <a:srgbClr val="1F2433"/>
                </a:solidFill>
                <a:latin typeface="Arial"/>
              </a:rPr>
              <a:t>ocular (principal)</a:t>
            </a:r>
            <a:r>
              <a:rPr sz="1600" b="0" i="0">
                <a:solidFill>
                  <a:srgbClr val="1F2433"/>
                </a:solidFill>
                <a:latin typeface="Arial"/>
              </a:rPr>
              <a:t> e respiratório (exploratório);</a:t>
            </a:r>
          </a:p>
          <a:p>
            <a:pPr algn="l" marL="274320" indent="-274320">
              <a:lnSpc>
                <a:spcPct val="100000"/>
              </a:lnSpc>
              <a:spcAft>
                <a:spcPts val="300"/>
              </a:spcAft>
              <a:buFont typeface="Arial"/>
              <a:buChar char="2."/>
            </a:pPr>
            <a:r>
              <a:rPr sz="1600" b="0" i="0">
                <a:solidFill>
                  <a:srgbClr val="1F2433"/>
                </a:solidFill>
                <a:latin typeface="Arial"/>
              </a:rPr>
              <a:t>Síntese narrativa dos </a:t>
            </a:r>
            <a:r>
              <a:rPr sz="1600" b="1" i="0">
                <a:solidFill>
                  <a:srgbClr val="1F2433"/>
                </a:solidFill>
                <a:latin typeface="Arial"/>
              </a:rPr>
              <a:t>desfechos objetivos e biomarcadores</a:t>
            </a:r>
            <a:r>
              <a:rPr sz="1600" b="0" i="0">
                <a:solidFill>
                  <a:srgbClr val="1F2433"/>
                </a:solidFill>
                <a:latin typeface="Arial"/>
              </a:rPr>
              <a:t>;</a:t>
            </a:r>
          </a:p>
          <a:p>
            <a:pPr algn="l" marL="274320" indent="-274320">
              <a:lnSpc>
                <a:spcPct val="100000"/>
              </a:lnSpc>
              <a:spcAft>
                <a:spcPts val="300"/>
              </a:spcAft>
              <a:buFont typeface="Arial"/>
              <a:buChar char="3."/>
            </a:pPr>
            <a:r>
              <a:rPr sz="1600" b="0" i="0">
                <a:solidFill>
                  <a:srgbClr val="1F2433"/>
                </a:solidFill>
                <a:latin typeface="Arial"/>
              </a:rPr>
              <a:t>Certeza da evidência por desfecho (</a:t>
            </a:r>
            <a:r>
              <a:rPr sz="1600" b="1" i="0">
                <a:solidFill>
                  <a:srgbClr val="1F2433"/>
                </a:solidFill>
                <a:latin typeface="Arial"/>
              </a:rPr>
              <a:t>GRADE</a:t>
            </a:r>
            <a:r>
              <a:rPr sz="1600" b="0" i="0">
                <a:solidFill>
                  <a:srgbClr val="1F2433"/>
                </a:solidFill>
                <a:latin typeface="Arial"/>
              </a:rPr>
              <a:t>).</a:t>
            </a:r>
          </a:p>
        </p:txBody>
      </p:sp>
      <p:sp>
        <p:nvSpPr>
          <p:cNvPr id="37" name="Rounded Rectangle 36"/>
          <p:cNvSpPr/>
          <p:nvPr/>
        </p:nvSpPr>
        <p:spPr>
          <a:xfrm>
            <a:off x="11658600" y="8046720"/>
            <a:ext cx="6126480" cy="1691639"/>
          </a:xfrm>
          <a:prstGeom prst="roundRect">
            <a:avLst>
              <a:gd name="adj" fmla="val 6000"/>
            </a:avLst>
          </a:prstGeom>
          <a:solidFill>
            <a:srgbClr val="F9E9E9"/>
          </a:solidFill>
          <a:ln>
            <a:noFill/>
          </a:ln>
          <a:effectLst/>
        </p:spPr>
        <p:txBody>
          <a:bodyPr rtlCol="0" anchor="ctr"/>
          <a:lstStyle/>
          <a:p/>
        </p:txBody>
      </p:sp>
      <p:pic>
        <p:nvPicPr>
          <p:cNvPr id="38" name="icone warning" descr="warning_red.png"/>
          <p:cNvPicPr>
            <a:picLocks noChangeAspect="1"/>
          </p:cNvPicPr>
          <p:nvPr/>
        </p:nvPicPr>
        <p:blipFill>
          <a:blip r:embed="rId4"/>
          <a:stretch>
            <a:fillRect/>
          </a:stretch>
        </p:blipFill>
        <p:spPr>
          <a:xfrm>
            <a:off x="11978640" y="8641080"/>
            <a:ext cx="502920" cy="502920"/>
          </a:xfrm>
          <a:prstGeom prst="rect">
            <a:avLst/>
          </a:prstGeom>
        </p:spPr>
      </p:pic>
      <p:sp>
        <p:nvSpPr>
          <p:cNvPr id="39" name="TextBox 38"/>
          <p:cNvSpPr txBox="1"/>
          <p:nvPr/>
        </p:nvSpPr>
        <p:spPr>
          <a:xfrm>
            <a:off x="12710160" y="8275320"/>
            <a:ext cx="4754880" cy="1234439"/>
          </a:xfrm>
          <a:prstGeom prst="rect">
            <a:avLst/>
          </a:prstGeom>
          <a:noFill/>
        </p:spPr>
        <p:txBody>
          <a:bodyPr wrap="square" lIns="0" rIns="0" tIns="0" bIns="0" anchor="ctr">
            <a:noAutofit/>
          </a:bodyPr>
          <a:lstStyle/>
          <a:p>
            <a:pPr algn="l">
              <a:lnSpc>
                <a:spcPct val="100000"/>
              </a:lnSpc>
              <a:spcAft>
                <a:spcPts val="0"/>
              </a:spcAft>
              <a:buNone/>
            </a:pPr>
            <a:r>
              <a:rPr sz="1600" b="1" i="0">
                <a:solidFill>
                  <a:srgbClr val="8B0000"/>
                </a:solidFill>
                <a:latin typeface="Arial"/>
              </a:rPr>
              <a:t>Atenção: </a:t>
            </a:r>
            <a:r>
              <a:rPr sz="1600" b="0" i="0">
                <a:solidFill>
                  <a:srgbClr val="1F2433"/>
                </a:solidFill>
                <a:latin typeface="Arial"/>
              </a:rPr>
              <a:t>a metanálise de proporções </a:t>
            </a:r>
            <a:r>
              <a:rPr sz="1600" b="1" i="0">
                <a:solidFill>
                  <a:srgbClr val="1F2433"/>
                </a:solidFill>
                <a:highlight>
                  <a:srgbClr val="FFEB99"/>
                </a:highlight>
                <a:latin typeface="Arial"/>
              </a:rPr>
              <a:t>estima a frequência de sintomas em expostos</a:t>
            </a:r>
            <a:r>
              <a:rPr sz="1600" b="0" i="0">
                <a:solidFill>
                  <a:srgbClr val="1F2433"/>
                </a:solidFill>
                <a:latin typeface="Arial"/>
              </a:rPr>
              <a:t>, não o efeito causal da fumaça; a causalidade depende dos estudos comparativos.</a:t>
            </a:r>
          </a:p>
        </p:txBody>
      </p:sp>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lano de fundo do modelo" descr="tpl_bg.png"/>
          <p:cNvPicPr>
            <a:picLocks noChangeAspect="1"/>
          </p:cNvPicPr>
          <p:nvPr/>
        </p:nvPicPr>
        <p:blipFill>
          <a:blip r:embed="rId2"/>
          <a:stretch>
            <a:fillRect/>
          </a:stretch>
        </p:blipFill>
        <p:spPr>
          <a:xfrm>
            <a:off x="20" y="1923"/>
            <a:ext cx="18287980" cy="10285077"/>
          </a:xfrm>
          <a:prstGeom prst="rect">
            <a:avLst/>
          </a:prstGeom>
        </p:spPr>
      </p:pic>
      <p:sp>
        <p:nvSpPr>
          <p:cNvPr id="3" name="Retângulo branco (modelo)"/>
          <p:cNvSpPr/>
          <p:nvPr/>
        </p:nvSpPr>
        <p:spPr>
          <a:xfrm>
            <a:off x="15888345" y="279974"/>
            <a:ext cx="2362200" cy="863025"/>
          </a:xfrm>
          <a:prstGeom prst="rect">
            <a:avLst/>
          </a:prstGeom>
          <a:solidFill>
            <a:srgbClr val="FFFFFF"/>
          </a:solidFill>
          <a:ln>
            <a:noFill/>
          </a:ln>
        </p:spPr>
        <p:txBody>
          <a:bodyPr rtlCol="0" anchor="ctr"/>
          <a:lstStyle/>
          <a:p>
            <a:pPr algn="ctr"/>
          </a:p>
        </p:txBody>
      </p:sp>
      <p:pic>
        <p:nvPicPr>
          <p:cNvPr id="4" name="Logo SEMICA" descr="image.png"/>
          <p:cNvPicPr>
            <a:picLocks noChangeAspect="1"/>
          </p:cNvPicPr>
          <p:nvPr/>
        </p:nvPicPr>
        <p:blipFill>
          <a:blip r:embed="rId3"/>
          <a:stretch>
            <a:fillRect/>
          </a:stretch>
        </p:blipFill>
        <p:spPr>
          <a:xfrm>
            <a:off x="15544800" y="279974"/>
            <a:ext cx="2512314" cy="1234862"/>
          </a:xfrm>
          <a:prstGeom prst="rect">
            <a:avLst/>
          </a:prstGeom>
        </p:spPr>
      </p:pic>
      <p:sp>
        <p:nvSpPr>
          <p:cNvPr id="5" name="Título da seção"/>
          <p:cNvSpPr txBox="1"/>
          <p:nvPr/>
        </p:nvSpPr>
        <p:spPr>
          <a:xfrm>
            <a:off x="1143000" y="558224"/>
            <a:ext cx="10058400" cy="584775"/>
          </a:xfrm>
          <a:prstGeom prst="rect">
            <a:avLst/>
          </a:prstGeom>
          <a:noFill/>
        </p:spPr>
        <p:txBody>
          <a:bodyPr wrap="square">
            <a:noAutofit/>
          </a:bodyPr>
          <a:lstStyle/>
          <a:p>
            <a:pPr algn="l">
              <a:lnSpc>
                <a:spcPct val="100000"/>
              </a:lnSpc>
              <a:spcAft>
                <a:spcPts val="0"/>
              </a:spcAft>
              <a:buNone/>
            </a:pPr>
            <a:r>
              <a:rPr sz="3200" b="0" i="0">
                <a:solidFill>
                  <a:srgbClr val="000000"/>
                </a:solidFill>
                <a:latin typeface="Arial"/>
              </a:rPr>
              <a:t>METODOLOGIA</a:t>
            </a:r>
          </a:p>
        </p:txBody>
      </p:sp>
      <p:sp>
        <p:nvSpPr>
          <p:cNvPr id="6" name="Subtítulo"/>
          <p:cNvSpPr txBox="1"/>
          <p:nvPr/>
        </p:nvSpPr>
        <p:spPr>
          <a:xfrm>
            <a:off x="1143000" y="1097280"/>
            <a:ext cx="14173200" cy="502920"/>
          </a:xfrm>
          <a:prstGeom prst="rect">
            <a:avLst/>
          </a:prstGeom>
          <a:noFill/>
        </p:spPr>
        <p:txBody>
          <a:bodyPr wrap="square" lIns="0" rIns="0" tIns="0" bIns="0" anchor="t">
            <a:noAutofit/>
          </a:bodyPr>
          <a:lstStyle/>
          <a:p>
            <a:pPr algn="l">
              <a:lnSpc>
                <a:spcPct val="100000"/>
              </a:lnSpc>
              <a:spcAft>
                <a:spcPts val="0"/>
              </a:spcAft>
              <a:buNone/>
            </a:pPr>
            <a:r>
              <a:rPr sz="2400" b="1" i="0">
                <a:solidFill>
                  <a:srgbClr val="002060"/>
                </a:solidFill>
                <a:latin typeface="Arial"/>
              </a:rPr>
              <a:t>Mapa da revisão: 7 passos, do protocolo à certeza da evidência (PRISMA 2020)</a:t>
            </a:r>
          </a:p>
        </p:txBody>
      </p:sp>
      <p:cxnSp>
        <p:nvCxnSpPr>
          <p:cNvPr id="7" name="Connector 6"/>
          <p:cNvCxnSpPr/>
          <p:nvPr/>
        </p:nvCxnSpPr>
        <p:spPr>
          <a:xfrm>
            <a:off x="2272937" y="2240280"/>
            <a:ext cx="14382205" cy="0"/>
          </a:xfrm>
          <a:prstGeom prst="line">
            <a:avLst/>
          </a:prstGeom>
          <a:ln w="50800">
            <a:solidFill>
              <a:srgbClr val="C9CFDA"/>
            </a:solidFill>
          </a:ln>
        </p:spPr>
      </p:cxnSp>
      <p:sp>
        <p:nvSpPr>
          <p:cNvPr id="8" name="Oval 7"/>
          <p:cNvSpPr/>
          <p:nvPr/>
        </p:nvSpPr>
        <p:spPr>
          <a:xfrm>
            <a:off x="1838597" y="1805940"/>
            <a:ext cx="868680" cy="868680"/>
          </a:xfrm>
          <a:prstGeom prst="ellipse">
            <a:avLst/>
          </a:prstGeom>
          <a:solidFill>
            <a:srgbClr val="002060"/>
          </a:solidFill>
          <a:ln>
            <a:noFill/>
          </a:ln>
          <a:effectLst/>
        </p:spPr>
        <p:txBody>
          <a:bodyPr rtlCol="0" anchor="ctr" lIns="0" rIns="0" tIns="0" bIns="0" wrap="square">
            <a:noAutofit/>
          </a:bodyPr>
          <a:lstStyle/>
          <a:p>
            <a:pPr algn="ctr">
              <a:lnSpc>
                <a:spcPct val="100000"/>
              </a:lnSpc>
              <a:spcAft>
                <a:spcPts val="0"/>
              </a:spcAft>
              <a:buNone/>
            </a:pPr>
            <a:r>
              <a:rPr sz="2800" b="1" i="0">
                <a:solidFill>
                  <a:srgbClr val="FFFFFF"/>
                </a:solidFill>
                <a:latin typeface="Arial"/>
              </a:rPr>
              <a:t>1</a:t>
            </a:r>
          </a:p>
        </p:txBody>
      </p:sp>
      <p:sp>
        <p:nvSpPr>
          <p:cNvPr id="9" name="TextBox 8"/>
          <p:cNvSpPr txBox="1"/>
          <p:nvPr/>
        </p:nvSpPr>
        <p:spPr>
          <a:xfrm>
            <a:off x="1143000" y="2816352"/>
            <a:ext cx="2259874" cy="640080"/>
          </a:xfrm>
          <a:prstGeom prst="rect">
            <a:avLst/>
          </a:prstGeom>
          <a:noFill/>
        </p:spPr>
        <p:txBody>
          <a:bodyPr wrap="square" lIns="0" rIns="0" tIns="0" bIns="0" anchor="t">
            <a:noAutofit/>
          </a:bodyPr>
          <a:lstStyle/>
          <a:p>
            <a:pPr algn="ctr">
              <a:lnSpc>
                <a:spcPct val="100000"/>
              </a:lnSpc>
              <a:spcAft>
                <a:spcPts val="0"/>
              </a:spcAft>
              <a:buNone/>
            </a:pPr>
            <a:r>
              <a:rPr sz="1900" b="1" i="0">
                <a:solidFill>
                  <a:srgbClr val="002060"/>
                </a:solidFill>
                <a:latin typeface="Arial"/>
              </a:rPr>
              <a:t>Protocolo</a:t>
            </a:r>
          </a:p>
        </p:txBody>
      </p:sp>
      <p:sp>
        <p:nvSpPr>
          <p:cNvPr id="10" name="Rounded Rectangle 9"/>
          <p:cNvSpPr/>
          <p:nvPr/>
        </p:nvSpPr>
        <p:spPr>
          <a:xfrm>
            <a:off x="1143000" y="3520440"/>
            <a:ext cx="2259874" cy="2788920"/>
          </a:xfrm>
          <a:prstGeom prst="roundRect">
            <a:avLst>
              <a:gd name="adj" fmla="val 6000"/>
            </a:avLst>
          </a:prstGeom>
          <a:solidFill>
            <a:srgbClr val="F2F4F8"/>
          </a:solidFill>
          <a:ln>
            <a:noFill/>
          </a:ln>
          <a:effectLst/>
        </p:spPr>
        <p:txBody>
          <a:bodyPr rtlCol="0" anchor="ctr"/>
          <a:lstStyle/>
          <a:p/>
        </p:txBody>
      </p:sp>
      <p:sp>
        <p:nvSpPr>
          <p:cNvPr id="11" name="TextBox 10"/>
          <p:cNvSpPr txBox="1"/>
          <p:nvPr/>
        </p:nvSpPr>
        <p:spPr>
          <a:xfrm>
            <a:off x="1344168" y="3749039"/>
            <a:ext cx="1857538" cy="2331720"/>
          </a:xfrm>
          <a:prstGeom prst="rect">
            <a:avLst/>
          </a:prstGeom>
          <a:noFill/>
        </p:spPr>
        <p:txBody>
          <a:bodyPr wrap="square" lIns="0" rIns="0" tIns="0" bIns="0" anchor="t">
            <a:noAutofit/>
          </a:bodyPr>
          <a:lstStyle/>
          <a:p>
            <a:pPr algn="l">
              <a:lnSpc>
                <a:spcPct val="100000"/>
              </a:lnSpc>
              <a:spcAft>
                <a:spcPts val="1000"/>
              </a:spcAft>
              <a:buNone/>
            </a:pPr>
            <a:r>
              <a:rPr sz="1600" b="0" i="0">
                <a:solidFill>
                  <a:srgbClr val="1F2433"/>
                </a:solidFill>
                <a:latin typeface="Arial"/>
              </a:rPr>
              <a:t>PECO e CoCoPop</a:t>
            </a:r>
          </a:p>
          <a:p>
            <a:pPr algn="l">
              <a:lnSpc>
                <a:spcPct val="100000"/>
              </a:lnSpc>
              <a:spcAft>
                <a:spcPts val="1000"/>
              </a:spcAft>
              <a:buNone/>
            </a:pPr>
            <a:r>
              <a:rPr sz="1600" b="0" i="0">
                <a:solidFill>
                  <a:srgbClr val="1F2433"/>
                </a:solidFill>
                <a:latin typeface="Arial"/>
              </a:rPr>
              <a:t>PRISMA 2020 e Diretrizes do MS</a:t>
            </a:r>
          </a:p>
          <a:p>
            <a:pPr algn="l">
              <a:lnSpc>
                <a:spcPct val="100000"/>
              </a:lnSpc>
              <a:spcAft>
                <a:spcPts val="1000"/>
              </a:spcAft>
              <a:buNone/>
            </a:pPr>
            <a:r>
              <a:rPr sz="1600" b="0" i="0">
                <a:solidFill>
                  <a:srgbClr val="1F2433"/>
                </a:solidFill>
                <a:latin typeface="Arial"/>
              </a:rPr>
              <a:t>PROSPERO CRD420251238727</a:t>
            </a:r>
          </a:p>
          <a:p>
            <a:pPr algn="l">
              <a:lnSpc>
                <a:spcPct val="100000"/>
              </a:lnSpc>
              <a:spcAft>
                <a:spcPts val="1000"/>
              </a:spcAft>
              <a:buNone/>
            </a:pPr>
            <a:r>
              <a:rPr sz="1600" b="0" i="0">
                <a:solidFill>
                  <a:srgbClr val="1F2433"/>
                </a:solidFill>
                <a:latin typeface="Arial"/>
              </a:rPr>
              <a:t>Dispensa do CEP 2025/0743</a:t>
            </a:r>
          </a:p>
        </p:txBody>
      </p:sp>
      <p:sp>
        <p:nvSpPr>
          <p:cNvPr id="12" name="Oval 11"/>
          <p:cNvSpPr/>
          <p:nvPr/>
        </p:nvSpPr>
        <p:spPr>
          <a:xfrm>
            <a:off x="4235631" y="1805940"/>
            <a:ext cx="868680" cy="868680"/>
          </a:xfrm>
          <a:prstGeom prst="ellipse">
            <a:avLst/>
          </a:prstGeom>
          <a:solidFill>
            <a:srgbClr val="002060"/>
          </a:solidFill>
          <a:ln>
            <a:noFill/>
          </a:ln>
          <a:effectLst/>
        </p:spPr>
        <p:txBody>
          <a:bodyPr rtlCol="0" anchor="ctr" lIns="0" rIns="0" tIns="0" bIns="0" wrap="square">
            <a:noAutofit/>
          </a:bodyPr>
          <a:lstStyle/>
          <a:p>
            <a:pPr algn="ctr">
              <a:lnSpc>
                <a:spcPct val="100000"/>
              </a:lnSpc>
              <a:spcAft>
                <a:spcPts val="0"/>
              </a:spcAft>
              <a:buNone/>
            </a:pPr>
            <a:r>
              <a:rPr sz="2800" b="1" i="0">
                <a:solidFill>
                  <a:srgbClr val="FFFFFF"/>
                </a:solidFill>
                <a:latin typeface="Arial"/>
              </a:rPr>
              <a:t>2</a:t>
            </a:r>
          </a:p>
        </p:txBody>
      </p:sp>
      <p:sp>
        <p:nvSpPr>
          <p:cNvPr id="13" name="TextBox 12"/>
          <p:cNvSpPr txBox="1"/>
          <p:nvPr/>
        </p:nvSpPr>
        <p:spPr>
          <a:xfrm>
            <a:off x="3540034" y="2816352"/>
            <a:ext cx="2259874" cy="640080"/>
          </a:xfrm>
          <a:prstGeom prst="rect">
            <a:avLst/>
          </a:prstGeom>
          <a:noFill/>
        </p:spPr>
        <p:txBody>
          <a:bodyPr wrap="square" lIns="0" rIns="0" tIns="0" bIns="0" anchor="t">
            <a:noAutofit/>
          </a:bodyPr>
          <a:lstStyle/>
          <a:p>
            <a:pPr algn="ctr">
              <a:lnSpc>
                <a:spcPct val="100000"/>
              </a:lnSpc>
              <a:spcAft>
                <a:spcPts val="0"/>
              </a:spcAft>
              <a:buNone/>
            </a:pPr>
            <a:r>
              <a:rPr sz="1900" b="1" i="0">
                <a:solidFill>
                  <a:srgbClr val="002060"/>
                </a:solidFill>
                <a:latin typeface="Arial"/>
              </a:rPr>
              <a:t>Busca</a:t>
            </a:r>
          </a:p>
        </p:txBody>
      </p:sp>
      <p:sp>
        <p:nvSpPr>
          <p:cNvPr id="14" name="Rounded Rectangle 13"/>
          <p:cNvSpPr/>
          <p:nvPr/>
        </p:nvSpPr>
        <p:spPr>
          <a:xfrm>
            <a:off x="3540034" y="3520440"/>
            <a:ext cx="2259874" cy="2788920"/>
          </a:xfrm>
          <a:prstGeom prst="roundRect">
            <a:avLst>
              <a:gd name="adj" fmla="val 6000"/>
            </a:avLst>
          </a:prstGeom>
          <a:solidFill>
            <a:srgbClr val="F2F4F8"/>
          </a:solidFill>
          <a:ln>
            <a:noFill/>
          </a:ln>
          <a:effectLst/>
        </p:spPr>
        <p:txBody>
          <a:bodyPr rtlCol="0" anchor="ctr"/>
          <a:lstStyle/>
          <a:p/>
        </p:txBody>
      </p:sp>
      <p:sp>
        <p:nvSpPr>
          <p:cNvPr id="15" name="TextBox 14"/>
          <p:cNvSpPr txBox="1"/>
          <p:nvPr/>
        </p:nvSpPr>
        <p:spPr>
          <a:xfrm>
            <a:off x="3741202" y="3749039"/>
            <a:ext cx="1857538" cy="2331720"/>
          </a:xfrm>
          <a:prstGeom prst="rect">
            <a:avLst/>
          </a:prstGeom>
          <a:noFill/>
        </p:spPr>
        <p:txBody>
          <a:bodyPr wrap="square" lIns="0" rIns="0" tIns="0" bIns="0" anchor="t">
            <a:noAutofit/>
          </a:bodyPr>
          <a:lstStyle/>
          <a:p>
            <a:pPr algn="l">
              <a:lnSpc>
                <a:spcPct val="100000"/>
              </a:lnSpc>
              <a:spcAft>
                <a:spcPts val="1000"/>
              </a:spcAft>
              <a:buNone/>
            </a:pPr>
            <a:r>
              <a:rPr sz="1600" b="0" i="0">
                <a:solidFill>
                  <a:srgbClr val="1F2433"/>
                </a:solidFill>
                <a:latin typeface="Arial"/>
              </a:rPr>
              <a:t>7 bases + literatura cinzenta</a:t>
            </a:r>
          </a:p>
          <a:p>
            <a:pPr algn="l">
              <a:lnSpc>
                <a:spcPct val="100000"/>
              </a:lnSpc>
              <a:spcAft>
                <a:spcPts val="1000"/>
              </a:spcAft>
              <a:buNone/>
            </a:pPr>
            <a:r>
              <a:rPr sz="1600" b="0" i="0">
                <a:solidFill>
                  <a:srgbClr val="1F2433"/>
                </a:solidFill>
                <a:latin typeface="Arial"/>
              </a:rPr>
              <a:t>Busca por citação (OpenAlex)</a:t>
            </a:r>
          </a:p>
          <a:p>
            <a:pPr algn="l">
              <a:lnSpc>
                <a:spcPct val="100000"/>
              </a:lnSpc>
              <a:spcAft>
                <a:spcPts val="1000"/>
              </a:spcAft>
              <a:buNone/>
            </a:pPr>
            <a:r>
              <a:rPr sz="1600" b="0" i="0">
                <a:solidFill>
                  <a:srgbClr val="1F2433"/>
                </a:solidFill>
                <a:latin typeface="Arial"/>
              </a:rPr>
              <a:t>Sem filtro de idioma ou data</a:t>
            </a:r>
          </a:p>
          <a:p>
            <a:pPr algn="l">
              <a:lnSpc>
                <a:spcPct val="100000"/>
              </a:lnSpc>
              <a:spcAft>
                <a:spcPts val="1000"/>
              </a:spcAft>
              <a:buNone/>
            </a:pPr>
            <a:r>
              <a:rPr sz="1600" b="0" i="0">
                <a:solidFill>
                  <a:srgbClr val="1F2433"/>
                </a:solidFill>
                <a:latin typeface="Arial"/>
              </a:rPr>
              <a:t>Última busca: 09/07/2026</a:t>
            </a:r>
          </a:p>
        </p:txBody>
      </p:sp>
      <p:sp>
        <p:nvSpPr>
          <p:cNvPr id="16" name="Oval 15"/>
          <p:cNvSpPr/>
          <p:nvPr/>
        </p:nvSpPr>
        <p:spPr>
          <a:xfrm>
            <a:off x="6632665" y="1805940"/>
            <a:ext cx="868680" cy="868680"/>
          </a:xfrm>
          <a:prstGeom prst="ellipse">
            <a:avLst/>
          </a:prstGeom>
          <a:solidFill>
            <a:srgbClr val="002060"/>
          </a:solidFill>
          <a:ln>
            <a:noFill/>
          </a:ln>
          <a:effectLst/>
        </p:spPr>
        <p:txBody>
          <a:bodyPr rtlCol="0" anchor="ctr" lIns="0" rIns="0" tIns="0" bIns="0" wrap="square">
            <a:noAutofit/>
          </a:bodyPr>
          <a:lstStyle/>
          <a:p>
            <a:pPr algn="ctr">
              <a:lnSpc>
                <a:spcPct val="100000"/>
              </a:lnSpc>
              <a:spcAft>
                <a:spcPts val="0"/>
              </a:spcAft>
              <a:buNone/>
            </a:pPr>
            <a:r>
              <a:rPr sz="2800" b="1" i="0">
                <a:solidFill>
                  <a:srgbClr val="FFFFFF"/>
                </a:solidFill>
                <a:latin typeface="Arial"/>
              </a:rPr>
              <a:t>3</a:t>
            </a:r>
          </a:p>
        </p:txBody>
      </p:sp>
      <p:sp>
        <p:nvSpPr>
          <p:cNvPr id="17" name="TextBox 16"/>
          <p:cNvSpPr txBox="1"/>
          <p:nvPr/>
        </p:nvSpPr>
        <p:spPr>
          <a:xfrm>
            <a:off x="5937068" y="2816352"/>
            <a:ext cx="2259874" cy="640080"/>
          </a:xfrm>
          <a:prstGeom prst="rect">
            <a:avLst/>
          </a:prstGeom>
          <a:noFill/>
        </p:spPr>
        <p:txBody>
          <a:bodyPr wrap="square" lIns="0" rIns="0" tIns="0" bIns="0" anchor="t">
            <a:noAutofit/>
          </a:bodyPr>
          <a:lstStyle/>
          <a:p>
            <a:pPr algn="ctr">
              <a:lnSpc>
                <a:spcPct val="100000"/>
              </a:lnSpc>
              <a:spcAft>
                <a:spcPts val="0"/>
              </a:spcAft>
              <a:buNone/>
            </a:pPr>
            <a:r>
              <a:rPr sz="1900" b="1" i="0">
                <a:solidFill>
                  <a:srgbClr val="002060"/>
                </a:solidFill>
                <a:latin typeface="Arial"/>
              </a:rPr>
              <a:t>Seleção</a:t>
            </a:r>
          </a:p>
        </p:txBody>
      </p:sp>
      <p:sp>
        <p:nvSpPr>
          <p:cNvPr id="18" name="Rounded Rectangle 17"/>
          <p:cNvSpPr/>
          <p:nvPr/>
        </p:nvSpPr>
        <p:spPr>
          <a:xfrm>
            <a:off x="5937068" y="3520440"/>
            <a:ext cx="2259874" cy="2788920"/>
          </a:xfrm>
          <a:prstGeom prst="roundRect">
            <a:avLst>
              <a:gd name="adj" fmla="val 6000"/>
            </a:avLst>
          </a:prstGeom>
          <a:solidFill>
            <a:srgbClr val="F2F4F8"/>
          </a:solidFill>
          <a:ln>
            <a:noFill/>
          </a:ln>
          <a:effectLst/>
        </p:spPr>
        <p:txBody>
          <a:bodyPr rtlCol="0" anchor="ctr"/>
          <a:lstStyle/>
          <a:p/>
        </p:txBody>
      </p:sp>
      <p:sp>
        <p:nvSpPr>
          <p:cNvPr id="19" name="TextBox 18"/>
          <p:cNvSpPr txBox="1"/>
          <p:nvPr/>
        </p:nvSpPr>
        <p:spPr>
          <a:xfrm>
            <a:off x="6138236" y="3749039"/>
            <a:ext cx="1857538" cy="2331720"/>
          </a:xfrm>
          <a:prstGeom prst="rect">
            <a:avLst/>
          </a:prstGeom>
          <a:noFill/>
        </p:spPr>
        <p:txBody>
          <a:bodyPr wrap="square" lIns="0" rIns="0" tIns="0" bIns="0" anchor="t">
            <a:noAutofit/>
          </a:bodyPr>
          <a:lstStyle/>
          <a:p>
            <a:pPr algn="l">
              <a:lnSpc>
                <a:spcPct val="100000"/>
              </a:lnSpc>
              <a:spcAft>
                <a:spcPts val="1000"/>
              </a:spcAft>
              <a:buNone/>
            </a:pPr>
            <a:r>
              <a:rPr sz="1600" b="0" i="0">
                <a:solidFill>
                  <a:srgbClr val="1F2433"/>
                </a:solidFill>
                <a:latin typeface="Arial"/>
              </a:rPr>
              <a:t>Zotero → Rayyan</a:t>
            </a:r>
          </a:p>
          <a:p>
            <a:pPr algn="l">
              <a:lnSpc>
                <a:spcPct val="100000"/>
              </a:lnSpc>
              <a:spcAft>
                <a:spcPts val="1000"/>
              </a:spcAft>
              <a:buNone/>
            </a:pPr>
            <a:r>
              <a:rPr sz="1600" b="0" i="0">
                <a:solidFill>
                  <a:srgbClr val="1F2433"/>
                </a:solidFill>
                <a:latin typeface="Arial"/>
              </a:rPr>
              <a:t>Deduplicação automática</a:t>
            </a:r>
          </a:p>
          <a:p>
            <a:pPr algn="l">
              <a:lnSpc>
                <a:spcPct val="100000"/>
              </a:lnSpc>
              <a:spcAft>
                <a:spcPts val="1000"/>
              </a:spcAft>
              <a:buNone/>
            </a:pPr>
            <a:r>
              <a:rPr sz="1600" b="0" i="0">
                <a:solidFill>
                  <a:srgbClr val="1F2433"/>
                </a:solidFill>
                <a:latin typeface="Arial"/>
              </a:rPr>
              <a:t>Triagem e leitura na íntegra</a:t>
            </a:r>
          </a:p>
          <a:p>
            <a:pPr algn="l">
              <a:lnSpc>
                <a:spcPct val="100000"/>
              </a:lnSpc>
              <a:spcAft>
                <a:spcPts val="1000"/>
              </a:spcAft>
              <a:buNone/>
            </a:pPr>
            <a:r>
              <a:rPr sz="1600" b="0" i="0">
                <a:solidFill>
                  <a:srgbClr val="1F2433"/>
                </a:solidFill>
                <a:latin typeface="Arial"/>
              </a:rPr>
              <a:t>Controle de sobreposição</a:t>
            </a:r>
          </a:p>
        </p:txBody>
      </p:sp>
      <p:sp>
        <p:nvSpPr>
          <p:cNvPr id="20" name="Oval 19"/>
          <p:cNvSpPr/>
          <p:nvPr/>
        </p:nvSpPr>
        <p:spPr>
          <a:xfrm>
            <a:off x="9029700" y="1805940"/>
            <a:ext cx="868680" cy="868680"/>
          </a:xfrm>
          <a:prstGeom prst="ellipse">
            <a:avLst/>
          </a:prstGeom>
          <a:solidFill>
            <a:srgbClr val="002060"/>
          </a:solidFill>
          <a:ln>
            <a:noFill/>
          </a:ln>
          <a:effectLst/>
        </p:spPr>
        <p:txBody>
          <a:bodyPr rtlCol="0" anchor="ctr" lIns="0" rIns="0" tIns="0" bIns="0" wrap="square">
            <a:noAutofit/>
          </a:bodyPr>
          <a:lstStyle/>
          <a:p>
            <a:pPr algn="ctr">
              <a:lnSpc>
                <a:spcPct val="100000"/>
              </a:lnSpc>
              <a:spcAft>
                <a:spcPts val="0"/>
              </a:spcAft>
              <a:buNone/>
            </a:pPr>
            <a:r>
              <a:rPr sz="2800" b="1" i="0">
                <a:solidFill>
                  <a:srgbClr val="FFFFFF"/>
                </a:solidFill>
                <a:latin typeface="Arial"/>
              </a:rPr>
              <a:t>4</a:t>
            </a:r>
          </a:p>
        </p:txBody>
      </p:sp>
      <p:sp>
        <p:nvSpPr>
          <p:cNvPr id="21" name="TextBox 20"/>
          <p:cNvSpPr txBox="1"/>
          <p:nvPr/>
        </p:nvSpPr>
        <p:spPr>
          <a:xfrm>
            <a:off x="8334102" y="2816352"/>
            <a:ext cx="2259874" cy="640080"/>
          </a:xfrm>
          <a:prstGeom prst="rect">
            <a:avLst/>
          </a:prstGeom>
          <a:noFill/>
        </p:spPr>
        <p:txBody>
          <a:bodyPr wrap="square" lIns="0" rIns="0" tIns="0" bIns="0" anchor="t">
            <a:noAutofit/>
          </a:bodyPr>
          <a:lstStyle/>
          <a:p>
            <a:pPr algn="ctr">
              <a:lnSpc>
                <a:spcPct val="100000"/>
              </a:lnSpc>
              <a:spcAft>
                <a:spcPts val="0"/>
              </a:spcAft>
              <a:buNone/>
            </a:pPr>
            <a:r>
              <a:rPr sz="1900" b="1" i="0">
                <a:solidFill>
                  <a:srgbClr val="002060"/>
                </a:solidFill>
                <a:latin typeface="Arial"/>
              </a:rPr>
              <a:t>Extração</a:t>
            </a:r>
          </a:p>
        </p:txBody>
      </p:sp>
      <p:sp>
        <p:nvSpPr>
          <p:cNvPr id="22" name="Rounded Rectangle 21"/>
          <p:cNvSpPr/>
          <p:nvPr/>
        </p:nvSpPr>
        <p:spPr>
          <a:xfrm>
            <a:off x="8334102" y="3520440"/>
            <a:ext cx="2259874" cy="2788920"/>
          </a:xfrm>
          <a:prstGeom prst="roundRect">
            <a:avLst>
              <a:gd name="adj" fmla="val 6000"/>
            </a:avLst>
          </a:prstGeom>
          <a:solidFill>
            <a:srgbClr val="F2F4F8"/>
          </a:solidFill>
          <a:ln>
            <a:noFill/>
          </a:ln>
          <a:effectLst/>
        </p:spPr>
        <p:txBody>
          <a:bodyPr rtlCol="0" anchor="ctr"/>
          <a:lstStyle/>
          <a:p/>
        </p:txBody>
      </p:sp>
      <p:sp>
        <p:nvSpPr>
          <p:cNvPr id="23" name="TextBox 22"/>
          <p:cNvSpPr txBox="1"/>
          <p:nvPr/>
        </p:nvSpPr>
        <p:spPr>
          <a:xfrm>
            <a:off x="8535270" y="3749039"/>
            <a:ext cx="1857538" cy="2331720"/>
          </a:xfrm>
          <a:prstGeom prst="rect">
            <a:avLst/>
          </a:prstGeom>
          <a:noFill/>
        </p:spPr>
        <p:txBody>
          <a:bodyPr wrap="square" lIns="0" rIns="0" tIns="0" bIns="0" anchor="t">
            <a:noAutofit/>
          </a:bodyPr>
          <a:lstStyle/>
          <a:p>
            <a:pPr algn="l">
              <a:lnSpc>
                <a:spcPct val="100000"/>
              </a:lnSpc>
              <a:spcAft>
                <a:spcPts val="1000"/>
              </a:spcAft>
              <a:buNone/>
            </a:pPr>
            <a:r>
              <a:rPr sz="1600" b="0" i="0">
                <a:solidFill>
                  <a:srgbClr val="1F2433"/>
                </a:solidFill>
                <a:latin typeface="Arial"/>
              </a:rPr>
              <a:t>Planilha padronizada</a:t>
            </a:r>
          </a:p>
          <a:p>
            <a:pPr algn="l">
              <a:lnSpc>
                <a:spcPct val="100000"/>
              </a:lnSpc>
              <a:spcAft>
                <a:spcPts val="1000"/>
              </a:spcAft>
              <a:buNone/>
            </a:pPr>
            <a:r>
              <a:rPr sz="1600" b="0" i="0">
                <a:solidFill>
                  <a:srgbClr val="1F2433"/>
                </a:solidFill>
                <a:latin typeface="Arial"/>
              </a:rPr>
              <a:t>Eventos e denominadores</a:t>
            </a:r>
          </a:p>
          <a:p>
            <a:pPr algn="l">
              <a:lnSpc>
                <a:spcPct val="100000"/>
              </a:lnSpc>
              <a:spcAft>
                <a:spcPts val="1000"/>
              </a:spcAft>
              <a:buNone/>
            </a:pPr>
            <a:r>
              <a:rPr sz="1600" b="0" i="0">
                <a:solidFill>
                  <a:srgbClr val="1F2433"/>
                </a:solidFill>
                <a:latin typeface="Arial"/>
              </a:rPr>
              <a:t>Definição do desfecho</a:t>
            </a:r>
          </a:p>
          <a:p>
            <a:pPr algn="l">
              <a:lnSpc>
                <a:spcPct val="100000"/>
              </a:lnSpc>
              <a:spcAft>
                <a:spcPts val="1000"/>
              </a:spcAft>
              <a:buNone/>
            </a:pPr>
            <a:r>
              <a:rPr sz="1600" b="0" i="0">
                <a:solidFill>
                  <a:srgbClr val="1F2433"/>
                </a:solidFill>
                <a:latin typeface="Arial"/>
              </a:rPr>
              <a:t>Taxa de resposta</a:t>
            </a:r>
          </a:p>
        </p:txBody>
      </p:sp>
      <p:sp>
        <p:nvSpPr>
          <p:cNvPr id="24" name="Oval 23"/>
          <p:cNvSpPr/>
          <p:nvPr/>
        </p:nvSpPr>
        <p:spPr>
          <a:xfrm>
            <a:off x="11426734" y="1805940"/>
            <a:ext cx="868680" cy="868680"/>
          </a:xfrm>
          <a:prstGeom prst="ellipse">
            <a:avLst/>
          </a:prstGeom>
          <a:solidFill>
            <a:srgbClr val="002060"/>
          </a:solidFill>
          <a:ln>
            <a:noFill/>
          </a:ln>
          <a:effectLst/>
        </p:spPr>
        <p:txBody>
          <a:bodyPr rtlCol="0" anchor="ctr" lIns="0" rIns="0" tIns="0" bIns="0" wrap="square">
            <a:noAutofit/>
          </a:bodyPr>
          <a:lstStyle/>
          <a:p>
            <a:pPr algn="ctr">
              <a:lnSpc>
                <a:spcPct val="100000"/>
              </a:lnSpc>
              <a:spcAft>
                <a:spcPts val="0"/>
              </a:spcAft>
              <a:buNone/>
            </a:pPr>
            <a:r>
              <a:rPr sz="2800" b="1" i="0">
                <a:solidFill>
                  <a:srgbClr val="FFFFFF"/>
                </a:solidFill>
                <a:latin typeface="Arial"/>
              </a:rPr>
              <a:t>5</a:t>
            </a:r>
          </a:p>
        </p:txBody>
      </p:sp>
      <p:sp>
        <p:nvSpPr>
          <p:cNvPr id="25" name="TextBox 24"/>
          <p:cNvSpPr txBox="1"/>
          <p:nvPr/>
        </p:nvSpPr>
        <p:spPr>
          <a:xfrm>
            <a:off x="10731137" y="2816352"/>
            <a:ext cx="2259874" cy="640080"/>
          </a:xfrm>
          <a:prstGeom prst="rect">
            <a:avLst/>
          </a:prstGeom>
          <a:noFill/>
        </p:spPr>
        <p:txBody>
          <a:bodyPr wrap="square" lIns="0" rIns="0" tIns="0" bIns="0" anchor="t">
            <a:noAutofit/>
          </a:bodyPr>
          <a:lstStyle/>
          <a:p>
            <a:pPr algn="ctr">
              <a:lnSpc>
                <a:spcPct val="100000"/>
              </a:lnSpc>
              <a:spcAft>
                <a:spcPts val="0"/>
              </a:spcAft>
              <a:buNone/>
            </a:pPr>
            <a:r>
              <a:rPr sz="1900" b="1" i="0">
                <a:solidFill>
                  <a:srgbClr val="002060"/>
                </a:solidFill>
                <a:latin typeface="Arial"/>
              </a:rPr>
              <a:t>Risco de viés</a:t>
            </a:r>
          </a:p>
        </p:txBody>
      </p:sp>
      <p:sp>
        <p:nvSpPr>
          <p:cNvPr id="26" name="Rounded Rectangle 25"/>
          <p:cNvSpPr/>
          <p:nvPr/>
        </p:nvSpPr>
        <p:spPr>
          <a:xfrm>
            <a:off x="10731137" y="3520440"/>
            <a:ext cx="2259874" cy="2788920"/>
          </a:xfrm>
          <a:prstGeom prst="roundRect">
            <a:avLst>
              <a:gd name="adj" fmla="val 6000"/>
            </a:avLst>
          </a:prstGeom>
          <a:solidFill>
            <a:srgbClr val="F2F4F8"/>
          </a:solidFill>
          <a:ln>
            <a:noFill/>
          </a:ln>
          <a:effectLst/>
        </p:spPr>
        <p:txBody>
          <a:bodyPr rtlCol="0" anchor="ctr"/>
          <a:lstStyle/>
          <a:p/>
        </p:txBody>
      </p:sp>
      <p:sp>
        <p:nvSpPr>
          <p:cNvPr id="27" name="TextBox 26"/>
          <p:cNvSpPr txBox="1"/>
          <p:nvPr/>
        </p:nvSpPr>
        <p:spPr>
          <a:xfrm>
            <a:off x="10932305" y="3749039"/>
            <a:ext cx="1857538" cy="2331720"/>
          </a:xfrm>
          <a:prstGeom prst="rect">
            <a:avLst/>
          </a:prstGeom>
          <a:noFill/>
        </p:spPr>
        <p:txBody>
          <a:bodyPr wrap="square" lIns="0" rIns="0" tIns="0" bIns="0" anchor="t">
            <a:noAutofit/>
          </a:bodyPr>
          <a:lstStyle/>
          <a:p>
            <a:pPr algn="l">
              <a:lnSpc>
                <a:spcPct val="100000"/>
              </a:lnSpc>
              <a:spcAft>
                <a:spcPts val="1000"/>
              </a:spcAft>
              <a:buNone/>
            </a:pPr>
            <a:r>
              <a:rPr sz="1600" b="0" i="0">
                <a:solidFill>
                  <a:srgbClr val="1F2433"/>
                </a:solidFill>
                <a:latin typeface="Arial"/>
              </a:rPr>
              <a:t>Ferramentas JBI</a:t>
            </a:r>
          </a:p>
          <a:p>
            <a:pPr algn="l">
              <a:lnSpc>
                <a:spcPct val="100000"/>
              </a:lnSpc>
              <a:spcAft>
                <a:spcPts val="1000"/>
              </a:spcAft>
              <a:buNone/>
            </a:pPr>
            <a:r>
              <a:rPr sz="1600" b="0" i="0">
                <a:solidFill>
                  <a:srgbClr val="1F2433"/>
                </a:solidFill>
                <a:latin typeface="Arial"/>
              </a:rPr>
              <a:t>Prevalência (9 itens)</a:t>
            </a:r>
          </a:p>
          <a:p>
            <a:pPr algn="l">
              <a:lnSpc>
                <a:spcPct val="100000"/>
              </a:lnSpc>
              <a:spcAft>
                <a:spcPts val="1000"/>
              </a:spcAft>
              <a:buNone/>
            </a:pPr>
            <a:r>
              <a:rPr sz="1600" b="0" i="0">
                <a:solidFill>
                  <a:srgbClr val="1F2433"/>
                </a:solidFill>
                <a:latin typeface="Arial"/>
              </a:rPr>
              <a:t>Transversal (8) e coorte (11)</a:t>
            </a:r>
          </a:p>
          <a:p>
            <a:pPr algn="l">
              <a:lnSpc>
                <a:spcPct val="100000"/>
              </a:lnSpc>
              <a:spcAft>
                <a:spcPts val="1000"/>
              </a:spcAft>
              <a:buNone/>
            </a:pPr>
            <a:r>
              <a:rPr sz="1600" b="0" i="0">
                <a:solidFill>
                  <a:srgbClr val="1F2433"/>
                </a:solidFill>
                <a:latin typeface="Arial"/>
              </a:rPr>
              <a:t>Domínios críticos</a:t>
            </a:r>
          </a:p>
        </p:txBody>
      </p:sp>
      <p:sp>
        <p:nvSpPr>
          <p:cNvPr id="28" name="Oval 27"/>
          <p:cNvSpPr/>
          <p:nvPr/>
        </p:nvSpPr>
        <p:spPr>
          <a:xfrm>
            <a:off x="13823768" y="1805940"/>
            <a:ext cx="868680" cy="868680"/>
          </a:xfrm>
          <a:prstGeom prst="ellipse">
            <a:avLst/>
          </a:prstGeom>
          <a:solidFill>
            <a:srgbClr val="8B0000"/>
          </a:solidFill>
          <a:ln>
            <a:noFill/>
          </a:ln>
          <a:effectLst/>
        </p:spPr>
        <p:txBody>
          <a:bodyPr rtlCol="0" anchor="ctr" lIns="0" rIns="0" tIns="0" bIns="0" wrap="square">
            <a:noAutofit/>
          </a:bodyPr>
          <a:lstStyle/>
          <a:p>
            <a:pPr algn="ctr">
              <a:lnSpc>
                <a:spcPct val="100000"/>
              </a:lnSpc>
              <a:spcAft>
                <a:spcPts val="0"/>
              </a:spcAft>
              <a:buNone/>
            </a:pPr>
            <a:r>
              <a:rPr sz="2800" b="1" i="0">
                <a:solidFill>
                  <a:srgbClr val="FFFFFF"/>
                </a:solidFill>
                <a:latin typeface="Arial"/>
              </a:rPr>
              <a:t>6</a:t>
            </a:r>
          </a:p>
        </p:txBody>
      </p:sp>
      <p:sp>
        <p:nvSpPr>
          <p:cNvPr id="29" name="TextBox 28"/>
          <p:cNvSpPr txBox="1"/>
          <p:nvPr/>
        </p:nvSpPr>
        <p:spPr>
          <a:xfrm>
            <a:off x="13128171" y="2816352"/>
            <a:ext cx="2259874" cy="640080"/>
          </a:xfrm>
          <a:prstGeom prst="rect">
            <a:avLst/>
          </a:prstGeom>
          <a:noFill/>
        </p:spPr>
        <p:txBody>
          <a:bodyPr wrap="square" lIns="0" rIns="0" tIns="0" bIns="0" anchor="t">
            <a:noAutofit/>
          </a:bodyPr>
          <a:lstStyle/>
          <a:p>
            <a:pPr algn="ctr">
              <a:lnSpc>
                <a:spcPct val="100000"/>
              </a:lnSpc>
              <a:spcAft>
                <a:spcPts val="0"/>
              </a:spcAft>
              <a:buNone/>
            </a:pPr>
            <a:r>
              <a:rPr sz="1900" b="1" i="0">
                <a:solidFill>
                  <a:srgbClr val="002060"/>
                </a:solidFill>
                <a:latin typeface="Arial"/>
              </a:rPr>
              <a:t>Síntese</a:t>
            </a:r>
          </a:p>
        </p:txBody>
      </p:sp>
      <p:sp>
        <p:nvSpPr>
          <p:cNvPr id="30" name="Rounded Rectangle 29"/>
          <p:cNvSpPr/>
          <p:nvPr/>
        </p:nvSpPr>
        <p:spPr>
          <a:xfrm>
            <a:off x="13128171" y="3520440"/>
            <a:ext cx="2259874" cy="2788920"/>
          </a:xfrm>
          <a:prstGeom prst="roundRect">
            <a:avLst>
              <a:gd name="adj" fmla="val 6000"/>
            </a:avLst>
          </a:prstGeom>
          <a:solidFill>
            <a:srgbClr val="F2F4F8"/>
          </a:solidFill>
          <a:ln>
            <a:noFill/>
          </a:ln>
          <a:effectLst/>
        </p:spPr>
        <p:txBody>
          <a:bodyPr rtlCol="0" anchor="ctr"/>
          <a:lstStyle/>
          <a:p/>
        </p:txBody>
      </p:sp>
      <p:sp>
        <p:nvSpPr>
          <p:cNvPr id="31" name="TextBox 30"/>
          <p:cNvSpPr txBox="1"/>
          <p:nvPr/>
        </p:nvSpPr>
        <p:spPr>
          <a:xfrm>
            <a:off x="13329339" y="3749039"/>
            <a:ext cx="1857538" cy="2331720"/>
          </a:xfrm>
          <a:prstGeom prst="rect">
            <a:avLst/>
          </a:prstGeom>
          <a:noFill/>
        </p:spPr>
        <p:txBody>
          <a:bodyPr wrap="square" lIns="0" rIns="0" tIns="0" bIns="0" anchor="t">
            <a:noAutofit/>
          </a:bodyPr>
          <a:lstStyle/>
          <a:p>
            <a:pPr algn="l">
              <a:lnSpc>
                <a:spcPct val="100000"/>
              </a:lnSpc>
              <a:spcAft>
                <a:spcPts val="1000"/>
              </a:spcAft>
              <a:buNone/>
            </a:pPr>
            <a:r>
              <a:rPr sz="1600" b="0" i="0">
                <a:solidFill>
                  <a:srgbClr val="1F2433"/>
                </a:solidFill>
                <a:latin typeface="Arial"/>
              </a:rPr>
              <a:t>Metanálise de proporções</a:t>
            </a:r>
          </a:p>
          <a:p>
            <a:pPr algn="l">
              <a:lnSpc>
                <a:spcPct val="100000"/>
              </a:lnSpc>
              <a:spcAft>
                <a:spcPts val="1000"/>
              </a:spcAft>
              <a:buNone/>
            </a:pPr>
            <a:r>
              <a:rPr sz="1600" b="0" i="0">
                <a:solidFill>
                  <a:srgbClr val="1F2433"/>
                </a:solidFill>
                <a:latin typeface="Arial"/>
              </a:rPr>
              <a:t>Logito + efeitos aleatórios</a:t>
            </a:r>
          </a:p>
          <a:p>
            <a:pPr algn="l">
              <a:lnSpc>
                <a:spcPct val="100000"/>
              </a:lnSpc>
              <a:spcAft>
                <a:spcPts val="1000"/>
              </a:spcAft>
              <a:buNone/>
            </a:pPr>
            <a:r>
              <a:rPr sz="1600" b="0" i="0">
                <a:solidFill>
                  <a:srgbClr val="1F2433"/>
                </a:solidFill>
                <a:latin typeface="Arial"/>
              </a:rPr>
              <a:t>Hartung-Knapp</a:t>
            </a:r>
          </a:p>
          <a:p>
            <a:pPr algn="l">
              <a:lnSpc>
                <a:spcPct val="100000"/>
              </a:lnSpc>
              <a:spcAft>
                <a:spcPts val="1000"/>
              </a:spcAft>
              <a:buNone/>
            </a:pPr>
            <a:r>
              <a:rPr sz="1600" b="0" i="0">
                <a:solidFill>
                  <a:srgbClr val="1F2433"/>
                </a:solidFill>
                <a:latin typeface="Arial"/>
              </a:rPr>
              <a:t>Predição (IP) e sensibilidade</a:t>
            </a:r>
          </a:p>
        </p:txBody>
      </p:sp>
      <p:sp>
        <p:nvSpPr>
          <p:cNvPr id="32" name="Oval 31"/>
          <p:cNvSpPr/>
          <p:nvPr/>
        </p:nvSpPr>
        <p:spPr>
          <a:xfrm>
            <a:off x="16220802" y="1805940"/>
            <a:ext cx="868680" cy="868680"/>
          </a:xfrm>
          <a:prstGeom prst="ellipse">
            <a:avLst/>
          </a:prstGeom>
          <a:solidFill>
            <a:srgbClr val="002060"/>
          </a:solidFill>
          <a:ln>
            <a:noFill/>
          </a:ln>
          <a:effectLst/>
        </p:spPr>
        <p:txBody>
          <a:bodyPr rtlCol="0" anchor="ctr" lIns="0" rIns="0" tIns="0" bIns="0" wrap="square">
            <a:noAutofit/>
          </a:bodyPr>
          <a:lstStyle/>
          <a:p>
            <a:pPr algn="ctr">
              <a:lnSpc>
                <a:spcPct val="100000"/>
              </a:lnSpc>
              <a:spcAft>
                <a:spcPts val="0"/>
              </a:spcAft>
              <a:buNone/>
            </a:pPr>
            <a:r>
              <a:rPr sz="2800" b="1" i="0">
                <a:solidFill>
                  <a:srgbClr val="FFFFFF"/>
                </a:solidFill>
                <a:latin typeface="Arial"/>
              </a:rPr>
              <a:t>7</a:t>
            </a:r>
          </a:p>
        </p:txBody>
      </p:sp>
      <p:sp>
        <p:nvSpPr>
          <p:cNvPr id="33" name="TextBox 32"/>
          <p:cNvSpPr txBox="1"/>
          <p:nvPr/>
        </p:nvSpPr>
        <p:spPr>
          <a:xfrm>
            <a:off x="15525205" y="2816352"/>
            <a:ext cx="2259874" cy="640080"/>
          </a:xfrm>
          <a:prstGeom prst="rect">
            <a:avLst/>
          </a:prstGeom>
          <a:noFill/>
        </p:spPr>
        <p:txBody>
          <a:bodyPr wrap="square" lIns="0" rIns="0" tIns="0" bIns="0" anchor="t">
            <a:noAutofit/>
          </a:bodyPr>
          <a:lstStyle/>
          <a:p>
            <a:pPr algn="ctr">
              <a:lnSpc>
                <a:spcPct val="100000"/>
              </a:lnSpc>
              <a:spcAft>
                <a:spcPts val="0"/>
              </a:spcAft>
              <a:buNone/>
            </a:pPr>
            <a:r>
              <a:rPr sz="1900" b="1" i="0">
                <a:solidFill>
                  <a:srgbClr val="002060"/>
                </a:solidFill>
                <a:latin typeface="Arial"/>
              </a:rPr>
              <a:t>Certeza (GRADE)</a:t>
            </a:r>
          </a:p>
        </p:txBody>
      </p:sp>
      <p:sp>
        <p:nvSpPr>
          <p:cNvPr id="34" name="Rounded Rectangle 33"/>
          <p:cNvSpPr/>
          <p:nvPr/>
        </p:nvSpPr>
        <p:spPr>
          <a:xfrm>
            <a:off x="15525205" y="3520440"/>
            <a:ext cx="2259874" cy="2788920"/>
          </a:xfrm>
          <a:prstGeom prst="roundRect">
            <a:avLst>
              <a:gd name="adj" fmla="val 6000"/>
            </a:avLst>
          </a:prstGeom>
          <a:solidFill>
            <a:srgbClr val="F2F4F8"/>
          </a:solidFill>
          <a:ln>
            <a:noFill/>
          </a:ln>
          <a:effectLst/>
        </p:spPr>
        <p:txBody>
          <a:bodyPr rtlCol="0" anchor="ctr"/>
          <a:lstStyle/>
          <a:p/>
        </p:txBody>
      </p:sp>
      <p:sp>
        <p:nvSpPr>
          <p:cNvPr id="35" name="TextBox 34"/>
          <p:cNvSpPr txBox="1"/>
          <p:nvPr/>
        </p:nvSpPr>
        <p:spPr>
          <a:xfrm>
            <a:off x="15726373" y="3749039"/>
            <a:ext cx="1857538" cy="2331720"/>
          </a:xfrm>
          <a:prstGeom prst="rect">
            <a:avLst/>
          </a:prstGeom>
          <a:noFill/>
        </p:spPr>
        <p:txBody>
          <a:bodyPr wrap="square" lIns="0" rIns="0" tIns="0" bIns="0" anchor="t">
            <a:noAutofit/>
          </a:bodyPr>
          <a:lstStyle/>
          <a:p>
            <a:pPr algn="l">
              <a:lnSpc>
                <a:spcPct val="100000"/>
              </a:lnSpc>
              <a:spcAft>
                <a:spcPts val="1000"/>
              </a:spcAft>
              <a:buNone/>
            </a:pPr>
            <a:r>
              <a:rPr sz="1600" b="0" i="0">
                <a:solidFill>
                  <a:srgbClr val="1F2433"/>
                </a:solidFill>
                <a:latin typeface="Arial"/>
              </a:rPr>
              <a:t>GRADE adaptado à prevalência</a:t>
            </a:r>
          </a:p>
          <a:p>
            <a:pPr algn="l">
              <a:lnSpc>
                <a:spcPct val="100000"/>
              </a:lnSpc>
              <a:spcAft>
                <a:spcPts val="1000"/>
              </a:spcAft>
              <a:buNone/>
            </a:pPr>
            <a:r>
              <a:rPr sz="1600" b="0" i="0">
                <a:solidFill>
                  <a:srgbClr val="1F2433"/>
                </a:solidFill>
                <a:latin typeface="Arial"/>
              </a:rPr>
              <a:t>5 domínios</a:t>
            </a:r>
          </a:p>
          <a:p>
            <a:pPr algn="l">
              <a:lnSpc>
                <a:spcPct val="100000"/>
              </a:lnSpc>
              <a:spcAft>
                <a:spcPts val="1000"/>
              </a:spcAft>
              <a:buNone/>
            </a:pPr>
            <a:r>
              <a:rPr sz="1600" b="0" i="0">
                <a:solidFill>
                  <a:srgbClr val="1F2433"/>
                </a:solidFill>
                <a:latin typeface="Arial"/>
              </a:rPr>
              <a:t>Ponto de partida: baixa</a:t>
            </a:r>
          </a:p>
          <a:p>
            <a:pPr algn="l">
              <a:lnSpc>
                <a:spcPct val="100000"/>
              </a:lnSpc>
              <a:spcAft>
                <a:spcPts val="1000"/>
              </a:spcAft>
              <a:buNone/>
            </a:pPr>
            <a:r>
              <a:rPr sz="1600" b="0" i="0">
                <a:solidFill>
                  <a:srgbClr val="1F2433"/>
                </a:solidFill>
                <a:latin typeface="Arial"/>
              </a:rPr>
              <a:t>Justificativa por domínio</a:t>
            </a:r>
          </a:p>
        </p:txBody>
      </p:sp>
      <p:sp>
        <p:nvSpPr>
          <p:cNvPr id="36" name="Rounded Rectangle 35"/>
          <p:cNvSpPr/>
          <p:nvPr/>
        </p:nvSpPr>
        <p:spPr>
          <a:xfrm>
            <a:off x="1143000" y="6583680"/>
            <a:ext cx="16642080" cy="1280160"/>
          </a:xfrm>
          <a:prstGeom prst="roundRect">
            <a:avLst>
              <a:gd name="adj" fmla="val 6000"/>
            </a:avLst>
          </a:prstGeom>
          <a:solidFill>
            <a:srgbClr val="E6EBF5"/>
          </a:solidFill>
          <a:ln>
            <a:noFill/>
          </a:ln>
          <a:effectLst/>
        </p:spPr>
        <p:txBody>
          <a:bodyPr rtlCol="0" anchor="ctr"/>
          <a:lstStyle/>
          <a:p/>
        </p:txBody>
      </p:sp>
      <p:sp>
        <p:nvSpPr>
          <p:cNvPr id="37" name="TextBox 36"/>
          <p:cNvSpPr txBox="1"/>
          <p:nvPr/>
        </p:nvSpPr>
        <p:spPr>
          <a:xfrm>
            <a:off x="1463040" y="6766560"/>
            <a:ext cx="1874519" cy="914399"/>
          </a:xfrm>
          <a:prstGeom prst="rect">
            <a:avLst/>
          </a:prstGeom>
          <a:noFill/>
        </p:spPr>
        <p:txBody>
          <a:bodyPr wrap="square" lIns="0" rIns="0" tIns="0" bIns="0" anchor="ctr">
            <a:noAutofit/>
          </a:bodyPr>
          <a:lstStyle/>
          <a:p>
            <a:pPr algn="l">
              <a:lnSpc>
                <a:spcPct val="100000"/>
              </a:lnSpc>
              <a:spcAft>
                <a:spcPts val="200"/>
              </a:spcAft>
              <a:buNone/>
            </a:pPr>
            <a:r>
              <a:rPr sz="1900" b="1" i="0">
                <a:solidFill>
                  <a:srgbClr val="002060"/>
                </a:solidFill>
                <a:latin typeface="Arial"/>
              </a:rPr>
              <a:t>Ferramentas</a:t>
            </a:r>
          </a:p>
          <a:p>
            <a:pPr algn="l">
              <a:lnSpc>
                <a:spcPct val="100000"/>
              </a:lnSpc>
              <a:spcAft>
                <a:spcPts val="200"/>
              </a:spcAft>
              <a:buNone/>
            </a:pPr>
            <a:r>
              <a:rPr sz="1400" b="0" i="0">
                <a:solidFill>
                  <a:srgbClr val="5A6270"/>
                </a:solidFill>
                <a:latin typeface="Arial"/>
              </a:rPr>
              <a:t>(função operacional)</a:t>
            </a:r>
          </a:p>
        </p:txBody>
      </p:sp>
      <p:pic>
        <p:nvPicPr>
          <p:cNvPr id="38" name="icone database" descr="database_navy.png"/>
          <p:cNvPicPr>
            <a:picLocks noChangeAspect="1"/>
          </p:cNvPicPr>
          <p:nvPr/>
        </p:nvPicPr>
        <p:blipFill>
          <a:blip r:embed="rId4"/>
          <a:stretch>
            <a:fillRect/>
          </a:stretch>
        </p:blipFill>
        <p:spPr>
          <a:xfrm>
            <a:off x="3337560" y="6972300"/>
            <a:ext cx="502920" cy="502920"/>
          </a:xfrm>
          <a:prstGeom prst="rect">
            <a:avLst/>
          </a:prstGeom>
        </p:spPr>
      </p:pic>
      <p:sp>
        <p:nvSpPr>
          <p:cNvPr id="39" name="TextBox 38"/>
          <p:cNvSpPr txBox="1"/>
          <p:nvPr/>
        </p:nvSpPr>
        <p:spPr>
          <a:xfrm>
            <a:off x="3977639" y="6812280"/>
            <a:ext cx="1874519" cy="365760"/>
          </a:xfrm>
          <a:prstGeom prst="rect">
            <a:avLst/>
          </a:prstGeom>
          <a:noFill/>
        </p:spPr>
        <p:txBody>
          <a:bodyPr wrap="square" lIns="0" rIns="0" tIns="0" bIns="0" anchor="t">
            <a:noAutofit/>
          </a:bodyPr>
          <a:lstStyle/>
          <a:p>
            <a:pPr algn="l">
              <a:lnSpc>
                <a:spcPct val="100000"/>
              </a:lnSpc>
              <a:spcAft>
                <a:spcPts val="0"/>
              </a:spcAft>
              <a:buNone/>
            </a:pPr>
            <a:r>
              <a:rPr sz="1700" b="1" i="0">
                <a:solidFill>
                  <a:srgbClr val="002060"/>
                </a:solidFill>
                <a:latin typeface="Arial"/>
              </a:rPr>
              <a:t>Zotero 6</a:t>
            </a:r>
          </a:p>
        </p:txBody>
      </p:sp>
      <p:sp>
        <p:nvSpPr>
          <p:cNvPr id="40" name="TextBox 39"/>
          <p:cNvSpPr txBox="1"/>
          <p:nvPr/>
        </p:nvSpPr>
        <p:spPr>
          <a:xfrm>
            <a:off x="3977639" y="7178040"/>
            <a:ext cx="1874519" cy="502920"/>
          </a:xfrm>
          <a:prstGeom prst="rect">
            <a:avLst/>
          </a:prstGeom>
          <a:noFill/>
        </p:spPr>
        <p:txBody>
          <a:bodyPr wrap="square" lIns="0" rIns="0" tIns="0" bIns="0" anchor="t">
            <a:noAutofit/>
          </a:bodyPr>
          <a:lstStyle/>
          <a:p>
            <a:pPr algn="l">
              <a:lnSpc>
                <a:spcPct val="100000"/>
              </a:lnSpc>
              <a:spcAft>
                <a:spcPts val="0"/>
              </a:spcAft>
              <a:buNone/>
            </a:pPr>
            <a:r>
              <a:rPr sz="1500" b="0" i="0">
                <a:solidFill>
                  <a:srgbClr val="1F2433"/>
                </a:solidFill>
                <a:latin typeface="Arial"/>
              </a:rPr>
              <a:t>gestão de referências</a:t>
            </a:r>
          </a:p>
        </p:txBody>
      </p:sp>
      <p:pic>
        <p:nvPicPr>
          <p:cNvPr id="41" name="icone filter" descr="filter_navy.png"/>
          <p:cNvPicPr>
            <a:picLocks noChangeAspect="1"/>
          </p:cNvPicPr>
          <p:nvPr/>
        </p:nvPicPr>
        <p:blipFill>
          <a:blip r:embed="rId5"/>
          <a:stretch>
            <a:fillRect/>
          </a:stretch>
        </p:blipFill>
        <p:spPr>
          <a:xfrm>
            <a:off x="6153912" y="6972300"/>
            <a:ext cx="502920" cy="502920"/>
          </a:xfrm>
          <a:prstGeom prst="rect">
            <a:avLst/>
          </a:prstGeom>
        </p:spPr>
      </p:pic>
      <p:sp>
        <p:nvSpPr>
          <p:cNvPr id="42" name="TextBox 41"/>
          <p:cNvSpPr txBox="1"/>
          <p:nvPr/>
        </p:nvSpPr>
        <p:spPr>
          <a:xfrm>
            <a:off x="6793992" y="6812280"/>
            <a:ext cx="2011680" cy="365760"/>
          </a:xfrm>
          <a:prstGeom prst="rect">
            <a:avLst/>
          </a:prstGeom>
          <a:noFill/>
        </p:spPr>
        <p:txBody>
          <a:bodyPr wrap="square" lIns="0" rIns="0" tIns="0" bIns="0" anchor="t">
            <a:noAutofit/>
          </a:bodyPr>
          <a:lstStyle/>
          <a:p>
            <a:pPr algn="l">
              <a:lnSpc>
                <a:spcPct val="100000"/>
              </a:lnSpc>
              <a:spcAft>
                <a:spcPts val="0"/>
              </a:spcAft>
              <a:buNone/>
            </a:pPr>
            <a:r>
              <a:rPr sz="1700" b="1" i="0">
                <a:solidFill>
                  <a:srgbClr val="002060"/>
                </a:solidFill>
                <a:latin typeface="Arial"/>
              </a:rPr>
              <a:t>Rayyan</a:t>
            </a:r>
          </a:p>
        </p:txBody>
      </p:sp>
      <p:sp>
        <p:nvSpPr>
          <p:cNvPr id="43" name="TextBox 42"/>
          <p:cNvSpPr txBox="1"/>
          <p:nvPr/>
        </p:nvSpPr>
        <p:spPr>
          <a:xfrm>
            <a:off x="6793992" y="7178040"/>
            <a:ext cx="2011680" cy="502920"/>
          </a:xfrm>
          <a:prstGeom prst="rect">
            <a:avLst/>
          </a:prstGeom>
          <a:noFill/>
        </p:spPr>
        <p:txBody>
          <a:bodyPr wrap="square" lIns="0" rIns="0" tIns="0" bIns="0" anchor="t">
            <a:noAutofit/>
          </a:bodyPr>
          <a:lstStyle/>
          <a:p>
            <a:pPr algn="l">
              <a:lnSpc>
                <a:spcPct val="100000"/>
              </a:lnSpc>
              <a:spcAft>
                <a:spcPts val="0"/>
              </a:spcAft>
              <a:buNone/>
            </a:pPr>
            <a:r>
              <a:rPr sz="1500" b="0" i="0">
                <a:solidFill>
                  <a:srgbClr val="1F2433"/>
                </a:solidFill>
                <a:latin typeface="Arial"/>
              </a:rPr>
              <a:t>deduplicação e triagem</a:t>
            </a:r>
          </a:p>
        </p:txBody>
      </p:sp>
      <p:pic>
        <p:nvPicPr>
          <p:cNvPr id="44" name="icone link" descr="link_navy.png"/>
          <p:cNvPicPr>
            <a:picLocks noChangeAspect="1"/>
          </p:cNvPicPr>
          <p:nvPr/>
        </p:nvPicPr>
        <p:blipFill>
          <a:blip r:embed="rId6"/>
          <a:stretch>
            <a:fillRect/>
          </a:stretch>
        </p:blipFill>
        <p:spPr>
          <a:xfrm>
            <a:off x="9098280" y="6972300"/>
            <a:ext cx="502920" cy="502920"/>
          </a:xfrm>
          <a:prstGeom prst="rect">
            <a:avLst/>
          </a:prstGeom>
        </p:spPr>
      </p:pic>
      <p:sp>
        <p:nvSpPr>
          <p:cNvPr id="45" name="TextBox 44"/>
          <p:cNvSpPr txBox="1"/>
          <p:nvPr/>
        </p:nvSpPr>
        <p:spPr>
          <a:xfrm>
            <a:off x="9738359" y="6812280"/>
            <a:ext cx="1874519" cy="365760"/>
          </a:xfrm>
          <a:prstGeom prst="rect">
            <a:avLst/>
          </a:prstGeom>
          <a:noFill/>
        </p:spPr>
        <p:txBody>
          <a:bodyPr wrap="square" lIns="0" rIns="0" tIns="0" bIns="0" anchor="t">
            <a:noAutofit/>
          </a:bodyPr>
          <a:lstStyle/>
          <a:p>
            <a:pPr algn="l">
              <a:lnSpc>
                <a:spcPct val="100000"/>
              </a:lnSpc>
              <a:spcAft>
                <a:spcPts val="0"/>
              </a:spcAft>
              <a:buNone/>
            </a:pPr>
            <a:r>
              <a:rPr sz="1700" b="1" i="0">
                <a:solidFill>
                  <a:srgbClr val="002060"/>
                </a:solidFill>
                <a:latin typeface="Arial"/>
              </a:rPr>
              <a:t>OpenAlex</a:t>
            </a:r>
          </a:p>
        </p:txBody>
      </p:sp>
      <p:sp>
        <p:nvSpPr>
          <p:cNvPr id="46" name="TextBox 45"/>
          <p:cNvSpPr txBox="1"/>
          <p:nvPr/>
        </p:nvSpPr>
        <p:spPr>
          <a:xfrm>
            <a:off x="9738359" y="7178040"/>
            <a:ext cx="1874519" cy="502920"/>
          </a:xfrm>
          <a:prstGeom prst="rect">
            <a:avLst/>
          </a:prstGeom>
          <a:noFill/>
        </p:spPr>
        <p:txBody>
          <a:bodyPr wrap="square" lIns="0" rIns="0" tIns="0" bIns="0" anchor="t">
            <a:noAutofit/>
          </a:bodyPr>
          <a:lstStyle/>
          <a:p>
            <a:pPr algn="l">
              <a:lnSpc>
                <a:spcPct val="100000"/>
              </a:lnSpc>
              <a:spcAft>
                <a:spcPts val="0"/>
              </a:spcAft>
              <a:buNone/>
            </a:pPr>
            <a:r>
              <a:rPr sz="1500" b="0" i="0">
                <a:solidFill>
                  <a:srgbClr val="1F2433"/>
                </a:solidFill>
                <a:latin typeface="Arial"/>
              </a:rPr>
              <a:t>metadados e citações</a:t>
            </a:r>
          </a:p>
        </p:txBody>
      </p:sp>
      <p:pic>
        <p:nvPicPr>
          <p:cNvPr id="47" name="icone code" descr="code_navy.png"/>
          <p:cNvPicPr>
            <a:picLocks noChangeAspect="1"/>
          </p:cNvPicPr>
          <p:nvPr/>
        </p:nvPicPr>
        <p:blipFill>
          <a:blip r:embed="rId7"/>
          <a:stretch>
            <a:fillRect/>
          </a:stretch>
        </p:blipFill>
        <p:spPr>
          <a:xfrm>
            <a:off x="11923776" y="6972300"/>
            <a:ext cx="502920" cy="502920"/>
          </a:xfrm>
          <a:prstGeom prst="rect">
            <a:avLst/>
          </a:prstGeom>
        </p:spPr>
      </p:pic>
      <p:sp>
        <p:nvSpPr>
          <p:cNvPr id="48" name="TextBox 47"/>
          <p:cNvSpPr txBox="1"/>
          <p:nvPr/>
        </p:nvSpPr>
        <p:spPr>
          <a:xfrm>
            <a:off x="12563855" y="6812280"/>
            <a:ext cx="2514600" cy="365760"/>
          </a:xfrm>
          <a:prstGeom prst="rect">
            <a:avLst/>
          </a:prstGeom>
          <a:noFill/>
        </p:spPr>
        <p:txBody>
          <a:bodyPr wrap="square" lIns="0" rIns="0" tIns="0" bIns="0" anchor="t">
            <a:noAutofit/>
          </a:bodyPr>
          <a:lstStyle/>
          <a:p>
            <a:pPr algn="l">
              <a:lnSpc>
                <a:spcPct val="100000"/>
              </a:lnSpc>
              <a:spcAft>
                <a:spcPts val="0"/>
              </a:spcAft>
              <a:buNone/>
            </a:pPr>
            <a:r>
              <a:rPr sz="1700" b="1" i="0">
                <a:solidFill>
                  <a:srgbClr val="002060"/>
                </a:solidFill>
                <a:latin typeface="Arial"/>
              </a:rPr>
              <a:t>Python 3.13</a:t>
            </a:r>
          </a:p>
        </p:txBody>
      </p:sp>
      <p:sp>
        <p:nvSpPr>
          <p:cNvPr id="49" name="TextBox 48"/>
          <p:cNvSpPr txBox="1"/>
          <p:nvPr/>
        </p:nvSpPr>
        <p:spPr>
          <a:xfrm>
            <a:off x="12563855" y="7178040"/>
            <a:ext cx="2514600" cy="502920"/>
          </a:xfrm>
          <a:prstGeom prst="rect">
            <a:avLst/>
          </a:prstGeom>
          <a:noFill/>
        </p:spPr>
        <p:txBody>
          <a:bodyPr wrap="square" lIns="0" rIns="0" tIns="0" bIns="0" anchor="t">
            <a:noAutofit/>
          </a:bodyPr>
          <a:lstStyle/>
          <a:p>
            <a:pPr algn="l">
              <a:lnSpc>
                <a:spcPct val="100000"/>
              </a:lnSpc>
              <a:spcAft>
                <a:spcPts val="0"/>
              </a:spcAft>
              <a:buNone/>
            </a:pPr>
            <a:r>
              <a:rPr sz="1500" b="0" i="0">
                <a:solidFill>
                  <a:srgbClr val="1F2433"/>
                </a:solidFill>
                <a:latin typeface="Arial"/>
              </a:rPr>
              <a:t>NumPy, SciPy, statsmodels</a:t>
            </a:r>
          </a:p>
        </p:txBody>
      </p:sp>
      <p:pic>
        <p:nvPicPr>
          <p:cNvPr id="50" name="icone robot" descr="robot_navy.png"/>
          <p:cNvPicPr>
            <a:picLocks noChangeAspect="1"/>
          </p:cNvPicPr>
          <p:nvPr/>
        </p:nvPicPr>
        <p:blipFill>
          <a:blip r:embed="rId8"/>
          <a:stretch>
            <a:fillRect/>
          </a:stretch>
        </p:blipFill>
        <p:spPr>
          <a:xfrm>
            <a:off x="15160751" y="6972300"/>
            <a:ext cx="502920" cy="502920"/>
          </a:xfrm>
          <a:prstGeom prst="rect">
            <a:avLst/>
          </a:prstGeom>
        </p:spPr>
      </p:pic>
      <p:sp>
        <p:nvSpPr>
          <p:cNvPr id="51" name="TextBox 50"/>
          <p:cNvSpPr txBox="1"/>
          <p:nvPr/>
        </p:nvSpPr>
        <p:spPr>
          <a:xfrm>
            <a:off x="15800831" y="6812280"/>
            <a:ext cx="1737360" cy="365760"/>
          </a:xfrm>
          <a:prstGeom prst="rect">
            <a:avLst/>
          </a:prstGeom>
          <a:noFill/>
        </p:spPr>
        <p:txBody>
          <a:bodyPr wrap="square" lIns="0" rIns="0" tIns="0" bIns="0" anchor="t">
            <a:noAutofit/>
          </a:bodyPr>
          <a:lstStyle/>
          <a:p>
            <a:pPr algn="l">
              <a:lnSpc>
                <a:spcPct val="100000"/>
              </a:lnSpc>
              <a:spcAft>
                <a:spcPts val="0"/>
              </a:spcAft>
              <a:buNone/>
            </a:pPr>
            <a:r>
              <a:rPr sz="1700" b="1" i="0">
                <a:solidFill>
                  <a:srgbClr val="002060"/>
                </a:solidFill>
                <a:latin typeface="Arial"/>
              </a:rPr>
              <a:t>Assistente de IA</a:t>
            </a:r>
          </a:p>
        </p:txBody>
      </p:sp>
      <p:sp>
        <p:nvSpPr>
          <p:cNvPr id="52" name="TextBox 51"/>
          <p:cNvSpPr txBox="1"/>
          <p:nvPr/>
        </p:nvSpPr>
        <p:spPr>
          <a:xfrm>
            <a:off x="15800831" y="7178040"/>
            <a:ext cx="1737360" cy="502920"/>
          </a:xfrm>
          <a:prstGeom prst="rect">
            <a:avLst/>
          </a:prstGeom>
          <a:noFill/>
        </p:spPr>
        <p:txBody>
          <a:bodyPr wrap="square" lIns="0" rIns="0" tIns="0" bIns="0" anchor="t">
            <a:noAutofit/>
          </a:bodyPr>
          <a:lstStyle/>
          <a:p>
            <a:pPr algn="l">
              <a:lnSpc>
                <a:spcPct val="100000"/>
              </a:lnSpc>
              <a:spcAft>
                <a:spcPts val="0"/>
              </a:spcAft>
              <a:buNone/>
            </a:pPr>
            <a:r>
              <a:rPr sz="1500" b="0" i="0">
                <a:solidFill>
                  <a:srgbClr val="1F2433"/>
                </a:solidFill>
                <a:latin typeface="Arial"/>
              </a:rPr>
              <a:t>apoio operacional</a:t>
            </a:r>
          </a:p>
        </p:txBody>
      </p:sp>
      <p:sp>
        <p:nvSpPr>
          <p:cNvPr id="53" name="Rounded Rectangle 52"/>
          <p:cNvSpPr/>
          <p:nvPr/>
        </p:nvSpPr>
        <p:spPr>
          <a:xfrm>
            <a:off x="1143000" y="8138160"/>
            <a:ext cx="8183879" cy="1600200"/>
          </a:xfrm>
          <a:prstGeom prst="roundRect">
            <a:avLst>
              <a:gd name="adj" fmla="val 6000"/>
            </a:avLst>
          </a:prstGeom>
          <a:solidFill>
            <a:srgbClr val="F2F4F8"/>
          </a:solidFill>
          <a:ln>
            <a:noFill/>
          </a:ln>
          <a:effectLst/>
        </p:spPr>
        <p:txBody>
          <a:bodyPr rtlCol="0" anchor="ctr"/>
          <a:lstStyle/>
          <a:p/>
        </p:txBody>
      </p:sp>
      <p:sp>
        <p:nvSpPr>
          <p:cNvPr id="54" name="TextBox 53"/>
          <p:cNvSpPr txBox="1"/>
          <p:nvPr/>
        </p:nvSpPr>
        <p:spPr>
          <a:xfrm>
            <a:off x="1463040" y="8339328"/>
            <a:ext cx="7543800" cy="1197864"/>
          </a:xfrm>
          <a:prstGeom prst="rect">
            <a:avLst/>
          </a:prstGeom>
          <a:noFill/>
        </p:spPr>
        <p:txBody>
          <a:bodyPr wrap="square" lIns="0" rIns="0" tIns="0" bIns="0" anchor="ctr">
            <a:noAutofit/>
          </a:bodyPr>
          <a:lstStyle/>
          <a:p>
            <a:pPr algn="l">
              <a:lnSpc>
                <a:spcPct val="100000"/>
              </a:lnSpc>
              <a:spcAft>
                <a:spcPts val="0"/>
              </a:spcAft>
              <a:buNone/>
            </a:pPr>
            <a:r>
              <a:rPr sz="1500" b="1" i="0">
                <a:solidFill>
                  <a:srgbClr val="002060"/>
                </a:solidFill>
                <a:latin typeface="Arial"/>
              </a:rPr>
              <a:t>Uso de IA (declarado, Portaria CNPq nº 2.664/2026): </a:t>
            </a:r>
            <a:r>
              <a:rPr sz="1500" b="0" i="0">
                <a:solidFill>
                  <a:srgbClr val="1F2433"/>
                </a:solidFill>
                <a:latin typeface="Arial"/>
              </a:rPr>
              <a:t>apoio operacional na priorização da leitura, na leitura assistida de resumos e na organização do fluxo. </a:t>
            </a:r>
            <a:r>
              <a:rPr sz="1500" b="1" i="0">
                <a:solidFill>
                  <a:srgbClr val="1F2433"/>
                </a:solidFill>
                <a:latin typeface="Arial"/>
              </a:rPr>
              <a:t>Elegibilidade, extração, interpretação e redação: decisões humanas.</a:t>
            </a:r>
          </a:p>
        </p:txBody>
      </p:sp>
      <p:sp>
        <p:nvSpPr>
          <p:cNvPr id="55" name="Rounded Rectangle 54"/>
          <p:cNvSpPr/>
          <p:nvPr/>
        </p:nvSpPr>
        <p:spPr>
          <a:xfrm>
            <a:off x="9601200" y="8138160"/>
            <a:ext cx="8183879" cy="1600200"/>
          </a:xfrm>
          <a:prstGeom prst="roundRect">
            <a:avLst>
              <a:gd name="adj" fmla="val 6000"/>
            </a:avLst>
          </a:prstGeom>
          <a:solidFill>
            <a:srgbClr val="F2F4F8"/>
          </a:solidFill>
          <a:ln>
            <a:noFill/>
          </a:ln>
          <a:effectLst/>
        </p:spPr>
        <p:txBody>
          <a:bodyPr rtlCol="0" anchor="ctr"/>
          <a:lstStyle/>
          <a:p/>
        </p:txBody>
      </p:sp>
      <p:sp>
        <p:nvSpPr>
          <p:cNvPr id="56" name="TextBox 55"/>
          <p:cNvSpPr txBox="1"/>
          <p:nvPr/>
        </p:nvSpPr>
        <p:spPr>
          <a:xfrm>
            <a:off x="9921240" y="8339328"/>
            <a:ext cx="7543800" cy="1197864"/>
          </a:xfrm>
          <a:prstGeom prst="rect">
            <a:avLst/>
          </a:prstGeom>
          <a:noFill/>
        </p:spPr>
        <p:txBody>
          <a:bodyPr wrap="square" lIns="0" rIns="0" tIns="0" bIns="0" anchor="ctr">
            <a:noAutofit/>
          </a:bodyPr>
          <a:lstStyle/>
          <a:p>
            <a:pPr algn="l">
              <a:lnSpc>
                <a:spcPct val="100000"/>
              </a:lnSpc>
              <a:spcAft>
                <a:spcPts val="0"/>
              </a:spcAft>
              <a:buNone/>
            </a:pPr>
            <a:r>
              <a:rPr sz="1500" b="1" i="0">
                <a:solidFill>
                  <a:srgbClr val="002060"/>
                </a:solidFill>
                <a:latin typeface="Arial"/>
              </a:rPr>
              <a:t>Transparência e reprodutibilidade: </a:t>
            </a:r>
            <a:r>
              <a:rPr sz="1500" b="0" i="0">
                <a:solidFill>
                  <a:srgbClr val="1F2433"/>
                </a:solidFill>
                <a:latin typeface="Arial"/>
              </a:rPr>
              <a:t>checklist PRISMA 2020 (27 itens), estratégias completas (Anexo A), extração, JBI e GRADE em anexos; </a:t>
            </a:r>
            <a:r>
              <a:rPr sz="1500" b="1" i="0">
                <a:solidFill>
                  <a:srgbClr val="1F2433"/>
                </a:solidFill>
                <a:latin typeface="Arial"/>
              </a:rPr>
              <a:t>código, figuras e planilhas abertos no OSF.</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35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350"/>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350"/>
                                        <p:tgtEl>
                                          <p:spTgt spid="1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350"/>
                                        <p:tgtEl>
                                          <p:spTgt spid="11"/>
                                        </p:tgtEl>
                                      </p:cBhvr>
                                    </p:animEffect>
                                  </p:childTnLst>
                                </p:cTn>
                              </p:par>
                            </p:childTnLst>
                          </p:cTn>
                        </p:par>
                        <p:par>
                          <p:cTn id="17" fill="hold">
                            <p:stCondLst>
                              <p:cond delay="350"/>
                            </p:stCondLst>
                            <p:childTnLst>
                              <p:par>
                                <p:cTn id="18" presetID="10" presetClass="entr" presetSubtype="0" fill="hold" grpId="0" nodeType="after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350"/>
                                        <p:tgtEl>
                                          <p:spTgt spid="12"/>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350"/>
                                        <p:tgtEl>
                                          <p:spTgt spid="13"/>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fade">
                                      <p:cBhvr>
                                        <p:cTn id="26" dur="350"/>
                                        <p:tgtEl>
                                          <p:spTgt spid="14"/>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350"/>
                                        <p:tgtEl>
                                          <p:spTgt spid="15"/>
                                        </p:tgtEl>
                                      </p:cBhvr>
                                    </p:animEffect>
                                  </p:childTnLst>
                                </p:cTn>
                              </p:par>
                            </p:childTnLst>
                          </p:cTn>
                        </p:par>
                        <p:par>
                          <p:cTn id="30" fill="hold">
                            <p:stCondLst>
                              <p:cond delay="700"/>
                            </p:stCondLst>
                            <p:childTnLst>
                              <p:par>
                                <p:cTn id="31" presetID="10" presetClass="entr" presetSubtype="0" fill="hold" grpId="0" nodeType="after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350"/>
                                        <p:tgtEl>
                                          <p:spTgt spid="16"/>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350"/>
                                        <p:tgtEl>
                                          <p:spTgt spid="17"/>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350"/>
                                        <p:tgtEl>
                                          <p:spTgt spid="18"/>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350"/>
                                        <p:tgtEl>
                                          <p:spTgt spid="19"/>
                                        </p:tgtEl>
                                      </p:cBhvr>
                                    </p:animEffect>
                                  </p:childTnLst>
                                </p:cTn>
                              </p:par>
                            </p:childTnLst>
                          </p:cTn>
                        </p:par>
                        <p:par>
                          <p:cTn id="43" fill="hold">
                            <p:stCondLst>
                              <p:cond delay="1050"/>
                            </p:stCondLst>
                            <p:childTnLst>
                              <p:par>
                                <p:cTn id="44" presetID="10" presetClass="entr" presetSubtype="0" fill="hold" grpId="0" nodeType="afterEffect">
                                  <p:stCondLst>
                                    <p:cond delay="0"/>
                                  </p:stCondLst>
                                  <p:childTnLst>
                                    <p:set>
                                      <p:cBhvr>
                                        <p:cTn id="45" dur="1" fill="hold">
                                          <p:stCondLst>
                                            <p:cond delay="0"/>
                                          </p:stCondLst>
                                        </p:cTn>
                                        <p:tgtEl>
                                          <p:spTgt spid="20"/>
                                        </p:tgtEl>
                                        <p:attrNameLst>
                                          <p:attrName>style.visibility</p:attrName>
                                        </p:attrNameLst>
                                      </p:cBhvr>
                                      <p:to>
                                        <p:strVal val="visible"/>
                                      </p:to>
                                    </p:set>
                                    <p:animEffect transition="in" filter="fade">
                                      <p:cBhvr>
                                        <p:cTn id="46" dur="350"/>
                                        <p:tgtEl>
                                          <p:spTgt spid="2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1"/>
                                        </p:tgtEl>
                                        <p:attrNameLst>
                                          <p:attrName>style.visibility</p:attrName>
                                        </p:attrNameLst>
                                      </p:cBhvr>
                                      <p:to>
                                        <p:strVal val="visible"/>
                                      </p:to>
                                    </p:set>
                                    <p:animEffect transition="in" filter="fade">
                                      <p:cBhvr>
                                        <p:cTn id="49" dur="350"/>
                                        <p:tgtEl>
                                          <p:spTgt spid="21"/>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2"/>
                                        </p:tgtEl>
                                        <p:attrNameLst>
                                          <p:attrName>style.visibility</p:attrName>
                                        </p:attrNameLst>
                                      </p:cBhvr>
                                      <p:to>
                                        <p:strVal val="visible"/>
                                      </p:to>
                                    </p:set>
                                    <p:animEffect transition="in" filter="fade">
                                      <p:cBhvr>
                                        <p:cTn id="52" dur="350"/>
                                        <p:tgtEl>
                                          <p:spTgt spid="22"/>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3"/>
                                        </p:tgtEl>
                                        <p:attrNameLst>
                                          <p:attrName>style.visibility</p:attrName>
                                        </p:attrNameLst>
                                      </p:cBhvr>
                                      <p:to>
                                        <p:strVal val="visible"/>
                                      </p:to>
                                    </p:set>
                                    <p:animEffect transition="in" filter="fade">
                                      <p:cBhvr>
                                        <p:cTn id="55" dur="350"/>
                                        <p:tgtEl>
                                          <p:spTgt spid="23"/>
                                        </p:tgtEl>
                                      </p:cBhvr>
                                    </p:animEffect>
                                  </p:childTnLst>
                                </p:cTn>
                              </p:par>
                            </p:childTnLst>
                          </p:cTn>
                        </p:par>
                        <p:par>
                          <p:cTn id="56" fill="hold">
                            <p:stCondLst>
                              <p:cond delay="1400"/>
                            </p:stCondLst>
                            <p:childTnLst>
                              <p:par>
                                <p:cTn id="57" presetID="10" presetClass="entr" presetSubtype="0" fill="hold" grpId="0" nodeType="afterEffect">
                                  <p:stCondLst>
                                    <p:cond delay="0"/>
                                  </p:stCondLst>
                                  <p:childTnLst>
                                    <p:set>
                                      <p:cBhvr>
                                        <p:cTn id="58" dur="1" fill="hold">
                                          <p:stCondLst>
                                            <p:cond delay="0"/>
                                          </p:stCondLst>
                                        </p:cTn>
                                        <p:tgtEl>
                                          <p:spTgt spid="24"/>
                                        </p:tgtEl>
                                        <p:attrNameLst>
                                          <p:attrName>style.visibility</p:attrName>
                                        </p:attrNameLst>
                                      </p:cBhvr>
                                      <p:to>
                                        <p:strVal val="visible"/>
                                      </p:to>
                                    </p:set>
                                    <p:animEffect transition="in" filter="fade">
                                      <p:cBhvr>
                                        <p:cTn id="59" dur="350"/>
                                        <p:tgtEl>
                                          <p:spTgt spid="24"/>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5"/>
                                        </p:tgtEl>
                                        <p:attrNameLst>
                                          <p:attrName>style.visibility</p:attrName>
                                        </p:attrNameLst>
                                      </p:cBhvr>
                                      <p:to>
                                        <p:strVal val="visible"/>
                                      </p:to>
                                    </p:set>
                                    <p:animEffect transition="in" filter="fade">
                                      <p:cBhvr>
                                        <p:cTn id="62" dur="350"/>
                                        <p:tgtEl>
                                          <p:spTgt spid="25"/>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6"/>
                                        </p:tgtEl>
                                        <p:attrNameLst>
                                          <p:attrName>style.visibility</p:attrName>
                                        </p:attrNameLst>
                                      </p:cBhvr>
                                      <p:to>
                                        <p:strVal val="visible"/>
                                      </p:to>
                                    </p:set>
                                    <p:animEffect transition="in" filter="fade">
                                      <p:cBhvr>
                                        <p:cTn id="65" dur="350"/>
                                        <p:tgtEl>
                                          <p:spTgt spid="26"/>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7"/>
                                        </p:tgtEl>
                                        <p:attrNameLst>
                                          <p:attrName>style.visibility</p:attrName>
                                        </p:attrNameLst>
                                      </p:cBhvr>
                                      <p:to>
                                        <p:strVal val="visible"/>
                                      </p:to>
                                    </p:set>
                                    <p:animEffect transition="in" filter="fade">
                                      <p:cBhvr>
                                        <p:cTn id="68" dur="350"/>
                                        <p:tgtEl>
                                          <p:spTgt spid="27"/>
                                        </p:tgtEl>
                                      </p:cBhvr>
                                    </p:animEffect>
                                  </p:childTnLst>
                                </p:cTn>
                              </p:par>
                            </p:childTnLst>
                          </p:cTn>
                        </p:par>
                        <p:par>
                          <p:cTn id="69" fill="hold">
                            <p:stCondLst>
                              <p:cond delay="1750"/>
                            </p:stCondLst>
                            <p:childTnLst>
                              <p:par>
                                <p:cTn id="70" presetID="10" presetClass="entr" presetSubtype="0" fill="hold" grpId="0" nodeType="afterEffect">
                                  <p:stCondLst>
                                    <p:cond delay="0"/>
                                  </p:stCondLst>
                                  <p:childTnLst>
                                    <p:set>
                                      <p:cBhvr>
                                        <p:cTn id="71" dur="1" fill="hold">
                                          <p:stCondLst>
                                            <p:cond delay="0"/>
                                          </p:stCondLst>
                                        </p:cTn>
                                        <p:tgtEl>
                                          <p:spTgt spid="28"/>
                                        </p:tgtEl>
                                        <p:attrNameLst>
                                          <p:attrName>style.visibility</p:attrName>
                                        </p:attrNameLst>
                                      </p:cBhvr>
                                      <p:to>
                                        <p:strVal val="visible"/>
                                      </p:to>
                                    </p:set>
                                    <p:animEffect transition="in" filter="fade">
                                      <p:cBhvr>
                                        <p:cTn id="72" dur="350"/>
                                        <p:tgtEl>
                                          <p:spTgt spid="28"/>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9"/>
                                        </p:tgtEl>
                                        <p:attrNameLst>
                                          <p:attrName>style.visibility</p:attrName>
                                        </p:attrNameLst>
                                      </p:cBhvr>
                                      <p:to>
                                        <p:strVal val="visible"/>
                                      </p:to>
                                    </p:set>
                                    <p:animEffect transition="in" filter="fade">
                                      <p:cBhvr>
                                        <p:cTn id="75" dur="350"/>
                                        <p:tgtEl>
                                          <p:spTgt spid="29"/>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30"/>
                                        </p:tgtEl>
                                        <p:attrNameLst>
                                          <p:attrName>style.visibility</p:attrName>
                                        </p:attrNameLst>
                                      </p:cBhvr>
                                      <p:to>
                                        <p:strVal val="visible"/>
                                      </p:to>
                                    </p:set>
                                    <p:animEffect transition="in" filter="fade">
                                      <p:cBhvr>
                                        <p:cTn id="78" dur="350"/>
                                        <p:tgtEl>
                                          <p:spTgt spid="30"/>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31"/>
                                        </p:tgtEl>
                                        <p:attrNameLst>
                                          <p:attrName>style.visibility</p:attrName>
                                        </p:attrNameLst>
                                      </p:cBhvr>
                                      <p:to>
                                        <p:strVal val="visible"/>
                                      </p:to>
                                    </p:set>
                                    <p:animEffect transition="in" filter="fade">
                                      <p:cBhvr>
                                        <p:cTn id="81" dur="350"/>
                                        <p:tgtEl>
                                          <p:spTgt spid="31"/>
                                        </p:tgtEl>
                                      </p:cBhvr>
                                    </p:animEffect>
                                  </p:childTnLst>
                                </p:cTn>
                              </p:par>
                            </p:childTnLst>
                          </p:cTn>
                        </p:par>
                        <p:par>
                          <p:cTn id="82" fill="hold">
                            <p:stCondLst>
                              <p:cond delay="2100"/>
                            </p:stCondLst>
                            <p:childTnLst>
                              <p:par>
                                <p:cTn id="83" presetID="10" presetClass="entr" presetSubtype="0" fill="hold" grpId="0" nodeType="afterEffect">
                                  <p:stCondLst>
                                    <p:cond delay="0"/>
                                  </p:stCondLst>
                                  <p:childTnLst>
                                    <p:set>
                                      <p:cBhvr>
                                        <p:cTn id="84" dur="1" fill="hold">
                                          <p:stCondLst>
                                            <p:cond delay="0"/>
                                          </p:stCondLst>
                                        </p:cTn>
                                        <p:tgtEl>
                                          <p:spTgt spid="32"/>
                                        </p:tgtEl>
                                        <p:attrNameLst>
                                          <p:attrName>style.visibility</p:attrName>
                                        </p:attrNameLst>
                                      </p:cBhvr>
                                      <p:to>
                                        <p:strVal val="visible"/>
                                      </p:to>
                                    </p:set>
                                    <p:animEffect transition="in" filter="fade">
                                      <p:cBhvr>
                                        <p:cTn id="85" dur="350"/>
                                        <p:tgtEl>
                                          <p:spTgt spid="32"/>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33"/>
                                        </p:tgtEl>
                                        <p:attrNameLst>
                                          <p:attrName>style.visibility</p:attrName>
                                        </p:attrNameLst>
                                      </p:cBhvr>
                                      <p:to>
                                        <p:strVal val="visible"/>
                                      </p:to>
                                    </p:set>
                                    <p:animEffect transition="in" filter="fade">
                                      <p:cBhvr>
                                        <p:cTn id="88" dur="350"/>
                                        <p:tgtEl>
                                          <p:spTgt spid="33"/>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4"/>
                                        </p:tgtEl>
                                        <p:attrNameLst>
                                          <p:attrName>style.visibility</p:attrName>
                                        </p:attrNameLst>
                                      </p:cBhvr>
                                      <p:to>
                                        <p:strVal val="visible"/>
                                      </p:to>
                                    </p:set>
                                    <p:animEffect transition="in" filter="fade">
                                      <p:cBhvr>
                                        <p:cTn id="91" dur="350"/>
                                        <p:tgtEl>
                                          <p:spTgt spid="34"/>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350"/>
                                        <p:tgtEl>
                                          <p:spTgt spid="35"/>
                                        </p:tgtEl>
                                      </p:cBhvr>
                                    </p:animEffect>
                                  </p:childTnLst>
                                </p:cTn>
                              </p:par>
                            </p:childTnLst>
                          </p:cTn>
                        </p:par>
                        <p:par>
                          <p:cTn id="95" fill="hold">
                            <p:stCondLst>
                              <p:cond delay="2450"/>
                            </p:stCondLst>
                            <p:childTnLst>
                              <p:par>
                                <p:cTn id="96" presetID="10" presetClass="entr" presetSubtype="0" fill="hold" grpId="0" nodeType="afterEffect">
                                  <p:stCondLst>
                                    <p:cond delay="0"/>
                                  </p:stCondLst>
                                  <p:childTnLst>
                                    <p:set>
                                      <p:cBhvr>
                                        <p:cTn id="97" dur="1" fill="hold">
                                          <p:stCondLst>
                                            <p:cond delay="0"/>
                                          </p:stCondLst>
                                        </p:cTn>
                                        <p:tgtEl>
                                          <p:spTgt spid="36"/>
                                        </p:tgtEl>
                                        <p:attrNameLst>
                                          <p:attrName>style.visibility</p:attrName>
                                        </p:attrNameLst>
                                      </p:cBhvr>
                                      <p:to>
                                        <p:strVal val="visible"/>
                                      </p:to>
                                    </p:set>
                                    <p:animEffect transition="in" filter="fade">
                                      <p:cBhvr>
                                        <p:cTn id="98" dur="350"/>
                                        <p:tgtEl>
                                          <p:spTgt spid="36"/>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37"/>
                                        </p:tgtEl>
                                        <p:attrNameLst>
                                          <p:attrName>style.visibility</p:attrName>
                                        </p:attrNameLst>
                                      </p:cBhvr>
                                      <p:to>
                                        <p:strVal val="visible"/>
                                      </p:to>
                                    </p:set>
                                    <p:animEffect transition="in" filter="fade">
                                      <p:cBhvr>
                                        <p:cTn id="101" dur="350"/>
                                        <p:tgtEl>
                                          <p:spTgt spid="37"/>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38"/>
                                        </p:tgtEl>
                                        <p:attrNameLst>
                                          <p:attrName>style.visibility</p:attrName>
                                        </p:attrNameLst>
                                      </p:cBhvr>
                                      <p:to>
                                        <p:strVal val="visible"/>
                                      </p:to>
                                    </p:set>
                                    <p:animEffect transition="in" filter="fade">
                                      <p:cBhvr>
                                        <p:cTn id="104" dur="350"/>
                                        <p:tgtEl>
                                          <p:spTgt spid="38"/>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39"/>
                                        </p:tgtEl>
                                        <p:attrNameLst>
                                          <p:attrName>style.visibility</p:attrName>
                                        </p:attrNameLst>
                                      </p:cBhvr>
                                      <p:to>
                                        <p:strVal val="visible"/>
                                      </p:to>
                                    </p:set>
                                    <p:animEffect transition="in" filter="fade">
                                      <p:cBhvr>
                                        <p:cTn id="107" dur="350"/>
                                        <p:tgtEl>
                                          <p:spTgt spid="39"/>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40"/>
                                        </p:tgtEl>
                                        <p:attrNameLst>
                                          <p:attrName>style.visibility</p:attrName>
                                        </p:attrNameLst>
                                      </p:cBhvr>
                                      <p:to>
                                        <p:strVal val="visible"/>
                                      </p:to>
                                    </p:set>
                                    <p:animEffect transition="in" filter="fade">
                                      <p:cBhvr>
                                        <p:cTn id="110" dur="350"/>
                                        <p:tgtEl>
                                          <p:spTgt spid="40"/>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41"/>
                                        </p:tgtEl>
                                        <p:attrNameLst>
                                          <p:attrName>style.visibility</p:attrName>
                                        </p:attrNameLst>
                                      </p:cBhvr>
                                      <p:to>
                                        <p:strVal val="visible"/>
                                      </p:to>
                                    </p:set>
                                    <p:animEffect transition="in" filter="fade">
                                      <p:cBhvr>
                                        <p:cTn id="113" dur="350"/>
                                        <p:tgtEl>
                                          <p:spTgt spid="41"/>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42"/>
                                        </p:tgtEl>
                                        <p:attrNameLst>
                                          <p:attrName>style.visibility</p:attrName>
                                        </p:attrNameLst>
                                      </p:cBhvr>
                                      <p:to>
                                        <p:strVal val="visible"/>
                                      </p:to>
                                    </p:set>
                                    <p:animEffect transition="in" filter="fade">
                                      <p:cBhvr>
                                        <p:cTn id="116" dur="350"/>
                                        <p:tgtEl>
                                          <p:spTgt spid="42"/>
                                        </p:tgtEl>
                                      </p:cBhvr>
                                    </p:animEffect>
                                  </p:childTnLst>
                                </p:cTn>
                              </p:par>
                              <p:par>
                                <p:cTn id="117" presetID="10" presetClass="entr" presetSubtype="0" fill="hold" grpId="0" nodeType="withEffect">
                                  <p:stCondLst>
                                    <p:cond delay="0"/>
                                  </p:stCondLst>
                                  <p:childTnLst>
                                    <p:set>
                                      <p:cBhvr>
                                        <p:cTn id="118" dur="1" fill="hold">
                                          <p:stCondLst>
                                            <p:cond delay="0"/>
                                          </p:stCondLst>
                                        </p:cTn>
                                        <p:tgtEl>
                                          <p:spTgt spid="43"/>
                                        </p:tgtEl>
                                        <p:attrNameLst>
                                          <p:attrName>style.visibility</p:attrName>
                                        </p:attrNameLst>
                                      </p:cBhvr>
                                      <p:to>
                                        <p:strVal val="visible"/>
                                      </p:to>
                                    </p:set>
                                    <p:animEffect transition="in" filter="fade">
                                      <p:cBhvr>
                                        <p:cTn id="119" dur="350"/>
                                        <p:tgtEl>
                                          <p:spTgt spid="43"/>
                                        </p:tgtEl>
                                      </p:cBhvr>
                                    </p:animEffect>
                                  </p:childTnLst>
                                </p:cTn>
                              </p:par>
                              <p:par>
                                <p:cTn id="120" presetID="10" presetClass="entr" presetSubtype="0" fill="hold" grpId="0" nodeType="withEffect">
                                  <p:stCondLst>
                                    <p:cond delay="0"/>
                                  </p:stCondLst>
                                  <p:childTnLst>
                                    <p:set>
                                      <p:cBhvr>
                                        <p:cTn id="121" dur="1" fill="hold">
                                          <p:stCondLst>
                                            <p:cond delay="0"/>
                                          </p:stCondLst>
                                        </p:cTn>
                                        <p:tgtEl>
                                          <p:spTgt spid="44"/>
                                        </p:tgtEl>
                                        <p:attrNameLst>
                                          <p:attrName>style.visibility</p:attrName>
                                        </p:attrNameLst>
                                      </p:cBhvr>
                                      <p:to>
                                        <p:strVal val="visible"/>
                                      </p:to>
                                    </p:set>
                                    <p:animEffect transition="in" filter="fade">
                                      <p:cBhvr>
                                        <p:cTn id="122" dur="350"/>
                                        <p:tgtEl>
                                          <p:spTgt spid="44"/>
                                        </p:tgtEl>
                                      </p:cBhvr>
                                    </p:animEffect>
                                  </p:childTnLst>
                                </p:cTn>
                              </p:par>
                              <p:par>
                                <p:cTn id="123" presetID="10" presetClass="entr" presetSubtype="0" fill="hold" grpId="0" nodeType="withEffect">
                                  <p:stCondLst>
                                    <p:cond delay="0"/>
                                  </p:stCondLst>
                                  <p:childTnLst>
                                    <p:set>
                                      <p:cBhvr>
                                        <p:cTn id="124" dur="1" fill="hold">
                                          <p:stCondLst>
                                            <p:cond delay="0"/>
                                          </p:stCondLst>
                                        </p:cTn>
                                        <p:tgtEl>
                                          <p:spTgt spid="45"/>
                                        </p:tgtEl>
                                        <p:attrNameLst>
                                          <p:attrName>style.visibility</p:attrName>
                                        </p:attrNameLst>
                                      </p:cBhvr>
                                      <p:to>
                                        <p:strVal val="visible"/>
                                      </p:to>
                                    </p:set>
                                    <p:animEffect transition="in" filter="fade">
                                      <p:cBhvr>
                                        <p:cTn id="125" dur="350"/>
                                        <p:tgtEl>
                                          <p:spTgt spid="45"/>
                                        </p:tgtEl>
                                      </p:cBhvr>
                                    </p:animEffect>
                                  </p:childTnLst>
                                </p:cTn>
                              </p:par>
                              <p:par>
                                <p:cTn id="126" presetID="10" presetClass="entr" presetSubtype="0" fill="hold" grpId="0" nodeType="withEffect">
                                  <p:stCondLst>
                                    <p:cond delay="0"/>
                                  </p:stCondLst>
                                  <p:childTnLst>
                                    <p:set>
                                      <p:cBhvr>
                                        <p:cTn id="127" dur="1" fill="hold">
                                          <p:stCondLst>
                                            <p:cond delay="0"/>
                                          </p:stCondLst>
                                        </p:cTn>
                                        <p:tgtEl>
                                          <p:spTgt spid="46"/>
                                        </p:tgtEl>
                                        <p:attrNameLst>
                                          <p:attrName>style.visibility</p:attrName>
                                        </p:attrNameLst>
                                      </p:cBhvr>
                                      <p:to>
                                        <p:strVal val="visible"/>
                                      </p:to>
                                    </p:set>
                                    <p:animEffect transition="in" filter="fade">
                                      <p:cBhvr>
                                        <p:cTn id="128" dur="350"/>
                                        <p:tgtEl>
                                          <p:spTgt spid="46"/>
                                        </p:tgtEl>
                                      </p:cBhvr>
                                    </p:animEffect>
                                  </p:childTnLst>
                                </p:cTn>
                              </p:par>
                              <p:par>
                                <p:cTn id="129" presetID="10" presetClass="entr" presetSubtype="0" fill="hold" grpId="0" nodeType="withEffect">
                                  <p:stCondLst>
                                    <p:cond delay="0"/>
                                  </p:stCondLst>
                                  <p:childTnLst>
                                    <p:set>
                                      <p:cBhvr>
                                        <p:cTn id="130" dur="1" fill="hold">
                                          <p:stCondLst>
                                            <p:cond delay="0"/>
                                          </p:stCondLst>
                                        </p:cTn>
                                        <p:tgtEl>
                                          <p:spTgt spid="47"/>
                                        </p:tgtEl>
                                        <p:attrNameLst>
                                          <p:attrName>style.visibility</p:attrName>
                                        </p:attrNameLst>
                                      </p:cBhvr>
                                      <p:to>
                                        <p:strVal val="visible"/>
                                      </p:to>
                                    </p:set>
                                    <p:animEffect transition="in" filter="fade">
                                      <p:cBhvr>
                                        <p:cTn id="131" dur="350"/>
                                        <p:tgtEl>
                                          <p:spTgt spid="47"/>
                                        </p:tgtEl>
                                      </p:cBhvr>
                                    </p:animEffect>
                                  </p:childTnLst>
                                </p:cTn>
                              </p:par>
                              <p:par>
                                <p:cTn id="132" presetID="10" presetClass="entr" presetSubtype="0" fill="hold" grpId="0" nodeType="withEffect">
                                  <p:stCondLst>
                                    <p:cond delay="0"/>
                                  </p:stCondLst>
                                  <p:childTnLst>
                                    <p:set>
                                      <p:cBhvr>
                                        <p:cTn id="133" dur="1" fill="hold">
                                          <p:stCondLst>
                                            <p:cond delay="0"/>
                                          </p:stCondLst>
                                        </p:cTn>
                                        <p:tgtEl>
                                          <p:spTgt spid="48"/>
                                        </p:tgtEl>
                                        <p:attrNameLst>
                                          <p:attrName>style.visibility</p:attrName>
                                        </p:attrNameLst>
                                      </p:cBhvr>
                                      <p:to>
                                        <p:strVal val="visible"/>
                                      </p:to>
                                    </p:set>
                                    <p:animEffect transition="in" filter="fade">
                                      <p:cBhvr>
                                        <p:cTn id="134" dur="350"/>
                                        <p:tgtEl>
                                          <p:spTgt spid="48"/>
                                        </p:tgtEl>
                                      </p:cBhvr>
                                    </p:animEffect>
                                  </p:childTnLst>
                                </p:cTn>
                              </p:par>
                              <p:par>
                                <p:cTn id="135" presetID="10" presetClass="entr" presetSubtype="0" fill="hold" grpId="0" nodeType="withEffect">
                                  <p:stCondLst>
                                    <p:cond delay="0"/>
                                  </p:stCondLst>
                                  <p:childTnLst>
                                    <p:set>
                                      <p:cBhvr>
                                        <p:cTn id="136" dur="1" fill="hold">
                                          <p:stCondLst>
                                            <p:cond delay="0"/>
                                          </p:stCondLst>
                                        </p:cTn>
                                        <p:tgtEl>
                                          <p:spTgt spid="49"/>
                                        </p:tgtEl>
                                        <p:attrNameLst>
                                          <p:attrName>style.visibility</p:attrName>
                                        </p:attrNameLst>
                                      </p:cBhvr>
                                      <p:to>
                                        <p:strVal val="visible"/>
                                      </p:to>
                                    </p:set>
                                    <p:animEffect transition="in" filter="fade">
                                      <p:cBhvr>
                                        <p:cTn id="137" dur="350"/>
                                        <p:tgtEl>
                                          <p:spTgt spid="49"/>
                                        </p:tgtEl>
                                      </p:cBhvr>
                                    </p:animEffect>
                                  </p:childTnLst>
                                </p:cTn>
                              </p:par>
                              <p:par>
                                <p:cTn id="138" presetID="10" presetClass="entr" presetSubtype="0" fill="hold" grpId="0" nodeType="withEffect">
                                  <p:stCondLst>
                                    <p:cond delay="0"/>
                                  </p:stCondLst>
                                  <p:childTnLst>
                                    <p:set>
                                      <p:cBhvr>
                                        <p:cTn id="139" dur="1" fill="hold">
                                          <p:stCondLst>
                                            <p:cond delay="0"/>
                                          </p:stCondLst>
                                        </p:cTn>
                                        <p:tgtEl>
                                          <p:spTgt spid="50"/>
                                        </p:tgtEl>
                                        <p:attrNameLst>
                                          <p:attrName>style.visibility</p:attrName>
                                        </p:attrNameLst>
                                      </p:cBhvr>
                                      <p:to>
                                        <p:strVal val="visible"/>
                                      </p:to>
                                    </p:set>
                                    <p:animEffect transition="in" filter="fade">
                                      <p:cBhvr>
                                        <p:cTn id="140" dur="350"/>
                                        <p:tgtEl>
                                          <p:spTgt spid="50"/>
                                        </p:tgtEl>
                                      </p:cBhvr>
                                    </p:animEffect>
                                  </p:childTnLst>
                                </p:cTn>
                              </p:par>
                              <p:par>
                                <p:cTn id="141" presetID="10" presetClass="entr" presetSubtype="0" fill="hold" grpId="0" nodeType="withEffect">
                                  <p:stCondLst>
                                    <p:cond delay="0"/>
                                  </p:stCondLst>
                                  <p:childTnLst>
                                    <p:set>
                                      <p:cBhvr>
                                        <p:cTn id="142" dur="1" fill="hold">
                                          <p:stCondLst>
                                            <p:cond delay="0"/>
                                          </p:stCondLst>
                                        </p:cTn>
                                        <p:tgtEl>
                                          <p:spTgt spid="51"/>
                                        </p:tgtEl>
                                        <p:attrNameLst>
                                          <p:attrName>style.visibility</p:attrName>
                                        </p:attrNameLst>
                                      </p:cBhvr>
                                      <p:to>
                                        <p:strVal val="visible"/>
                                      </p:to>
                                    </p:set>
                                    <p:animEffect transition="in" filter="fade">
                                      <p:cBhvr>
                                        <p:cTn id="143" dur="350"/>
                                        <p:tgtEl>
                                          <p:spTgt spid="51"/>
                                        </p:tgtEl>
                                      </p:cBhvr>
                                    </p:animEffect>
                                  </p:childTnLst>
                                </p:cTn>
                              </p:par>
                              <p:par>
                                <p:cTn id="144" presetID="10" presetClass="entr" presetSubtype="0" fill="hold" grpId="0" nodeType="withEffect">
                                  <p:stCondLst>
                                    <p:cond delay="0"/>
                                  </p:stCondLst>
                                  <p:childTnLst>
                                    <p:set>
                                      <p:cBhvr>
                                        <p:cTn id="145" dur="1" fill="hold">
                                          <p:stCondLst>
                                            <p:cond delay="0"/>
                                          </p:stCondLst>
                                        </p:cTn>
                                        <p:tgtEl>
                                          <p:spTgt spid="52"/>
                                        </p:tgtEl>
                                        <p:attrNameLst>
                                          <p:attrName>style.visibility</p:attrName>
                                        </p:attrNameLst>
                                      </p:cBhvr>
                                      <p:to>
                                        <p:strVal val="visible"/>
                                      </p:to>
                                    </p:set>
                                    <p:animEffect transition="in" filter="fade">
                                      <p:cBhvr>
                                        <p:cTn id="146" dur="350"/>
                                        <p:tgtEl>
                                          <p:spTgt spid="52"/>
                                        </p:tgtEl>
                                      </p:cBhvr>
                                    </p:animEffect>
                                  </p:childTnLst>
                                </p:cTn>
                              </p:par>
                            </p:childTnLst>
                          </p:cTn>
                        </p:par>
                        <p:par>
                          <p:cTn id="147" fill="hold">
                            <p:stCondLst>
                              <p:cond delay="2800"/>
                            </p:stCondLst>
                            <p:childTnLst>
                              <p:par>
                                <p:cTn id="148" presetID="10" presetClass="entr" presetSubtype="0" fill="hold" grpId="0" nodeType="afterEffect">
                                  <p:stCondLst>
                                    <p:cond delay="0"/>
                                  </p:stCondLst>
                                  <p:childTnLst>
                                    <p:set>
                                      <p:cBhvr>
                                        <p:cTn id="149" dur="1" fill="hold">
                                          <p:stCondLst>
                                            <p:cond delay="0"/>
                                          </p:stCondLst>
                                        </p:cTn>
                                        <p:tgtEl>
                                          <p:spTgt spid="53"/>
                                        </p:tgtEl>
                                        <p:attrNameLst>
                                          <p:attrName>style.visibility</p:attrName>
                                        </p:attrNameLst>
                                      </p:cBhvr>
                                      <p:to>
                                        <p:strVal val="visible"/>
                                      </p:to>
                                    </p:set>
                                    <p:animEffect transition="in" filter="fade">
                                      <p:cBhvr>
                                        <p:cTn id="150" dur="350"/>
                                        <p:tgtEl>
                                          <p:spTgt spid="53"/>
                                        </p:tgtEl>
                                      </p:cBhvr>
                                    </p:animEffect>
                                  </p:childTnLst>
                                </p:cTn>
                              </p:par>
                              <p:par>
                                <p:cTn id="151" presetID="10" presetClass="entr" presetSubtype="0" fill="hold" grpId="0" nodeType="withEffect">
                                  <p:stCondLst>
                                    <p:cond delay="0"/>
                                  </p:stCondLst>
                                  <p:childTnLst>
                                    <p:set>
                                      <p:cBhvr>
                                        <p:cTn id="152" dur="1" fill="hold">
                                          <p:stCondLst>
                                            <p:cond delay="0"/>
                                          </p:stCondLst>
                                        </p:cTn>
                                        <p:tgtEl>
                                          <p:spTgt spid="54"/>
                                        </p:tgtEl>
                                        <p:attrNameLst>
                                          <p:attrName>style.visibility</p:attrName>
                                        </p:attrNameLst>
                                      </p:cBhvr>
                                      <p:to>
                                        <p:strVal val="visible"/>
                                      </p:to>
                                    </p:set>
                                    <p:animEffect transition="in" filter="fade">
                                      <p:cBhvr>
                                        <p:cTn id="153" dur="350"/>
                                        <p:tgtEl>
                                          <p:spTgt spid="54"/>
                                        </p:tgtEl>
                                      </p:cBhvr>
                                    </p:animEffect>
                                  </p:childTnLst>
                                </p:cTn>
                              </p:par>
                              <p:par>
                                <p:cTn id="154" presetID="10" presetClass="entr" presetSubtype="0" fill="hold" grpId="0" nodeType="withEffect">
                                  <p:stCondLst>
                                    <p:cond delay="0"/>
                                  </p:stCondLst>
                                  <p:childTnLst>
                                    <p:set>
                                      <p:cBhvr>
                                        <p:cTn id="155" dur="1" fill="hold">
                                          <p:stCondLst>
                                            <p:cond delay="0"/>
                                          </p:stCondLst>
                                        </p:cTn>
                                        <p:tgtEl>
                                          <p:spTgt spid="55"/>
                                        </p:tgtEl>
                                        <p:attrNameLst>
                                          <p:attrName>style.visibility</p:attrName>
                                        </p:attrNameLst>
                                      </p:cBhvr>
                                      <p:to>
                                        <p:strVal val="visible"/>
                                      </p:to>
                                    </p:set>
                                    <p:animEffect transition="in" filter="fade">
                                      <p:cBhvr>
                                        <p:cTn id="156" dur="350"/>
                                        <p:tgtEl>
                                          <p:spTgt spid="55"/>
                                        </p:tgtEl>
                                      </p:cBhvr>
                                    </p:animEffect>
                                  </p:childTnLst>
                                </p:cTn>
                              </p:par>
                              <p:par>
                                <p:cTn id="157" presetID="10" presetClass="entr" presetSubtype="0" fill="hold" grpId="0" nodeType="withEffect">
                                  <p:stCondLst>
                                    <p:cond delay="0"/>
                                  </p:stCondLst>
                                  <p:childTnLst>
                                    <p:set>
                                      <p:cBhvr>
                                        <p:cTn id="158" dur="1" fill="hold">
                                          <p:stCondLst>
                                            <p:cond delay="0"/>
                                          </p:stCondLst>
                                        </p:cTn>
                                        <p:tgtEl>
                                          <p:spTgt spid="56"/>
                                        </p:tgtEl>
                                        <p:attrNameLst>
                                          <p:attrName>style.visibility</p:attrName>
                                        </p:attrNameLst>
                                      </p:cBhvr>
                                      <p:to>
                                        <p:strVal val="visible"/>
                                      </p:to>
                                    </p:set>
                                    <p:animEffect transition="in" filter="fade">
                                      <p:cBhvr>
                                        <p:cTn id="159" dur="35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9" grpId="0" animBg="1"/>
      <p:bldP spid="40" grpId="0" animBg="1"/>
      <p:bldP spid="42" grpId="0" animBg="1"/>
      <p:bldP spid="43" grpId="0" animBg="1"/>
      <p:bldP spid="45" grpId="0" animBg="1"/>
      <p:bldP spid="46" grpId="0" animBg="1"/>
      <p:bldP spid="48" grpId="0" animBg="1"/>
      <p:bldP spid="49" grpId="0" animBg="1"/>
      <p:bldP spid="51" grpId="0" animBg="1"/>
      <p:bldP spid="52" grpId="0" animBg="1"/>
      <p:bldP spid="53" grpId="0" animBg="1"/>
      <p:bldP spid="54" grpId="0" animBg="1"/>
      <p:bldP spid="55" grpId="0" animBg="1"/>
      <p:bldP spid="56" grpId="0" animBg="1"/>
    </p:bld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lano de fundo do modelo" descr="tpl_bg.png"/>
          <p:cNvPicPr>
            <a:picLocks noChangeAspect="1"/>
          </p:cNvPicPr>
          <p:nvPr/>
        </p:nvPicPr>
        <p:blipFill>
          <a:blip r:embed="rId2"/>
          <a:stretch>
            <a:fillRect/>
          </a:stretch>
        </p:blipFill>
        <p:spPr>
          <a:xfrm>
            <a:off x="20" y="1923"/>
            <a:ext cx="18287980" cy="10285077"/>
          </a:xfrm>
          <a:prstGeom prst="rect">
            <a:avLst/>
          </a:prstGeom>
        </p:spPr>
      </p:pic>
      <p:sp>
        <p:nvSpPr>
          <p:cNvPr id="3" name="Retângulo branco (modelo)"/>
          <p:cNvSpPr/>
          <p:nvPr/>
        </p:nvSpPr>
        <p:spPr>
          <a:xfrm>
            <a:off x="15888345" y="279974"/>
            <a:ext cx="2362200" cy="863025"/>
          </a:xfrm>
          <a:prstGeom prst="rect">
            <a:avLst/>
          </a:prstGeom>
          <a:solidFill>
            <a:srgbClr val="FFFFFF"/>
          </a:solidFill>
          <a:ln>
            <a:noFill/>
          </a:ln>
        </p:spPr>
        <p:txBody>
          <a:bodyPr rtlCol="0" anchor="ctr"/>
          <a:lstStyle/>
          <a:p>
            <a:pPr algn="ctr"/>
          </a:p>
        </p:txBody>
      </p:sp>
      <p:pic>
        <p:nvPicPr>
          <p:cNvPr id="4" name="Logo SEMICA" descr="image.png"/>
          <p:cNvPicPr>
            <a:picLocks noChangeAspect="1"/>
          </p:cNvPicPr>
          <p:nvPr/>
        </p:nvPicPr>
        <p:blipFill>
          <a:blip r:embed="rId3"/>
          <a:stretch>
            <a:fillRect/>
          </a:stretch>
        </p:blipFill>
        <p:spPr>
          <a:xfrm>
            <a:off x="15544800" y="279974"/>
            <a:ext cx="2512314" cy="1234862"/>
          </a:xfrm>
          <a:prstGeom prst="rect">
            <a:avLst/>
          </a:prstGeom>
        </p:spPr>
      </p:pic>
      <p:sp>
        <p:nvSpPr>
          <p:cNvPr id="5" name="Título da seção"/>
          <p:cNvSpPr txBox="1"/>
          <p:nvPr/>
        </p:nvSpPr>
        <p:spPr>
          <a:xfrm>
            <a:off x="1143000" y="558224"/>
            <a:ext cx="10058400" cy="584775"/>
          </a:xfrm>
          <a:prstGeom prst="rect">
            <a:avLst/>
          </a:prstGeom>
          <a:noFill/>
        </p:spPr>
        <p:txBody>
          <a:bodyPr wrap="square">
            <a:noAutofit/>
          </a:bodyPr>
          <a:lstStyle/>
          <a:p>
            <a:pPr algn="l">
              <a:lnSpc>
                <a:spcPct val="100000"/>
              </a:lnSpc>
              <a:spcAft>
                <a:spcPts val="0"/>
              </a:spcAft>
              <a:buNone/>
            </a:pPr>
            <a:r>
              <a:rPr sz="3200" b="0" i="0">
                <a:solidFill>
                  <a:srgbClr val="000000"/>
                </a:solidFill>
                <a:latin typeface="Arial"/>
              </a:rPr>
              <a:t>METODOLOGIA</a:t>
            </a:r>
          </a:p>
        </p:txBody>
      </p:sp>
      <p:sp>
        <p:nvSpPr>
          <p:cNvPr id="6" name="Subtítulo"/>
          <p:cNvSpPr txBox="1"/>
          <p:nvPr/>
        </p:nvSpPr>
        <p:spPr>
          <a:xfrm>
            <a:off x="1143000" y="1097280"/>
            <a:ext cx="14173200" cy="502920"/>
          </a:xfrm>
          <a:prstGeom prst="rect">
            <a:avLst/>
          </a:prstGeom>
          <a:noFill/>
        </p:spPr>
        <p:txBody>
          <a:bodyPr wrap="square" lIns="0" rIns="0" tIns="0" bIns="0" anchor="t">
            <a:noAutofit/>
          </a:bodyPr>
          <a:lstStyle/>
          <a:p>
            <a:pPr algn="l">
              <a:lnSpc>
                <a:spcPct val="100000"/>
              </a:lnSpc>
              <a:spcAft>
                <a:spcPts val="0"/>
              </a:spcAft>
              <a:buNone/>
            </a:pPr>
            <a:r>
              <a:rPr sz="2400" b="1" i="0">
                <a:solidFill>
                  <a:srgbClr val="002060"/>
                </a:solidFill>
                <a:latin typeface="Arial"/>
              </a:rPr>
              <a:t>Passos 1 e 2 · Critérios de elegibilidade e busca de alta sensibilidade</a:t>
            </a:r>
          </a:p>
        </p:txBody>
      </p:sp>
      <p:cxnSp>
        <p:nvCxnSpPr>
          <p:cNvPr id="7" name="Connector 6"/>
          <p:cNvCxnSpPr/>
          <p:nvPr/>
        </p:nvCxnSpPr>
        <p:spPr>
          <a:xfrm>
            <a:off x="2410097" y="9454896"/>
            <a:ext cx="14107885" cy="0"/>
          </a:xfrm>
          <a:prstGeom prst="line">
            <a:avLst/>
          </a:prstGeom>
          <a:ln w="31750">
            <a:solidFill>
              <a:srgbClr val="C9CFDA"/>
            </a:solidFill>
          </a:ln>
        </p:spPr>
      </p:cxnSp>
      <p:sp>
        <p:nvSpPr>
          <p:cNvPr id="8" name="Oval 7"/>
          <p:cNvSpPr/>
          <p:nvPr/>
        </p:nvSpPr>
        <p:spPr>
          <a:xfrm>
            <a:off x="2208929" y="9253728"/>
            <a:ext cx="402336" cy="402336"/>
          </a:xfrm>
          <a:prstGeom prst="ellipse">
            <a:avLst/>
          </a:prstGeom>
          <a:solidFill>
            <a:srgbClr val="8B0000"/>
          </a:solidFill>
          <a:ln>
            <a:noFill/>
          </a:ln>
          <a:effectLst/>
        </p:spPr>
        <p:txBody>
          <a:bodyPr rtlCol="0" anchor="ctr" lIns="0" rIns="0" tIns="0" bIns="0" wrap="square">
            <a:noAutofit/>
          </a:bodyPr>
          <a:lstStyle/>
          <a:p>
            <a:pPr algn="ctr">
              <a:lnSpc>
                <a:spcPct val="100000"/>
              </a:lnSpc>
              <a:spcAft>
                <a:spcPts val="0"/>
              </a:spcAft>
              <a:buNone/>
            </a:pPr>
            <a:r>
              <a:rPr sz="1600" b="1" i="0">
                <a:solidFill>
                  <a:srgbClr val="FFFFFF"/>
                </a:solidFill>
                <a:latin typeface="Arial"/>
              </a:rPr>
              <a:t>1</a:t>
            </a:r>
          </a:p>
        </p:txBody>
      </p:sp>
      <p:sp>
        <p:nvSpPr>
          <p:cNvPr id="9" name="TextBox 8"/>
          <p:cNvSpPr txBox="1"/>
          <p:nvPr/>
        </p:nvSpPr>
        <p:spPr>
          <a:xfrm>
            <a:off x="1234439" y="9710928"/>
            <a:ext cx="2351314" cy="365760"/>
          </a:xfrm>
          <a:prstGeom prst="rect">
            <a:avLst/>
          </a:prstGeom>
          <a:noFill/>
        </p:spPr>
        <p:txBody>
          <a:bodyPr wrap="square" lIns="0" rIns="0" tIns="0" bIns="0" anchor="t">
            <a:noAutofit/>
          </a:bodyPr>
          <a:lstStyle/>
          <a:p>
            <a:pPr algn="ctr">
              <a:lnSpc>
                <a:spcPct val="100000"/>
              </a:lnSpc>
              <a:spcAft>
                <a:spcPts val="0"/>
              </a:spcAft>
              <a:buNone/>
            </a:pPr>
            <a:r>
              <a:rPr sz="1400" b="1" i="0">
                <a:solidFill>
                  <a:srgbClr val="002060"/>
                </a:solidFill>
                <a:latin typeface="Arial"/>
              </a:rPr>
              <a:t>Protocolo</a:t>
            </a:r>
          </a:p>
        </p:txBody>
      </p:sp>
      <p:sp>
        <p:nvSpPr>
          <p:cNvPr id="10" name="Oval 9"/>
          <p:cNvSpPr/>
          <p:nvPr/>
        </p:nvSpPr>
        <p:spPr>
          <a:xfrm>
            <a:off x="4560243" y="9253728"/>
            <a:ext cx="402336" cy="402336"/>
          </a:xfrm>
          <a:prstGeom prst="ellipse">
            <a:avLst/>
          </a:prstGeom>
          <a:solidFill>
            <a:srgbClr val="8B0000"/>
          </a:solidFill>
          <a:ln>
            <a:noFill/>
          </a:ln>
          <a:effectLst/>
        </p:spPr>
        <p:txBody>
          <a:bodyPr rtlCol="0" anchor="ctr" lIns="0" rIns="0" tIns="0" bIns="0" wrap="square">
            <a:noAutofit/>
          </a:bodyPr>
          <a:lstStyle/>
          <a:p>
            <a:pPr algn="ctr">
              <a:lnSpc>
                <a:spcPct val="100000"/>
              </a:lnSpc>
              <a:spcAft>
                <a:spcPts val="0"/>
              </a:spcAft>
              <a:buNone/>
            </a:pPr>
            <a:r>
              <a:rPr sz="1600" b="1" i="0">
                <a:solidFill>
                  <a:srgbClr val="FFFFFF"/>
                </a:solidFill>
                <a:latin typeface="Arial"/>
              </a:rPr>
              <a:t>2</a:t>
            </a:r>
          </a:p>
        </p:txBody>
      </p:sp>
      <p:sp>
        <p:nvSpPr>
          <p:cNvPr id="11" name="TextBox 10"/>
          <p:cNvSpPr txBox="1"/>
          <p:nvPr/>
        </p:nvSpPr>
        <p:spPr>
          <a:xfrm>
            <a:off x="3585754" y="9710928"/>
            <a:ext cx="2351314" cy="365760"/>
          </a:xfrm>
          <a:prstGeom prst="rect">
            <a:avLst/>
          </a:prstGeom>
          <a:noFill/>
        </p:spPr>
        <p:txBody>
          <a:bodyPr wrap="square" lIns="0" rIns="0" tIns="0" bIns="0" anchor="t">
            <a:noAutofit/>
          </a:bodyPr>
          <a:lstStyle/>
          <a:p>
            <a:pPr algn="ctr">
              <a:lnSpc>
                <a:spcPct val="100000"/>
              </a:lnSpc>
              <a:spcAft>
                <a:spcPts val="0"/>
              </a:spcAft>
              <a:buNone/>
            </a:pPr>
            <a:r>
              <a:rPr sz="1400" b="1" i="0">
                <a:solidFill>
                  <a:srgbClr val="002060"/>
                </a:solidFill>
                <a:latin typeface="Arial"/>
              </a:rPr>
              <a:t>Busca</a:t>
            </a:r>
          </a:p>
        </p:txBody>
      </p:sp>
      <p:sp>
        <p:nvSpPr>
          <p:cNvPr id="12" name="Oval 11"/>
          <p:cNvSpPr/>
          <p:nvPr/>
        </p:nvSpPr>
        <p:spPr>
          <a:xfrm>
            <a:off x="6948133" y="9290304"/>
            <a:ext cx="329184" cy="329184"/>
          </a:xfrm>
          <a:prstGeom prst="ellipse">
            <a:avLst/>
          </a:prstGeom>
          <a:solidFill>
            <a:srgbClr val="C9CFDA"/>
          </a:solidFill>
          <a:ln>
            <a:noFill/>
          </a:ln>
          <a:effectLst/>
        </p:spPr>
        <p:txBody>
          <a:bodyPr rtlCol="0" anchor="ctr" lIns="0" rIns="0" tIns="0" bIns="0" wrap="square">
            <a:noAutofit/>
          </a:bodyPr>
          <a:lstStyle/>
          <a:p>
            <a:pPr algn="ctr">
              <a:lnSpc>
                <a:spcPct val="100000"/>
              </a:lnSpc>
              <a:spcAft>
                <a:spcPts val="0"/>
              </a:spcAft>
              <a:buNone/>
            </a:pPr>
            <a:r>
              <a:rPr sz="1300" b="1" i="0">
                <a:solidFill>
                  <a:srgbClr val="FFFFFF"/>
                </a:solidFill>
                <a:latin typeface="Arial"/>
              </a:rPr>
              <a:t>3</a:t>
            </a:r>
          </a:p>
        </p:txBody>
      </p:sp>
      <p:sp>
        <p:nvSpPr>
          <p:cNvPr id="13" name="TextBox 12"/>
          <p:cNvSpPr txBox="1"/>
          <p:nvPr/>
        </p:nvSpPr>
        <p:spPr>
          <a:xfrm>
            <a:off x="5937068" y="9710928"/>
            <a:ext cx="2351314" cy="365760"/>
          </a:xfrm>
          <a:prstGeom prst="rect">
            <a:avLst/>
          </a:prstGeom>
          <a:noFill/>
        </p:spPr>
        <p:txBody>
          <a:bodyPr wrap="square" lIns="0" rIns="0" tIns="0" bIns="0" anchor="t">
            <a:noAutofit/>
          </a:bodyPr>
          <a:lstStyle/>
          <a:p>
            <a:pPr algn="ctr">
              <a:lnSpc>
                <a:spcPct val="100000"/>
              </a:lnSpc>
              <a:spcAft>
                <a:spcPts val="0"/>
              </a:spcAft>
              <a:buNone/>
            </a:pPr>
            <a:r>
              <a:rPr sz="1400" b="0" i="0">
                <a:solidFill>
                  <a:srgbClr val="5A6270"/>
                </a:solidFill>
                <a:latin typeface="Arial"/>
              </a:rPr>
              <a:t>Seleção</a:t>
            </a:r>
          </a:p>
        </p:txBody>
      </p:sp>
      <p:sp>
        <p:nvSpPr>
          <p:cNvPr id="14" name="Oval 13"/>
          <p:cNvSpPr/>
          <p:nvPr/>
        </p:nvSpPr>
        <p:spPr>
          <a:xfrm>
            <a:off x="9299447" y="9290304"/>
            <a:ext cx="329184" cy="329184"/>
          </a:xfrm>
          <a:prstGeom prst="ellipse">
            <a:avLst/>
          </a:prstGeom>
          <a:solidFill>
            <a:srgbClr val="C9CFDA"/>
          </a:solidFill>
          <a:ln>
            <a:noFill/>
          </a:ln>
          <a:effectLst/>
        </p:spPr>
        <p:txBody>
          <a:bodyPr rtlCol="0" anchor="ctr" lIns="0" rIns="0" tIns="0" bIns="0" wrap="square">
            <a:noAutofit/>
          </a:bodyPr>
          <a:lstStyle/>
          <a:p>
            <a:pPr algn="ctr">
              <a:lnSpc>
                <a:spcPct val="100000"/>
              </a:lnSpc>
              <a:spcAft>
                <a:spcPts val="0"/>
              </a:spcAft>
              <a:buNone/>
            </a:pPr>
            <a:r>
              <a:rPr sz="1300" b="1" i="0">
                <a:solidFill>
                  <a:srgbClr val="FFFFFF"/>
                </a:solidFill>
                <a:latin typeface="Arial"/>
              </a:rPr>
              <a:t>4</a:t>
            </a:r>
          </a:p>
        </p:txBody>
      </p:sp>
      <p:sp>
        <p:nvSpPr>
          <p:cNvPr id="15" name="TextBox 14"/>
          <p:cNvSpPr txBox="1"/>
          <p:nvPr/>
        </p:nvSpPr>
        <p:spPr>
          <a:xfrm>
            <a:off x="8288382" y="9710928"/>
            <a:ext cx="2351314" cy="365760"/>
          </a:xfrm>
          <a:prstGeom prst="rect">
            <a:avLst/>
          </a:prstGeom>
          <a:noFill/>
        </p:spPr>
        <p:txBody>
          <a:bodyPr wrap="square" lIns="0" rIns="0" tIns="0" bIns="0" anchor="t">
            <a:noAutofit/>
          </a:bodyPr>
          <a:lstStyle/>
          <a:p>
            <a:pPr algn="ctr">
              <a:lnSpc>
                <a:spcPct val="100000"/>
              </a:lnSpc>
              <a:spcAft>
                <a:spcPts val="0"/>
              </a:spcAft>
              <a:buNone/>
            </a:pPr>
            <a:r>
              <a:rPr sz="1400" b="0" i="0">
                <a:solidFill>
                  <a:srgbClr val="5A6270"/>
                </a:solidFill>
                <a:latin typeface="Arial"/>
              </a:rPr>
              <a:t>Extração</a:t>
            </a:r>
          </a:p>
        </p:txBody>
      </p:sp>
      <p:sp>
        <p:nvSpPr>
          <p:cNvPr id="16" name="Oval 15"/>
          <p:cNvSpPr/>
          <p:nvPr/>
        </p:nvSpPr>
        <p:spPr>
          <a:xfrm>
            <a:off x="11650762" y="9290304"/>
            <a:ext cx="329184" cy="329184"/>
          </a:xfrm>
          <a:prstGeom prst="ellipse">
            <a:avLst/>
          </a:prstGeom>
          <a:solidFill>
            <a:srgbClr val="C9CFDA"/>
          </a:solidFill>
          <a:ln>
            <a:noFill/>
          </a:ln>
          <a:effectLst/>
        </p:spPr>
        <p:txBody>
          <a:bodyPr rtlCol="0" anchor="ctr" lIns="0" rIns="0" tIns="0" bIns="0" wrap="square">
            <a:noAutofit/>
          </a:bodyPr>
          <a:lstStyle/>
          <a:p>
            <a:pPr algn="ctr">
              <a:lnSpc>
                <a:spcPct val="100000"/>
              </a:lnSpc>
              <a:spcAft>
                <a:spcPts val="0"/>
              </a:spcAft>
              <a:buNone/>
            </a:pPr>
            <a:r>
              <a:rPr sz="1300" b="1" i="0">
                <a:solidFill>
                  <a:srgbClr val="FFFFFF"/>
                </a:solidFill>
                <a:latin typeface="Arial"/>
              </a:rPr>
              <a:t>5</a:t>
            </a:r>
          </a:p>
        </p:txBody>
      </p:sp>
      <p:sp>
        <p:nvSpPr>
          <p:cNvPr id="17" name="TextBox 16"/>
          <p:cNvSpPr txBox="1"/>
          <p:nvPr/>
        </p:nvSpPr>
        <p:spPr>
          <a:xfrm>
            <a:off x="10639697" y="9710928"/>
            <a:ext cx="2351314" cy="365760"/>
          </a:xfrm>
          <a:prstGeom prst="rect">
            <a:avLst/>
          </a:prstGeom>
          <a:noFill/>
        </p:spPr>
        <p:txBody>
          <a:bodyPr wrap="square" lIns="0" rIns="0" tIns="0" bIns="0" anchor="t">
            <a:noAutofit/>
          </a:bodyPr>
          <a:lstStyle/>
          <a:p>
            <a:pPr algn="ctr">
              <a:lnSpc>
                <a:spcPct val="100000"/>
              </a:lnSpc>
              <a:spcAft>
                <a:spcPts val="0"/>
              </a:spcAft>
              <a:buNone/>
            </a:pPr>
            <a:r>
              <a:rPr sz="1400" b="0" i="0">
                <a:solidFill>
                  <a:srgbClr val="5A6270"/>
                </a:solidFill>
                <a:latin typeface="Arial"/>
              </a:rPr>
              <a:t>Risco de viés</a:t>
            </a:r>
          </a:p>
        </p:txBody>
      </p:sp>
      <p:sp>
        <p:nvSpPr>
          <p:cNvPr id="18" name="Oval 17"/>
          <p:cNvSpPr/>
          <p:nvPr/>
        </p:nvSpPr>
        <p:spPr>
          <a:xfrm>
            <a:off x="14002076" y="9290304"/>
            <a:ext cx="329184" cy="329184"/>
          </a:xfrm>
          <a:prstGeom prst="ellipse">
            <a:avLst/>
          </a:prstGeom>
          <a:solidFill>
            <a:srgbClr val="C9CFDA"/>
          </a:solidFill>
          <a:ln>
            <a:noFill/>
          </a:ln>
          <a:effectLst/>
        </p:spPr>
        <p:txBody>
          <a:bodyPr rtlCol="0" anchor="ctr" lIns="0" rIns="0" tIns="0" bIns="0" wrap="square">
            <a:noAutofit/>
          </a:bodyPr>
          <a:lstStyle/>
          <a:p>
            <a:pPr algn="ctr">
              <a:lnSpc>
                <a:spcPct val="100000"/>
              </a:lnSpc>
              <a:spcAft>
                <a:spcPts val="0"/>
              </a:spcAft>
              <a:buNone/>
            </a:pPr>
            <a:r>
              <a:rPr sz="1300" b="1" i="0">
                <a:solidFill>
                  <a:srgbClr val="FFFFFF"/>
                </a:solidFill>
                <a:latin typeface="Arial"/>
              </a:rPr>
              <a:t>6</a:t>
            </a:r>
          </a:p>
        </p:txBody>
      </p:sp>
      <p:sp>
        <p:nvSpPr>
          <p:cNvPr id="19" name="TextBox 18"/>
          <p:cNvSpPr txBox="1"/>
          <p:nvPr/>
        </p:nvSpPr>
        <p:spPr>
          <a:xfrm>
            <a:off x="12991011" y="9710928"/>
            <a:ext cx="2351314" cy="365760"/>
          </a:xfrm>
          <a:prstGeom prst="rect">
            <a:avLst/>
          </a:prstGeom>
          <a:noFill/>
        </p:spPr>
        <p:txBody>
          <a:bodyPr wrap="square" lIns="0" rIns="0" tIns="0" bIns="0" anchor="t">
            <a:noAutofit/>
          </a:bodyPr>
          <a:lstStyle/>
          <a:p>
            <a:pPr algn="ctr">
              <a:lnSpc>
                <a:spcPct val="100000"/>
              </a:lnSpc>
              <a:spcAft>
                <a:spcPts val="0"/>
              </a:spcAft>
              <a:buNone/>
            </a:pPr>
            <a:r>
              <a:rPr sz="1400" b="0" i="0">
                <a:solidFill>
                  <a:srgbClr val="5A6270"/>
                </a:solidFill>
                <a:latin typeface="Arial"/>
              </a:rPr>
              <a:t>Síntese</a:t>
            </a:r>
          </a:p>
        </p:txBody>
      </p:sp>
      <p:sp>
        <p:nvSpPr>
          <p:cNvPr id="20" name="Oval 19"/>
          <p:cNvSpPr/>
          <p:nvPr/>
        </p:nvSpPr>
        <p:spPr>
          <a:xfrm>
            <a:off x="16353390" y="9290304"/>
            <a:ext cx="329184" cy="329184"/>
          </a:xfrm>
          <a:prstGeom prst="ellipse">
            <a:avLst/>
          </a:prstGeom>
          <a:solidFill>
            <a:srgbClr val="C9CFDA"/>
          </a:solidFill>
          <a:ln>
            <a:noFill/>
          </a:ln>
          <a:effectLst/>
        </p:spPr>
        <p:txBody>
          <a:bodyPr rtlCol="0" anchor="ctr" lIns="0" rIns="0" tIns="0" bIns="0" wrap="square">
            <a:noAutofit/>
          </a:bodyPr>
          <a:lstStyle/>
          <a:p>
            <a:pPr algn="ctr">
              <a:lnSpc>
                <a:spcPct val="100000"/>
              </a:lnSpc>
              <a:spcAft>
                <a:spcPts val="0"/>
              </a:spcAft>
              <a:buNone/>
            </a:pPr>
            <a:r>
              <a:rPr sz="1300" b="1" i="0">
                <a:solidFill>
                  <a:srgbClr val="FFFFFF"/>
                </a:solidFill>
                <a:latin typeface="Arial"/>
              </a:rPr>
              <a:t>7</a:t>
            </a:r>
          </a:p>
        </p:txBody>
      </p:sp>
      <p:sp>
        <p:nvSpPr>
          <p:cNvPr id="21" name="TextBox 20"/>
          <p:cNvSpPr txBox="1"/>
          <p:nvPr/>
        </p:nvSpPr>
        <p:spPr>
          <a:xfrm>
            <a:off x="15342325" y="9710928"/>
            <a:ext cx="2351314" cy="365760"/>
          </a:xfrm>
          <a:prstGeom prst="rect">
            <a:avLst/>
          </a:prstGeom>
          <a:noFill/>
        </p:spPr>
        <p:txBody>
          <a:bodyPr wrap="square" lIns="0" rIns="0" tIns="0" bIns="0" anchor="t">
            <a:noAutofit/>
          </a:bodyPr>
          <a:lstStyle/>
          <a:p>
            <a:pPr algn="ctr">
              <a:lnSpc>
                <a:spcPct val="100000"/>
              </a:lnSpc>
              <a:spcAft>
                <a:spcPts val="0"/>
              </a:spcAft>
              <a:buNone/>
            </a:pPr>
            <a:r>
              <a:rPr sz="1400" b="0" i="0">
                <a:solidFill>
                  <a:srgbClr val="5A6270"/>
                </a:solidFill>
                <a:latin typeface="Arial"/>
              </a:rPr>
              <a:t>Certeza (GRADE)</a:t>
            </a:r>
          </a:p>
        </p:txBody>
      </p:sp>
      <p:sp>
        <p:nvSpPr>
          <p:cNvPr id="22" name="Rounded Rectangle 21"/>
          <p:cNvSpPr/>
          <p:nvPr/>
        </p:nvSpPr>
        <p:spPr>
          <a:xfrm>
            <a:off x="1143000" y="1783080"/>
            <a:ext cx="7680960" cy="7223759"/>
          </a:xfrm>
          <a:prstGeom prst="roundRect">
            <a:avLst>
              <a:gd name="adj" fmla="val 6000"/>
            </a:avLst>
          </a:prstGeom>
          <a:solidFill>
            <a:srgbClr val="F2F4F8"/>
          </a:solidFill>
          <a:ln>
            <a:noFill/>
          </a:ln>
          <a:effectLst/>
        </p:spPr>
        <p:txBody>
          <a:bodyPr rtlCol="0" anchor="ctr"/>
          <a:lstStyle/>
          <a:p/>
        </p:txBody>
      </p:sp>
      <p:sp>
        <p:nvSpPr>
          <p:cNvPr id="23" name="TextBox 22"/>
          <p:cNvSpPr txBox="1"/>
          <p:nvPr/>
        </p:nvSpPr>
        <p:spPr>
          <a:xfrm>
            <a:off x="1463040" y="2103120"/>
            <a:ext cx="7040880" cy="411480"/>
          </a:xfrm>
          <a:prstGeom prst="rect">
            <a:avLst/>
          </a:prstGeom>
          <a:noFill/>
        </p:spPr>
        <p:txBody>
          <a:bodyPr wrap="square" lIns="0" rIns="0" tIns="0" bIns="0" anchor="t">
            <a:noAutofit/>
          </a:bodyPr>
          <a:lstStyle/>
          <a:p>
            <a:pPr algn="l">
              <a:lnSpc>
                <a:spcPct val="100000"/>
              </a:lnSpc>
              <a:spcAft>
                <a:spcPts val="0"/>
              </a:spcAft>
              <a:buNone/>
            </a:pPr>
            <a:r>
              <a:rPr sz="1900" b="1" i="0">
                <a:solidFill>
                  <a:srgbClr val="002060"/>
                </a:solidFill>
                <a:latin typeface="Arial"/>
              </a:rPr>
              <a:t>Critérios de elegibilidade e ajustes posteriores declarados</a:t>
            </a:r>
          </a:p>
        </p:txBody>
      </p:sp>
      <p:pic>
        <p:nvPicPr>
          <p:cNvPr id="24" name="icone check" descr="check_teal.png"/>
          <p:cNvPicPr>
            <a:picLocks noChangeAspect="1"/>
          </p:cNvPicPr>
          <p:nvPr/>
        </p:nvPicPr>
        <p:blipFill>
          <a:blip r:embed="rId4"/>
          <a:stretch>
            <a:fillRect/>
          </a:stretch>
        </p:blipFill>
        <p:spPr>
          <a:xfrm>
            <a:off x="1463040" y="2651760"/>
            <a:ext cx="365760" cy="365760"/>
          </a:xfrm>
          <a:prstGeom prst="rect">
            <a:avLst/>
          </a:prstGeom>
        </p:spPr>
      </p:pic>
      <p:sp>
        <p:nvSpPr>
          <p:cNvPr id="25" name="TextBox 24"/>
          <p:cNvSpPr txBox="1"/>
          <p:nvPr/>
        </p:nvSpPr>
        <p:spPr>
          <a:xfrm>
            <a:off x="1965960" y="2651760"/>
            <a:ext cx="5486400" cy="365760"/>
          </a:xfrm>
          <a:prstGeom prst="rect">
            <a:avLst/>
          </a:prstGeom>
          <a:noFill/>
        </p:spPr>
        <p:txBody>
          <a:bodyPr wrap="square" lIns="0" rIns="0" tIns="0" bIns="0" anchor="ctr">
            <a:noAutofit/>
          </a:bodyPr>
          <a:lstStyle/>
          <a:p>
            <a:pPr algn="l">
              <a:lnSpc>
                <a:spcPct val="100000"/>
              </a:lnSpc>
              <a:spcAft>
                <a:spcPts val="0"/>
              </a:spcAft>
              <a:buNone/>
            </a:pPr>
            <a:r>
              <a:rPr sz="1800" b="1" i="0">
                <a:solidFill>
                  <a:srgbClr val="0E7C86"/>
                </a:solidFill>
                <a:latin typeface="Arial"/>
              </a:rPr>
              <a:t>Incluímos</a:t>
            </a:r>
          </a:p>
        </p:txBody>
      </p:sp>
      <p:sp>
        <p:nvSpPr>
          <p:cNvPr id="26" name="TextBox 25"/>
          <p:cNvSpPr txBox="1"/>
          <p:nvPr/>
        </p:nvSpPr>
        <p:spPr>
          <a:xfrm>
            <a:off x="1463040" y="3063239"/>
            <a:ext cx="7040880" cy="2606040"/>
          </a:xfrm>
          <a:prstGeom prst="rect">
            <a:avLst/>
          </a:prstGeom>
          <a:noFill/>
        </p:spPr>
        <p:txBody>
          <a:bodyPr wrap="square" lIns="0" rIns="0" tIns="0" bIns="0" anchor="t">
            <a:noAutofit/>
          </a:bodyPr>
          <a:lstStyle/>
          <a:p>
            <a:pPr algn="l" marL="274320" indent="-274320">
              <a:lnSpc>
                <a:spcPct val="100000"/>
              </a:lnSpc>
              <a:spcAft>
                <a:spcPts val="900"/>
              </a:spcAft>
              <a:buClr>
                <a:srgbClr val="0E7C86"/>
              </a:buClr>
              <a:buFont typeface="Arial"/>
              <a:buChar char="•"/>
            </a:pPr>
            <a:r>
              <a:rPr sz="1800" b="0" i="0">
                <a:solidFill>
                  <a:srgbClr val="1F2433"/>
                </a:solidFill>
                <a:latin typeface="Arial"/>
              </a:rPr>
              <a:t>Estudos observacionais (transversais, caso-controle, coorte);</a:t>
            </a:r>
          </a:p>
          <a:p>
            <a:pPr algn="l" marL="274320" indent="-274320">
              <a:lnSpc>
                <a:spcPct val="100000"/>
              </a:lnSpc>
              <a:spcAft>
                <a:spcPts val="900"/>
              </a:spcAft>
              <a:buClr>
                <a:srgbClr val="0E7C86"/>
              </a:buClr>
              <a:buFont typeface="Arial"/>
              <a:buChar char="•"/>
            </a:pPr>
            <a:r>
              <a:rPr sz="1800" b="0" i="0">
                <a:solidFill>
                  <a:srgbClr val="1F2433"/>
                </a:solidFill>
                <a:latin typeface="Arial"/>
              </a:rPr>
              <a:t>Profissionais de centro cirúrgico expostos à fumaça cirúrgica;</a:t>
            </a:r>
          </a:p>
          <a:p>
            <a:pPr algn="l" marL="274320" indent="-274320">
              <a:lnSpc>
                <a:spcPct val="100000"/>
              </a:lnSpc>
              <a:spcAft>
                <a:spcPts val="900"/>
              </a:spcAft>
              <a:buClr>
                <a:srgbClr val="0E7C86"/>
              </a:buClr>
              <a:buFont typeface="Arial"/>
              <a:buChar char="•"/>
            </a:pPr>
            <a:r>
              <a:rPr sz="1800" b="0" i="0">
                <a:solidFill>
                  <a:srgbClr val="1F2433"/>
                </a:solidFill>
                <a:latin typeface="Arial"/>
              </a:rPr>
              <a:t>Efeitos à saúde ou marcadores de exposição como desfecho;</a:t>
            </a:r>
          </a:p>
          <a:p>
            <a:pPr algn="l" marL="274320" indent="-274320">
              <a:lnSpc>
                <a:spcPct val="100000"/>
              </a:lnSpc>
              <a:spcAft>
                <a:spcPts val="900"/>
              </a:spcAft>
              <a:buClr>
                <a:srgbClr val="0E7C86"/>
              </a:buClr>
              <a:buFont typeface="Arial"/>
              <a:buChar char="•"/>
            </a:pPr>
            <a:r>
              <a:rPr sz="1800" b="0" i="0">
                <a:solidFill>
                  <a:srgbClr val="1F2433"/>
                </a:solidFill>
                <a:latin typeface="Arial"/>
              </a:rPr>
              <a:t>Português, inglês ou espanhol; sem restrição de data;</a:t>
            </a:r>
          </a:p>
          <a:p>
            <a:pPr algn="l" marL="274320" indent="-274320">
              <a:lnSpc>
                <a:spcPct val="100000"/>
              </a:lnSpc>
              <a:spcAft>
                <a:spcPts val="900"/>
              </a:spcAft>
              <a:buClr>
                <a:srgbClr val="0E7C86"/>
              </a:buClr>
              <a:buFont typeface="Arial"/>
              <a:buChar char="•"/>
            </a:pPr>
            <a:r>
              <a:rPr sz="1800" b="0" i="0">
                <a:solidFill>
                  <a:srgbClr val="1F2433"/>
                </a:solidFill>
                <a:latin typeface="Arial"/>
              </a:rPr>
              <a:t>Resumos de congresso com eventos e denominador extraíveis (preocupação alta; </a:t>
            </a:r>
            <a:r>
              <a:rPr sz="1800" b="1" i="0">
                <a:solidFill>
                  <a:srgbClr val="8A6D1F"/>
                </a:solidFill>
                <a:latin typeface="Arial"/>
              </a:rPr>
              <a:t>ajuste posterior ao registro, declarado</a:t>
            </a:r>
            <a:r>
              <a:rPr sz="1800" b="0" i="0">
                <a:solidFill>
                  <a:srgbClr val="1F2433"/>
                </a:solidFill>
                <a:latin typeface="Arial"/>
              </a:rPr>
              <a:t>).</a:t>
            </a:r>
          </a:p>
        </p:txBody>
      </p:sp>
      <p:pic>
        <p:nvPicPr>
          <p:cNvPr id="27" name="icone xmark" descr="xmark_red.png"/>
          <p:cNvPicPr>
            <a:picLocks noChangeAspect="1"/>
          </p:cNvPicPr>
          <p:nvPr/>
        </p:nvPicPr>
        <p:blipFill>
          <a:blip r:embed="rId5"/>
          <a:stretch>
            <a:fillRect/>
          </a:stretch>
        </p:blipFill>
        <p:spPr>
          <a:xfrm>
            <a:off x="1463040" y="5989320"/>
            <a:ext cx="365760" cy="365760"/>
          </a:xfrm>
          <a:prstGeom prst="rect">
            <a:avLst/>
          </a:prstGeom>
        </p:spPr>
      </p:pic>
      <p:sp>
        <p:nvSpPr>
          <p:cNvPr id="28" name="TextBox 27"/>
          <p:cNvSpPr txBox="1"/>
          <p:nvPr/>
        </p:nvSpPr>
        <p:spPr>
          <a:xfrm>
            <a:off x="1965960" y="5989320"/>
            <a:ext cx="5486400" cy="365760"/>
          </a:xfrm>
          <a:prstGeom prst="rect">
            <a:avLst/>
          </a:prstGeom>
          <a:noFill/>
        </p:spPr>
        <p:txBody>
          <a:bodyPr wrap="square" lIns="0" rIns="0" tIns="0" bIns="0" anchor="ctr">
            <a:noAutofit/>
          </a:bodyPr>
          <a:lstStyle/>
          <a:p>
            <a:pPr algn="l">
              <a:lnSpc>
                <a:spcPct val="100000"/>
              </a:lnSpc>
              <a:spcAft>
                <a:spcPts val="0"/>
              </a:spcAft>
              <a:buNone/>
            </a:pPr>
            <a:r>
              <a:rPr sz="1800" b="1" i="0">
                <a:solidFill>
                  <a:srgbClr val="8B0000"/>
                </a:solidFill>
                <a:latin typeface="Arial"/>
              </a:rPr>
              <a:t>Excluímos</a:t>
            </a:r>
          </a:p>
        </p:txBody>
      </p:sp>
      <p:sp>
        <p:nvSpPr>
          <p:cNvPr id="29" name="TextBox 28"/>
          <p:cNvSpPr txBox="1"/>
          <p:nvPr/>
        </p:nvSpPr>
        <p:spPr>
          <a:xfrm>
            <a:off x="1463040" y="6400800"/>
            <a:ext cx="7040880" cy="2285999"/>
          </a:xfrm>
          <a:prstGeom prst="rect">
            <a:avLst/>
          </a:prstGeom>
          <a:noFill/>
        </p:spPr>
        <p:txBody>
          <a:bodyPr wrap="square" lIns="0" rIns="0" tIns="0" bIns="0" anchor="t">
            <a:noAutofit/>
          </a:bodyPr>
          <a:lstStyle/>
          <a:p>
            <a:pPr algn="l" marL="274320" indent="-274320">
              <a:lnSpc>
                <a:spcPct val="100000"/>
              </a:lnSpc>
              <a:spcAft>
                <a:spcPts val="900"/>
              </a:spcAft>
              <a:buClr>
                <a:srgbClr val="8B0000"/>
              </a:buClr>
              <a:buFont typeface="Arial"/>
              <a:buChar char="•"/>
            </a:pPr>
            <a:r>
              <a:rPr sz="1800" b="0" i="0">
                <a:solidFill>
                  <a:srgbClr val="1F2433"/>
                </a:solidFill>
                <a:latin typeface="Arial"/>
              </a:rPr>
              <a:t>Estudos in vitro ou em animais;</a:t>
            </a:r>
          </a:p>
          <a:p>
            <a:pPr algn="l" marL="274320" indent="-274320">
              <a:lnSpc>
                <a:spcPct val="100000"/>
              </a:lnSpc>
              <a:spcAft>
                <a:spcPts val="900"/>
              </a:spcAft>
              <a:buClr>
                <a:srgbClr val="8B0000"/>
              </a:buClr>
              <a:buFont typeface="Arial"/>
              <a:buChar char="•"/>
            </a:pPr>
            <a:r>
              <a:rPr sz="1800" b="0" i="0">
                <a:solidFill>
                  <a:srgbClr val="1F2433"/>
                </a:solidFill>
                <a:latin typeface="Arial"/>
              </a:rPr>
              <a:t>População fora do centro cirúrgico (ex.: ambulatórios);</a:t>
            </a:r>
          </a:p>
          <a:p>
            <a:pPr algn="l" marL="274320" indent="-274320">
              <a:lnSpc>
                <a:spcPct val="100000"/>
              </a:lnSpc>
              <a:spcAft>
                <a:spcPts val="900"/>
              </a:spcAft>
              <a:buClr>
                <a:srgbClr val="8B0000"/>
              </a:buClr>
              <a:buFont typeface="Arial"/>
              <a:buChar char="•"/>
            </a:pPr>
            <a:r>
              <a:rPr sz="1800" b="0" i="0">
                <a:solidFill>
                  <a:srgbClr val="1F2433"/>
                </a:solidFill>
                <a:latin typeface="Arial"/>
              </a:rPr>
              <a:t>Desfecho apenas no paciente;</a:t>
            </a:r>
          </a:p>
          <a:p>
            <a:pPr algn="l" marL="274320" indent="-274320">
              <a:lnSpc>
                <a:spcPct val="100000"/>
              </a:lnSpc>
              <a:spcAft>
                <a:spcPts val="900"/>
              </a:spcAft>
              <a:buClr>
                <a:srgbClr val="8B0000"/>
              </a:buClr>
              <a:buFont typeface="Arial"/>
              <a:buChar char="•"/>
            </a:pPr>
            <a:r>
              <a:rPr sz="1800" b="0" i="0">
                <a:solidFill>
                  <a:srgbClr val="1F2433"/>
                </a:solidFill>
                <a:latin typeface="Arial"/>
              </a:rPr>
              <a:t>Medição físico-química do ar sem desfecho humano;</a:t>
            </a:r>
          </a:p>
          <a:p>
            <a:pPr algn="l" marL="274320" indent="-274320">
              <a:lnSpc>
                <a:spcPct val="100000"/>
              </a:lnSpc>
              <a:spcAft>
                <a:spcPts val="900"/>
              </a:spcAft>
              <a:buClr>
                <a:srgbClr val="8B0000"/>
              </a:buClr>
              <a:buFont typeface="Arial"/>
              <a:buChar char="•"/>
            </a:pPr>
            <a:r>
              <a:rPr sz="1800" b="0" i="0">
                <a:solidFill>
                  <a:srgbClr val="1F2433"/>
                </a:solidFill>
                <a:latin typeface="Arial"/>
              </a:rPr>
              <a:t>Revisões, editoriais, cartas e comentários;</a:t>
            </a:r>
          </a:p>
          <a:p>
            <a:pPr algn="l" marL="274320" indent="-274320">
              <a:lnSpc>
                <a:spcPct val="100000"/>
              </a:lnSpc>
              <a:spcAft>
                <a:spcPts val="900"/>
              </a:spcAft>
              <a:buClr>
                <a:srgbClr val="8B0000"/>
              </a:buClr>
              <a:buFont typeface="Arial"/>
              <a:buChar char="•"/>
            </a:pPr>
            <a:r>
              <a:rPr sz="1800" b="0" i="0">
                <a:solidFill>
                  <a:srgbClr val="1F2433"/>
                </a:solidFill>
                <a:latin typeface="Arial"/>
              </a:rPr>
              <a:t>Exposição não atribuível à fumaça (gases, radiação).</a:t>
            </a:r>
          </a:p>
        </p:txBody>
      </p:sp>
      <p:sp>
        <p:nvSpPr>
          <p:cNvPr id="30" name="Rounded Rectangle 29"/>
          <p:cNvSpPr/>
          <p:nvPr/>
        </p:nvSpPr>
        <p:spPr>
          <a:xfrm>
            <a:off x="9098280" y="1783080"/>
            <a:ext cx="8686799" cy="4480559"/>
          </a:xfrm>
          <a:prstGeom prst="roundRect">
            <a:avLst>
              <a:gd name="adj" fmla="val 6000"/>
            </a:avLst>
          </a:prstGeom>
          <a:solidFill>
            <a:srgbClr val="FFFFFF"/>
          </a:solidFill>
          <a:ln w="12700">
            <a:solidFill>
              <a:srgbClr val="C9CFDA"/>
            </a:solidFill>
          </a:ln>
          <a:effectLst/>
        </p:spPr>
        <p:txBody>
          <a:bodyPr rtlCol="0" anchor="ctr"/>
          <a:lstStyle/>
          <a:p/>
        </p:txBody>
      </p:sp>
      <p:sp>
        <p:nvSpPr>
          <p:cNvPr id="31" name="TextBox 30"/>
          <p:cNvSpPr txBox="1"/>
          <p:nvPr/>
        </p:nvSpPr>
        <p:spPr>
          <a:xfrm>
            <a:off x="9418320" y="2057400"/>
            <a:ext cx="8046719" cy="365760"/>
          </a:xfrm>
          <a:prstGeom prst="rect">
            <a:avLst/>
          </a:prstGeom>
          <a:noFill/>
        </p:spPr>
        <p:txBody>
          <a:bodyPr wrap="square" lIns="0" rIns="0" tIns="0" bIns="0" anchor="t">
            <a:noAutofit/>
          </a:bodyPr>
          <a:lstStyle/>
          <a:p>
            <a:pPr algn="l">
              <a:lnSpc>
                <a:spcPct val="100000"/>
              </a:lnSpc>
              <a:spcAft>
                <a:spcPts val="0"/>
              </a:spcAft>
              <a:buNone/>
            </a:pPr>
            <a:r>
              <a:rPr sz="1800" b="1" i="0">
                <a:solidFill>
                  <a:srgbClr val="002060"/>
                </a:solidFill>
                <a:latin typeface="Arial"/>
              </a:rPr>
              <a:t>Registros recuperados por fonte (busca em 09/07/2026)</a:t>
            </a:r>
          </a:p>
        </p:txBody>
      </p:sp>
      <p:graphicFrame>
        <p:nvGraphicFramePr>
          <p:cNvPr id="32" name="Chart 31"/>
          <p:cNvGraphicFramePr>
            <a:graphicFrameLocks noGrp="1"/>
          </p:cNvGraphicFramePr>
          <p:nvPr/>
        </p:nvGraphicFramePr>
        <p:xfrm>
          <a:off x="9235440" y="2514600"/>
          <a:ext cx="5897880" cy="3611879"/>
        </p:xfrm>
        <a:graphic>
          <a:graphicData uri="http://schemas.openxmlformats.org/drawingml/2006/chart">
            <c:chart xmlns:c="http://schemas.openxmlformats.org/drawingml/2006/chart" r:id="rId6"/>
          </a:graphicData>
        </a:graphic>
      </p:graphicFrame>
      <p:sp>
        <p:nvSpPr>
          <p:cNvPr id="33" name="TextBox 32"/>
          <p:cNvSpPr txBox="1"/>
          <p:nvPr/>
        </p:nvSpPr>
        <p:spPr>
          <a:xfrm>
            <a:off x="15270480" y="2560320"/>
            <a:ext cx="2194559" cy="609600"/>
          </a:xfrm>
          <a:prstGeom prst="rect">
            <a:avLst/>
          </a:prstGeom>
          <a:noFill/>
        </p:spPr>
        <p:txBody>
          <a:bodyPr wrap="square" lIns="0" rIns="0" tIns="0" bIns="0" anchor="t">
            <a:noAutofit/>
          </a:bodyPr>
          <a:lstStyle/>
          <a:p>
            <a:pPr algn="l">
              <a:lnSpc>
                <a:spcPct val="95000"/>
              </a:lnSpc>
              <a:spcAft>
                <a:spcPts val="0"/>
              </a:spcAft>
              <a:buNone/>
            </a:pPr>
            <a:r>
              <a:rPr sz="4000" b="1" i="0">
                <a:solidFill>
                  <a:srgbClr val="8B0000"/>
                </a:solidFill>
                <a:latin typeface="Arial"/>
              </a:rPr>
              <a:t>16.757</a:t>
            </a:r>
          </a:p>
        </p:txBody>
      </p:sp>
      <p:sp>
        <p:nvSpPr>
          <p:cNvPr id="34" name="TextBox 33"/>
          <p:cNvSpPr txBox="1"/>
          <p:nvPr/>
        </p:nvSpPr>
        <p:spPr>
          <a:xfrm>
            <a:off x="15270480" y="3215639"/>
            <a:ext cx="2194559" cy="670560"/>
          </a:xfrm>
          <a:prstGeom prst="rect">
            <a:avLst/>
          </a:prstGeom>
          <a:noFill/>
        </p:spPr>
        <p:txBody>
          <a:bodyPr wrap="square" lIns="0" rIns="0" tIns="0" bIns="0" anchor="t">
            <a:noAutofit/>
          </a:bodyPr>
          <a:lstStyle/>
          <a:p>
            <a:pPr algn="l">
              <a:lnSpc>
                <a:spcPct val="105000"/>
              </a:lnSpc>
              <a:spcAft>
                <a:spcPts val="0"/>
              </a:spcAft>
              <a:buNone/>
            </a:pPr>
            <a:r>
              <a:rPr sz="1600" b="0" i="0">
                <a:solidFill>
                  <a:srgbClr val="5A6270"/>
                </a:solidFill>
                <a:latin typeface="Arial"/>
              </a:rPr>
              <a:t>registros identificados</a:t>
            </a:r>
          </a:p>
        </p:txBody>
      </p:sp>
      <p:sp>
        <p:nvSpPr>
          <p:cNvPr id="35" name="TextBox 34"/>
          <p:cNvSpPr txBox="1"/>
          <p:nvPr/>
        </p:nvSpPr>
        <p:spPr>
          <a:xfrm>
            <a:off x="15270480" y="4023360"/>
            <a:ext cx="2194559" cy="487680"/>
          </a:xfrm>
          <a:prstGeom prst="rect">
            <a:avLst/>
          </a:prstGeom>
          <a:noFill/>
        </p:spPr>
        <p:txBody>
          <a:bodyPr wrap="square" lIns="0" rIns="0" tIns="0" bIns="0" anchor="t">
            <a:noAutofit/>
          </a:bodyPr>
          <a:lstStyle/>
          <a:p>
            <a:pPr algn="l">
              <a:lnSpc>
                <a:spcPct val="95000"/>
              </a:lnSpc>
              <a:spcAft>
                <a:spcPts val="0"/>
              </a:spcAft>
              <a:buNone/>
            </a:pPr>
            <a:r>
              <a:rPr sz="3200" b="1" i="0">
                <a:solidFill>
                  <a:srgbClr val="002060"/>
                </a:solidFill>
                <a:latin typeface="Arial"/>
              </a:rPr>
              <a:t>+ 443</a:t>
            </a:r>
          </a:p>
        </p:txBody>
      </p:sp>
      <p:sp>
        <p:nvSpPr>
          <p:cNvPr id="36" name="TextBox 35"/>
          <p:cNvSpPr txBox="1"/>
          <p:nvPr/>
        </p:nvSpPr>
        <p:spPr>
          <a:xfrm>
            <a:off x="15270480" y="4556760"/>
            <a:ext cx="2194559" cy="883920"/>
          </a:xfrm>
          <a:prstGeom prst="rect">
            <a:avLst/>
          </a:prstGeom>
          <a:noFill/>
        </p:spPr>
        <p:txBody>
          <a:bodyPr wrap="square" lIns="0" rIns="0" tIns="0" bIns="0" anchor="t">
            <a:noAutofit/>
          </a:bodyPr>
          <a:lstStyle/>
          <a:p>
            <a:pPr algn="l">
              <a:lnSpc>
                <a:spcPct val="105000"/>
              </a:lnSpc>
              <a:spcAft>
                <a:spcPts val="0"/>
              </a:spcAft>
              <a:buNone/>
            </a:pPr>
            <a:r>
              <a:rPr sz="1500" b="0" i="0">
                <a:solidFill>
                  <a:srgbClr val="5A6270"/>
                </a:solidFill>
                <a:latin typeface="Arial"/>
              </a:rPr>
              <a:t>referências na busca por citação (OpenAlex)</a:t>
            </a:r>
          </a:p>
        </p:txBody>
      </p:sp>
      <p:sp>
        <p:nvSpPr>
          <p:cNvPr id="37" name="TextBox 36"/>
          <p:cNvSpPr txBox="1"/>
          <p:nvPr/>
        </p:nvSpPr>
        <p:spPr>
          <a:xfrm>
            <a:off x="15270480" y="5257800"/>
            <a:ext cx="2194559" cy="685800"/>
          </a:xfrm>
          <a:prstGeom prst="rect">
            <a:avLst/>
          </a:prstGeom>
          <a:noFill/>
        </p:spPr>
        <p:txBody>
          <a:bodyPr wrap="square" lIns="0" rIns="0" tIns="0" bIns="0" anchor="t">
            <a:noAutofit/>
          </a:bodyPr>
          <a:lstStyle/>
          <a:p>
            <a:pPr algn="l">
              <a:lnSpc>
                <a:spcPct val="100000"/>
              </a:lnSpc>
              <a:spcAft>
                <a:spcPts val="0"/>
              </a:spcAft>
              <a:buNone/>
            </a:pPr>
            <a:r>
              <a:rPr sz="1400" b="0" i="0">
                <a:solidFill>
                  <a:srgbClr val="5A6270"/>
                </a:solidFill>
                <a:latin typeface="Arial"/>
              </a:rPr>
              <a:t>Cinzenta: Google Scholar (4 × 50 resultados) e Catálogo CAPES</a:t>
            </a:r>
          </a:p>
        </p:txBody>
      </p:sp>
      <p:sp>
        <p:nvSpPr>
          <p:cNvPr id="38" name="Rounded Rectangle 37"/>
          <p:cNvSpPr/>
          <p:nvPr/>
        </p:nvSpPr>
        <p:spPr>
          <a:xfrm>
            <a:off x="9098280" y="6537959"/>
            <a:ext cx="8686799" cy="2468880"/>
          </a:xfrm>
          <a:prstGeom prst="roundRect">
            <a:avLst>
              <a:gd name="adj" fmla="val 6000"/>
            </a:avLst>
          </a:prstGeom>
          <a:solidFill>
            <a:srgbClr val="FBF5E3"/>
          </a:solidFill>
          <a:ln>
            <a:noFill/>
          </a:ln>
          <a:effectLst/>
        </p:spPr>
        <p:txBody>
          <a:bodyPr rtlCol="0" anchor="ctr"/>
          <a:lstStyle/>
          <a:p/>
        </p:txBody>
      </p:sp>
      <p:sp>
        <p:nvSpPr>
          <p:cNvPr id="39" name="TextBox 38"/>
          <p:cNvSpPr txBox="1"/>
          <p:nvPr/>
        </p:nvSpPr>
        <p:spPr>
          <a:xfrm>
            <a:off x="9418320" y="6812279"/>
            <a:ext cx="8046719" cy="365760"/>
          </a:xfrm>
          <a:prstGeom prst="rect">
            <a:avLst/>
          </a:prstGeom>
          <a:noFill/>
        </p:spPr>
        <p:txBody>
          <a:bodyPr wrap="square" lIns="0" rIns="0" tIns="0" bIns="0" anchor="t">
            <a:noAutofit/>
          </a:bodyPr>
          <a:lstStyle/>
          <a:p>
            <a:pPr algn="l">
              <a:lnSpc>
                <a:spcPct val="100000"/>
              </a:lnSpc>
              <a:spcAft>
                <a:spcPts val="0"/>
              </a:spcAft>
              <a:buNone/>
            </a:pPr>
            <a:r>
              <a:rPr sz="1800" b="1" i="0">
                <a:solidFill>
                  <a:srgbClr val="002060"/>
                </a:solidFill>
                <a:latin typeface="Arial"/>
              </a:rPr>
              <a:t>Como a estratégia foi construída</a:t>
            </a:r>
          </a:p>
        </p:txBody>
      </p:sp>
      <p:sp>
        <p:nvSpPr>
          <p:cNvPr id="40" name="TextBox 39"/>
          <p:cNvSpPr txBox="1"/>
          <p:nvPr/>
        </p:nvSpPr>
        <p:spPr>
          <a:xfrm>
            <a:off x="9418320" y="7315199"/>
            <a:ext cx="8046719" cy="1371600"/>
          </a:xfrm>
          <a:prstGeom prst="rect">
            <a:avLst/>
          </a:prstGeom>
          <a:noFill/>
        </p:spPr>
        <p:txBody>
          <a:bodyPr wrap="square" lIns="0" rIns="0" tIns="0" bIns="0" anchor="t">
            <a:noAutofit/>
          </a:bodyPr>
          <a:lstStyle/>
          <a:p>
            <a:pPr algn="l" marL="274320" indent="-274320">
              <a:lnSpc>
                <a:spcPct val="100000"/>
              </a:lnSpc>
              <a:spcAft>
                <a:spcPts val="600"/>
              </a:spcAft>
              <a:buClr>
                <a:srgbClr val="C8A951"/>
              </a:buClr>
              <a:buFont typeface="Arial"/>
              <a:buChar char="•"/>
            </a:pPr>
            <a:r>
              <a:rPr sz="1600" b="1" i="0">
                <a:solidFill>
                  <a:srgbClr val="1F2433"/>
                </a:solidFill>
                <a:latin typeface="Arial"/>
              </a:rPr>
              <a:t>Dois blocos: </a:t>
            </a:r>
            <a:r>
              <a:rPr sz="1600" b="0" i="0">
                <a:solidFill>
                  <a:srgbClr val="1F2433"/>
                </a:solidFill>
                <a:latin typeface="Arial"/>
              </a:rPr>
              <a:t>(equipe cirúrgica) AND (fumaça OR dispositivos de energia); MeSH/Emtree e texto livre; sem bloco de desfecho.</a:t>
            </a:r>
          </a:p>
          <a:p>
            <a:pPr algn="l" marL="274320" indent="-274320">
              <a:lnSpc>
                <a:spcPct val="100000"/>
              </a:lnSpc>
              <a:spcAft>
                <a:spcPts val="600"/>
              </a:spcAft>
              <a:buClr>
                <a:srgbClr val="C8A951"/>
              </a:buClr>
              <a:buFont typeface="Arial"/>
              <a:buChar char="•"/>
            </a:pPr>
            <a:r>
              <a:rPr sz="1600" b="1" i="0">
                <a:solidFill>
                  <a:srgbClr val="1F2433"/>
                </a:solidFill>
                <a:highlight>
                  <a:srgbClr val="FFEB99"/>
                </a:highlight>
                <a:latin typeface="Arial"/>
              </a:rPr>
              <a:t>Sem filtro de idioma ou data na busca</a:t>
            </a:r>
            <a:r>
              <a:rPr sz="1600" b="0" i="0">
                <a:solidFill>
                  <a:srgbClr val="1F2433"/>
                </a:solidFill>
                <a:latin typeface="Arial"/>
              </a:rPr>
              <a:t> → alta sensibilidade (Anexo A).</a:t>
            </a:r>
          </a:p>
          <a:p>
            <a:pPr algn="l" marL="274320" indent="-274320">
              <a:lnSpc>
                <a:spcPct val="100000"/>
              </a:lnSpc>
              <a:spcAft>
                <a:spcPts val="600"/>
              </a:spcAft>
              <a:buClr>
                <a:srgbClr val="C8A951"/>
              </a:buClr>
              <a:buFont typeface="Arial"/>
              <a:buChar char="•"/>
            </a:pPr>
            <a:r>
              <a:rPr sz="1600" b="1" i="0">
                <a:solidFill>
                  <a:srgbClr val="1F2433"/>
                </a:solidFill>
                <a:latin typeface="Arial"/>
              </a:rPr>
              <a:t>Busca por citação (OpenAlex): </a:t>
            </a:r>
            <a:r>
              <a:rPr sz="1600" b="0" i="0">
                <a:solidFill>
                  <a:srgbClr val="1F2433"/>
                </a:solidFill>
                <a:latin typeface="Arial"/>
              </a:rPr>
              <a:t>referências dos incluídos e quem os cita.</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lano de fundo do modelo" descr="tpl_bg.png"/>
          <p:cNvPicPr>
            <a:picLocks noChangeAspect="1"/>
          </p:cNvPicPr>
          <p:nvPr/>
        </p:nvPicPr>
        <p:blipFill>
          <a:blip r:embed="rId2"/>
          <a:stretch>
            <a:fillRect/>
          </a:stretch>
        </p:blipFill>
        <p:spPr>
          <a:xfrm>
            <a:off x="20" y="1923"/>
            <a:ext cx="18287980" cy="10285077"/>
          </a:xfrm>
          <a:prstGeom prst="rect">
            <a:avLst/>
          </a:prstGeom>
        </p:spPr>
      </p:pic>
      <p:sp>
        <p:nvSpPr>
          <p:cNvPr id="3" name="Retângulo branco (modelo)"/>
          <p:cNvSpPr/>
          <p:nvPr/>
        </p:nvSpPr>
        <p:spPr>
          <a:xfrm>
            <a:off x="15888345" y="279974"/>
            <a:ext cx="2362200" cy="863025"/>
          </a:xfrm>
          <a:prstGeom prst="rect">
            <a:avLst/>
          </a:prstGeom>
          <a:solidFill>
            <a:srgbClr val="FFFFFF"/>
          </a:solidFill>
          <a:ln>
            <a:noFill/>
          </a:ln>
        </p:spPr>
        <p:txBody>
          <a:bodyPr rtlCol="0" anchor="ctr"/>
          <a:lstStyle/>
          <a:p>
            <a:pPr algn="ctr"/>
          </a:p>
        </p:txBody>
      </p:sp>
      <p:pic>
        <p:nvPicPr>
          <p:cNvPr id="4" name="Logo SEMICA" descr="image.png"/>
          <p:cNvPicPr>
            <a:picLocks noChangeAspect="1"/>
          </p:cNvPicPr>
          <p:nvPr/>
        </p:nvPicPr>
        <p:blipFill>
          <a:blip r:embed="rId3"/>
          <a:stretch>
            <a:fillRect/>
          </a:stretch>
        </p:blipFill>
        <p:spPr>
          <a:xfrm>
            <a:off x="15544800" y="279974"/>
            <a:ext cx="2512314" cy="1234862"/>
          </a:xfrm>
          <a:prstGeom prst="rect">
            <a:avLst/>
          </a:prstGeom>
        </p:spPr>
      </p:pic>
      <p:sp>
        <p:nvSpPr>
          <p:cNvPr id="5" name="Título da seção"/>
          <p:cNvSpPr txBox="1"/>
          <p:nvPr/>
        </p:nvSpPr>
        <p:spPr>
          <a:xfrm>
            <a:off x="1143000" y="558224"/>
            <a:ext cx="10058400" cy="584775"/>
          </a:xfrm>
          <a:prstGeom prst="rect">
            <a:avLst/>
          </a:prstGeom>
          <a:noFill/>
        </p:spPr>
        <p:txBody>
          <a:bodyPr wrap="square">
            <a:noAutofit/>
          </a:bodyPr>
          <a:lstStyle/>
          <a:p>
            <a:pPr algn="l">
              <a:lnSpc>
                <a:spcPct val="100000"/>
              </a:lnSpc>
              <a:spcAft>
                <a:spcPts val="0"/>
              </a:spcAft>
              <a:buNone/>
            </a:pPr>
            <a:r>
              <a:rPr sz="3200" b="0" i="0">
                <a:solidFill>
                  <a:srgbClr val="000000"/>
                </a:solidFill>
                <a:latin typeface="Arial"/>
              </a:rPr>
              <a:t>METODOLOGIA</a:t>
            </a:r>
          </a:p>
        </p:txBody>
      </p:sp>
      <p:sp>
        <p:nvSpPr>
          <p:cNvPr id="6" name="Subtítulo"/>
          <p:cNvSpPr txBox="1"/>
          <p:nvPr/>
        </p:nvSpPr>
        <p:spPr>
          <a:xfrm>
            <a:off x="1143000" y="1097280"/>
            <a:ext cx="14173200" cy="502920"/>
          </a:xfrm>
          <a:prstGeom prst="rect">
            <a:avLst/>
          </a:prstGeom>
          <a:noFill/>
        </p:spPr>
        <p:txBody>
          <a:bodyPr wrap="square" lIns="0" rIns="0" tIns="0" bIns="0" anchor="t">
            <a:noAutofit/>
          </a:bodyPr>
          <a:lstStyle/>
          <a:p>
            <a:pPr algn="l">
              <a:lnSpc>
                <a:spcPct val="100000"/>
              </a:lnSpc>
              <a:spcAft>
                <a:spcPts val="0"/>
              </a:spcAft>
              <a:buNone/>
            </a:pPr>
            <a:r>
              <a:rPr sz="2400" b="1" i="0">
                <a:solidFill>
                  <a:srgbClr val="002060"/>
                </a:solidFill>
                <a:latin typeface="Arial"/>
              </a:rPr>
              <a:t>Passo 3 · Seleção dos estudos: do registro bruto ao relatório incluído</a:t>
            </a:r>
          </a:p>
        </p:txBody>
      </p:sp>
      <p:cxnSp>
        <p:nvCxnSpPr>
          <p:cNvPr id="7" name="Connector 6"/>
          <p:cNvCxnSpPr/>
          <p:nvPr/>
        </p:nvCxnSpPr>
        <p:spPr>
          <a:xfrm>
            <a:off x="2410097" y="9454896"/>
            <a:ext cx="14107885" cy="0"/>
          </a:xfrm>
          <a:prstGeom prst="line">
            <a:avLst/>
          </a:prstGeom>
          <a:ln w="31750">
            <a:solidFill>
              <a:srgbClr val="C9CFDA"/>
            </a:solidFill>
          </a:ln>
        </p:spPr>
      </p:cxnSp>
      <p:sp>
        <p:nvSpPr>
          <p:cNvPr id="8" name="Oval 7"/>
          <p:cNvSpPr/>
          <p:nvPr/>
        </p:nvSpPr>
        <p:spPr>
          <a:xfrm>
            <a:off x="2245505" y="9290304"/>
            <a:ext cx="329184" cy="329184"/>
          </a:xfrm>
          <a:prstGeom prst="ellipse">
            <a:avLst/>
          </a:prstGeom>
          <a:solidFill>
            <a:srgbClr val="C9CFDA"/>
          </a:solidFill>
          <a:ln>
            <a:noFill/>
          </a:ln>
          <a:effectLst/>
        </p:spPr>
        <p:txBody>
          <a:bodyPr rtlCol="0" anchor="ctr" lIns="0" rIns="0" tIns="0" bIns="0" wrap="square">
            <a:noAutofit/>
          </a:bodyPr>
          <a:lstStyle/>
          <a:p>
            <a:pPr algn="ctr">
              <a:lnSpc>
                <a:spcPct val="100000"/>
              </a:lnSpc>
              <a:spcAft>
                <a:spcPts val="0"/>
              </a:spcAft>
              <a:buNone/>
            </a:pPr>
            <a:r>
              <a:rPr sz="1300" b="1" i="0">
                <a:solidFill>
                  <a:srgbClr val="FFFFFF"/>
                </a:solidFill>
                <a:latin typeface="Arial"/>
              </a:rPr>
              <a:t>1</a:t>
            </a:r>
          </a:p>
        </p:txBody>
      </p:sp>
      <p:sp>
        <p:nvSpPr>
          <p:cNvPr id="9" name="TextBox 8"/>
          <p:cNvSpPr txBox="1"/>
          <p:nvPr/>
        </p:nvSpPr>
        <p:spPr>
          <a:xfrm>
            <a:off x="1234439" y="9710928"/>
            <a:ext cx="2351314" cy="365760"/>
          </a:xfrm>
          <a:prstGeom prst="rect">
            <a:avLst/>
          </a:prstGeom>
          <a:noFill/>
        </p:spPr>
        <p:txBody>
          <a:bodyPr wrap="square" lIns="0" rIns="0" tIns="0" bIns="0" anchor="t">
            <a:noAutofit/>
          </a:bodyPr>
          <a:lstStyle/>
          <a:p>
            <a:pPr algn="ctr">
              <a:lnSpc>
                <a:spcPct val="100000"/>
              </a:lnSpc>
              <a:spcAft>
                <a:spcPts val="0"/>
              </a:spcAft>
              <a:buNone/>
            </a:pPr>
            <a:r>
              <a:rPr sz="1400" b="0" i="0">
                <a:solidFill>
                  <a:srgbClr val="5A6270"/>
                </a:solidFill>
                <a:latin typeface="Arial"/>
              </a:rPr>
              <a:t>Protocolo</a:t>
            </a:r>
          </a:p>
        </p:txBody>
      </p:sp>
      <p:sp>
        <p:nvSpPr>
          <p:cNvPr id="10" name="Oval 9"/>
          <p:cNvSpPr/>
          <p:nvPr/>
        </p:nvSpPr>
        <p:spPr>
          <a:xfrm>
            <a:off x="4596819" y="9290304"/>
            <a:ext cx="329184" cy="329184"/>
          </a:xfrm>
          <a:prstGeom prst="ellipse">
            <a:avLst/>
          </a:prstGeom>
          <a:solidFill>
            <a:srgbClr val="C9CFDA"/>
          </a:solidFill>
          <a:ln>
            <a:noFill/>
          </a:ln>
          <a:effectLst/>
        </p:spPr>
        <p:txBody>
          <a:bodyPr rtlCol="0" anchor="ctr" lIns="0" rIns="0" tIns="0" bIns="0" wrap="square">
            <a:noAutofit/>
          </a:bodyPr>
          <a:lstStyle/>
          <a:p>
            <a:pPr algn="ctr">
              <a:lnSpc>
                <a:spcPct val="100000"/>
              </a:lnSpc>
              <a:spcAft>
                <a:spcPts val="0"/>
              </a:spcAft>
              <a:buNone/>
            </a:pPr>
            <a:r>
              <a:rPr sz="1300" b="1" i="0">
                <a:solidFill>
                  <a:srgbClr val="FFFFFF"/>
                </a:solidFill>
                <a:latin typeface="Arial"/>
              </a:rPr>
              <a:t>2</a:t>
            </a:r>
          </a:p>
        </p:txBody>
      </p:sp>
      <p:sp>
        <p:nvSpPr>
          <p:cNvPr id="11" name="TextBox 10"/>
          <p:cNvSpPr txBox="1"/>
          <p:nvPr/>
        </p:nvSpPr>
        <p:spPr>
          <a:xfrm>
            <a:off x="3585754" y="9710928"/>
            <a:ext cx="2351314" cy="365760"/>
          </a:xfrm>
          <a:prstGeom prst="rect">
            <a:avLst/>
          </a:prstGeom>
          <a:noFill/>
        </p:spPr>
        <p:txBody>
          <a:bodyPr wrap="square" lIns="0" rIns="0" tIns="0" bIns="0" anchor="t">
            <a:noAutofit/>
          </a:bodyPr>
          <a:lstStyle/>
          <a:p>
            <a:pPr algn="ctr">
              <a:lnSpc>
                <a:spcPct val="100000"/>
              </a:lnSpc>
              <a:spcAft>
                <a:spcPts val="0"/>
              </a:spcAft>
              <a:buNone/>
            </a:pPr>
            <a:r>
              <a:rPr sz="1400" b="0" i="0">
                <a:solidFill>
                  <a:srgbClr val="5A6270"/>
                </a:solidFill>
                <a:latin typeface="Arial"/>
              </a:rPr>
              <a:t>Busca</a:t>
            </a:r>
          </a:p>
        </p:txBody>
      </p:sp>
      <p:sp>
        <p:nvSpPr>
          <p:cNvPr id="12" name="Oval 11"/>
          <p:cNvSpPr/>
          <p:nvPr/>
        </p:nvSpPr>
        <p:spPr>
          <a:xfrm>
            <a:off x="6911557" y="9253728"/>
            <a:ext cx="402336" cy="402336"/>
          </a:xfrm>
          <a:prstGeom prst="ellipse">
            <a:avLst/>
          </a:prstGeom>
          <a:solidFill>
            <a:srgbClr val="8B0000"/>
          </a:solidFill>
          <a:ln>
            <a:noFill/>
          </a:ln>
          <a:effectLst/>
        </p:spPr>
        <p:txBody>
          <a:bodyPr rtlCol="0" anchor="ctr" lIns="0" rIns="0" tIns="0" bIns="0" wrap="square">
            <a:noAutofit/>
          </a:bodyPr>
          <a:lstStyle/>
          <a:p>
            <a:pPr algn="ctr">
              <a:lnSpc>
                <a:spcPct val="100000"/>
              </a:lnSpc>
              <a:spcAft>
                <a:spcPts val="0"/>
              </a:spcAft>
              <a:buNone/>
            </a:pPr>
            <a:r>
              <a:rPr sz="1600" b="1" i="0">
                <a:solidFill>
                  <a:srgbClr val="FFFFFF"/>
                </a:solidFill>
                <a:latin typeface="Arial"/>
              </a:rPr>
              <a:t>3</a:t>
            </a:r>
          </a:p>
        </p:txBody>
      </p:sp>
      <p:sp>
        <p:nvSpPr>
          <p:cNvPr id="13" name="TextBox 12"/>
          <p:cNvSpPr txBox="1"/>
          <p:nvPr/>
        </p:nvSpPr>
        <p:spPr>
          <a:xfrm>
            <a:off x="5937068" y="9710928"/>
            <a:ext cx="2351314" cy="365760"/>
          </a:xfrm>
          <a:prstGeom prst="rect">
            <a:avLst/>
          </a:prstGeom>
          <a:noFill/>
        </p:spPr>
        <p:txBody>
          <a:bodyPr wrap="square" lIns="0" rIns="0" tIns="0" bIns="0" anchor="t">
            <a:noAutofit/>
          </a:bodyPr>
          <a:lstStyle/>
          <a:p>
            <a:pPr algn="ctr">
              <a:lnSpc>
                <a:spcPct val="100000"/>
              </a:lnSpc>
              <a:spcAft>
                <a:spcPts val="0"/>
              </a:spcAft>
              <a:buNone/>
            </a:pPr>
            <a:r>
              <a:rPr sz="1400" b="1" i="0">
                <a:solidFill>
                  <a:srgbClr val="002060"/>
                </a:solidFill>
                <a:latin typeface="Arial"/>
              </a:rPr>
              <a:t>Seleção</a:t>
            </a:r>
          </a:p>
        </p:txBody>
      </p:sp>
      <p:sp>
        <p:nvSpPr>
          <p:cNvPr id="14" name="Oval 13"/>
          <p:cNvSpPr/>
          <p:nvPr/>
        </p:nvSpPr>
        <p:spPr>
          <a:xfrm>
            <a:off x="9299447" y="9290304"/>
            <a:ext cx="329184" cy="329184"/>
          </a:xfrm>
          <a:prstGeom prst="ellipse">
            <a:avLst/>
          </a:prstGeom>
          <a:solidFill>
            <a:srgbClr val="C9CFDA"/>
          </a:solidFill>
          <a:ln>
            <a:noFill/>
          </a:ln>
          <a:effectLst/>
        </p:spPr>
        <p:txBody>
          <a:bodyPr rtlCol="0" anchor="ctr" lIns="0" rIns="0" tIns="0" bIns="0" wrap="square">
            <a:noAutofit/>
          </a:bodyPr>
          <a:lstStyle/>
          <a:p>
            <a:pPr algn="ctr">
              <a:lnSpc>
                <a:spcPct val="100000"/>
              </a:lnSpc>
              <a:spcAft>
                <a:spcPts val="0"/>
              </a:spcAft>
              <a:buNone/>
            </a:pPr>
            <a:r>
              <a:rPr sz="1300" b="1" i="0">
                <a:solidFill>
                  <a:srgbClr val="FFFFFF"/>
                </a:solidFill>
                <a:latin typeface="Arial"/>
              </a:rPr>
              <a:t>4</a:t>
            </a:r>
          </a:p>
        </p:txBody>
      </p:sp>
      <p:sp>
        <p:nvSpPr>
          <p:cNvPr id="15" name="TextBox 14"/>
          <p:cNvSpPr txBox="1"/>
          <p:nvPr/>
        </p:nvSpPr>
        <p:spPr>
          <a:xfrm>
            <a:off x="8288382" y="9710928"/>
            <a:ext cx="2351314" cy="365760"/>
          </a:xfrm>
          <a:prstGeom prst="rect">
            <a:avLst/>
          </a:prstGeom>
          <a:noFill/>
        </p:spPr>
        <p:txBody>
          <a:bodyPr wrap="square" lIns="0" rIns="0" tIns="0" bIns="0" anchor="t">
            <a:noAutofit/>
          </a:bodyPr>
          <a:lstStyle/>
          <a:p>
            <a:pPr algn="ctr">
              <a:lnSpc>
                <a:spcPct val="100000"/>
              </a:lnSpc>
              <a:spcAft>
                <a:spcPts val="0"/>
              </a:spcAft>
              <a:buNone/>
            </a:pPr>
            <a:r>
              <a:rPr sz="1400" b="0" i="0">
                <a:solidFill>
                  <a:srgbClr val="5A6270"/>
                </a:solidFill>
                <a:latin typeface="Arial"/>
              </a:rPr>
              <a:t>Extração</a:t>
            </a:r>
          </a:p>
        </p:txBody>
      </p:sp>
      <p:sp>
        <p:nvSpPr>
          <p:cNvPr id="16" name="Oval 15"/>
          <p:cNvSpPr/>
          <p:nvPr/>
        </p:nvSpPr>
        <p:spPr>
          <a:xfrm>
            <a:off x="11650762" y="9290304"/>
            <a:ext cx="329184" cy="329184"/>
          </a:xfrm>
          <a:prstGeom prst="ellipse">
            <a:avLst/>
          </a:prstGeom>
          <a:solidFill>
            <a:srgbClr val="C9CFDA"/>
          </a:solidFill>
          <a:ln>
            <a:noFill/>
          </a:ln>
          <a:effectLst/>
        </p:spPr>
        <p:txBody>
          <a:bodyPr rtlCol="0" anchor="ctr" lIns="0" rIns="0" tIns="0" bIns="0" wrap="square">
            <a:noAutofit/>
          </a:bodyPr>
          <a:lstStyle/>
          <a:p>
            <a:pPr algn="ctr">
              <a:lnSpc>
                <a:spcPct val="100000"/>
              </a:lnSpc>
              <a:spcAft>
                <a:spcPts val="0"/>
              </a:spcAft>
              <a:buNone/>
            </a:pPr>
            <a:r>
              <a:rPr sz="1300" b="1" i="0">
                <a:solidFill>
                  <a:srgbClr val="FFFFFF"/>
                </a:solidFill>
                <a:latin typeface="Arial"/>
              </a:rPr>
              <a:t>5</a:t>
            </a:r>
          </a:p>
        </p:txBody>
      </p:sp>
      <p:sp>
        <p:nvSpPr>
          <p:cNvPr id="17" name="TextBox 16"/>
          <p:cNvSpPr txBox="1"/>
          <p:nvPr/>
        </p:nvSpPr>
        <p:spPr>
          <a:xfrm>
            <a:off x="10639697" y="9710928"/>
            <a:ext cx="2351314" cy="365760"/>
          </a:xfrm>
          <a:prstGeom prst="rect">
            <a:avLst/>
          </a:prstGeom>
          <a:noFill/>
        </p:spPr>
        <p:txBody>
          <a:bodyPr wrap="square" lIns="0" rIns="0" tIns="0" bIns="0" anchor="t">
            <a:noAutofit/>
          </a:bodyPr>
          <a:lstStyle/>
          <a:p>
            <a:pPr algn="ctr">
              <a:lnSpc>
                <a:spcPct val="100000"/>
              </a:lnSpc>
              <a:spcAft>
                <a:spcPts val="0"/>
              </a:spcAft>
              <a:buNone/>
            </a:pPr>
            <a:r>
              <a:rPr sz="1400" b="0" i="0">
                <a:solidFill>
                  <a:srgbClr val="5A6270"/>
                </a:solidFill>
                <a:latin typeface="Arial"/>
              </a:rPr>
              <a:t>Risco de viés</a:t>
            </a:r>
          </a:p>
        </p:txBody>
      </p:sp>
      <p:sp>
        <p:nvSpPr>
          <p:cNvPr id="18" name="Oval 17"/>
          <p:cNvSpPr/>
          <p:nvPr/>
        </p:nvSpPr>
        <p:spPr>
          <a:xfrm>
            <a:off x="14002076" y="9290304"/>
            <a:ext cx="329184" cy="329184"/>
          </a:xfrm>
          <a:prstGeom prst="ellipse">
            <a:avLst/>
          </a:prstGeom>
          <a:solidFill>
            <a:srgbClr val="C9CFDA"/>
          </a:solidFill>
          <a:ln>
            <a:noFill/>
          </a:ln>
          <a:effectLst/>
        </p:spPr>
        <p:txBody>
          <a:bodyPr rtlCol="0" anchor="ctr" lIns="0" rIns="0" tIns="0" bIns="0" wrap="square">
            <a:noAutofit/>
          </a:bodyPr>
          <a:lstStyle/>
          <a:p>
            <a:pPr algn="ctr">
              <a:lnSpc>
                <a:spcPct val="100000"/>
              </a:lnSpc>
              <a:spcAft>
                <a:spcPts val="0"/>
              </a:spcAft>
              <a:buNone/>
            </a:pPr>
            <a:r>
              <a:rPr sz="1300" b="1" i="0">
                <a:solidFill>
                  <a:srgbClr val="FFFFFF"/>
                </a:solidFill>
                <a:latin typeface="Arial"/>
              </a:rPr>
              <a:t>6</a:t>
            </a:r>
          </a:p>
        </p:txBody>
      </p:sp>
      <p:sp>
        <p:nvSpPr>
          <p:cNvPr id="19" name="TextBox 18"/>
          <p:cNvSpPr txBox="1"/>
          <p:nvPr/>
        </p:nvSpPr>
        <p:spPr>
          <a:xfrm>
            <a:off x="12991011" y="9710928"/>
            <a:ext cx="2351314" cy="365760"/>
          </a:xfrm>
          <a:prstGeom prst="rect">
            <a:avLst/>
          </a:prstGeom>
          <a:noFill/>
        </p:spPr>
        <p:txBody>
          <a:bodyPr wrap="square" lIns="0" rIns="0" tIns="0" bIns="0" anchor="t">
            <a:noAutofit/>
          </a:bodyPr>
          <a:lstStyle/>
          <a:p>
            <a:pPr algn="ctr">
              <a:lnSpc>
                <a:spcPct val="100000"/>
              </a:lnSpc>
              <a:spcAft>
                <a:spcPts val="0"/>
              </a:spcAft>
              <a:buNone/>
            </a:pPr>
            <a:r>
              <a:rPr sz="1400" b="0" i="0">
                <a:solidFill>
                  <a:srgbClr val="5A6270"/>
                </a:solidFill>
                <a:latin typeface="Arial"/>
              </a:rPr>
              <a:t>Síntese</a:t>
            </a:r>
          </a:p>
        </p:txBody>
      </p:sp>
      <p:sp>
        <p:nvSpPr>
          <p:cNvPr id="20" name="Oval 19"/>
          <p:cNvSpPr/>
          <p:nvPr/>
        </p:nvSpPr>
        <p:spPr>
          <a:xfrm>
            <a:off x="16353390" y="9290304"/>
            <a:ext cx="329184" cy="329184"/>
          </a:xfrm>
          <a:prstGeom prst="ellipse">
            <a:avLst/>
          </a:prstGeom>
          <a:solidFill>
            <a:srgbClr val="C9CFDA"/>
          </a:solidFill>
          <a:ln>
            <a:noFill/>
          </a:ln>
          <a:effectLst/>
        </p:spPr>
        <p:txBody>
          <a:bodyPr rtlCol="0" anchor="ctr" lIns="0" rIns="0" tIns="0" bIns="0" wrap="square">
            <a:noAutofit/>
          </a:bodyPr>
          <a:lstStyle/>
          <a:p>
            <a:pPr algn="ctr">
              <a:lnSpc>
                <a:spcPct val="100000"/>
              </a:lnSpc>
              <a:spcAft>
                <a:spcPts val="0"/>
              </a:spcAft>
              <a:buNone/>
            </a:pPr>
            <a:r>
              <a:rPr sz="1300" b="1" i="0">
                <a:solidFill>
                  <a:srgbClr val="FFFFFF"/>
                </a:solidFill>
                <a:latin typeface="Arial"/>
              </a:rPr>
              <a:t>7</a:t>
            </a:r>
          </a:p>
        </p:txBody>
      </p:sp>
      <p:sp>
        <p:nvSpPr>
          <p:cNvPr id="21" name="TextBox 20"/>
          <p:cNvSpPr txBox="1"/>
          <p:nvPr/>
        </p:nvSpPr>
        <p:spPr>
          <a:xfrm>
            <a:off x="15342325" y="9710928"/>
            <a:ext cx="2351314" cy="365760"/>
          </a:xfrm>
          <a:prstGeom prst="rect">
            <a:avLst/>
          </a:prstGeom>
          <a:noFill/>
        </p:spPr>
        <p:txBody>
          <a:bodyPr wrap="square" lIns="0" rIns="0" tIns="0" bIns="0" anchor="t">
            <a:noAutofit/>
          </a:bodyPr>
          <a:lstStyle/>
          <a:p>
            <a:pPr algn="ctr">
              <a:lnSpc>
                <a:spcPct val="100000"/>
              </a:lnSpc>
              <a:spcAft>
                <a:spcPts val="0"/>
              </a:spcAft>
              <a:buNone/>
            </a:pPr>
            <a:r>
              <a:rPr sz="1400" b="0" i="0">
                <a:solidFill>
                  <a:srgbClr val="5A6270"/>
                </a:solidFill>
                <a:latin typeface="Arial"/>
              </a:rPr>
              <a:t>Certeza (GRADE)</a:t>
            </a:r>
          </a:p>
        </p:txBody>
      </p:sp>
      <p:sp>
        <p:nvSpPr>
          <p:cNvPr id="22" name="Rounded Rectangle 21"/>
          <p:cNvSpPr/>
          <p:nvPr/>
        </p:nvSpPr>
        <p:spPr>
          <a:xfrm>
            <a:off x="1143000" y="1783080"/>
            <a:ext cx="2377440" cy="2011680"/>
          </a:xfrm>
          <a:prstGeom prst="roundRect">
            <a:avLst>
              <a:gd name="adj" fmla="val 6000"/>
            </a:avLst>
          </a:prstGeom>
          <a:solidFill>
            <a:srgbClr val="F2F4F8"/>
          </a:solidFill>
          <a:ln>
            <a:noFill/>
          </a:ln>
          <a:effectLst/>
        </p:spPr>
        <p:txBody>
          <a:bodyPr rtlCol="0" anchor="ctr"/>
          <a:lstStyle/>
          <a:p/>
        </p:txBody>
      </p:sp>
      <p:sp>
        <p:nvSpPr>
          <p:cNvPr id="23" name="TextBox 22"/>
          <p:cNvSpPr txBox="1"/>
          <p:nvPr/>
        </p:nvSpPr>
        <p:spPr>
          <a:xfrm>
            <a:off x="1325880" y="1965960"/>
            <a:ext cx="2011680" cy="685800"/>
          </a:xfrm>
          <a:prstGeom prst="rect">
            <a:avLst/>
          </a:prstGeom>
          <a:noFill/>
        </p:spPr>
        <p:txBody>
          <a:bodyPr wrap="square" lIns="0" rIns="0" tIns="0" bIns="0" anchor="t">
            <a:noAutofit/>
          </a:bodyPr>
          <a:lstStyle/>
          <a:p>
            <a:pPr algn="ctr">
              <a:lnSpc>
                <a:spcPct val="100000"/>
              </a:lnSpc>
              <a:spcAft>
                <a:spcPts val="0"/>
              </a:spcAft>
              <a:buNone/>
            </a:pPr>
            <a:r>
              <a:rPr sz="4000" b="1" i="0">
                <a:solidFill>
                  <a:srgbClr val="002060"/>
                </a:solidFill>
                <a:latin typeface="Arial"/>
              </a:rPr>
              <a:t>16.757</a:t>
            </a:r>
          </a:p>
        </p:txBody>
      </p:sp>
      <p:sp>
        <p:nvSpPr>
          <p:cNvPr id="24" name="TextBox 23"/>
          <p:cNvSpPr txBox="1"/>
          <p:nvPr/>
        </p:nvSpPr>
        <p:spPr>
          <a:xfrm>
            <a:off x="1371600" y="2697480"/>
            <a:ext cx="1920240" cy="868680"/>
          </a:xfrm>
          <a:prstGeom prst="rect">
            <a:avLst/>
          </a:prstGeom>
          <a:noFill/>
        </p:spPr>
        <p:txBody>
          <a:bodyPr wrap="square" lIns="0" rIns="0" tIns="0" bIns="0" anchor="t">
            <a:noAutofit/>
          </a:bodyPr>
          <a:lstStyle/>
          <a:p>
            <a:pPr algn="ctr">
              <a:lnSpc>
                <a:spcPct val="100000"/>
              </a:lnSpc>
              <a:spcAft>
                <a:spcPts val="0"/>
              </a:spcAft>
              <a:buNone/>
            </a:pPr>
            <a:r>
              <a:rPr sz="1500" b="0" i="0">
                <a:solidFill>
                  <a:srgbClr val="1F2433"/>
                </a:solidFill>
                <a:latin typeface="Arial"/>
              </a:rPr>
              <a:t>registros identificados</a:t>
            </a:r>
          </a:p>
          <a:p>
            <a:pPr algn="ctr">
              <a:lnSpc>
                <a:spcPct val="100000"/>
              </a:lnSpc>
              <a:spcAft>
                <a:spcPts val="0"/>
              </a:spcAft>
              <a:buNone/>
            </a:pPr>
            <a:r>
              <a:rPr sz="1500" b="0" i="0">
                <a:solidFill>
                  <a:srgbClr val="1F2433"/>
                </a:solidFill>
                <a:latin typeface="Arial"/>
              </a:rPr>
              <a:t>nas bases e</a:t>
            </a:r>
          </a:p>
          <a:p>
            <a:pPr algn="ctr">
              <a:lnSpc>
                <a:spcPct val="100000"/>
              </a:lnSpc>
              <a:spcAft>
                <a:spcPts val="0"/>
              </a:spcAft>
              <a:buNone/>
            </a:pPr>
            <a:r>
              <a:rPr sz="1500" b="0" i="0">
                <a:solidFill>
                  <a:srgbClr val="1F2433"/>
                </a:solidFill>
                <a:latin typeface="Arial"/>
              </a:rPr>
              <a:t>na literatura cinzenta</a:t>
            </a:r>
          </a:p>
        </p:txBody>
      </p:sp>
      <p:cxnSp>
        <p:nvCxnSpPr>
          <p:cNvPr id="25" name="Connector 24"/>
          <p:cNvCxnSpPr/>
          <p:nvPr/>
        </p:nvCxnSpPr>
        <p:spPr>
          <a:xfrm>
            <a:off x="3593592" y="2514600"/>
            <a:ext cx="1042416" cy="0"/>
          </a:xfrm>
          <a:prstGeom prst="line">
            <a:avLst/>
          </a:prstGeom>
          <a:ln w="31750">
            <a:solidFill>
              <a:srgbClr val="002060"/>
            </a:solidFill>
            <a:tailEnd type="triangle" w="med" len="med"/>
          </a:ln>
        </p:spPr>
      </p:cxnSp>
      <p:sp>
        <p:nvSpPr>
          <p:cNvPr id="26" name="TextBox 25"/>
          <p:cNvSpPr txBox="1"/>
          <p:nvPr/>
        </p:nvSpPr>
        <p:spPr>
          <a:xfrm>
            <a:off x="3557016" y="2697480"/>
            <a:ext cx="1115567" cy="914400"/>
          </a:xfrm>
          <a:prstGeom prst="rect">
            <a:avLst/>
          </a:prstGeom>
          <a:noFill/>
        </p:spPr>
        <p:txBody>
          <a:bodyPr wrap="square" lIns="0" rIns="0" tIns="0" bIns="0" anchor="t">
            <a:noAutofit/>
          </a:bodyPr>
          <a:lstStyle/>
          <a:p>
            <a:pPr algn="ctr">
              <a:lnSpc>
                <a:spcPct val="95000"/>
              </a:lnSpc>
              <a:spcAft>
                <a:spcPts val="0"/>
              </a:spcAft>
              <a:buNone/>
            </a:pPr>
            <a:r>
              <a:rPr sz="1400" b="0" i="0">
                <a:solidFill>
                  <a:srgbClr val="5A6270"/>
                </a:solidFill>
                <a:latin typeface="Arial"/>
              </a:rPr>
              <a:t>5.839</a:t>
            </a:r>
          </a:p>
          <a:p>
            <a:pPr algn="ctr">
              <a:lnSpc>
                <a:spcPct val="95000"/>
              </a:lnSpc>
              <a:spcAft>
                <a:spcPts val="0"/>
              </a:spcAft>
              <a:buNone/>
            </a:pPr>
            <a:r>
              <a:rPr sz="1400" b="0" i="0">
                <a:solidFill>
                  <a:srgbClr val="5A6270"/>
                </a:solidFill>
                <a:latin typeface="Arial"/>
              </a:rPr>
              <a:t>duplicatas</a:t>
            </a:r>
          </a:p>
          <a:p>
            <a:pPr algn="ctr">
              <a:lnSpc>
                <a:spcPct val="95000"/>
              </a:lnSpc>
              <a:spcAft>
                <a:spcPts val="0"/>
              </a:spcAft>
              <a:buNone/>
            </a:pPr>
            <a:r>
              <a:rPr sz="1400" b="0" i="0">
                <a:solidFill>
                  <a:srgbClr val="5A6270"/>
                </a:solidFill>
                <a:latin typeface="Arial"/>
              </a:rPr>
              <a:t>+ 8 não</a:t>
            </a:r>
          </a:p>
          <a:p>
            <a:pPr algn="ctr">
              <a:lnSpc>
                <a:spcPct val="95000"/>
              </a:lnSpc>
              <a:spcAft>
                <a:spcPts val="0"/>
              </a:spcAft>
              <a:buNone/>
            </a:pPr>
            <a:r>
              <a:rPr sz="1400" b="0" i="0">
                <a:solidFill>
                  <a:srgbClr val="5A6270"/>
                </a:solidFill>
                <a:latin typeface="Arial"/>
              </a:rPr>
              <a:t>exportados</a:t>
            </a:r>
          </a:p>
        </p:txBody>
      </p:sp>
      <p:sp>
        <p:nvSpPr>
          <p:cNvPr id="27" name="Rounded Rectangle 26"/>
          <p:cNvSpPr/>
          <p:nvPr/>
        </p:nvSpPr>
        <p:spPr>
          <a:xfrm>
            <a:off x="4709160" y="1783080"/>
            <a:ext cx="2377440" cy="2011680"/>
          </a:xfrm>
          <a:prstGeom prst="roundRect">
            <a:avLst>
              <a:gd name="adj" fmla="val 6000"/>
            </a:avLst>
          </a:prstGeom>
          <a:solidFill>
            <a:srgbClr val="F2F4F8"/>
          </a:solidFill>
          <a:ln>
            <a:noFill/>
          </a:ln>
          <a:effectLst/>
        </p:spPr>
        <p:txBody>
          <a:bodyPr rtlCol="0" anchor="ctr"/>
          <a:lstStyle/>
          <a:p/>
        </p:txBody>
      </p:sp>
      <p:sp>
        <p:nvSpPr>
          <p:cNvPr id="28" name="TextBox 27"/>
          <p:cNvSpPr txBox="1"/>
          <p:nvPr/>
        </p:nvSpPr>
        <p:spPr>
          <a:xfrm>
            <a:off x="4892040" y="1965960"/>
            <a:ext cx="2011680" cy="685800"/>
          </a:xfrm>
          <a:prstGeom prst="rect">
            <a:avLst/>
          </a:prstGeom>
          <a:noFill/>
        </p:spPr>
        <p:txBody>
          <a:bodyPr wrap="square" lIns="0" rIns="0" tIns="0" bIns="0" anchor="t">
            <a:noAutofit/>
          </a:bodyPr>
          <a:lstStyle/>
          <a:p>
            <a:pPr algn="ctr">
              <a:lnSpc>
                <a:spcPct val="100000"/>
              </a:lnSpc>
              <a:spcAft>
                <a:spcPts val="0"/>
              </a:spcAft>
              <a:buNone/>
            </a:pPr>
            <a:r>
              <a:rPr sz="4000" b="1" i="0">
                <a:solidFill>
                  <a:srgbClr val="002060"/>
                </a:solidFill>
                <a:latin typeface="Arial"/>
              </a:rPr>
              <a:t>10.910</a:t>
            </a:r>
          </a:p>
        </p:txBody>
      </p:sp>
      <p:sp>
        <p:nvSpPr>
          <p:cNvPr id="29" name="TextBox 28"/>
          <p:cNvSpPr txBox="1"/>
          <p:nvPr/>
        </p:nvSpPr>
        <p:spPr>
          <a:xfrm>
            <a:off x="4937760" y="2697480"/>
            <a:ext cx="1920240" cy="868680"/>
          </a:xfrm>
          <a:prstGeom prst="rect">
            <a:avLst/>
          </a:prstGeom>
          <a:noFill/>
        </p:spPr>
        <p:txBody>
          <a:bodyPr wrap="square" lIns="0" rIns="0" tIns="0" bIns="0" anchor="t">
            <a:noAutofit/>
          </a:bodyPr>
          <a:lstStyle/>
          <a:p>
            <a:pPr algn="ctr">
              <a:lnSpc>
                <a:spcPct val="100000"/>
              </a:lnSpc>
              <a:spcAft>
                <a:spcPts val="0"/>
              </a:spcAft>
              <a:buNone/>
            </a:pPr>
            <a:r>
              <a:rPr sz="1500" b="0" i="0">
                <a:solidFill>
                  <a:srgbClr val="1F2433"/>
                </a:solidFill>
                <a:latin typeface="Arial"/>
              </a:rPr>
              <a:t>registros únicos</a:t>
            </a:r>
          </a:p>
        </p:txBody>
      </p:sp>
      <p:cxnSp>
        <p:nvCxnSpPr>
          <p:cNvPr id="30" name="Connector 29"/>
          <p:cNvCxnSpPr/>
          <p:nvPr/>
        </p:nvCxnSpPr>
        <p:spPr>
          <a:xfrm>
            <a:off x="7159752" y="2514600"/>
            <a:ext cx="1042416" cy="0"/>
          </a:xfrm>
          <a:prstGeom prst="line">
            <a:avLst/>
          </a:prstGeom>
          <a:ln w="31750">
            <a:solidFill>
              <a:srgbClr val="002060"/>
            </a:solidFill>
            <a:tailEnd type="triangle" w="med" len="med"/>
          </a:ln>
        </p:spPr>
      </p:cxnSp>
      <p:sp>
        <p:nvSpPr>
          <p:cNvPr id="31" name="TextBox 30"/>
          <p:cNvSpPr txBox="1"/>
          <p:nvPr/>
        </p:nvSpPr>
        <p:spPr>
          <a:xfrm>
            <a:off x="7123176" y="2697480"/>
            <a:ext cx="1115567" cy="914400"/>
          </a:xfrm>
          <a:prstGeom prst="rect">
            <a:avLst/>
          </a:prstGeom>
          <a:noFill/>
        </p:spPr>
        <p:txBody>
          <a:bodyPr wrap="square" lIns="0" rIns="0" tIns="0" bIns="0" anchor="t">
            <a:noAutofit/>
          </a:bodyPr>
          <a:lstStyle/>
          <a:p>
            <a:pPr algn="ctr">
              <a:lnSpc>
                <a:spcPct val="95000"/>
              </a:lnSpc>
              <a:spcAft>
                <a:spcPts val="0"/>
              </a:spcAft>
              <a:buNone/>
            </a:pPr>
            <a:r>
              <a:rPr sz="1400" b="0" i="0">
                <a:solidFill>
                  <a:srgbClr val="5A6270"/>
                </a:solidFill>
                <a:latin typeface="Arial"/>
              </a:rPr>
              <a:t>10.882</a:t>
            </a:r>
          </a:p>
          <a:p>
            <a:pPr algn="ctr">
              <a:lnSpc>
                <a:spcPct val="95000"/>
              </a:lnSpc>
              <a:spcAft>
                <a:spcPts val="0"/>
              </a:spcAft>
              <a:buNone/>
            </a:pPr>
            <a:r>
              <a:rPr sz="1400" b="0" i="0">
                <a:solidFill>
                  <a:srgbClr val="5A6270"/>
                </a:solidFill>
                <a:latin typeface="Arial"/>
              </a:rPr>
              <a:t>excluídos</a:t>
            </a:r>
          </a:p>
          <a:p>
            <a:pPr algn="ctr">
              <a:lnSpc>
                <a:spcPct val="95000"/>
              </a:lnSpc>
              <a:spcAft>
                <a:spcPts val="0"/>
              </a:spcAft>
              <a:buNone/>
            </a:pPr>
            <a:r>
              <a:rPr sz="1400" b="0" i="0">
                <a:solidFill>
                  <a:srgbClr val="5A6270"/>
                </a:solidFill>
                <a:latin typeface="Arial"/>
              </a:rPr>
              <a:t>na triagem</a:t>
            </a:r>
          </a:p>
        </p:txBody>
      </p:sp>
      <p:sp>
        <p:nvSpPr>
          <p:cNvPr id="32" name="Rounded Rectangle 31"/>
          <p:cNvSpPr/>
          <p:nvPr/>
        </p:nvSpPr>
        <p:spPr>
          <a:xfrm>
            <a:off x="8275320" y="1783080"/>
            <a:ext cx="2377440" cy="2011680"/>
          </a:xfrm>
          <a:prstGeom prst="roundRect">
            <a:avLst>
              <a:gd name="adj" fmla="val 6000"/>
            </a:avLst>
          </a:prstGeom>
          <a:solidFill>
            <a:srgbClr val="F2F4F8"/>
          </a:solidFill>
          <a:ln>
            <a:noFill/>
          </a:ln>
          <a:effectLst/>
        </p:spPr>
        <p:txBody>
          <a:bodyPr rtlCol="0" anchor="ctr"/>
          <a:lstStyle/>
          <a:p/>
        </p:txBody>
      </p:sp>
      <p:sp>
        <p:nvSpPr>
          <p:cNvPr id="33" name="TextBox 32"/>
          <p:cNvSpPr txBox="1"/>
          <p:nvPr/>
        </p:nvSpPr>
        <p:spPr>
          <a:xfrm>
            <a:off x="8458200" y="1965960"/>
            <a:ext cx="2011680" cy="685800"/>
          </a:xfrm>
          <a:prstGeom prst="rect">
            <a:avLst/>
          </a:prstGeom>
          <a:noFill/>
        </p:spPr>
        <p:txBody>
          <a:bodyPr wrap="square" lIns="0" rIns="0" tIns="0" bIns="0" anchor="t">
            <a:noAutofit/>
          </a:bodyPr>
          <a:lstStyle/>
          <a:p>
            <a:pPr algn="ctr">
              <a:lnSpc>
                <a:spcPct val="100000"/>
              </a:lnSpc>
              <a:spcAft>
                <a:spcPts val="0"/>
              </a:spcAft>
              <a:buNone/>
            </a:pPr>
            <a:r>
              <a:rPr sz="4000" b="1" i="0">
                <a:solidFill>
                  <a:srgbClr val="002060"/>
                </a:solidFill>
                <a:latin typeface="Arial"/>
              </a:rPr>
              <a:t>32</a:t>
            </a:r>
          </a:p>
        </p:txBody>
      </p:sp>
      <p:sp>
        <p:nvSpPr>
          <p:cNvPr id="34" name="TextBox 33"/>
          <p:cNvSpPr txBox="1"/>
          <p:nvPr/>
        </p:nvSpPr>
        <p:spPr>
          <a:xfrm>
            <a:off x="8503920" y="2697480"/>
            <a:ext cx="1920240" cy="868680"/>
          </a:xfrm>
          <a:prstGeom prst="rect">
            <a:avLst/>
          </a:prstGeom>
          <a:noFill/>
        </p:spPr>
        <p:txBody>
          <a:bodyPr wrap="square" lIns="0" rIns="0" tIns="0" bIns="0" anchor="t">
            <a:noAutofit/>
          </a:bodyPr>
          <a:lstStyle/>
          <a:p>
            <a:pPr algn="ctr">
              <a:lnSpc>
                <a:spcPct val="100000"/>
              </a:lnSpc>
              <a:spcAft>
                <a:spcPts val="0"/>
              </a:spcAft>
              <a:buNone/>
            </a:pPr>
            <a:r>
              <a:rPr sz="1500" b="0" i="0">
                <a:solidFill>
                  <a:srgbClr val="1F2433"/>
                </a:solidFill>
                <a:latin typeface="Arial"/>
              </a:rPr>
              <a:t>buscados na íntegra</a:t>
            </a:r>
          </a:p>
          <a:p>
            <a:pPr algn="ctr">
              <a:lnSpc>
                <a:spcPct val="100000"/>
              </a:lnSpc>
              <a:spcAft>
                <a:spcPts val="0"/>
              </a:spcAft>
              <a:buNone/>
            </a:pPr>
            <a:r>
              <a:rPr sz="1500" b="0" i="0">
                <a:solidFill>
                  <a:srgbClr val="1F2433"/>
                </a:solidFill>
                <a:latin typeface="Arial"/>
              </a:rPr>
              <a:t>(28 da triagem +</a:t>
            </a:r>
          </a:p>
          <a:p>
            <a:pPr algn="ctr">
              <a:lnSpc>
                <a:spcPct val="100000"/>
              </a:lnSpc>
              <a:spcAft>
                <a:spcPts val="0"/>
              </a:spcAft>
              <a:buNone/>
            </a:pPr>
            <a:r>
              <a:rPr sz="1500" b="0" i="0">
                <a:solidFill>
                  <a:srgbClr val="1F2433"/>
                </a:solidFill>
                <a:latin typeface="Arial"/>
              </a:rPr>
              <a:t>4 por citação)</a:t>
            </a:r>
          </a:p>
        </p:txBody>
      </p:sp>
      <p:cxnSp>
        <p:nvCxnSpPr>
          <p:cNvPr id="35" name="Connector 34"/>
          <p:cNvCxnSpPr/>
          <p:nvPr/>
        </p:nvCxnSpPr>
        <p:spPr>
          <a:xfrm>
            <a:off x="10725911" y="2514600"/>
            <a:ext cx="1042417" cy="0"/>
          </a:xfrm>
          <a:prstGeom prst="line">
            <a:avLst/>
          </a:prstGeom>
          <a:ln w="31750">
            <a:solidFill>
              <a:srgbClr val="002060"/>
            </a:solidFill>
            <a:tailEnd type="triangle" w="med" len="med"/>
          </a:ln>
        </p:spPr>
      </p:cxnSp>
      <p:sp>
        <p:nvSpPr>
          <p:cNvPr id="36" name="TextBox 35"/>
          <p:cNvSpPr txBox="1"/>
          <p:nvPr/>
        </p:nvSpPr>
        <p:spPr>
          <a:xfrm>
            <a:off x="10689335" y="2697480"/>
            <a:ext cx="1115567" cy="914400"/>
          </a:xfrm>
          <a:prstGeom prst="rect">
            <a:avLst/>
          </a:prstGeom>
          <a:noFill/>
        </p:spPr>
        <p:txBody>
          <a:bodyPr wrap="square" lIns="0" rIns="0" tIns="0" bIns="0" anchor="t">
            <a:noAutofit/>
          </a:bodyPr>
          <a:lstStyle/>
          <a:p>
            <a:pPr algn="ctr">
              <a:lnSpc>
                <a:spcPct val="95000"/>
              </a:lnSpc>
              <a:spcAft>
                <a:spcPts val="0"/>
              </a:spcAft>
              <a:buNone/>
            </a:pPr>
            <a:r>
              <a:rPr sz="1400" b="0" i="0">
                <a:solidFill>
                  <a:srgbClr val="5A6270"/>
                </a:solidFill>
                <a:latin typeface="Arial"/>
              </a:rPr>
              <a:t>6 não</a:t>
            </a:r>
          </a:p>
          <a:p>
            <a:pPr algn="ctr">
              <a:lnSpc>
                <a:spcPct val="95000"/>
              </a:lnSpc>
              <a:spcAft>
                <a:spcPts val="0"/>
              </a:spcAft>
              <a:buNone/>
            </a:pPr>
            <a:r>
              <a:rPr sz="1400" b="0" i="0">
                <a:solidFill>
                  <a:srgbClr val="5A6270"/>
                </a:solidFill>
                <a:latin typeface="Arial"/>
              </a:rPr>
              <a:t>recuperados</a:t>
            </a:r>
          </a:p>
        </p:txBody>
      </p:sp>
      <p:sp>
        <p:nvSpPr>
          <p:cNvPr id="37" name="Rounded Rectangle 36"/>
          <p:cNvSpPr/>
          <p:nvPr/>
        </p:nvSpPr>
        <p:spPr>
          <a:xfrm>
            <a:off x="11841480" y="1783080"/>
            <a:ext cx="2377440" cy="2011680"/>
          </a:xfrm>
          <a:prstGeom prst="roundRect">
            <a:avLst>
              <a:gd name="adj" fmla="val 6000"/>
            </a:avLst>
          </a:prstGeom>
          <a:solidFill>
            <a:srgbClr val="F2F4F8"/>
          </a:solidFill>
          <a:ln>
            <a:noFill/>
          </a:ln>
          <a:effectLst/>
        </p:spPr>
        <p:txBody>
          <a:bodyPr rtlCol="0" anchor="ctr"/>
          <a:lstStyle/>
          <a:p/>
        </p:txBody>
      </p:sp>
      <p:sp>
        <p:nvSpPr>
          <p:cNvPr id="38" name="TextBox 37"/>
          <p:cNvSpPr txBox="1"/>
          <p:nvPr/>
        </p:nvSpPr>
        <p:spPr>
          <a:xfrm>
            <a:off x="12024359" y="1965960"/>
            <a:ext cx="2011680" cy="685800"/>
          </a:xfrm>
          <a:prstGeom prst="rect">
            <a:avLst/>
          </a:prstGeom>
          <a:noFill/>
        </p:spPr>
        <p:txBody>
          <a:bodyPr wrap="square" lIns="0" rIns="0" tIns="0" bIns="0" anchor="t">
            <a:noAutofit/>
          </a:bodyPr>
          <a:lstStyle/>
          <a:p>
            <a:pPr algn="ctr">
              <a:lnSpc>
                <a:spcPct val="100000"/>
              </a:lnSpc>
              <a:spcAft>
                <a:spcPts val="0"/>
              </a:spcAft>
              <a:buNone/>
            </a:pPr>
            <a:r>
              <a:rPr sz="4000" b="1" i="0">
                <a:solidFill>
                  <a:srgbClr val="002060"/>
                </a:solidFill>
                <a:latin typeface="Arial"/>
              </a:rPr>
              <a:t>26</a:t>
            </a:r>
          </a:p>
        </p:txBody>
      </p:sp>
      <p:sp>
        <p:nvSpPr>
          <p:cNvPr id="39" name="TextBox 38"/>
          <p:cNvSpPr txBox="1"/>
          <p:nvPr/>
        </p:nvSpPr>
        <p:spPr>
          <a:xfrm>
            <a:off x="12070080" y="2697480"/>
            <a:ext cx="1920240" cy="868680"/>
          </a:xfrm>
          <a:prstGeom prst="rect">
            <a:avLst/>
          </a:prstGeom>
          <a:noFill/>
        </p:spPr>
        <p:txBody>
          <a:bodyPr wrap="square" lIns="0" rIns="0" tIns="0" bIns="0" anchor="t">
            <a:noAutofit/>
          </a:bodyPr>
          <a:lstStyle/>
          <a:p>
            <a:pPr algn="ctr">
              <a:lnSpc>
                <a:spcPct val="100000"/>
              </a:lnSpc>
              <a:spcAft>
                <a:spcPts val="0"/>
              </a:spcAft>
              <a:buNone/>
            </a:pPr>
            <a:r>
              <a:rPr sz="1500" b="0" i="0">
                <a:solidFill>
                  <a:srgbClr val="1F2433"/>
                </a:solidFill>
                <a:latin typeface="Arial"/>
              </a:rPr>
              <a:t>avaliados para</a:t>
            </a:r>
          </a:p>
          <a:p>
            <a:pPr algn="ctr">
              <a:lnSpc>
                <a:spcPct val="100000"/>
              </a:lnSpc>
              <a:spcAft>
                <a:spcPts val="0"/>
              </a:spcAft>
              <a:buNone/>
            </a:pPr>
            <a:r>
              <a:rPr sz="1500" b="0" i="0">
                <a:solidFill>
                  <a:srgbClr val="1F2433"/>
                </a:solidFill>
                <a:latin typeface="Arial"/>
              </a:rPr>
              <a:t>elegibilidade</a:t>
            </a:r>
          </a:p>
        </p:txBody>
      </p:sp>
      <p:cxnSp>
        <p:nvCxnSpPr>
          <p:cNvPr id="40" name="Connector 39"/>
          <p:cNvCxnSpPr/>
          <p:nvPr/>
        </p:nvCxnSpPr>
        <p:spPr>
          <a:xfrm>
            <a:off x="14292072" y="2514600"/>
            <a:ext cx="1042416" cy="0"/>
          </a:xfrm>
          <a:prstGeom prst="line">
            <a:avLst/>
          </a:prstGeom>
          <a:ln w="31750">
            <a:solidFill>
              <a:srgbClr val="002060"/>
            </a:solidFill>
            <a:tailEnd type="triangle" w="med" len="med"/>
          </a:ln>
        </p:spPr>
      </p:cxnSp>
      <p:sp>
        <p:nvSpPr>
          <p:cNvPr id="41" name="TextBox 40"/>
          <p:cNvSpPr txBox="1"/>
          <p:nvPr/>
        </p:nvSpPr>
        <p:spPr>
          <a:xfrm>
            <a:off x="14255496" y="2697480"/>
            <a:ext cx="1115567" cy="914400"/>
          </a:xfrm>
          <a:prstGeom prst="rect">
            <a:avLst/>
          </a:prstGeom>
          <a:noFill/>
        </p:spPr>
        <p:txBody>
          <a:bodyPr wrap="square" lIns="0" rIns="0" tIns="0" bIns="0" anchor="t">
            <a:noAutofit/>
          </a:bodyPr>
          <a:lstStyle/>
          <a:p>
            <a:pPr algn="ctr">
              <a:lnSpc>
                <a:spcPct val="95000"/>
              </a:lnSpc>
              <a:spcAft>
                <a:spcPts val="0"/>
              </a:spcAft>
              <a:buNone/>
            </a:pPr>
            <a:r>
              <a:rPr sz="1400" b="0" i="0">
                <a:solidFill>
                  <a:srgbClr val="5A6270"/>
                </a:solidFill>
                <a:latin typeface="Arial"/>
              </a:rPr>
              <a:t>4 excluídos</a:t>
            </a:r>
          </a:p>
          <a:p>
            <a:pPr algn="ctr">
              <a:lnSpc>
                <a:spcPct val="95000"/>
              </a:lnSpc>
              <a:spcAft>
                <a:spcPts val="0"/>
              </a:spcAft>
              <a:buNone/>
            </a:pPr>
            <a:r>
              <a:rPr sz="1400" b="0" i="0">
                <a:solidFill>
                  <a:srgbClr val="5A6270"/>
                </a:solidFill>
                <a:latin typeface="Arial"/>
              </a:rPr>
              <a:t>na íntegra</a:t>
            </a:r>
          </a:p>
        </p:txBody>
      </p:sp>
      <p:sp>
        <p:nvSpPr>
          <p:cNvPr id="42" name="Rounded Rectangle 41"/>
          <p:cNvSpPr/>
          <p:nvPr/>
        </p:nvSpPr>
        <p:spPr>
          <a:xfrm>
            <a:off x="15407640" y="1783080"/>
            <a:ext cx="2377440" cy="2011680"/>
          </a:xfrm>
          <a:prstGeom prst="roundRect">
            <a:avLst>
              <a:gd name="adj" fmla="val 6000"/>
            </a:avLst>
          </a:prstGeom>
          <a:solidFill>
            <a:srgbClr val="F9E9E9"/>
          </a:solidFill>
          <a:ln>
            <a:noFill/>
          </a:ln>
          <a:effectLst/>
        </p:spPr>
        <p:txBody>
          <a:bodyPr rtlCol="0" anchor="ctr"/>
          <a:lstStyle/>
          <a:p/>
        </p:txBody>
      </p:sp>
      <p:sp>
        <p:nvSpPr>
          <p:cNvPr id="43" name="TextBox 42"/>
          <p:cNvSpPr txBox="1"/>
          <p:nvPr/>
        </p:nvSpPr>
        <p:spPr>
          <a:xfrm>
            <a:off x="15590520" y="1965960"/>
            <a:ext cx="2011680" cy="685800"/>
          </a:xfrm>
          <a:prstGeom prst="rect">
            <a:avLst/>
          </a:prstGeom>
          <a:noFill/>
        </p:spPr>
        <p:txBody>
          <a:bodyPr wrap="square" lIns="0" rIns="0" tIns="0" bIns="0" anchor="t">
            <a:noAutofit/>
          </a:bodyPr>
          <a:lstStyle/>
          <a:p>
            <a:pPr algn="ctr">
              <a:lnSpc>
                <a:spcPct val="100000"/>
              </a:lnSpc>
              <a:spcAft>
                <a:spcPts val="0"/>
              </a:spcAft>
              <a:buNone/>
            </a:pPr>
            <a:r>
              <a:rPr sz="4000" b="1" i="0">
                <a:solidFill>
                  <a:srgbClr val="8B0000"/>
                </a:solidFill>
                <a:latin typeface="Arial"/>
              </a:rPr>
              <a:t>22</a:t>
            </a:r>
          </a:p>
        </p:txBody>
      </p:sp>
      <p:sp>
        <p:nvSpPr>
          <p:cNvPr id="44" name="TextBox 43"/>
          <p:cNvSpPr txBox="1"/>
          <p:nvPr/>
        </p:nvSpPr>
        <p:spPr>
          <a:xfrm>
            <a:off x="15636240" y="2697480"/>
            <a:ext cx="1920240" cy="868680"/>
          </a:xfrm>
          <a:prstGeom prst="rect">
            <a:avLst/>
          </a:prstGeom>
          <a:noFill/>
        </p:spPr>
        <p:txBody>
          <a:bodyPr wrap="square" lIns="0" rIns="0" tIns="0" bIns="0" anchor="t">
            <a:noAutofit/>
          </a:bodyPr>
          <a:lstStyle/>
          <a:p>
            <a:pPr algn="ctr">
              <a:lnSpc>
                <a:spcPct val="100000"/>
              </a:lnSpc>
              <a:spcAft>
                <a:spcPts val="0"/>
              </a:spcAft>
              <a:buNone/>
            </a:pPr>
            <a:r>
              <a:rPr sz="1500" b="0" i="0">
                <a:solidFill>
                  <a:srgbClr val="1F2433"/>
                </a:solidFill>
                <a:latin typeface="Arial"/>
              </a:rPr>
              <a:t>relatórios incluídos</a:t>
            </a:r>
          </a:p>
        </p:txBody>
      </p:sp>
      <p:sp>
        <p:nvSpPr>
          <p:cNvPr id="45" name="Rounded Rectangle 44"/>
          <p:cNvSpPr/>
          <p:nvPr/>
        </p:nvSpPr>
        <p:spPr>
          <a:xfrm>
            <a:off x="1143000" y="4069080"/>
            <a:ext cx="5364480" cy="3611879"/>
          </a:xfrm>
          <a:prstGeom prst="roundRect">
            <a:avLst>
              <a:gd name="adj" fmla="val 6000"/>
            </a:avLst>
          </a:prstGeom>
          <a:solidFill>
            <a:srgbClr val="F2F4F8"/>
          </a:solidFill>
          <a:ln>
            <a:noFill/>
          </a:ln>
          <a:effectLst/>
        </p:spPr>
        <p:txBody>
          <a:bodyPr rtlCol="0" anchor="ctr"/>
          <a:lstStyle/>
          <a:p/>
        </p:txBody>
      </p:sp>
      <p:sp>
        <p:nvSpPr>
          <p:cNvPr id="46" name="Oval 45"/>
          <p:cNvSpPr/>
          <p:nvPr/>
        </p:nvSpPr>
        <p:spPr>
          <a:xfrm>
            <a:off x="1463040" y="4389120"/>
            <a:ext cx="731520" cy="731520"/>
          </a:xfrm>
          <a:prstGeom prst="ellipse">
            <a:avLst/>
          </a:prstGeom>
          <a:solidFill>
            <a:srgbClr val="002060"/>
          </a:solidFill>
          <a:ln>
            <a:noFill/>
          </a:ln>
          <a:effectLst/>
        </p:spPr>
        <p:txBody>
          <a:bodyPr rtlCol="0" anchor="ctr" lIns="0" rIns="0" tIns="0" bIns="0"/>
          <a:lstStyle/>
          <a:p/>
        </p:txBody>
      </p:sp>
      <p:pic>
        <p:nvPicPr>
          <p:cNvPr id="47" name="icone filter" descr="filter_white.png"/>
          <p:cNvPicPr>
            <a:picLocks noChangeAspect="1"/>
          </p:cNvPicPr>
          <p:nvPr/>
        </p:nvPicPr>
        <p:blipFill>
          <a:blip r:embed="rId4"/>
          <a:stretch>
            <a:fillRect/>
          </a:stretch>
        </p:blipFill>
        <p:spPr>
          <a:xfrm>
            <a:off x="1645920" y="4572000"/>
            <a:ext cx="365760" cy="365760"/>
          </a:xfrm>
          <a:prstGeom prst="rect">
            <a:avLst/>
          </a:prstGeom>
        </p:spPr>
      </p:pic>
      <p:sp>
        <p:nvSpPr>
          <p:cNvPr id="48" name="TextBox 47"/>
          <p:cNvSpPr txBox="1"/>
          <p:nvPr/>
        </p:nvSpPr>
        <p:spPr>
          <a:xfrm>
            <a:off x="2423160" y="4389120"/>
            <a:ext cx="3764279" cy="731520"/>
          </a:xfrm>
          <a:prstGeom prst="rect">
            <a:avLst/>
          </a:prstGeom>
          <a:noFill/>
        </p:spPr>
        <p:txBody>
          <a:bodyPr wrap="square" lIns="0" rIns="0" tIns="0" bIns="0" anchor="ctr">
            <a:noAutofit/>
          </a:bodyPr>
          <a:lstStyle/>
          <a:p>
            <a:pPr algn="l">
              <a:lnSpc>
                <a:spcPct val="100000"/>
              </a:lnSpc>
              <a:spcAft>
                <a:spcPts val="0"/>
              </a:spcAft>
              <a:buNone/>
            </a:pPr>
            <a:r>
              <a:rPr sz="2200" b="1" i="0">
                <a:solidFill>
                  <a:srgbClr val="002060"/>
                </a:solidFill>
                <a:latin typeface="Arial"/>
              </a:rPr>
              <a:t>Deduplicação e triagem</a:t>
            </a:r>
          </a:p>
        </p:txBody>
      </p:sp>
      <p:sp>
        <p:nvSpPr>
          <p:cNvPr id="49" name="TextBox 48"/>
          <p:cNvSpPr txBox="1"/>
          <p:nvPr/>
        </p:nvSpPr>
        <p:spPr>
          <a:xfrm>
            <a:off x="1463040" y="5303520"/>
            <a:ext cx="4724399" cy="2057399"/>
          </a:xfrm>
          <a:prstGeom prst="rect">
            <a:avLst/>
          </a:prstGeom>
          <a:noFill/>
        </p:spPr>
        <p:txBody>
          <a:bodyPr wrap="square" lIns="0" rIns="0" tIns="0" bIns="0" anchor="t">
            <a:noAutofit/>
          </a:bodyPr>
          <a:lstStyle/>
          <a:p>
            <a:pPr algn="l" marL="274320" indent="-274320">
              <a:lnSpc>
                <a:spcPct val="100000"/>
              </a:lnSpc>
              <a:spcAft>
                <a:spcPts val="700"/>
              </a:spcAft>
              <a:buFont typeface="Arial"/>
              <a:buChar char="•"/>
            </a:pPr>
            <a:r>
              <a:rPr sz="1600" b="1" i="0">
                <a:solidFill>
                  <a:srgbClr val="1F2433"/>
                </a:solidFill>
                <a:latin typeface="Arial"/>
              </a:rPr>
              <a:t>Zotero → Rayyan: </a:t>
            </a:r>
            <a:r>
              <a:rPr sz="1600" b="0" i="0">
                <a:solidFill>
                  <a:srgbClr val="1F2433"/>
                </a:solidFill>
                <a:latin typeface="Arial"/>
              </a:rPr>
              <a:t>duplicatas por DOI, PMID e similaridade de título.</a:t>
            </a:r>
          </a:p>
          <a:p>
            <a:pPr algn="l" marL="274320" indent="-274320">
              <a:lnSpc>
                <a:spcPct val="100000"/>
              </a:lnSpc>
              <a:spcAft>
                <a:spcPts val="700"/>
              </a:spcAft>
              <a:buFont typeface="Arial"/>
              <a:buChar char="•"/>
            </a:pPr>
            <a:r>
              <a:rPr sz="1600" b="1" i="0">
                <a:solidFill>
                  <a:srgbClr val="1F2433"/>
                </a:solidFill>
                <a:latin typeface="Arial"/>
              </a:rPr>
              <a:t>10.910 títulos e resumos </a:t>
            </a:r>
            <a:r>
              <a:rPr sz="1600" b="0" i="0">
                <a:solidFill>
                  <a:srgbClr val="1F2433"/>
                </a:solidFill>
                <a:latin typeface="Arial"/>
              </a:rPr>
              <a:t>lidos por um único revisor.</a:t>
            </a:r>
          </a:p>
          <a:p>
            <a:pPr algn="l" marL="274320" indent="-274320">
              <a:lnSpc>
                <a:spcPct val="100000"/>
              </a:lnSpc>
              <a:spcAft>
                <a:spcPts val="700"/>
              </a:spcAft>
              <a:buFont typeface="Arial"/>
              <a:buChar char="•"/>
            </a:pPr>
            <a:r>
              <a:rPr sz="1600" b="0" i="0">
                <a:solidFill>
                  <a:srgbClr val="1F2433"/>
                </a:solidFill>
                <a:latin typeface="Arial"/>
              </a:rPr>
              <a:t>Script em Python e IA: apoio operacional </a:t>
            </a:r>
            <a:r>
              <a:rPr sz="1600" b="0" i="0">
                <a:solidFill>
                  <a:srgbClr val="1F2433"/>
                </a:solidFill>
                <a:latin typeface="Arial"/>
              </a:rPr>
              <a:t>(ordem de leitura, leitura assistida, fluxo); </a:t>
            </a:r>
            <a:r>
              <a:rPr sz="1600" b="1" i="0">
                <a:solidFill>
                  <a:srgbClr val="1F2433"/>
                </a:solidFill>
                <a:latin typeface="Arial"/>
              </a:rPr>
              <a:t>elegibilidade decidida por humano.</a:t>
            </a:r>
          </a:p>
        </p:txBody>
      </p:sp>
      <p:sp>
        <p:nvSpPr>
          <p:cNvPr id="50" name="Rounded Rectangle 49"/>
          <p:cNvSpPr/>
          <p:nvPr/>
        </p:nvSpPr>
        <p:spPr>
          <a:xfrm>
            <a:off x="6781799" y="4069080"/>
            <a:ext cx="5364480" cy="3611879"/>
          </a:xfrm>
          <a:prstGeom prst="roundRect">
            <a:avLst>
              <a:gd name="adj" fmla="val 6000"/>
            </a:avLst>
          </a:prstGeom>
          <a:solidFill>
            <a:srgbClr val="F2F4F8"/>
          </a:solidFill>
          <a:ln>
            <a:noFill/>
          </a:ln>
          <a:effectLst/>
        </p:spPr>
        <p:txBody>
          <a:bodyPr rtlCol="0" anchor="ctr"/>
          <a:lstStyle/>
          <a:p/>
        </p:txBody>
      </p:sp>
      <p:sp>
        <p:nvSpPr>
          <p:cNvPr id="51" name="Oval 50"/>
          <p:cNvSpPr/>
          <p:nvPr/>
        </p:nvSpPr>
        <p:spPr>
          <a:xfrm>
            <a:off x="7101839" y="4389120"/>
            <a:ext cx="731520" cy="731520"/>
          </a:xfrm>
          <a:prstGeom prst="ellipse">
            <a:avLst/>
          </a:prstGeom>
          <a:solidFill>
            <a:srgbClr val="002060"/>
          </a:solidFill>
          <a:ln>
            <a:noFill/>
          </a:ln>
          <a:effectLst/>
        </p:spPr>
        <p:txBody>
          <a:bodyPr rtlCol="0" anchor="ctr" lIns="0" rIns="0" tIns="0" bIns="0"/>
          <a:lstStyle/>
          <a:p/>
        </p:txBody>
      </p:sp>
      <p:pic>
        <p:nvPicPr>
          <p:cNvPr id="52" name="icone book" descr="book_white.png"/>
          <p:cNvPicPr>
            <a:picLocks noChangeAspect="1"/>
          </p:cNvPicPr>
          <p:nvPr/>
        </p:nvPicPr>
        <p:blipFill>
          <a:blip r:embed="rId5"/>
          <a:stretch>
            <a:fillRect/>
          </a:stretch>
        </p:blipFill>
        <p:spPr>
          <a:xfrm>
            <a:off x="7284719" y="4572000"/>
            <a:ext cx="365760" cy="365760"/>
          </a:xfrm>
          <a:prstGeom prst="rect">
            <a:avLst/>
          </a:prstGeom>
        </p:spPr>
      </p:pic>
      <p:sp>
        <p:nvSpPr>
          <p:cNvPr id="53" name="TextBox 52"/>
          <p:cNvSpPr txBox="1"/>
          <p:nvPr/>
        </p:nvSpPr>
        <p:spPr>
          <a:xfrm>
            <a:off x="8061960" y="4389120"/>
            <a:ext cx="3764279" cy="731520"/>
          </a:xfrm>
          <a:prstGeom prst="rect">
            <a:avLst/>
          </a:prstGeom>
          <a:noFill/>
        </p:spPr>
        <p:txBody>
          <a:bodyPr wrap="square" lIns="0" rIns="0" tIns="0" bIns="0" anchor="ctr">
            <a:noAutofit/>
          </a:bodyPr>
          <a:lstStyle/>
          <a:p>
            <a:pPr algn="l">
              <a:lnSpc>
                <a:spcPct val="100000"/>
              </a:lnSpc>
              <a:spcAft>
                <a:spcPts val="0"/>
              </a:spcAft>
              <a:buNone/>
            </a:pPr>
            <a:r>
              <a:rPr sz="2200" b="1" i="0">
                <a:solidFill>
                  <a:srgbClr val="002060"/>
                </a:solidFill>
                <a:latin typeface="Arial"/>
              </a:rPr>
              <a:t>Leitura na íntegra</a:t>
            </a:r>
          </a:p>
        </p:txBody>
      </p:sp>
      <p:sp>
        <p:nvSpPr>
          <p:cNvPr id="54" name="TextBox 53"/>
          <p:cNvSpPr txBox="1"/>
          <p:nvPr/>
        </p:nvSpPr>
        <p:spPr>
          <a:xfrm>
            <a:off x="7101839" y="5303520"/>
            <a:ext cx="4724399" cy="2057399"/>
          </a:xfrm>
          <a:prstGeom prst="rect">
            <a:avLst/>
          </a:prstGeom>
          <a:noFill/>
        </p:spPr>
        <p:txBody>
          <a:bodyPr wrap="square" lIns="0" rIns="0" tIns="0" bIns="0" anchor="t">
            <a:noAutofit/>
          </a:bodyPr>
          <a:lstStyle/>
          <a:p>
            <a:pPr algn="l" marL="274320" indent="-274320">
              <a:lnSpc>
                <a:spcPct val="100000"/>
              </a:lnSpc>
              <a:spcAft>
                <a:spcPts val="700"/>
              </a:spcAft>
              <a:buFont typeface="Arial"/>
              <a:buChar char="•"/>
            </a:pPr>
            <a:r>
              <a:rPr sz="1600" b="1" i="0">
                <a:solidFill>
                  <a:srgbClr val="1F2433"/>
                </a:solidFill>
                <a:latin typeface="Arial"/>
              </a:rPr>
              <a:t>Critérios definitivos; </a:t>
            </a:r>
            <a:r>
              <a:rPr sz="1600" b="0" i="0">
                <a:solidFill>
                  <a:srgbClr val="1F2433"/>
                </a:solidFill>
                <a:latin typeface="Arial"/>
              </a:rPr>
              <a:t>motivo de exclusão registrado (Anexo C).</a:t>
            </a:r>
          </a:p>
          <a:p>
            <a:pPr algn="l" marL="274320" indent="-274320">
              <a:lnSpc>
                <a:spcPct val="100000"/>
              </a:lnSpc>
              <a:spcAft>
                <a:spcPts val="700"/>
              </a:spcAft>
              <a:buFont typeface="Arial"/>
              <a:buChar char="•"/>
            </a:pPr>
            <a:r>
              <a:rPr sz="1600" b="1" i="0">
                <a:solidFill>
                  <a:srgbClr val="1F2433"/>
                </a:solidFill>
                <a:latin typeface="Arial"/>
              </a:rPr>
              <a:t>Excluídos: </a:t>
            </a:r>
            <a:r>
              <a:rPr sz="1600" b="0" i="0">
                <a:solidFill>
                  <a:srgbClr val="1F2433"/>
                </a:solidFill>
                <a:latin typeface="Arial"/>
              </a:rPr>
              <a:t>1 resumo sem dados e 3 por população ou contexto.</a:t>
            </a:r>
          </a:p>
          <a:p>
            <a:pPr algn="l" marL="274320" indent="-274320">
              <a:lnSpc>
                <a:spcPct val="100000"/>
              </a:lnSpc>
              <a:spcAft>
                <a:spcPts val="700"/>
              </a:spcAft>
              <a:buFont typeface="Arial"/>
              <a:buChar char="•"/>
            </a:pPr>
            <a:r>
              <a:rPr sz="1600" b="1" i="0">
                <a:solidFill>
                  <a:srgbClr val="1F2433"/>
                </a:solidFill>
                <a:latin typeface="Arial"/>
              </a:rPr>
              <a:t>Sintoma-índice: </a:t>
            </a:r>
            <a:r>
              <a:rPr sz="1600" b="0" i="0">
                <a:solidFill>
                  <a:srgbClr val="1F2433"/>
                </a:solidFill>
                <a:latin typeface="Arial"/>
              </a:rPr>
              <a:t>o mais específico de cada via (lacrimejamento ou irritação ocular; tosse ou irritação de vias aéreas).</a:t>
            </a:r>
          </a:p>
        </p:txBody>
      </p:sp>
      <p:sp>
        <p:nvSpPr>
          <p:cNvPr id="55" name="Rounded Rectangle 54"/>
          <p:cNvSpPr/>
          <p:nvPr/>
        </p:nvSpPr>
        <p:spPr>
          <a:xfrm>
            <a:off x="12420599" y="4069080"/>
            <a:ext cx="5364480" cy="3611879"/>
          </a:xfrm>
          <a:prstGeom prst="roundRect">
            <a:avLst>
              <a:gd name="adj" fmla="val 6000"/>
            </a:avLst>
          </a:prstGeom>
          <a:solidFill>
            <a:srgbClr val="F2F4F8"/>
          </a:solidFill>
          <a:ln>
            <a:noFill/>
          </a:ln>
          <a:effectLst/>
        </p:spPr>
        <p:txBody>
          <a:bodyPr rtlCol="0" anchor="ctr"/>
          <a:lstStyle/>
          <a:p/>
        </p:txBody>
      </p:sp>
      <p:sp>
        <p:nvSpPr>
          <p:cNvPr id="56" name="Oval 55"/>
          <p:cNvSpPr/>
          <p:nvPr/>
        </p:nvSpPr>
        <p:spPr>
          <a:xfrm>
            <a:off x="12740639" y="4389120"/>
            <a:ext cx="731520" cy="731520"/>
          </a:xfrm>
          <a:prstGeom prst="ellipse">
            <a:avLst/>
          </a:prstGeom>
          <a:solidFill>
            <a:srgbClr val="002060"/>
          </a:solidFill>
          <a:ln>
            <a:noFill/>
          </a:ln>
          <a:effectLst/>
        </p:spPr>
        <p:txBody>
          <a:bodyPr rtlCol="0" anchor="ctr" lIns="0" rIns="0" tIns="0" bIns="0"/>
          <a:lstStyle/>
          <a:p/>
        </p:txBody>
      </p:sp>
      <p:pic>
        <p:nvPicPr>
          <p:cNvPr id="57" name="icone people" descr="people_white.png"/>
          <p:cNvPicPr>
            <a:picLocks noChangeAspect="1"/>
          </p:cNvPicPr>
          <p:nvPr/>
        </p:nvPicPr>
        <p:blipFill>
          <a:blip r:embed="rId6"/>
          <a:stretch>
            <a:fillRect/>
          </a:stretch>
        </p:blipFill>
        <p:spPr>
          <a:xfrm>
            <a:off x="12923520" y="4572000"/>
            <a:ext cx="365760" cy="365760"/>
          </a:xfrm>
          <a:prstGeom prst="rect">
            <a:avLst/>
          </a:prstGeom>
        </p:spPr>
      </p:pic>
      <p:sp>
        <p:nvSpPr>
          <p:cNvPr id="58" name="TextBox 57"/>
          <p:cNvSpPr txBox="1"/>
          <p:nvPr/>
        </p:nvSpPr>
        <p:spPr>
          <a:xfrm>
            <a:off x="13700760" y="4389120"/>
            <a:ext cx="3764279" cy="731520"/>
          </a:xfrm>
          <a:prstGeom prst="rect">
            <a:avLst/>
          </a:prstGeom>
          <a:noFill/>
        </p:spPr>
        <p:txBody>
          <a:bodyPr wrap="square" lIns="0" rIns="0" tIns="0" bIns="0" anchor="ctr">
            <a:noAutofit/>
          </a:bodyPr>
          <a:lstStyle/>
          <a:p>
            <a:pPr algn="l">
              <a:lnSpc>
                <a:spcPct val="100000"/>
              </a:lnSpc>
              <a:spcAft>
                <a:spcPts val="0"/>
              </a:spcAft>
              <a:buNone/>
            </a:pPr>
            <a:r>
              <a:rPr sz="2200" b="1" i="0">
                <a:solidFill>
                  <a:srgbClr val="002060"/>
                </a:solidFill>
                <a:latin typeface="Arial"/>
              </a:rPr>
              <a:t>Sobreposição amostral</a:t>
            </a:r>
          </a:p>
        </p:txBody>
      </p:sp>
      <p:sp>
        <p:nvSpPr>
          <p:cNvPr id="59" name="TextBox 58"/>
          <p:cNvSpPr txBox="1"/>
          <p:nvPr/>
        </p:nvSpPr>
        <p:spPr>
          <a:xfrm>
            <a:off x="12740639" y="5303520"/>
            <a:ext cx="4724399" cy="2057399"/>
          </a:xfrm>
          <a:prstGeom prst="rect">
            <a:avLst/>
          </a:prstGeom>
          <a:noFill/>
        </p:spPr>
        <p:txBody>
          <a:bodyPr wrap="square" lIns="0" rIns="0" tIns="0" bIns="0" anchor="t">
            <a:noAutofit/>
          </a:bodyPr>
          <a:lstStyle/>
          <a:p>
            <a:pPr algn="l" marL="274320" indent="-274320">
              <a:lnSpc>
                <a:spcPct val="100000"/>
              </a:lnSpc>
              <a:spcAft>
                <a:spcPts val="700"/>
              </a:spcAft>
              <a:buFont typeface="Arial"/>
              <a:buChar char="•"/>
            </a:pPr>
            <a:r>
              <a:rPr sz="1600" b="1" i="0">
                <a:solidFill>
                  <a:srgbClr val="1F2433"/>
                </a:solidFill>
                <a:latin typeface="Arial"/>
              </a:rPr>
              <a:t>7 publicações do mesmo grupo </a:t>
            </a:r>
            <a:r>
              <a:rPr sz="1600" b="0" i="0">
                <a:solidFill>
                  <a:srgbClr val="1F2433"/>
                </a:solidFill>
                <a:latin typeface="Arial"/>
              </a:rPr>
              <a:t>(Paraná) com amostras sobrepostas.</a:t>
            </a:r>
          </a:p>
          <a:p>
            <a:pPr algn="l" marL="274320" indent="-274320">
              <a:lnSpc>
                <a:spcPct val="100000"/>
              </a:lnSpc>
              <a:spcAft>
                <a:spcPts val="700"/>
              </a:spcAft>
              <a:buFont typeface="Arial"/>
              <a:buChar char="•"/>
            </a:pPr>
            <a:r>
              <a:rPr sz="1600" b="1" i="0">
                <a:solidFill>
                  <a:srgbClr val="1F2433"/>
                </a:solidFill>
                <a:latin typeface="Arial"/>
              </a:rPr>
              <a:t>1 representante por desfecho, </a:t>
            </a:r>
            <a:r>
              <a:rPr sz="1600" b="0" i="0">
                <a:solidFill>
                  <a:srgbClr val="1F2433"/>
                </a:solidFill>
                <a:latin typeface="Arial"/>
              </a:rPr>
              <a:t>definido antes da síntese: Bieniek et al., 2022.</a:t>
            </a:r>
          </a:p>
          <a:p>
            <a:pPr algn="l" marL="274320" indent="-274320">
              <a:lnSpc>
                <a:spcPct val="100000"/>
              </a:lnSpc>
              <a:spcAft>
                <a:spcPts val="700"/>
              </a:spcAft>
              <a:buFont typeface="Arial"/>
              <a:buChar char="•"/>
            </a:pPr>
            <a:r>
              <a:rPr sz="1600" b="1" i="0">
                <a:solidFill>
                  <a:srgbClr val="1F2433"/>
                </a:solidFill>
                <a:highlight>
                  <a:srgbClr val="FFEB99"/>
                </a:highlight>
                <a:latin typeface="Arial"/>
              </a:rPr>
              <a:t>Nenhuma sobreposição documentada dentro de cada agrupamento.</a:t>
            </a:r>
          </a:p>
        </p:txBody>
      </p:sp>
      <p:sp>
        <p:nvSpPr>
          <p:cNvPr id="60" name="Rounded Rectangle 59"/>
          <p:cNvSpPr/>
          <p:nvPr/>
        </p:nvSpPr>
        <p:spPr>
          <a:xfrm>
            <a:off x="1143000" y="7955279"/>
            <a:ext cx="16642080" cy="1051560"/>
          </a:xfrm>
          <a:prstGeom prst="roundRect">
            <a:avLst>
              <a:gd name="adj" fmla="val 6000"/>
            </a:avLst>
          </a:prstGeom>
          <a:solidFill>
            <a:srgbClr val="FBF5E3"/>
          </a:solidFill>
          <a:ln>
            <a:noFill/>
          </a:ln>
          <a:effectLst/>
        </p:spPr>
        <p:txBody>
          <a:bodyPr rtlCol="0" anchor="ctr"/>
          <a:lstStyle/>
          <a:p/>
        </p:txBody>
      </p:sp>
      <p:pic>
        <p:nvPicPr>
          <p:cNvPr id="61" name="icone exclaim" descr="exclaim_navy.png"/>
          <p:cNvPicPr>
            <a:picLocks noChangeAspect="1"/>
          </p:cNvPicPr>
          <p:nvPr/>
        </p:nvPicPr>
        <p:blipFill>
          <a:blip r:embed="rId7"/>
          <a:stretch>
            <a:fillRect/>
          </a:stretch>
        </p:blipFill>
        <p:spPr>
          <a:xfrm>
            <a:off x="1463040" y="8229600"/>
            <a:ext cx="502920" cy="502920"/>
          </a:xfrm>
          <a:prstGeom prst="rect">
            <a:avLst/>
          </a:prstGeom>
        </p:spPr>
      </p:pic>
      <p:sp>
        <p:nvSpPr>
          <p:cNvPr id="62" name="TextBox 61"/>
          <p:cNvSpPr txBox="1"/>
          <p:nvPr/>
        </p:nvSpPr>
        <p:spPr>
          <a:xfrm>
            <a:off x="2194560" y="8092440"/>
            <a:ext cx="15270480" cy="777239"/>
          </a:xfrm>
          <a:prstGeom prst="rect">
            <a:avLst/>
          </a:prstGeom>
          <a:noFill/>
        </p:spPr>
        <p:txBody>
          <a:bodyPr wrap="square" lIns="0" rIns="0" tIns="0" bIns="0" anchor="ctr">
            <a:noAutofit/>
          </a:bodyPr>
          <a:lstStyle/>
          <a:p>
            <a:pPr algn="l">
              <a:lnSpc>
                <a:spcPct val="100000"/>
              </a:lnSpc>
              <a:spcAft>
                <a:spcPts val="0"/>
              </a:spcAft>
              <a:buNone/>
            </a:pPr>
            <a:r>
              <a:rPr sz="1500" b="1" i="0">
                <a:solidFill>
                  <a:srgbClr val="002060"/>
                </a:solidFill>
                <a:latin typeface="Arial"/>
              </a:rPr>
              <a:t>6 relatórios não recuperados </a:t>
            </a:r>
            <a:r>
              <a:rPr sz="1500" b="0" i="0">
                <a:solidFill>
                  <a:srgbClr val="1F2433"/>
                </a:solidFill>
                <a:latin typeface="Arial"/>
              </a:rPr>
              <a:t>apesar de acesso institucional, repositórios, páginas dos autores, comutação e contato com autores; entre eles, 2 inquéritos de sintomas e 1 estudo de olho seco → possível impacto, declarado como limitação.</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350"/>
                                        <p:tgtEl>
                                          <p:spTgt spid="2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fade">
                                      <p:cBhvr>
                                        <p:cTn id="10" dur="350"/>
                                        <p:tgtEl>
                                          <p:spTgt spid="2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350"/>
                                        <p:tgtEl>
                                          <p:spTgt spid="24"/>
                                        </p:tgtEl>
                                      </p:cBhvr>
                                    </p:animEffect>
                                  </p:childTnLst>
                                </p:cTn>
                              </p:par>
                            </p:childTnLst>
                          </p:cTn>
                        </p:par>
                        <p:par>
                          <p:cTn id="14" fill="hold">
                            <p:stCondLst>
                              <p:cond delay="350"/>
                            </p:stCondLst>
                            <p:childTnLst>
                              <p:par>
                                <p:cTn id="15" presetID="10" presetClass="entr" presetSubtype="0" fill="hold" grpId="0" nodeType="after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350"/>
                                        <p:tgtEl>
                                          <p:spTgt spid="25"/>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6"/>
                                        </p:tgtEl>
                                        <p:attrNameLst>
                                          <p:attrName>style.visibility</p:attrName>
                                        </p:attrNameLst>
                                      </p:cBhvr>
                                      <p:to>
                                        <p:strVal val="visible"/>
                                      </p:to>
                                    </p:set>
                                    <p:animEffect transition="in" filter="fade">
                                      <p:cBhvr>
                                        <p:cTn id="20" dur="350"/>
                                        <p:tgtEl>
                                          <p:spTgt spid="26"/>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7"/>
                                        </p:tgtEl>
                                        <p:attrNameLst>
                                          <p:attrName>style.visibility</p:attrName>
                                        </p:attrNameLst>
                                      </p:cBhvr>
                                      <p:to>
                                        <p:strVal val="visible"/>
                                      </p:to>
                                    </p:set>
                                    <p:animEffect transition="in" filter="fade">
                                      <p:cBhvr>
                                        <p:cTn id="23" dur="350"/>
                                        <p:tgtEl>
                                          <p:spTgt spid="27"/>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8"/>
                                        </p:tgtEl>
                                        <p:attrNameLst>
                                          <p:attrName>style.visibility</p:attrName>
                                        </p:attrNameLst>
                                      </p:cBhvr>
                                      <p:to>
                                        <p:strVal val="visible"/>
                                      </p:to>
                                    </p:set>
                                    <p:animEffect transition="in" filter="fade">
                                      <p:cBhvr>
                                        <p:cTn id="26" dur="350"/>
                                        <p:tgtEl>
                                          <p:spTgt spid="28"/>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9"/>
                                        </p:tgtEl>
                                        <p:attrNameLst>
                                          <p:attrName>style.visibility</p:attrName>
                                        </p:attrNameLst>
                                      </p:cBhvr>
                                      <p:to>
                                        <p:strVal val="visible"/>
                                      </p:to>
                                    </p:set>
                                    <p:animEffect transition="in" filter="fade">
                                      <p:cBhvr>
                                        <p:cTn id="29" dur="350"/>
                                        <p:tgtEl>
                                          <p:spTgt spid="29"/>
                                        </p:tgtEl>
                                      </p:cBhvr>
                                    </p:animEffect>
                                  </p:childTnLst>
                                </p:cTn>
                              </p:par>
                            </p:childTnLst>
                          </p:cTn>
                        </p:par>
                        <p:par>
                          <p:cTn id="30" fill="hold">
                            <p:stCondLst>
                              <p:cond delay="700"/>
                            </p:stCondLst>
                            <p:childTnLst>
                              <p:par>
                                <p:cTn id="31" presetID="10" presetClass="entr" presetSubtype="0" fill="hold" grpId="0" nodeType="afterEffect">
                                  <p:stCondLst>
                                    <p:cond delay="0"/>
                                  </p:stCondLst>
                                  <p:childTnLst>
                                    <p:set>
                                      <p:cBhvr>
                                        <p:cTn id="32" dur="1" fill="hold">
                                          <p:stCondLst>
                                            <p:cond delay="0"/>
                                          </p:stCondLst>
                                        </p:cTn>
                                        <p:tgtEl>
                                          <p:spTgt spid="30"/>
                                        </p:tgtEl>
                                        <p:attrNameLst>
                                          <p:attrName>style.visibility</p:attrName>
                                        </p:attrNameLst>
                                      </p:cBhvr>
                                      <p:to>
                                        <p:strVal val="visible"/>
                                      </p:to>
                                    </p:set>
                                    <p:animEffect transition="in" filter="fade">
                                      <p:cBhvr>
                                        <p:cTn id="33" dur="350"/>
                                        <p:tgtEl>
                                          <p:spTgt spid="30"/>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31"/>
                                        </p:tgtEl>
                                        <p:attrNameLst>
                                          <p:attrName>style.visibility</p:attrName>
                                        </p:attrNameLst>
                                      </p:cBhvr>
                                      <p:to>
                                        <p:strVal val="visible"/>
                                      </p:to>
                                    </p:set>
                                    <p:animEffect transition="in" filter="fade">
                                      <p:cBhvr>
                                        <p:cTn id="36" dur="350"/>
                                        <p:tgtEl>
                                          <p:spTgt spid="31"/>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350"/>
                                        <p:tgtEl>
                                          <p:spTgt spid="32"/>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33"/>
                                        </p:tgtEl>
                                        <p:attrNameLst>
                                          <p:attrName>style.visibility</p:attrName>
                                        </p:attrNameLst>
                                      </p:cBhvr>
                                      <p:to>
                                        <p:strVal val="visible"/>
                                      </p:to>
                                    </p:set>
                                    <p:animEffect transition="in" filter="fade">
                                      <p:cBhvr>
                                        <p:cTn id="42" dur="350"/>
                                        <p:tgtEl>
                                          <p:spTgt spid="33"/>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34"/>
                                        </p:tgtEl>
                                        <p:attrNameLst>
                                          <p:attrName>style.visibility</p:attrName>
                                        </p:attrNameLst>
                                      </p:cBhvr>
                                      <p:to>
                                        <p:strVal val="visible"/>
                                      </p:to>
                                    </p:set>
                                    <p:animEffect transition="in" filter="fade">
                                      <p:cBhvr>
                                        <p:cTn id="45" dur="350"/>
                                        <p:tgtEl>
                                          <p:spTgt spid="34"/>
                                        </p:tgtEl>
                                      </p:cBhvr>
                                    </p:animEffect>
                                  </p:childTnLst>
                                </p:cTn>
                              </p:par>
                            </p:childTnLst>
                          </p:cTn>
                        </p:par>
                        <p:par>
                          <p:cTn id="46" fill="hold">
                            <p:stCondLst>
                              <p:cond delay="1050"/>
                            </p:stCondLst>
                            <p:childTnLst>
                              <p:par>
                                <p:cTn id="47" presetID="10" presetClass="entr" presetSubtype="0" fill="hold" grpId="0" nodeType="afterEffect">
                                  <p:stCondLst>
                                    <p:cond delay="0"/>
                                  </p:stCondLst>
                                  <p:childTnLst>
                                    <p:set>
                                      <p:cBhvr>
                                        <p:cTn id="48" dur="1" fill="hold">
                                          <p:stCondLst>
                                            <p:cond delay="0"/>
                                          </p:stCondLst>
                                        </p:cTn>
                                        <p:tgtEl>
                                          <p:spTgt spid="35"/>
                                        </p:tgtEl>
                                        <p:attrNameLst>
                                          <p:attrName>style.visibility</p:attrName>
                                        </p:attrNameLst>
                                      </p:cBhvr>
                                      <p:to>
                                        <p:strVal val="visible"/>
                                      </p:to>
                                    </p:set>
                                    <p:animEffect transition="in" filter="fade">
                                      <p:cBhvr>
                                        <p:cTn id="49" dur="350"/>
                                        <p:tgtEl>
                                          <p:spTgt spid="35"/>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6"/>
                                        </p:tgtEl>
                                        <p:attrNameLst>
                                          <p:attrName>style.visibility</p:attrName>
                                        </p:attrNameLst>
                                      </p:cBhvr>
                                      <p:to>
                                        <p:strVal val="visible"/>
                                      </p:to>
                                    </p:set>
                                    <p:animEffect transition="in" filter="fade">
                                      <p:cBhvr>
                                        <p:cTn id="52" dur="350"/>
                                        <p:tgtEl>
                                          <p:spTgt spid="36"/>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7"/>
                                        </p:tgtEl>
                                        <p:attrNameLst>
                                          <p:attrName>style.visibility</p:attrName>
                                        </p:attrNameLst>
                                      </p:cBhvr>
                                      <p:to>
                                        <p:strVal val="visible"/>
                                      </p:to>
                                    </p:set>
                                    <p:animEffect transition="in" filter="fade">
                                      <p:cBhvr>
                                        <p:cTn id="55" dur="350"/>
                                        <p:tgtEl>
                                          <p:spTgt spid="37"/>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8"/>
                                        </p:tgtEl>
                                        <p:attrNameLst>
                                          <p:attrName>style.visibility</p:attrName>
                                        </p:attrNameLst>
                                      </p:cBhvr>
                                      <p:to>
                                        <p:strVal val="visible"/>
                                      </p:to>
                                    </p:set>
                                    <p:animEffect transition="in" filter="fade">
                                      <p:cBhvr>
                                        <p:cTn id="58" dur="350"/>
                                        <p:tgtEl>
                                          <p:spTgt spid="38"/>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39"/>
                                        </p:tgtEl>
                                        <p:attrNameLst>
                                          <p:attrName>style.visibility</p:attrName>
                                        </p:attrNameLst>
                                      </p:cBhvr>
                                      <p:to>
                                        <p:strVal val="visible"/>
                                      </p:to>
                                    </p:set>
                                    <p:animEffect transition="in" filter="fade">
                                      <p:cBhvr>
                                        <p:cTn id="61" dur="350"/>
                                        <p:tgtEl>
                                          <p:spTgt spid="39"/>
                                        </p:tgtEl>
                                      </p:cBhvr>
                                    </p:animEffect>
                                  </p:childTnLst>
                                </p:cTn>
                              </p:par>
                            </p:childTnLst>
                          </p:cTn>
                        </p:par>
                        <p:par>
                          <p:cTn id="62" fill="hold">
                            <p:stCondLst>
                              <p:cond delay="1400"/>
                            </p:stCondLst>
                            <p:childTnLst>
                              <p:par>
                                <p:cTn id="63" presetID="10" presetClass="entr" presetSubtype="0" fill="hold" grpId="0" nodeType="afterEffect">
                                  <p:stCondLst>
                                    <p:cond delay="0"/>
                                  </p:stCondLst>
                                  <p:childTnLst>
                                    <p:set>
                                      <p:cBhvr>
                                        <p:cTn id="64" dur="1" fill="hold">
                                          <p:stCondLst>
                                            <p:cond delay="0"/>
                                          </p:stCondLst>
                                        </p:cTn>
                                        <p:tgtEl>
                                          <p:spTgt spid="40"/>
                                        </p:tgtEl>
                                        <p:attrNameLst>
                                          <p:attrName>style.visibility</p:attrName>
                                        </p:attrNameLst>
                                      </p:cBhvr>
                                      <p:to>
                                        <p:strVal val="visible"/>
                                      </p:to>
                                    </p:set>
                                    <p:animEffect transition="in" filter="fade">
                                      <p:cBhvr>
                                        <p:cTn id="65" dur="350"/>
                                        <p:tgtEl>
                                          <p:spTgt spid="40"/>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41"/>
                                        </p:tgtEl>
                                        <p:attrNameLst>
                                          <p:attrName>style.visibility</p:attrName>
                                        </p:attrNameLst>
                                      </p:cBhvr>
                                      <p:to>
                                        <p:strVal val="visible"/>
                                      </p:to>
                                    </p:set>
                                    <p:animEffect transition="in" filter="fade">
                                      <p:cBhvr>
                                        <p:cTn id="68" dur="350"/>
                                        <p:tgtEl>
                                          <p:spTgt spid="41"/>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42"/>
                                        </p:tgtEl>
                                        <p:attrNameLst>
                                          <p:attrName>style.visibility</p:attrName>
                                        </p:attrNameLst>
                                      </p:cBhvr>
                                      <p:to>
                                        <p:strVal val="visible"/>
                                      </p:to>
                                    </p:set>
                                    <p:animEffect transition="in" filter="fade">
                                      <p:cBhvr>
                                        <p:cTn id="71" dur="350"/>
                                        <p:tgtEl>
                                          <p:spTgt spid="42"/>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43"/>
                                        </p:tgtEl>
                                        <p:attrNameLst>
                                          <p:attrName>style.visibility</p:attrName>
                                        </p:attrNameLst>
                                      </p:cBhvr>
                                      <p:to>
                                        <p:strVal val="visible"/>
                                      </p:to>
                                    </p:set>
                                    <p:animEffect transition="in" filter="fade">
                                      <p:cBhvr>
                                        <p:cTn id="74" dur="350"/>
                                        <p:tgtEl>
                                          <p:spTgt spid="43"/>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44"/>
                                        </p:tgtEl>
                                        <p:attrNameLst>
                                          <p:attrName>style.visibility</p:attrName>
                                        </p:attrNameLst>
                                      </p:cBhvr>
                                      <p:to>
                                        <p:strVal val="visible"/>
                                      </p:to>
                                    </p:set>
                                    <p:animEffect transition="in" filter="fade">
                                      <p:cBhvr>
                                        <p:cTn id="77" dur="350"/>
                                        <p:tgtEl>
                                          <p:spTgt spid="44"/>
                                        </p:tgtEl>
                                      </p:cBhvr>
                                    </p:animEffect>
                                  </p:childTnLst>
                                </p:cTn>
                              </p:par>
                            </p:childTnLst>
                          </p:cTn>
                        </p:par>
                        <p:par>
                          <p:cTn id="78" fill="hold">
                            <p:stCondLst>
                              <p:cond delay="1750"/>
                            </p:stCondLst>
                            <p:childTnLst>
                              <p:par>
                                <p:cTn id="79" presetID="10" presetClass="entr" presetSubtype="0" fill="hold" grpId="0" nodeType="afterEffect">
                                  <p:stCondLst>
                                    <p:cond delay="0"/>
                                  </p:stCondLst>
                                  <p:childTnLst>
                                    <p:set>
                                      <p:cBhvr>
                                        <p:cTn id="80" dur="1" fill="hold">
                                          <p:stCondLst>
                                            <p:cond delay="0"/>
                                          </p:stCondLst>
                                        </p:cTn>
                                        <p:tgtEl>
                                          <p:spTgt spid="45"/>
                                        </p:tgtEl>
                                        <p:attrNameLst>
                                          <p:attrName>style.visibility</p:attrName>
                                        </p:attrNameLst>
                                      </p:cBhvr>
                                      <p:to>
                                        <p:strVal val="visible"/>
                                      </p:to>
                                    </p:set>
                                    <p:animEffect transition="in" filter="fade">
                                      <p:cBhvr>
                                        <p:cTn id="81" dur="350"/>
                                        <p:tgtEl>
                                          <p:spTgt spid="45"/>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46"/>
                                        </p:tgtEl>
                                        <p:attrNameLst>
                                          <p:attrName>style.visibility</p:attrName>
                                        </p:attrNameLst>
                                      </p:cBhvr>
                                      <p:to>
                                        <p:strVal val="visible"/>
                                      </p:to>
                                    </p:set>
                                    <p:animEffect transition="in" filter="fade">
                                      <p:cBhvr>
                                        <p:cTn id="84" dur="350"/>
                                        <p:tgtEl>
                                          <p:spTgt spid="46"/>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47"/>
                                        </p:tgtEl>
                                        <p:attrNameLst>
                                          <p:attrName>style.visibility</p:attrName>
                                        </p:attrNameLst>
                                      </p:cBhvr>
                                      <p:to>
                                        <p:strVal val="visible"/>
                                      </p:to>
                                    </p:set>
                                    <p:animEffect transition="in" filter="fade">
                                      <p:cBhvr>
                                        <p:cTn id="87" dur="350"/>
                                        <p:tgtEl>
                                          <p:spTgt spid="47"/>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48"/>
                                        </p:tgtEl>
                                        <p:attrNameLst>
                                          <p:attrName>style.visibility</p:attrName>
                                        </p:attrNameLst>
                                      </p:cBhvr>
                                      <p:to>
                                        <p:strVal val="visible"/>
                                      </p:to>
                                    </p:set>
                                    <p:animEffect transition="in" filter="fade">
                                      <p:cBhvr>
                                        <p:cTn id="90" dur="350"/>
                                        <p:tgtEl>
                                          <p:spTgt spid="48"/>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49"/>
                                        </p:tgtEl>
                                        <p:attrNameLst>
                                          <p:attrName>style.visibility</p:attrName>
                                        </p:attrNameLst>
                                      </p:cBhvr>
                                      <p:to>
                                        <p:strVal val="visible"/>
                                      </p:to>
                                    </p:set>
                                    <p:animEffect transition="in" filter="fade">
                                      <p:cBhvr>
                                        <p:cTn id="93" dur="350"/>
                                        <p:tgtEl>
                                          <p:spTgt spid="49"/>
                                        </p:tgtEl>
                                      </p:cBhvr>
                                    </p:animEffect>
                                  </p:childTnLst>
                                </p:cTn>
                              </p:par>
                            </p:childTnLst>
                          </p:cTn>
                        </p:par>
                        <p:par>
                          <p:cTn id="94" fill="hold">
                            <p:stCondLst>
                              <p:cond delay="2100"/>
                            </p:stCondLst>
                            <p:childTnLst>
                              <p:par>
                                <p:cTn id="95" presetID="10" presetClass="entr" presetSubtype="0" fill="hold" grpId="0" nodeType="afterEffect">
                                  <p:stCondLst>
                                    <p:cond delay="0"/>
                                  </p:stCondLst>
                                  <p:childTnLst>
                                    <p:set>
                                      <p:cBhvr>
                                        <p:cTn id="96" dur="1" fill="hold">
                                          <p:stCondLst>
                                            <p:cond delay="0"/>
                                          </p:stCondLst>
                                        </p:cTn>
                                        <p:tgtEl>
                                          <p:spTgt spid="50"/>
                                        </p:tgtEl>
                                        <p:attrNameLst>
                                          <p:attrName>style.visibility</p:attrName>
                                        </p:attrNameLst>
                                      </p:cBhvr>
                                      <p:to>
                                        <p:strVal val="visible"/>
                                      </p:to>
                                    </p:set>
                                    <p:animEffect transition="in" filter="fade">
                                      <p:cBhvr>
                                        <p:cTn id="97" dur="350"/>
                                        <p:tgtEl>
                                          <p:spTgt spid="50"/>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51"/>
                                        </p:tgtEl>
                                        <p:attrNameLst>
                                          <p:attrName>style.visibility</p:attrName>
                                        </p:attrNameLst>
                                      </p:cBhvr>
                                      <p:to>
                                        <p:strVal val="visible"/>
                                      </p:to>
                                    </p:set>
                                    <p:animEffect transition="in" filter="fade">
                                      <p:cBhvr>
                                        <p:cTn id="100" dur="350"/>
                                        <p:tgtEl>
                                          <p:spTgt spid="51"/>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52"/>
                                        </p:tgtEl>
                                        <p:attrNameLst>
                                          <p:attrName>style.visibility</p:attrName>
                                        </p:attrNameLst>
                                      </p:cBhvr>
                                      <p:to>
                                        <p:strVal val="visible"/>
                                      </p:to>
                                    </p:set>
                                    <p:animEffect transition="in" filter="fade">
                                      <p:cBhvr>
                                        <p:cTn id="103" dur="350"/>
                                        <p:tgtEl>
                                          <p:spTgt spid="52"/>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53"/>
                                        </p:tgtEl>
                                        <p:attrNameLst>
                                          <p:attrName>style.visibility</p:attrName>
                                        </p:attrNameLst>
                                      </p:cBhvr>
                                      <p:to>
                                        <p:strVal val="visible"/>
                                      </p:to>
                                    </p:set>
                                    <p:animEffect transition="in" filter="fade">
                                      <p:cBhvr>
                                        <p:cTn id="106" dur="350"/>
                                        <p:tgtEl>
                                          <p:spTgt spid="53"/>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54"/>
                                        </p:tgtEl>
                                        <p:attrNameLst>
                                          <p:attrName>style.visibility</p:attrName>
                                        </p:attrNameLst>
                                      </p:cBhvr>
                                      <p:to>
                                        <p:strVal val="visible"/>
                                      </p:to>
                                    </p:set>
                                    <p:animEffect transition="in" filter="fade">
                                      <p:cBhvr>
                                        <p:cTn id="109" dur="350"/>
                                        <p:tgtEl>
                                          <p:spTgt spid="54"/>
                                        </p:tgtEl>
                                      </p:cBhvr>
                                    </p:animEffect>
                                  </p:childTnLst>
                                </p:cTn>
                              </p:par>
                            </p:childTnLst>
                          </p:cTn>
                        </p:par>
                        <p:par>
                          <p:cTn id="110" fill="hold">
                            <p:stCondLst>
                              <p:cond delay="2450"/>
                            </p:stCondLst>
                            <p:childTnLst>
                              <p:par>
                                <p:cTn id="111" presetID="10" presetClass="entr" presetSubtype="0" fill="hold" grpId="0" nodeType="afterEffect">
                                  <p:stCondLst>
                                    <p:cond delay="0"/>
                                  </p:stCondLst>
                                  <p:childTnLst>
                                    <p:set>
                                      <p:cBhvr>
                                        <p:cTn id="112" dur="1" fill="hold">
                                          <p:stCondLst>
                                            <p:cond delay="0"/>
                                          </p:stCondLst>
                                        </p:cTn>
                                        <p:tgtEl>
                                          <p:spTgt spid="55"/>
                                        </p:tgtEl>
                                        <p:attrNameLst>
                                          <p:attrName>style.visibility</p:attrName>
                                        </p:attrNameLst>
                                      </p:cBhvr>
                                      <p:to>
                                        <p:strVal val="visible"/>
                                      </p:to>
                                    </p:set>
                                    <p:animEffect transition="in" filter="fade">
                                      <p:cBhvr>
                                        <p:cTn id="113" dur="350"/>
                                        <p:tgtEl>
                                          <p:spTgt spid="55"/>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56"/>
                                        </p:tgtEl>
                                        <p:attrNameLst>
                                          <p:attrName>style.visibility</p:attrName>
                                        </p:attrNameLst>
                                      </p:cBhvr>
                                      <p:to>
                                        <p:strVal val="visible"/>
                                      </p:to>
                                    </p:set>
                                    <p:animEffect transition="in" filter="fade">
                                      <p:cBhvr>
                                        <p:cTn id="116" dur="350"/>
                                        <p:tgtEl>
                                          <p:spTgt spid="56"/>
                                        </p:tgtEl>
                                      </p:cBhvr>
                                    </p:animEffect>
                                  </p:childTnLst>
                                </p:cTn>
                              </p:par>
                              <p:par>
                                <p:cTn id="117" presetID="10" presetClass="entr" presetSubtype="0" fill="hold" grpId="0" nodeType="withEffect">
                                  <p:stCondLst>
                                    <p:cond delay="0"/>
                                  </p:stCondLst>
                                  <p:childTnLst>
                                    <p:set>
                                      <p:cBhvr>
                                        <p:cTn id="118" dur="1" fill="hold">
                                          <p:stCondLst>
                                            <p:cond delay="0"/>
                                          </p:stCondLst>
                                        </p:cTn>
                                        <p:tgtEl>
                                          <p:spTgt spid="57"/>
                                        </p:tgtEl>
                                        <p:attrNameLst>
                                          <p:attrName>style.visibility</p:attrName>
                                        </p:attrNameLst>
                                      </p:cBhvr>
                                      <p:to>
                                        <p:strVal val="visible"/>
                                      </p:to>
                                    </p:set>
                                    <p:animEffect transition="in" filter="fade">
                                      <p:cBhvr>
                                        <p:cTn id="119" dur="350"/>
                                        <p:tgtEl>
                                          <p:spTgt spid="57"/>
                                        </p:tgtEl>
                                      </p:cBhvr>
                                    </p:animEffect>
                                  </p:childTnLst>
                                </p:cTn>
                              </p:par>
                              <p:par>
                                <p:cTn id="120" presetID="10" presetClass="entr" presetSubtype="0" fill="hold" grpId="0" nodeType="withEffect">
                                  <p:stCondLst>
                                    <p:cond delay="0"/>
                                  </p:stCondLst>
                                  <p:childTnLst>
                                    <p:set>
                                      <p:cBhvr>
                                        <p:cTn id="121" dur="1" fill="hold">
                                          <p:stCondLst>
                                            <p:cond delay="0"/>
                                          </p:stCondLst>
                                        </p:cTn>
                                        <p:tgtEl>
                                          <p:spTgt spid="58"/>
                                        </p:tgtEl>
                                        <p:attrNameLst>
                                          <p:attrName>style.visibility</p:attrName>
                                        </p:attrNameLst>
                                      </p:cBhvr>
                                      <p:to>
                                        <p:strVal val="visible"/>
                                      </p:to>
                                    </p:set>
                                    <p:animEffect transition="in" filter="fade">
                                      <p:cBhvr>
                                        <p:cTn id="122" dur="350"/>
                                        <p:tgtEl>
                                          <p:spTgt spid="58"/>
                                        </p:tgtEl>
                                      </p:cBhvr>
                                    </p:animEffect>
                                  </p:childTnLst>
                                </p:cTn>
                              </p:par>
                              <p:par>
                                <p:cTn id="123" presetID="10" presetClass="entr" presetSubtype="0" fill="hold" grpId="0" nodeType="withEffect">
                                  <p:stCondLst>
                                    <p:cond delay="0"/>
                                  </p:stCondLst>
                                  <p:childTnLst>
                                    <p:set>
                                      <p:cBhvr>
                                        <p:cTn id="124" dur="1" fill="hold">
                                          <p:stCondLst>
                                            <p:cond delay="0"/>
                                          </p:stCondLst>
                                        </p:cTn>
                                        <p:tgtEl>
                                          <p:spTgt spid="59"/>
                                        </p:tgtEl>
                                        <p:attrNameLst>
                                          <p:attrName>style.visibility</p:attrName>
                                        </p:attrNameLst>
                                      </p:cBhvr>
                                      <p:to>
                                        <p:strVal val="visible"/>
                                      </p:to>
                                    </p:set>
                                    <p:animEffect transition="in" filter="fade">
                                      <p:cBhvr>
                                        <p:cTn id="125" dur="350"/>
                                        <p:tgtEl>
                                          <p:spTgt spid="59"/>
                                        </p:tgtEl>
                                      </p:cBhvr>
                                    </p:animEffect>
                                  </p:childTnLst>
                                </p:cTn>
                              </p:par>
                            </p:childTnLst>
                          </p:cTn>
                        </p:par>
                        <p:par>
                          <p:cTn id="126" fill="hold">
                            <p:stCondLst>
                              <p:cond delay="2800"/>
                            </p:stCondLst>
                            <p:childTnLst>
                              <p:par>
                                <p:cTn id="127" presetID="10" presetClass="entr" presetSubtype="0" fill="hold" grpId="0" nodeType="afterEffect">
                                  <p:stCondLst>
                                    <p:cond delay="0"/>
                                  </p:stCondLst>
                                  <p:childTnLst>
                                    <p:set>
                                      <p:cBhvr>
                                        <p:cTn id="128" dur="1" fill="hold">
                                          <p:stCondLst>
                                            <p:cond delay="0"/>
                                          </p:stCondLst>
                                        </p:cTn>
                                        <p:tgtEl>
                                          <p:spTgt spid="60"/>
                                        </p:tgtEl>
                                        <p:attrNameLst>
                                          <p:attrName>style.visibility</p:attrName>
                                        </p:attrNameLst>
                                      </p:cBhvr>
                                      <p:to>
                                        <p:strVal val="visible"/>
                                      </p:to>
                                    </p:set>
                                    <p:animEffect transition="in" filter="fade">
                                      <p:cBhvr>
                                        <p:cTn id="129" dur="350"/>
                                        <p:tgtEl>
                                          <p:spTgt spid="60"/>
                                        </p:tgtEl>
                                      </p:cBhvr>
                                    </p:animEffect>
                                  </p:childTnLst>
                                </p:cTn>
                              </p:par>
                              <p:par>
                                <p:cTn id="130" presetID="10" presetClass="entr" presetSubtype="0" fill="hold" grpId="0" nodeType="withEffect">
                                  <p:stCondLst>
                                    <p:cond delay="0"/>
                                  </p:stCondLst>
                                  <p:childTnLst>
                                    <p:set>
                                      <p:cBhvr>
                                        <p:cTn id="131" dur="1" fill="hold">
                                          <p:stCondLst>
                                            <p:cond delay="0"/>
                                          </p:stCondLst>
                                        </p:cTn>
                                        <p:tgtEl>
                                          <p:spTgt spid="61"/>
                                        </p:tgtEl>
                                        <p:attrNameLst>
                                          <p:attrName>style.visibility</p:attrName>
                                        </p:attrNameLst>
                                      </p:cBhvr>
                                      <p:to>
                                        <p:strVal val="visible"/>
                                      </p:to>
                                    </p:set>
                                    <p:animEffect transition="in" filter="fade">
                                      <p:cBhvr>
                                        <p:cTn id="132" dur="350"/>
                                        <p:tgtEl>
                                          <p:spTgt spid="61"/>
                                        </p:tgtEl>
                                      </p:cBhvr>
                                    </p:animEffect>
                                  </p:childTnLst>
                                </p:cTn>
                              </p:par>
                              <p:par>
                                <p:cTn id="133" presetID="10" presetClass="entr" presetSubtype="0" fill="hold" grpId="0" nodeType="withEffect">
                                  <p:stCondLst>
                                    <p:cond delay="0"/>
                                  </p:stCondLst>
                                  <p:childTnLst>
                                    <p:set>
                                      <p:cBhvr>
                                        <p:cTn id="134" dur="1" fill="hold">
                                          <p:stCondLst>
                                            <p:cond delay="0"/>
                                          </p:stCondLst>
                                        </p:cTn>
                                        <p:tgtEl>
                                          <p:spTgt spid="62"/>
                                        </p:tgtEl>
                                        <p:attrNameLst>
                                          <p:attrName>style.visibility</p:attrName>
                                        </p:attrNameLst>
                                      </p:cBhvr>
                                      <p:to>
                                        <p:strVal val="visible"/>
                                      </p:to>
                                    </p:set>
                                    <p:animEffect transition="in" filter="fade">
                                      <p:cBhvr>
                                        <p:cTn id="135" dur="35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4" grpId="0" animBg="1"/>
      <p:bldP spid="26" grpId="0" animBg="1"/>
      <p:bldP spid="27" grpId="0" animBg="1"/>
      <p:bldP spid="28" grpId="0" animBg="1"/>
      <p:bldP spid="29" grpId="0" animBg="1"/>
      <p:bldP spid="31" grpId="0" animBg="1"/>
      <p:bldP spid="32" grpId="0" animBg="1"/>
      <p:bldP spid="33" grpId="0" animBg="1"/>
      <p:bldP spid="34" grpId="0" animBg="1"/>
      <p:bldP spid="36" grpId="0" animBg="1"/>
      <p:bldP spid="37" grpId="0" animBg="1"/>
      <p:bldP spid="38" grpId="0" animBg="1"/>
      <p:bldP spid="39" grpId="0" animBg="1"/>
      <p:bldP spid="41" grpId="0" animBg="1"/>
      <p:bldP spid="42" grpId="0" animBg="1"/>
      <p:bldP spid="43" grpId="0" animBg="1"/>
      <p:bldP spid="44" grpId="0" animBg="1"/>
      <p:bldP spid="45" grpId="0" animBg="1"/>
      <p:bldP spid="46" grpId="0" animBg="1"/>
      <p:bldP spid="48" grpId="0" animBg="1"/>
      <p:bldP spid="49" grpId="0" animBg="1"/>
      <p:bldP spid="50" grpId="0" animBg="1"/>
      <p:bldP spid="51" grpId="0" animBg="1"/>
      <p:bldP spid="53" grpId="0" animBg="1"/>
      <p:bldP spid="54" grpId="0" animBg="1"/>
      <p:bldP spid="55" grpId="0" animBg="1"/>
      <p:bldP spid="56" grpId="0" animBg="1"/>
      <p:bldP spid="58" grpId="0" animBg="1"/>
      <p:bldP spid="59" grpId="0" animBg="1"/>
      <p:bldP spid="60" grpId="0" animBg="1"/>
      <p:bldP spid="62" grpId="0" animBg="1"/>
    </p:bld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lano de fundo do modelo" descr="tpl_bg.png"/>
          <p:cNvPicPr>
            <a:picLocks noChangeAspect="1"/>
          </p:cNvPicPr>
          <p:nvPr/>
        </p:nvPicPr>
        <p:blipFill>
          <a:blip r:embed="rId2"/>
          <a:stretch>
            <a:fillRect/>
          </a:stretch>
        </p:blipFill>
        <p:spPr>
          <a:xfrm>
            <a:off x="20" y="1923"/>
            <a:ext cx="18287980" cy="10285077"/>
          </a:xfrm>
          <a:prstGeom prst="rect">
            <a:avLst/>
          </a:prstGeom>
        </p:spPr>
      </p:pic>
      <p:sp>
        <p:nvSpPr>
          <p:cNvPr id="3" name="Retângulo branco (modelo)"/>
          <p:cNvSpPr/>
          <p:nvPr/>
        </p:nvSpPr>
        <p:spPr>
          <a:xfrm>
            <a:off x="15888345" y="279974"/>
            <a:ext cx="2362200" cy="863025"/>
          </a:xfrm>
          <a:prstGeom prst="rect">
            <a:avLst/>
          </a:prstGeom>
          <a:solidFill>
            <a:srgbClr val="FFFFFF"/>
          </a:solidFill>
          <a:ln>
            <a:noFill/>
          </a:ln>
        </p:spPr>
        <p:txBody>
          <a:bodyPr rtlCol="0" anchor="ctr"/>
          <a:lstStyle/>
          <a:p>
            <a:pPr algn="ctr"/>
          </a:p>
        </p:txBody>
      </p:sp>
      <p:pic>
        <p:nvPicPr>
          <p:cNvPr id="4" name="Logo SEMICA" descr="image.png"/>
          <p:cNvPicPr>
            <a:picLocks noChangeAspect="1"/>
          </p:cNvPicPr>
          <p:nvPr/>
        </p:nvPicPr>
        <p:blipFill>
          <a:blip r:embed="rId3"/>
          <a:stretch>
            <a:fillRect/>
          </a:stretch>
        </p:blipFill>
        <p:spPr>
          <a:xfrm>
            <a:off x="15544800" y="279974"/>
            <a:ext cx="2512314" cy="1234862"/>
          </a:xfrm>
          <a:prstGeom prst="rect">
            <a:avLst/>
          </a:prstGeom>
        </p:spPr>
      </p:pic>
      <p:sp>
        <p:nvSpPr>
          <p:cNvPr id="5" name="Título da seção"/>
          <p:cNvSpPr txBox="1"/>
          <p:nvPr/>
        </p:nvSpPr>
        <p:spPr>
          <a:xfrm>
            <a:off x="1143000" y="558224"/>
            <a:ext cx="10058400" cy="584775"/>
          </a:xfrm>
          <a:prstGeom prst="rect">
            <a:avLst/>
          </a:prstGeom>
          <a:noFill/>
        </p:spPr>
        <p:txBody>
          <a:bodyPr wrap="square">
            <a:noAutofit/>
          </a:bodyPr>
          <a:lstStyle/>
          <a:p>
            <a:pPr algn="l">
              <a:lnSpc>
                <a:spcPct val="100000"/>
              </a:lnSpc>
              <a:spcAft>
                <a:spcPts val="0"/>
              </a:spcAft>
              <a:buNone/>
            </a:pPr>
            <a:r>
              <a:rPr sz="3200" b="0" i="0">
                <a:solidFill>
                  <a:srgbClr val="000000"/>
                </a:solidFill>
                <a:latin typeface="Arial"/>
              </a:rPr>
              <a:t>METODOLOGIA</a:t>
            </a:r>
          </a:p>
        </p:txBody>
      </p:sp>
      <p:sp>
        <p:nvSpPr>
          <p:cNvPr id="6" name="Subtítulo"/>
          <p:cNvSpPr txBox="1"/>
          <p:nvPr/>
        </p:nvSpPr>
        <p:spPr>
          <a:xfrm>
            <a:off x="1143000" y="1097280"/>
            <a:ext cx="14173200" cy="502920"/>
          </a:xfrm>
          <a:prstGeom prst="rect">
            <a:avLst/>
          </a:prstGeom>
          <a:noFill/>
        </p:spPr>
        <p:txBody>
          <a:bodyPr wrap="square" lIns="0" rIns="0" tIns="0" bIns="0" anchor="t">
            <a:noAutofit/>
          </a:bodyPr>
          <a:lstStyle/>
          <a:p>
            <a:pPr algn="l">
              <a:lnSpc>
                <a:spcPct val="100000"/>
              </a:lnSpc>
              <a:spcAft>
                <a:spcPts val="0"/>
              </a:spcAft>
              <a:buNone/>
            </a:pPr>
            <a:r>
              <a:rPr sz="2400" b="1" i="0">
                <a:solidFill>
                  <a:srgbClr val="002060"/>
                </a:solidFill>
                <a:latin typeface="Arial"/>
              </a:rPr>
              <a:t>Passos 4 e 5 · Extração padronizada e avaliação do risco de viés (JBI)</a:t>
            </a:r>
          </a:p>
        </p:txBody>
      </p:sp>
      <p:cxnSp>
        <p:nvCxnSpPr>
          <p:cNvPr id="7" name="Connector 6"/>
          <p:cNvCxnSpPr/>
          <p:nvPr/>
        </p:nvCxnSpPr>
        <p:spPr>
          <a:xfrm>
            <a:off x="2410097" y="9454896"/>
            <a:ext cx="14107885" cy="0"/>
          </a:xfrm>
          <a:prstGeom prst="line">
            <a:avLst/>
          </a:prstGeom>
          <a:ln w="31750">
            <a:solidFill>
              <a:srgbClr val="C9CFDA"/>
            </a:solidFill>
          </a:ln>
        </p:spPr>
      </p:cxnSp>
      <p:sp>
        <p:nvSpPr>
          <p:cNvPr id="8" name="Oval 7"/>
          <p:cNvSpPr/>
          <p:nvPr/>
        </p:nvSpPr>
        <p:spPr>
          <a:xfrm>
            <a:off x="2245505" y="9290304"/>
            <a:ext cx="329184" cy="329184"/>
          </a:xfrm>
          <a:prstGeom prst="ellipse">
            <a:avLst/>
          </a:prstGeom>
          <a:solidFill>
            <a:srgbClr val="C9CFDA"/>
          </a:solidFill>
          <a:ln>
            <a:noFill/>
          </a:ln>
          <a:effectLst/>
        </p:spPr>
        <p:txBody>
          <a:bodyPr rtlCol="0" anchor="ctr" lIns="0" rIns="0" tIns="0" bIns="0" wrap="square">
            <a:noAutofit/>
          </a:bodyPr>
          <a:lstStyle/>
          <a:p>
            <a:pPr algn="ctr">
              <a:lnSpc>
                <a:spcPct val="100000"/>
              </a:lnSpc>
              <a:spcAft>
                <a:spcPts val="0"/>
              </a:spcAft>
              <a:buNone/>
            </a:pPr>
            <a:r>
              <a:rPr sz="1300" b="1" i="0">
                <a:solidFill>
                  <a:srgbClr val="FFFFFF"/>
                </a:solidFill>
                <a:latin typeface="Arial"/>
              </a:rPr>
              <a:t>1</a:t>
            </a:r>
          </a:p>
        </p:txBody>
      </p:sp>
      <p:sp>
        <p:nvSpPr>
          <p:cNvPr id="9" name="TextBox 8"/>
          <p:cNvSpPr txBox="1"/>
          <p:nvPr/>
        </p:nvSpPr>
        <p:spPr>
          <a:xfrm>
            <a:off x="1234439" y="9710928"/>
            <a:ext cx="2351314" cy="365760"/>
          </a:xfrm>
          <a:prstGeom prst="rect">
            <a:avLst/>
          </a:prstGeom>
          <a:noFill/>
        </p:spPr>
        <p:txBody>
          <a:bodyPr wrap="square" lIns="0" rIns="0" tIns="0" bIns="0" anchor="t">
            <a:noAutofit/>
          </a:bodyPr>
          <a:lstStyle/>
          <a:p>
            <a:pPr algn="ctr">
              <a:lnSpc>
                <a:spcPct val="100000"/>
              </a:lnSpc>
              <a:spcAft>
                <a:spcPts val="0"/>
              </a:spcAft>
              <a:buNone/>
            </a:pPr>
            <a:r>
              <a:rPr sz="1400" b="0" i="0">
                <a:solidFill>
                  <a:srgbClr val="5A6270"/>
                </a:solidFill>
                <a:latin typeface="Arial"/>
              </a:rPr>
              <a:t>Protocolo</a:t>
            </a:r>
          </a:p>
        </p:txBody>
      </p:sp>
      <p:sp>
        <p:nvSpPr>
          <p:cNvPr id="10" name="Oval 9"/>
          <p:cNvSpPr/>
          <p:nvPr/>
        </p:nvSpPr>
        <p:spPr>
          <a:xfrm>
            <a:off x="4596819" y="9290304"/>
            <a:ext cx="329184" cy="329184"/>
          </a:xfrm>
          <a:prstGeom prst="ellipse">
            <a:avLst/>
          </a:prstGeom>
          <a:solidFill>
            <a:srgbClr val="C9CFDA"/>
          </a:solidFill>
          <a:ln>
            <a:noFill/>
          </a:ln>
          <a:effectLst/>
        </p:spPr>
        <p:txBody>
          <a:bodyPr rtlCol="0" anchor="ctr" lIns="0" rIns="0" tIns="0" bIns="0" wrap="square">
            <a:noAutofit/>
          </a:bodyPr>
          <a:lstStyle/>
          <a:p>
            <a:pPr algn="ctr">
              <a:lnSpc>
                <a:spcPct val="100000"/>
              </a:lnSpc>
              <a:spcAft>
                <a:spcPts val="0"/>
              </a:spcAft>
              <a:buNone/>
            </a:pPr>
            <a:r>
              <a:rPr sz="1300" b="1" i="0">
                <a:solidFill>
                  <a:srgbClr val="FFFFFF"/>
                </a:solidFill>
                <a:latin typeface="Arial"/>
              </a:rPr>
              <a:t>2</a:t>
            </a:r>
          </a:p>
        </p:txBody>
      </p:sp>
      <p:sp>
        <p:nvSpPr>
          <p:cNvPr id="11" name="TextBox 10"/>
          <p:cNvSpPr txBox="1"/>
          <p:nvPr/>
        </p:nvSpPr>
        <p:spPr>
          <a:xfrm>
            <a:off x="3585754" y="9710928"/>
            <a:ext cx="2351314" cy="365760"/>
          </a:xfrm>
          <a:prstGeom prst="rect">
            <a:avLst/>
          </a:prstGeom>
          <a:noFill/>
        </p:spPr>
        <p:txBody>
          <a:bodyPr wrap="square" lIns="0" rIns="0" tIns="0" bIns="0" anchor="t">
            <a:noAutofit/>
          </a:bodyPr>
          <a:lstStyle/>
          <a:p>
            <a:pPr algn="ctr">
              <a:lnSpc>
                <a:spcPct val="100000"/>
              </a:lnSpc>
              <a:spcAft>
                <a:spcPts val="0"/>
              </a:spcAft>
              <a:buNone/>
            </a:pPr>
            <a:r>
              <a:rPr sz="1400" b="0" i="0">
                <a:solidFill>
                  <a:srgbClr val="5A6270"/>
                </a:solidFill>
                <a:latin typeface="Arial"/>
              </a:rPr>
              <a:t>Busca</a:t>
            </a:r>
          </a:p>
        </p:txBody>
      </p:sp>
      <p:sp>
        <p:nvSpPr>
          <p:cNvPr id="12" name="Oval 11"/>
          <p:cNvSpPr/>
          <p:nvPr/>
        </p:nvSpPr>
        <p:spPr>
          <a:xfrm>
            <a:off x="6948133" y="9290304"/>
            <a:ext cx="329184" cy="329184"/>
          </a:xfrm>
          <a:prstGeom prst="ellipse">
            <a:avLst/>
          </a:prstGeom>
          <a:solidFill>
            <a:srgbClr val="C9CFDA"/>
          </a:solidFill>
          <a:ln>
            <a:noFill/>
          </a:ln>
          <a:effectLst/>
        </p:spPr>
        <p:txBody>
          <a:bodyPr rtlCol="0" anchor="ctr" lIns="0" rIns="0" tIns="0" bIns="0" wrap="square">
            <a:noAutofit/>
          </a:bodyPr>
          <a:lstStyle/>
          <a:p>
            <a:pPr algn="ctr">
              <a:lnSpc>
                <a:spcPct val="100000"/>
              </a:lnSpc>
              <a:spcAft>
                <a:spcPts val="0"/>
              </a:spcAft>
              <a:buNone/>
            </a:pPr>
            <a:r>
              <a:rPr sz="1300" b="1" i="0">
                <a:solidFill>
                  <a:srgbClr val="FFFFFF"/>
                </a:solidFill>
                <a:latin typeface="Arial"/>
              </a:rPr>
              <a:t>3</a:t>
            </a:r>
          </a:p>
        </p:txBody>
      </p:sp>
      <p:sp>
        <p:nvSpPr>
          <p:cNvPr id="13" name="TextBox 12"/>
          <p:cNvSpPr txBox="1"/>
          <p:nvPr/>
        </p:nvSpPr>
        <p:spPr>
          <a:xfrm>
            <a:off x="5937068" y="9710928"/>
            <a:ext cx="2351314" cy="365760"/>
          </a:xfrm>
          <a:prstGeom prst="rect">
            <a:avLst/>
          </a:prstGeom>
          <a:noFill/>
        </p:spPr>
        <p:txBody>
          <a:bodyPr wrap="square" lIns="0" rIns="0" tIns="0" bIns="0" anchor="t">
            <a:noAutofit/>
          </a:bodyPr>
          <a:lstStyle/>
          <a:p>
            <a:pPr algn="ctr">
              <a:lnSpc>
                <a:spcPct val="100000"/>
              </a:lnSpc>
              <a:spcAft>
                <a:spcPts val="0"/>
              </a:spcAft>
              <a:buNone/>
            </a:pPr>
            <a:r>
              <a:rPr sz="1400" b="0" i="0">
                <a:solidFill>
                  <a:srgbClr val="5A6270"/>
                </a:solidFill>
                <a:latin typeface="Arial"/>
              </a:rPr>
              <a:t>Seleção</a:t>
            </a:r>
          </a:p>
        </p:txBody>
      </p:sp>
      <p:sp>
        <p:nvSpPr>
          <p:cNvPr id="14" name="Oval 13"/>
          <p:cNvSpPr/>
          <p:nvPr/>
        </p:nvSpPr>
        <p:spPr>
          <a:xfrm>
            <a:off x="9262871" y="9253728"/>
            <a:ext cx="402336" cy="402336"/>
          </a:xfrm>
          <a:prstGeom prst="ellipse">
            <a:avLst/>
          </a:prstGeom>
          <a:solidFill>
            <a:srgbClr val="8B0000"/>
          </a:solidFill>
          <a:ln>
            <a:noFill/>
          </a:ln>
          <a:effectLst/>
        </p:spPr>
        <p:txBody>
          <a:bodyPr rtlCol="0" anchor="ctr" lIns="0" rIns="0" tIns="0" bIns="0" wrap="square">
            <a:noAutofit/>
          </a:bodyPr>
          <a:lstStyle/>
          <a:p>
            <a:pPr algn="ctr">
              <a:lnSpc>
                <a:spcPct val="100000"/>
              </a:lnSpc>
              <a:spcAft>
                <a:spcPts val="0"/>
              </a:spcAft>
              <a:buNone/>
            </a:pPr>
            <a:r>
              <a:rPr sz="1600" b="1" i="0">
                <a:solidFill>
                  <a:srgbClr val="FFFFFF"/>
                </a:solidFill>
                <a:latin typeface="Arial"/>
              </a:rPr>
              <a:t>4</a:t>
            </a:r>
          </a:p>
        </p:txBody>
      </p:sp>
      <p:sp>
        <p:nvSpPr>
          <p:cNvPr id="15" name="TextBox 14"/>
          <p:cNvSpPr txBox="1"/>
          <p:nvPr/>
        </p:nvSpPr>
        <p:spPr>
          <a:xfrm>
            <a:off x="8288382" y="9710928"/>
            <a:ext cx="2351314" cy="365760"/>
          </a:xfrm>
          <a:prstGeom prst="rect">
            <a:avLst/>
          </a:prstGeom>
          <a:noFill/>
        </p:spPr>
        <p:txBody>
          <a:bodyPr wrap="square" lIns="0" rIns="0" tIns="0" bIns="0" anchor="t">
            <a:noAutofit/>
          </a:bodyPr>
          <a:lstStyle/>
          <a:p>
            <a:pPr algn="ctr">
              <a:lnSpc>
                <a:spcPct val="100000"/>
              </a:lnSpc>
              <a:spcAft>
                <a:spcPts val="0"/>
              </a:spcAft>
              <a:buNone/>
            </a:pPr>
            <a:r>
              <a:rPr sz="1400" b="1" i="0">
                <a:solidFill>
                  <a:srgbClr val="002060"/>
                </a:solidFill>
                <a:latin typeface="Arial"/>
              </a:rPr>
              <a:t>Extração</a:t>
            </a:r>
          </a:p>
        </p:txBody>
      </p:sp>
      <p:sp>
        <p:nvSpPr>
          <p:cNvPr id="16" name="Oval 15"/>
          <p:cNvSpPr/>
          <p:nvPr/>
        </p:nvSpPr>
        <p:spPr>
          <a:xfrm>
            <a:off x="11614186" y="9253728"/>
            <a:ext cx="402336" cy="402336"/>
          </a:xfrm>
          <a:prstGeom prst="ellipse">
            <a:avLst/>
          </a:prstGeom>
          <a:solidFill>
            <a:srgbClr val="8B0000"/>
          </a:solidFill>
          <a:ln>
            <a:noFill/>
          </a:ln>
          <a:effectLst/>
        </p:spPr>
        <p:txBody>
          <a:bodyPr rtlCol="0" anchor="ctr" lIns="0" rIns="0" tIns="0" bIns="0" wrap="square">
            <a:noAutofit/>
          </a:bodyPr>
          <a:lstStyle/>
          <a:p>
            <a:pPr algn="ctr">
              <a:lnSpc>
                <a:spcPct val="100000"/>
              </a:lnSpc>
              <a:spcAft>
                <a:spcPts val="0"/>
              </a:spcAft>
              <a:buNone/>
            </a:pPr>
            <a:r>
              <a:rPr sz="1600" b="1" i="0">
                <a:solidFill>
                  <a:srgbClr val="FFFFFF"/>
                </a:solidFill>
                <a:latin typeface="Arial"/>
              </a:rPr>
              <a:t>5</a:t>
            </a:r>
          </a:p>
        </p:txBody>
      </p:sp>
      <p:sp>
        <p:nvSpPr>
          <p:cNvPr id="17" name="TextBox 16"/>
          <p:cNvSpPr txBox="1"/>
          <p:nvPr/>
        </p:nvSpPr>
        <p:spPr>
          <a:xfrm>
            <a:off x="10639697" y="9710928"/>
            <a:ext cx="2351314" cy="365760"/>
          </a:xfrm>
          <a:prstGeom prst="rect">
            <a:avLst/>
          </a:prstGeom>
          <a:noFill/>
        </p:spPr>
        <p:txBody>
          <a:bodyPr wrap="square" lIns="0" rIns="0" tIns="0" bIns="0" anchor="t">
            <a:noAutofit/>
          </a:bodyPr>
          <a:lstStyle/>
          <a:p>
            <a:pPr algn="ctr">
              <a:lnSpc>
                <a:spcPct val="100000"/>
              </a:lnSpc>
              <a:spcAft>
                <a:spcPts val="0"/>
              </a:spcAft>
              <a:buNone/>
            </a:pPr>
            <a:r>
              <a:rPr sz="1400" b="1" i="0">
                <a:solidFill>
                  <a:srgbClr val="002060"/>
                </a:solidFill>
                <a:latin typeface="Arial"/>
              </a:rPr>
              <a:t>Risco de viés</a:t>
            </a:r>
          </a:p>
        </p:txBody>
      </p:sp>
      <p:sp>
        <p:nvSpPr>
          <p:cNvPr id="18" name="Oval 17"/>
          <p:cNvSpPr/>
          <p:nvPr/>
        </p:nvSpPr>
        <p:spPr>
          <a:xfrm>
            <a:off x="14002076" y="9290304"/>
            <a:ext cx="329184" cy="329184"/>
          </a:xfrm>
          <a:prstGeom prst="ellipse">
            <a:avLst/>
          </a:prstGeom>
          <a:solidFill>
            <a:srgbClr val="C9CFDA"/>
          </a:solidFill>
          <a:ln>
            <a:noFill/>
          </a:ln>
          <a:effectLst/>
        </p:spPr>
        <p:txBody>
          <a:bodyPr rtlCol="0" anchor="ctr" lIns="0" rIns="0" tIns="0" bIns="0" wrap="square">
            <a:noAutofit/>
          </a:bodyPr>
          <a:lstStyle/>
          <a:p>
            <a:pPr algn="ctr">
              <a:lnSpc>
                <a:spcPct val="100000"/>
              </a:lnSpc>
              <a:spcAft>
                <a:spcPts val="0"/>
              </a:spcAft>
              <a:buNone/>
            </a:pPr>
            <a:r>
              <a:rPr sz="1300" b="1" i="0">
                <a:solidFill>
                  <a:srgbClr val="FFFFFF"/>
                </a:solidFill>
                <a:latin typeface="Arial"/>
              </a:rPr>
              <a:t>6</a:t>
            </a:r>
          </a:p>
        </p:txBody>
      </p:sp>
      <p:sp>
        <p:nvSpPr>
          <p:cNvPr id="19" name="TextBox 18"/>
          <p:cNvSpPr txBox="1"/>
          <p:nvPr/>
        </p:nvSpPr>
        <p:spPr>
          <a:xfrm>
            <a:off x="12991011" y="9710928"/>
            <a:ext cx="2351314" cy="365760"/>
          </a:xfrm>
          <a:prstGeom prst="rect">
            <a:avLst/>
          </a:prstGeom>
          <a:noFill/>
        </p:spPr>
        <p:txBody>
          <a:bodyPr wrap="square" lIns="0" rIns="0" tIns="0" bIns="0" anchor="t">
            <a:noAutofit/>
          </a:bodyPr>
          <a:lstStyle/>
          <a:p>
            <a:pPr algn="ctr">
              <a:lnSpc>
                <a:spcPct val="100000"/>
              </a:lnSpc>
              <a:spcAft>
                <a:spcPts val="0"/>
              </a:spcAft>
              <a:buNone/>
            </a:pPr>
            <a:r>
              <a:rPr sz="1400" b="0" i="0">
                <a:solidFill>
                  <a:srgbClr val="5A6270"/>
                </a:solidFill>
                <a:latin typeface="Arial"/>
              </a:rPr>
              <a:t>Síntese</a:t>
            </a:r>
          </a:p>
        </p:txBody>
      </p:sp>
      <p:sp>
        <p:nvSpPr>
          <p:cNvPr id="20" name="Oval 19"/>
          <p:cNvSpPr/>
          <p:nvPr/>
        </p:nvSpPr>
        <p:spPr>
          <a:xfrm>
            <a:off x="16353390" y="9290304"/>
            <a:ext cx="329184" cy="329184"/>
          </a:xfrm>
          <a:prstGeom prst="ellipse">
            <a:avLst/>
          </a:prstGeom>
          <a:solidFill>
            <a:srgbClr val="C9CFDA"/>
          </a:solidFill>
          <a:ln>
            <a:noFill/>
          </a:ln>
          <a:effectLst/>
        </p:spPr>
        <p:txBody>
          <a:bodyPr rtlCol="0" anchor="ctr" lIns="0" rIns="0" tIns="0" bIns="0" wrap="square">
            <a:noAutofit/>
          </a:bodyPr>
          <a:lstStyle/>
          <a:p>
            <a:pPr algn="ctr">
              <a:lnSpc>
                <a:spcPct val="100000"/>
              </a:lnSpc>
              <a:spcAft>
                <a:spcPts val="0"/>
              </a:spcAft>
              <a:buNone/>
            </a:pPr>
            <a:r>
              <a:rPr sz="1300" b="1" i="0">
                <a:solidFill>
                  <a:srgbClr val="FFFFFF"/>
                </a:solidFill>
                <a:latin typeface="Arial"/>
              </a:rPr>
              <a:t>7</a:t>
            </a:r>
          </a:p>
        </p:txBody>
      </p:sp>
      <p:sp>
        <p:nvSpPr>
          <p:cNvPr id="21" name="TextBox 20"/>
          <p:cNvSpPr txBox="1"/>
          <p:nvPr/>
        </p:nvSpPr>
        <p:spPr>
          <a:xfrm>
            <a:off x="15342325" y="9710928"/>
            <a:ext cx="2351314" cy="365760"/>
          </a:xfrm>
          <a:prstGeom prst="rect">
            <a:avLst/>
          </a:prstGeom>
          <a:noFill/>
        </p:spPr>
        <p:txBody>
          <a:bodyPr wrap="square" lIns="0" rIns="0" tIns="0" bIns="0" anchor="t">
            <a:noAutofit/>
          </a:bodyPr>
          <a:lstStyle/>
          <a:p>
            <a:pPr algn="ctr">
              <a:lnSpc>
                <a:spcPct val="100000"/>
              </a:lnSpc>
              <a:spcAft>
                <a:spcPts val="0"/>
              </a:spcAft>
              <a:buNone/>
            </a:pPr>
            <a:r>
              <a:rPr sz="1400" b="0" i="0">
                <a:solidFill>
                  <a:srgbClr val="5A6270"/>
                </a:solidFill>
                <a:latin typeface="Arial"/>
              </a:rPr>
              <a:t>Certeza (GRADE)</a:t>
            </a:r>
          </a:p>
        </p:txBody>
      </p:sp>
      <p:sp>
        <p:nvSpPr>
          <p:cNvPr id="22" name="Rounded Rectangle 21"/>
          <p:cNvSpPr/>
          <p:nvPr/>
        </p:nvSpPr>
        <p:spPr>
          <a:xfrm>
            <a:off x="1143000" y="1783080"/>
            <a:ext cx="6675120" cy="7223759"/>
          </a:xfrm>
          <a:prstGeom prst="roundRect">
            <a:avLst>
              <a:gd name="adj" fmla="val 6000"/>
            </a:avLst>
          </a:prstGeom>
          <a:solidFill>
            <a:srgbClr val="F2F4F8"/>
          </a:solidFill>
          <a:ln>
            <a:noFill/>
          </a:ln>
          <a:effectLst/>
        </p:spPr>
        <p:txBody>
          <a:bodyPr rtlCol="0" anchor="ctr"/>
          <a:lstStyle/>
          <a:p/>
        </p:txBody>
      </p:sp>
      <p:sp>
        <p:nvSpPr>
          <p:cNvPr id="23" name="Oval 22"/>
          <p:cNvSpPr/>
          <p:nvPr/>
        </p:nvSpPr>
        <p:spPr>
          <a:xfrm>
            <a:off x="1463040" y="2103120"/>
            <a:ext cx="731520" cy="731520"/>
          </a:xfrm>
          <a:prstGeom prst="ellipse">
            <a:avLst/>
          </a:prstGeom>
          <a:solidFill>
            <a:srgbClr val="002060"/>
          </a:solidFill>
          <a:ln>
            <a:noFill/>
          </a:ln>
          <a:effectLst/>
        </p:spPr>
        <p:txBody>
          <a:bodyPr rtlCol="0" anchor="ctr" lIns="0" rIns="0" tIns="0" bIns="0"/>
          <a:lstStyle/>
          <a:p/>
        </p:txBody>
      </p:sp>
      <p:pic>
        <p:nvPicPr>
          <p:cNvPr id="24" name="icone table" descr="table_white.png"/>
          <p:cNvPicPr>
            <a:picLocks noChangeAspect="1"/>
          </p:cNvPicPr>
          <p:nvPr/>
        </p:nvPicPr>
        <p:blipFill>
          <a:blip r:embed="rId4"/>
          <a:stretch>
            <a:fillRect/>
          </a:stretch>
        </p:blipFill>
        <p:spPr>
          <a:xfrm>
            <a:off x="1645920" y="2285999"/>
            <a:ext cx="365760" cy="365760"/>
          </a:xfrm>
          <a:prstGeom prst="rect">
            <a:avLst/>
          </a:prstGeom>
        </p:spPr>
      </p:pic>
      <p:sp>
        <p:nvSpPr>
          <p:cNvPr id="25" name="TextBox 24"/>
          <p:cNvSpPr txBox="1"/>
          <p:nvPr/>
        </p:nvSpPr>
        <p:spPr>
          <a:xfrm>
            <a:off x="2423160" y="2103120"/>
            <a:ext cx="5074920" cy="731520"/>
          </a:xfrm>
          <a:prstGeom prst="rect">
            <a:avLst/>
          </a:prstGeom>
          <a:noFill/>
        </p:spPr>
        <p:txBody>
          <a:bodyPr wrap="square" lIns="0" rIns="0" tIns="0" bIns="0" anchor="ctr">
            <a:noAutofit/>
          </a:bodyPr>
          <a:lstStyle/>
          <a:p>
            <a:pPr algn="l">
              <a:lnSpc>
                <a:spcPct val="100000"/>
              </a:lnSpc>
              <a:spcAft>
                <a:spcPts val="0"/>
              </a:spcAft>
              <a:buNone/>
            </a:pPr>
            <a:r>
              <a:rPr sz="2200" b="1" i="0">
                <a:solidFill>
                  <a:srgbClr val="002060"/>
                </a:solidFill>
                <a:latin typeface="Arial"/>
              </a:rPr>
              <a:t>Extração dos dados</a:t>
            </a:r>
          </a:p>
        </p:txBody>
      </p:sp>
      <p:sp>
        <p:nvSpPr>
          <p:cNvPr id="26" name="TextBox 25"/>
          <p:cNvSpPr txBox="1"/>
          <p:nvPr/>
        </p:nvSpPr>
        <p:spPr>
          <a:xfrm>
            <a:off x="1463040" y="3017520"/>
            <a:ext cx="6035040" cy="5669280"/>
          </a:xfrm>
          <a:prstGeom prst="rect">
            <a:avLst/>
          </a:prstGeom>
          <a:noFill/>
        </p:spPr>
        <p:txBody>
          <a:bodyPr wrap="square" lIns="0" rIns="0" tIns="0" bIns="0" anchor="t">
            <a:noAutofit/>
          </a:bodyPr>
          <a:lstStyle/>
          <a:p>
            <a:pPr algn="l" marL="274320" indent="-274320">
              <a:lnSpc>
                <a:spcPct val="100000"/>
              </a:lnSpc>
              <a:spcAft>
                <a:spcPts val="800"/>
              </a:spcAft>
              <a:buFont typeface="Arial"/>
              <a:buChar char="•"/>
            </a:pPr>
            <a:r>
              <a:rPr sz="1800" b="1" i="0">
                <a:solidFill>
                  <a:srgbClr val="1F2433"/>
                </a:solidFill>
                <a:latin typeface="Arial"/>
              </a:rPr>
              <a:t>Planilha padronizada: </a:t>
            </a:r>
            <a:r>
              <a:rPr sz="1800" b="0" i="0">
                <a:solidFill>
                  <a:srgbClr val="1F2433"/>
                </a:solidFill>
                <a:latin typeface="Arial"/>
              </a:rPr>
              <a:t>autor, ano, país; desenho; população; dispositivo; comparador; instrumento e definição do desfecho; taxa de resposta; resultados.</a:t>
            </a:r>
          </a:p>
          <a:p>
            <a:pPr algn="l" marL="274320" indent="-274320">
              <a:lnSpc>
                <a:spcPct val="100000"/>
              </a:lnSpc>
              <a:spcAft>
                <a:spcPts val="800"/>
              </a:spcAft>
              <a:buFont typeface="Arial"/>
              <a:buChar char="•"/>
            </a:pPr>
            <a:r>
              <a:rPr sz="1800" b="1" i="0">
                <a:solidFill>
                  <a:srgbClr val="1F2433"/>
                </a:solidFill>
                <a:latin typeface="Arial"/>
              </a:rPr>
              <a:t>Para a metanálise: </a:t>
            </a:r>
            <a:r>
              <a:rPr sz="1800" b="0" i="0">
                <a:solidFill>
                  <a:srgbClr val="1F2433"/>
                </a:solidFill>
                <a:latin typeface="Arial"/>
              </a:rPr>
              <a:t>eventos e denominador de cada grupo (Anexo D).</a:t>
            </a:r>
          </a:p>
          <a:p>
            <a:pPr algn="l" marL="274320" indent="-274320">
              <a:lnSpc>
                <a:spcPct val="100000"/>
              </a:lnSpc>
              <a:spcAft>
                <a:spcPts val="800"/>
              </a:spcAft>
              <a:buFont typeface="Arial"/>
              <a:buChar char="•"/>
            </a:pPr>
            <a:r>
              <a:rPr sz="1800" b="1" i="0">
                <a:solidFill>
                  <a:srgbClr val="1F2433"/>
                </a:solidFill>
                <a:latin typeface="Arial"/>
              </a:rPr>
              <a:t>Recordatório, validação e taxa de resposta </a:t>
            </a:r>
            <a:r>
              <a:rPr sz="1800" b="0" i="0">
                <a:solidFill>
                  <a:srgbClr val="1F2433"/>
                </a:solidFill>
                <a:latin typeface="Arial"/>
              </a:rPr>
              <a:t>raramente informados → “não relatado”.</a:t>
            </a:r>
          </a:p>
          <a:p>
            <a:pPr algn="l" marL="274320" indent="-274320">
              <a:lnSpc>
                <a:spcPct val="100000"/>
              </a:lnSpc>
              <a:spcAft>
                <a:spcPts val="800"/>
              </a:spcAft>
              <a:buFont typeface="Arial"/>
              <a:buChar char="•"/>
            </a:pPr>
            <a:r>
              <a:rPr sz="1800" b="1" i="0">
                <a:solidFill>
                  <a:srgbClr val="1F2433"/>
                </a:solidFill>
                <a:latin typeface="Arial"/>
              </a:rPr>
              <a:t>Sem contato com autores; </a:t>
            </a:r>
            <a:r>
              <a:rPr sz="1800" b="0" i="0">
                <a:solidFill>
                  <a:srgbClr val="1F2433"/>
                </a:solidFill>
                <a:latin typeface="Arial"/>
              </a:rPr>
              <a:t>planilha completa pública no OSF.</a:t>
            </a:r>
          </a:p>
        </p:txBody>
      </p:sp>
      <p:sp>
        <p:nvSpPr>
          <p:cNvPr id="27" name="TextBox 26"/>
          <p:cNvSpPr txBox="1"/>
          <p:nvPr/>
        </p:nvSpPr>
        <p:spPr>
          <a:xfrm>
            <a:off x="1463040" y="6163056"/>
            <a:ext cx="6035040" cy="365760"/>
          </a:xfrm>
          <a:prstGeom prst="rect">
            <a:avLst/>
          </a:prstGeom>
          <a:noFill/>
        </p:spPr>
        <p:txBody>
          <a:bodyPr wrap="square" lIns="0" rIns="0" tIns="0" bIns="0" anchor="t">
            <a:noAutofit/>
          </a:bodyPr>
          <a:lstStyle/>
          <a:p>
            <a:pPr algn="l">
              <a:lnSpc>
                <a:spcPct val="100000"/>
              </a:lnSpc>
              <a:spcAft>
                <a:spcPts val="0"/>
              </a:spcAft>
              <a:buNone/>
            </a:pPr>
            <a:r>
              <a:rPr sz="1500" b="1" i="0">
                <a:solidFill>
                  <a:srgbClr val="002060"/>
                </a:solidFill>
                <a:latin typeface="Arial"/>
              </a:rPr>
              <a:t>Exemplo de linhas extraídas (Anexo D, sintoma ocular)</a:t>
            </a:r>
          </a:p>
        </p:txBody>
      </p:sp>
      <p:graphicFrame>
        <p:nvGraphicFramePr>
          <p:cNvPr id="28" name="Table 27"/>
          <p:cNvGraphicFramePr>
            <a:graphicFrameLocks noGrp="1"/>
          </p:cNvGraphicFramePr>
          <p:nvPr/>
        </p:nvGraphicFramePr>
        <p:xfrm>
          <a:off x="1463040" y="6620256"/>
          <a:ext cx="6035040" cy="2011680"/>
        </p:xfrm>
        <a:graphic>
          <a:graphicData uri="http://schemas.openxmlformats.org/drawingml/2006/table">
            <a:tbl>
              <a:tblPr firstRow="0" bandRow="0"/>
              <a:tblGrid>
                <a:gridCol w="2103120"/>
                <a:gridCol w="914400"/>
                <a:gridCol w="594360"/>
                <a:gridCol w="822960"/>
                <a:gridCol w="1600200"/>
              </a:tblGrid>
              <a:tr h="402336">
                <a:tc>
                  <a:txBody>
                    <a:bodyPr wrap="square">
                      <a:noAutofit/>
                    </a:bodyPr>
                    <a:lstStyle/>
                    <a:p>
                      <a:pPr algn="l">
                        <a:lnSpc>
                          <a:spcPct val="100000"/>
                        </a:lnSpc>
                        <a:spcAft>
                          <a:spcPts val="0"/>
                        </a:spcAft>
                        <a:buNone/>
                      </a:pPr>
                      <a:r>
                        <a:rPr sz="1400" b="1" i="0">
                          <a:solidFill>
                            <a:srgbClr val="FFFFFF"/>
                          </a:solidFill>
                          <a:latin typeface="Arial"/>
                        </a:rPr>
                        <a:t>Estudo</a:t>
                      </a:r>
                    </a:p>
                  </a:txBody>
                  <a:tcPr marL="91440" marR="91440" marT="36576" marB="36576" anchor="ctr">
                    <a:lnL w="9525" cap="flat" cmpd="sng" algn="ctr">
                      <a:solidFill>
                        <a:srgbClr val="C9CFDA"/>
                      </a:solidFill>
                      <a:prstDash val="solid"/>
                      <a:round/>
                    </a:lnL>
                    <a:lnR w="9525" cap="flat" cmpd="sng" algn="ctr">
                      <a:solidFill>
                        <a:srgbClr val="C9CFDA"/>
                      </a:solidFill>
                      <a:prstDash val="solid"/>
                      <a:round/>
                    </a:lnR>
                    <a:lnT w="9525" cap="flat" cmpd="sng" algn="ctr">
                      <a:solidFill>
                        <a:srgbClr val="C9CFDA"/>
                      </a:solidFill>
                      <a:prstDash val="solid"/>
                      <a:round/>
                    </a:lnT>
                    <a:lnB w="9525" cap="flat" cmpd="sng" algn="ctr">
                      <a:solidFill>
                        <a:srgbClr val="C9CFDA"/>
                      </a:solidFill>
                      <a:prstDash val="solid"/>
                      <a:round/>
                    </a:lnB>
                    <a:solidFill>
                      <a:srgbClr val="002060"/>
                    </a:solidFill>
                  </a:tcPr>
                </a:tc>
                <a:tc>
                  <a:txBody>
                    <a:bodyPr wrap="square">
                      <a:noAutofit/>
                    </a:bodyPr>
                    <a:lstStyle/>
                    <a:p>
                      <a:pPr algn="ctr">
                        <a:lnSpc>
                          <a:spcPct val="100000"/>
                        </a:lnSpc>
                        <a:spcAft>
                          <a:spcPts val="0"/>
                        </a:spcAft>
                        <a:buNone/>
                      </a:pPr>
                      <a:r>
                        <a:rPr sz="1400" b="1" i="0">
                          <a:solidFill>
                            <a:srgbClr val="FFFFFF"/>
                          </a:solidFill>
                          <a:latin typeface="Arial"/>
                        </a:rPr>
                        <a:t>Eventos</a:t>
                      </a:r>
                    </a:p>
                  </a:txBody>
                  <a:tcPr marL="91440" marR="91440" marT="36576" marB="36576" anchor="ctr">
                    <a:lnL w="9525" cap="flat" cmpd="sng" algn="ctr">
                      <a:solidFill>
                        <a:srgbClr val="C9CFDA"/>
                      </a:solidFill>
                      <a:prstDash val="solid"/>
                      <a:round/>
                    </a:lnL>
                    <a:lnR w="9525" cap="flat" cmpd="sng" algn="ctr">
                      <a:solidFill>
                        <a:srgbClr val="C9CFDA"/>
                      </a:solidFill>
                      <a:prstDash val="solid"/>
                      <a:round/>
                    </a:lnR>
                    <a:lnT w="9525" cap="flat" cmpd="sng" algn="ctr">
                      <a:solidFill>
                        <a:srgbClr val="C9CFDA"/>
                      </a:solidFill>
                      <a:prstDash val="solid"/>
                      <a:round/>
                    </a:lnT>
                    <a:lnB w="9525" cap="flat" cmpd="sng" algn="ctr">
                      <a:solidFill>
                        <a:srgbClr val="C9CFDA"/>
                      </a:solidFill>
                      <a:prstDash val="solid"/>
                      <a:round/>
                    </a:lnB>
                    <a:solidFill>
                      <a:srgbClr val="002060"/>
                    </a:solidFill>
                  </a:tcPr>
                </a:tc>
                <a:tc>
                  <a:txBody>
                    <a:bodyPr wrap="square">
                      <a:noAutofit/>
                    </a:bodyPr>
                    <a:lstStyle/>
                    <a:p>
                      <a:pPr algn="ctr">
                        <a:lnSpc>
                          <a:spcPct val="100000"/>
                        </a:lnSpc>
                        <a:spcAft>
                          <a:spcPts val="0"/>
                        </a:spcAft>
                        <a:buNone/>
                      </a:pPr>
                      <a:r>
                        <a:rPr sz="1400" b="1" i="0">
                          <a:solidFill>
                            <a:srgbClr val="FFFFFF"/>
                          </a:solidFill>
                          <a:latin typeface="Arial"/>
                        </a:rPr>
                        <a:t>n</a:t>
                      </a:r>
                    </a:p>
                  </a:txBody>
                  <a:tcPr marL="91440" marR="91440" marT="36576" marB="36576" anchor="ctr">
                    <a:lnL w="9525" cap="flat" cmpd="sng" algn="ctr">
                      <a:solidFill>
                        <a:srgbClr val="C9CFDA"/>
                      </a:solidFill>
                      <a:prstDash val="solid"/>
                      <a:round/>
                    </a:lnL>
                    <a:lnR w="9525" cap="flat" cmpd="sng" algn="ctr">
                      <a:solidFill>
                        <a:srgbClr val="C9CFDA"/>
                      </a:solidFill>
                      <a:prstDash val="solid"/>
                      <a:round/>
                    </a:lnR>
                    <a:lnT w="9525" cap="flat" cmpd="sng" algn="ctr">
                      <a:solidFill>
                        <a:srgbClr val="C9CFDA"/>
                      </a:solidFill>
                      <a:prstDash val="solid"/>
                      <a:round/>
                    </a:lnT>
                    <a:lnB w="9525" cap="flat" cmpd="sng" algn="ctr">
                      <a:solidFill>
                        <a:srgbClr val="C9CFDA"/>
                      </a:solidFill>
                      <a:prstDash val="solid"/>
                      <a:round/>
                    </a:lnB>
                    <a:solidFill>
                      <a:srgbClr val="002060"/>
                    </a:solidFill>
                  </a:tcPr>
                </a:tc>
                <a:tc>
                  <a:txBody>
                    <a:bodyPr wrap="square">
                      <a:noAutofit/>
                    </a:bodyPr>
                    <a:lstStyle/>
                    <a:p>
                      <a:pPr algn="ctr">
                        <a:lnSpc>
                          <a:spcPct val="100000"/>
                        </a:lnSpc>
                        <a:spcAft>
                          <a:spcPts val="0"/>
                        </a:spcAft>
                        <a:buNone/>
                      </a:pPr>
                      <a:r>
                        <a:rPr sz="1400" b="1" i="0">
                          <a:solidFill>
                            <a:srgbClr val="FFFFFF"/>
                          </a:solidFill>
                          <a:latin typeface="Arial"/>
                        </a:rPr>
                        <a:t>Prev.</a:t>
                      </a:r>
                    </a:p>
                  </a:txBody>
                  <a:tcPr marL="91440" marR="91440" marT="36576" marB="36576" anchor="ctr">
                    <a:lnL w="9525" cap="flat" cmpd="sng" algn="ctr">
                      <a:solidFill>
                        <a:srgbClr val="C9CFDA"/>
                      </a:solidFill>
                      <a:prstDash val="solid"/>
                      <a:round/>
                    </a:lnL>
                    <a:lnR w="9525" cap="flat" cmpd="sng" algn="ctr">
                      <a:solidFill>
                        <a:srgbClr val="C9CFDA"/>
                      </a:solidFill>
                      <a:prstDash val="solid"/>
                      <a:round/>
                    </a:lnR>
                    <a:lnT w="9525" cap="flat" cmpd="sng" algn="ctr">
                      <a:solidFill>
                        <a:srgbClr val="C9CFDA"/>
                      </a:solidFill>
                      <a:prstDash val="solid"/>
                      <a:round/>
                    </a:lnT>
                    <a:lnB w="9525" cap="flat" cmpd="sng" algn="ctr">
                      <a:solidFill>
                        <a:srgbClr val="C9CFDA"/>
                      </a:solidFill>
                      <a:prstDash val="solid"/>
                      <a:round/>
                    </a:lnB>
                    <a:solidFill>
                      <a:srgbClr val="002060"/>
                    </a:solidFill>
                  </a:tcPr>
                </a:tc>
                <a:tc>
                  <a:txBody>
                    <a:bodyPr wrap="square">
                      <a:noAutofit/>
                    </a:bodyPr>
                    <a:lstStyle/>
                    <a:p>
                      <a:pPr algn="l">
                        <a:lnSpc>
                          <a:spcPct val="100000"/>
                        </a:lnSpc>
                        <a:spcAft>
                          <a:spcPts val="0"/>
                        </a:spcAft>
                        <a:buNone/>
                      </a:pPr>
                      <a:r>
                        <a:rPr sz="1400" b="1" i="0">
                          <a:solidFill>
                            <a:srgbClr val="FFFFFF"/>
                          </a:solidFill>
                          <a:latin typeface="Arial"/>
                        </a:rPr>
                        <a:t>Definição</a:t>
                      </a:r>
                    </a:p>
                  </a:txBody>
                  <a:tcPr marL="91440" marR="91440" marT="36576" marB="36576" anchor="ctr">
                    <a:lnL w="9525" cap="flat" cmpd="sng" algn="ctr">
                      <a:solidFill>
                        <a:srgbClr val="C9CFDA"/>
                      </a:solidFill>
                      <a:prstDash val="solid"/>
                      <a:round/>
                    </a:lnL>
                    <a:lnR w="9525" cap="flat" cmpd="sng" algn="ctr">
                      <a:solidFill>
                        <a:srgbClr val="C9CFDA"/>
                      </a:solidFill>
                      <a:prstDash val="solid"/>
                      <a:round/>
                    </a:lnR>
                    <a:lnT w="9525" cap="flat" cmpd="sng" algn="ctr">
                      <a:solidFill>
                        <a:srgbClr val="C9CFDA"/>
                      </a:solidFill>
                      <a:prstDash val="solid"/>
                      <a:round/>
                    </a:lnT>
                    <a:lnB w="9525" cap="flat" cmpd="sng" algn="ctr">
                      <a:solidFill>
                        <a:srgbClr val="C9CFDA"/>
                      </a:solidFill>
                      <a:prstDash val="solid"/>
                      <a:round/>
                    </a:lnB>
                    <a:solidFill>
                      <a:srgbClr val="002060"/>
                    </a:solidFill>
                  </a:tcPr>
                </a:tc>
              </a:tr>
              <a:tr h="402336">
                <a:tc>
                  <a:txBody>
                    <a:bodyPr wrap="square">
                      <a:noAutofit/>
                    </a:bodyPr>
                    <a:lstStyle/>
                    <a:p>
                      <a:pPr algn="l">
                        <a:lnSpc>
                          <a:spcPct val="100000"/>
                        </a:lnSpc>
                        <a:spcAft>
                          <a:spcPts val="0"/>
                        </a:spcAft>
                        <a:buNone/>
                      </a:pPr>
                      <a:r>
                        <a:rPr sz="1400" b="0" i="0">
                          <a:solidFill>
                            <a:srgbClr val="1F2433"/>
                          </a:solidFill>
                          <a:latin typeface="Arial"/>
                        </a:rPr>
                        <a:t>İlçe et al., 2017</a:t>
                      </a:r>
                    </a:p>
                  </a:txBody>
                  <a:tcPr marL="91440" marR="91440" marT="36576" marB="36576" anchor="ctr">
                    <a:lnL w="9525" cap="flat" cmpd="sng" algn="ctr">
                      <a:solidFill>
                        <a:srgbClr val="C9CFDA"/>
                      </a:solidFill>
                      <a:prstDash val="solid"/>
                      <a:round/>
                    </a:lnL>
                    <a:lnR w="9525" cap="flat" cmpd="sng" algn="ctr">
                      <a:solidFill>
                        <a:srgbClr val="C9CFDA"/>
                      </a:solidFill>
                      <a:prstDash val="solid"/>
                      <a:round/>
                    </a:lnR>
                    <a:lnT w="9525" cap="flat" cmpd="sng" algn="ctr">
                      <a:solidFill>
                        <a:srgbClr val="C9CFDA"/>
                      </a:solidFill>
                      <a:prstDash val="solid"/>
                      <a:round/>
                    </a:lnT>
                    <a:lnB w="9525" cap="flat" cmpd="sng" algn="ctr">
                      <a:solidFill>
                        <a:srgbClr val="C9CFDA"/>
                      </a:solidFill>
                      <a:prstDash val="solid"/>
                      <a:round/>
                    </a:lnB>
                    <a:solidFill>
                      <a:srgbClr val="FFFFFF"/>
                    </a:solidFill>
                  </a:tcPr>
                </a:tc>
                <a:tc>
                  <a:txBody>
                    <a:bodyPr wrap="square">
                      <a:noAutofit/>
                    </a:bodyPr>
                    <a:lstStyle/>
                    <a:p>
                      <a:pPr algn="ctr">
                        <a:lnSpc>
                          <a:spcPct val="100000"/>
                        </a:lnSpc>
                        <a:spcAft>
                          <a:spcPts val="0"/>
                        </a:spcAft>
                        <a:buNone/>
                      </a:pPr>
                      <a:r>
                        <a:rPr sz="1400" b="0" i="0">
                          <a:solidFill>
                            <a:srgbClr val="1F2433"/>
                          </a:solidFill>
                          <a:latin typeface="Arial"/>
                        </a:rPr>
                        <a:t>33</a:t>
                      </a:r>
                    </a:p>
                  </a:txBody>
                  <a:tcPr marL="91440" marR="91440" marT="36576" marB="36576" anchor="ctr">
                    <a:lnL w="9525" cap="flat" cmpd="sng" algn="ctr">
                      <a:solidFill>
                        <a:srgbClr val="C9CFDA"/>
                      </a:solidFill>
                      <a:prstDash val="solid"/>
                      <a:round/>
                    </a:lnL>
                    <a:lnR w="9525" cap="flat" cmpd="sng" algn="ctr">
                      <a:solidFill>
                        <a:srgbClr val="C9CFDA"/>
                      </a:solidFill>
                      <a:prstDash val="solid"/>
                      <a:round/>
                    </a:lnR>
                    <a:lnT w="9525" cap="flat" cmpd="sng" algn="ctr">
                      <a:solidFill>
                        <a:srgbClr val="C9CFDA"/>
                      </a:solidFill>
                      <a:prstDash val="solid"/>
                      <a:round/>
                    </a:lnT>
                    <a:lnB w="9525" cap="flat" cmpd="sng" algn="ctr">
                      <a:solidFill>
                        <a:srgbClr val="C9CFDA"/>
                      </a:solidFill>
                      <a:prstDash val="solid"/>
                      <a:round/>
                    </a:lnB>
                    <a:solidFill>
                      <a:srgbClr val="FFFFFF"/>
                    </a:solidFill>
                  </a:tcPr>
                </a:tc>
                <a:tc>
                  <a:txBody>
                    <a:bodyPr wrap="square">
                      <a:noAutofit/>
                    </a:bodyPr>
                    <a:lstStyle/>
                    <a:p>
                      <a:pPr algn="ctr">
                        <a:lnSpc>
                          <a:spcPct val="100000"/>
                        </a:lnSpc>
                        <a:spcAft>
                          <a:spcPts val="0"/>
                        </a:spcAft>
                        <a:buNone/>
                      </a:pPr>
                      <a:r>
                        <a:rPr sz="1400" b="0" i="0">
                          <a:solidFill>
                            <a:srgbClr val="1F2433"/>
                          </a:solidFill>
                          <a:latin typeface="Arial"/>
                        </a:rPr>
                        <a:t>81</a:t>
                      </a:r>
                    </a:p>
                  </a:txBody>
                  <a:tcPr marL="91440" marR="91440" marT="36576" marB="36576" anchor="ctr">
                    <a:lnL w="9525" cap="flat" cmpd="sng" algn="ctr">
                      <a:solidFill>
                        <a:srgbClr val="C9CFDA"/>
                      </a:solidFill>
                      <a:prstDash val="solid"/>
                      <a:round/>
                    </a:lnL>
                    <a:lnR w="9525" cap="flat" cmpd="sng" algn="ctr">
                      <a:solidFill>
                        <a:srgbClr val="C9CFDA"/>
                      </a:solidFill>
                      <a:prstDash val="solid"/>
                      <a:round/>
                    </a:lnR>
                    <a:lnT w="9525" cap="flat" cmpd="sng" algn="ctr">
                      <a:solidFill>
                        <a:srgbClr val="C9CFDA"/>
                      </a:solidFill>
                      <a:prstDash val="solid"/>
                      <a:round/>
                    </a:lnT>
                    <a:lnB w="9525" cap="flat" cmpd="sng" algn="ctr">
                      <a:solidFill>
                        <a:srgbClr val="C9CFDA"/>
                      </a:solidFill>
                      <a:prstDash val="solid"/>
                      <a:round/>
                    </a:lnB>
                    <a:solidFill>
                      <a:srgbClr val="FFFFFF"/>
                    </a:solidFill>
                  </a:tcPr>
                </a:tc>
                <a:tc>
                  <a:txBody>
                    <a:bodyPr wrap="square">
                      <a:noAutofit/>
                    </a:bodyPr>
                    <a:lstStyle/>
                    <a:p>
                      <a:pPr algn="ctr">
                        <a:lnSpc>
                          <a:spcPct val="100000"/>
                        </a:lnSpc>
                        <a:spcAft>
                          <a:spcPts val="0"/>
                        </a:spcAft>
                        <a:buNone/>
                      </a:pPr>
                      <a:r>
                        <a:rPr sz="1400" b="0" i="0">
                          <a:solidFill>
                            <a:srgbClr val="1F2433"/>
                          </a:solidFill>
                          <a:latin typeface="Arial"/>
                        </a:rPr>
                        <a:t>40,7%</a:t>
                      </a:r>
                    </a:p>
                  </a:txBody>
                  <a:tcPr marL="91440" marR="91440" marT="36576" marB="36576" anchor="ctr">
                    <a:lnL w="9525" cap="flat" cmpd="sng" algn="ctr">
                      <a:solidFill>
                        <a:srgbClr val="C9CFDA"/>
                      </a:solidFill>
                      <a:prstDash val="solid"/>
                      <a:round/>
                    </a:lnL>
                    <a:lnR w="9525" cap="flat" cmpd="sng" algn="ctr">
                      <a:solidFill>
                        <a:srgbClr val="C9CFDA"/>
                      </a:solidFill>
                      <a:prstDash val="solid"/>
                      <a:round/>
                    </a:lnR>
                    <a:lnT w="9525" cap="flat" cmpd="sng" algn="ctr">
                      <a:solidFill>
                        <a:srgbClr val="C9CFDA"/>
                      </a:solidFill>
                      <a:prstDash val="solid"/>
                      <a:round/>
                    </a:lnT>
                    <a:lnB w="9525" cap="flat" cmpd="sng" algn="ctr">
                      <a:solidFill>
                        <a:srgbClr val="C9CFDA"/>
                      </a:solidFill>
                      <a:prstDash val="solid"/>
                      <a:round/>
                    </a:lnB>
                    <a:solidFill>
                      <a:srgbClr val="FFFFFF"/>
                    </a:solidFill>
                  </a:tcPr>
                </a:tc>
                <a:tc>
                  <a:txBody>
                    <a:bodyPr wrap="square">
                      <a:noAutofit/>
                    </a:bodyPr>
                    <a:lstStyle/>
                    <a:p>
                      <a:pPr algn="l">
                        <a:lnSpc>
                          <a:spcPct val="100000"/>
                        </a:lnSpc>
                        <a:spcAft>
                          <a:spcPts val="0"/>
                        </a:spcAft>
                        <a:buNone/>
                      </a:pPr>
                      <a:r>
                        <a:rPr sz="1400" b="0" i="0">
                          <a:solidFill>
                            <a:srgbClr val="1F2433"/>
                          </a:solidFill>
                          <a:latin typeface="Arial"/>
                        </a:rPr>
                        <a:t>lacrimejamento</a:t>
                      </a:r>
                    </a:p>
                  </a:txBody>
                  <a:tcPr marL="91440" marR="91440" marT="36576" marB="36576" anchor="ctr">
                    <a:lnL w="9525" cap="flat" cmpd="sng" algn="ctr">
                      <a:solidFill>
                        <a:srgbClr val="C9CFDA"/>
                      </a:solidFill>
                      <a:prstDash val="solid"/>
                      <a:round/>
                    </a:lnL>
                    <a:lnR w="9525" cap="flat" cmpd="sng" algn="ctr">
                      <a:solidFill>
                        <a:srgbClr val="C9CFDA"/>
                      </a:solidFill>
                      <a:prstDash val="solid"/>
                      <a:round/>
                    </a:lnR>
                    <a:lnT w="9525" cap="flat" cmpd="sng" algn="ctr">
                      <a:solidFill>
                        <a:srgbClr val="C9CFDA"/>
                      </a:solidFill>
                      <a:prstDash val="solid"/>
                      <a:round/>
                    </a:lnT>
                    <a:lnB w="9525" cap="flat" cmpd="sng" algn="ctr">
                      <a:solidFill>
                        <a:srgbClr val="C9CFDA"/>
                      </a:solidFill>
                      <a:prstDash val="solid"/>
                      <a:round/>
                    </a:lnB>
                    <a:solidFill>
                      <a:srgbClr val="FFFFFF"/>
                    </a:solidFill>
                  </a:tcPr>
                </a:tc>
              </a:tr>
              <a:tr h="402336">
                <a:tc>
                  <a:txBody>
                    <a:bodyPr wrap="square">
                      <a:noAutofit/>
                    </a:bodyPr>
                    <a:lstStyle/>
                    <a:p>
                      <a:pPr algn="l">
                        <a:lnSpc>
                          <a:spcPct val="100000"/>
                        </a:lnSpc>
                        <a:spcAft>
                          <a:spcPts val="0"/>
                        </a:spcAft>
                        <a:buNone/>
                      </a:pPr>
                      <a:r>
                        <a:rPr sz="1400" b="0" i="0">
                          <a:solidFill>
                            <a:srgbClr val="1F2433"/>
                          </a:solidFill>
                          <a:latin typeface="Arial"/>
                        </a:rPr>
                        <a:t>Usta et al., 2019</a:t>
                      </a:r>
                    </a:p>
                  </a:txBody>
                  <a:tcPr marL="91440" marR="91440" marT="36576" marB="36576" anchor="ctr">
                    <a:lnL w="9525" cap="flat" cmpd="sng" algn="ctr">
                      <a:solidFill>
                        <a:srgbClr val="C9CFDA"/>
                      </a:solidFill>
                      <a:prstDash val="solid"/>
                      <a:round/>
                    </a:lnL>
                    <a:lnR w="9525" cap="flat" cmpd="sng" algn="ctr">
                      <a:solidFill>
                        <a:srgbClr val="C9CFDA"/>
                      </a:solidFill>
                      <a:prstDash val="solid"/>
                      <a:round/>
                    </a:lnR>
                    <a:lnT w="9525" cap="flat" cmpd="sng" algn="ctr">
                      <a:solidFill>
                        <a:srgbClr val="C9CFDA"/>
                      </a:solidFill>
                      <a:prstDash val="solid"/>
                      <a:round/>
                    </a:lnT>
                    <a:lnB w="9525" cap="flat" cmpd="sng" algn="ctr">
                      <a:solidFill>
                        <a:srgbClr val="C9CFDA"/>
                      </a:solidFill>
                      <a:prstDash val="solid"/>
                      <a:round/>
                    </a:lnB>
                    <a:solidFill>
                      <a:srgbClr val="F2F4F8"/>
                    </a:solidFill>
                  </a:tcPr>
                </a:tc>
                <a:tc>
                  <a:txBody>
                    <a:bodyPr wrap="square">
                      <a:noAutofit/>
                    </a:bodyPr>
                    <a:lstStyle/>
                    <a:p>
                      <a:pPr algn="ctr">
                        <a:lnSpc>
                          <a:spcPct val="100000"/>
                        </a:lnSpc>
                        <a:spcAft>
                          <a:spcPts val="0"/>
                        </a:spcAft>
                        <a:buNone/>
                      </a:pPr>
                      <a:r>
                        <a:rPr sz="1400" b="0" i="0">
                          <a:solidFill>
                            <a:srgbClr val="1F2433"/>
                          </a:solidFill>
                          <a:latin typeface="Arial"/>
                        </a:rPr>
                        <a:t>57</a:t>
                      </a:r>
                    </a:p>
                  </a:txBody>
                  <a:tcPr marL="91440" marR="91440" marT="36576" marB="36576" anchor="ctr">
                    <a:lnL w="9525" cap="flat" cmpd="sng" algn="ctr">
                      <a:solidFill>
                        <a:srgbClr val="C9CFDA"/>
                      </a:solidFill>
                      <a:prstDash val="solid"/>
                      <a:round/>
                    </a:lnL>
                    <a:lnR w="9525" cap="flat" cmpd="sng" algn="ctr">
                      <a:solidFill>
                        <a:srgbClr val="C9CFDA"/>
                      </a:solidFill>
                      <a:prstDash val="solid"/>
                      <a:round/>
                    </a:lnR>
                    <a:lnT w="9525" cap="flat" cmpd="sng" algn="ctr">
                      <a:solidFill>
                        <a:srgbClr val="C9CFDA"/>
                      </a:solidFill>
                      <a:prstDash val="solid"/>
                      <a:round/>
                    </a:lnT>
                    <a:lnB w="9525" cap="flat" cmpd="sng" algn="ctr">
                      <a:solidFill>
                        <a:srgbClr val="C9CFDA"/>
                      </a:solidFill>
                      <a:prstDash val="solid"/>
                      <a:round/>
                    </a:lnB>
                    <a:solidFill>
                      <a:srgbClr val="F2F4F8"/>
                    </a:solidFill>
                  </a:tcPr>
                </a:tc>
                <a:tc>
                  <a:txBody>
                    <a:bodyPr wrap="square">
                      <a:noAutofit/>
                    </a:bodyPr>
                    <a:lstStyle/>
                    <a:p>
                      <a:pPr algn="ctr">
                        <a:lnSpc>
                          <a:spcPct val="100000"/>
                        </a:lnSpc>
                        <a:spcAft>
                          <a:spcPts val="0"/>
                        </a:spcAft>
                        <a:buNone/>
                      </a:pPr>
                      <a:r>
                        <a:rPr sz="1400" b="0" i="0">
                          <a:solidFill>
                            <a:srgbClr val="1F2433"/>
                          </a:solidFill>
                          <a:latin typeface="Arial"/>
                        </a:rPr>
                        <a:t>105</a:t>
                      </a:r>
                    </a:p>
                  </a:txBody>
                  <a:tcPr marL="91440" marR="91440" marT="36576" marB="36576" anchor="ctr">
                    <a:lnL w="9525" cap="flat" cmpd="sng" algn="ctr">
                      <a:solidFill>
                        <a:srgbClr val="C9CFDA"/>
                      </a:solidFill>
                      <a:prstDash val="solid"/>
                      <a:round/>
                    </a:lnL>
                    <a:lnR w="9525" cap="flat" cmpd="sng" algn="ctr">
                      <a:solidFill>
                        <a:srgbClr val="C9CFDA"/>
                      </a:solidFill>
                      <a:prstDash val="solid"/>
                      <a:round/>
                    </a:lnR>
                    <a:lnT w="9525" cap="flat" cmpd="sng" algn="ctr">
                      <a:solidFill>
                        <a:srgbClr val="C9CFDA"/>
                      </a:solidFill>
                      <a:prstDash val="solid"/>
                      <a:round/>
                    </a:lnT>
                    <a:lnB w="9525" cap="flat" cmpd="sng" algn="ctr">
                      <a:solidFill>
                        <a:srgbClr val="C9CFDA"/>
                      </a:solidFill>
                      <a:prstDash val="solid"/>
                      <a:round/>
                    </a:lnB>
                    <a:solidFill>
                      <a:srgbClr val="F2F4F8"/>
                    </a:solidFill>
                  </a:tcPr>
                </a:tc>
                <a:tc>
                  <a:txBody>
                    <a:bodyPr wrap="square">
                      <a:noAutofit/>
                    </a:bodyPr>
                    <a:lstStyle/>
                    <a:p>
                      <a:pPr algn="ctr">
                        <a:lnSpc>
                          <a:spcPct val="100000"/>
                        </a:lnSpc>
                        <a:spcAft>
                          <a:spcPts val="0"/>
                        </a:spcAft>
                        <a:buNone/>
                      </a:pPr>
                      <a:r>
                        <a:rPr sz="1400" b="0" i="0">
                          <a:solidFill>
                            <a:srgbClr val="1F2433"/>
                          </a:solidFill>
                          <a:latin typeface="Arial"/>
                        </a:rPr>
                        <a:t>54,3%</a:t>
                      </a:r>
                    </a:p>
                  </a:txBody>
                  <a:tcPr marL="91440" marR="91440" marT="36576" marB="36576" anchor="ctr">
                    <a:lnL w="9525" cap="flat" cmpd="sng" algn="ctr">
                      <a:solidFill>
                        <a:srgbClr val="C9CFDA"/>
                      </a:solidFill>
                      <a:prstDash val="solid"/>
                      <a:round/>
                    </a:lnL>
                    <a:lnR w="9525" cap="flat" cmpd="sng" algn="ctr">
                      <a:solidFill>
                        <a:srgbClr val="C9CFDA"/>
                      </a:solidFill>
                      <a:prstDash val="solid"/>
                      <a:round/>
                    </a:lnR>
                    <a:lnT w="9525" cap="flat" cmpd="sng" algn="ctr">
                      <a:solidFill>
                        <a:srgbClr val="C9CFDA"/>
                      </a:solidFill>
                      <a:prstDash val="solid"/>
                      <a:round/>
                    </a:lnT>
                    <a:lnB w="9525" cap="flat" cmpd="sng" algn="ctr">
                      <a:solidFill>
                        <a:srgbClr val="C9CFDA"/>
                      </a:solidFill>
                      <a:prstDash val="solid"/>
                      <a:round/>
                    </a:lnB>
                    <a:solidFill>
                      <a:srgbClr val="F2F4F8"/>
                    </a:solidFill>
                  </a:tcPr>
                </a:tc>
                <a:tc>
                  <a:txBody>
                    <a:bodyPr wrap="square">
                      <a:noAutofit/>
                    </a:bodyPr>
                    <a:lstStyle/>
                    <a:p>
                      <a:pPr algn="l">
                        <a:lnSpc>
                          <a:spcPct val="100000"/>
                        </a:lnSpc>
                        <a:spcAft>
                          <a:spcPts val="0"/>
                        </a:spcAft>
                        <a:buNone/>
                      </a:pPr>
                      <a:r>
                        <a:rPr sz="1400" b="0" i="0">
                          <a:solidFill>
                            <a:srgbClr val="1F2433"/>
                          </a:solidFill>
                          <a:latin typeface="Arial"/>
                        </a:rPr>
                        <a:t>lacrimejamento</a:t>
                      </a:r>
                    </a:p>
                  </a:txBody>
                  <a:tcPr marL="91440" marR="91440" marT="36576" marB="36576" anchor="ctr">
                    <a:lnL w="9525" cap="flat" cmpd="sng" algn="ctr">
                      <a:solidFill>
                        <a:srgbClr val="C9CFDA"/>
                      </a:solidFill>
                      <a:prstDash val="solid"/>
                      <a:round/>
                    </a:lnL>
                    <a:lnR w="9525" cap="flat" cmpd="sng" algn="ctr">
                      <a:solidFill>
                        <a:srgbClr val="C9CFDA"/>
                      </a:solidFill>
                      <a:prstDash val="solid"/>
                      <a:round/>
                    </a:lnR>
                    <a:lnT w="9525" cap="flat" cmpd="sng" algn="ctr">
                      <a:solidFill>
                        <a:srgbClr val="C9CFDA"/>
                      </a:solidFill>
                      <a:prstDash val="solid"/>
                      <a:round/>
                    </a:lnT>
                    <a:lnB w="9525" cap="flat" cmpd="sng" algn="ctr">
                      <a:solidFill>
                        <a:srgbClr val="C9CFDA"/>
                      </a:solidFill>
                      <a:prstDash val="solid"/>
                      <a:round/>
                    </a:lnB>
                    <a:solidFill>
                      <a:srgbClr val="F2F4F8"/>
                    </a:solidFill>
                  </a:tcPr>
                </a:tc>
              </a:tr>
              <a:tr h="402336">
                <a:tc>
                  <a:txBody>
                    <a:bodyPr wrap="square">
                      <a:noAutofit/>
                    </a:bodyPr>
                    <a:lstStyle/>
                    <a:p>
                      <a:pPr algn="l">
                        <a:lnSpc>
                          <a:spcPct val="100000"/>
                        </a:lnSpc>
                        <a:spcAft>
                          <a:spcPts val="0"/>
                        </a:spcAft>
                        <a:buNone/>
                      </a:pPr>
                      <a:r>
                        <a:rPr sz="1400" b="0" i="0">
                          <a:solidFill>
                            <a:srgbClr val="1F2433"/>
                          </a:solidFill>
                          <a:latin typeface="Arial"/>
                        </a:rPr>
                        <a:t>Cinar; Sanlier, 2022</a:t>
                      </a:r>
                    </a:p>
                  </a:txBody>
                  <a:tcPr marL="91440" marR="91440" marT="36576" marB="36576" anchor="ctr">
                    <a:lnL w="9525" cap="flat" cmpd="sng" algn="ctr">
                      <a:solidFill>
                        <a:srgbClr val="C9CFDA"/>
                      </a:solidFill>
                      <a:prstDash val="solid"/>
                      <a:round/>
                    </a:lnL>
                    <a:lnR w="9525" cap="flat" cmpd="sng" algn="ctr">
                      <a:solidFill>
                        <a:srgbClr val="C9CFDA"/>
                      </a:solidFill>
                      <a:prstDash val="solid"/>
                      <a:round/>
                    </a:lnR>
                    <a:lnT w="9525" cap="flat" cmpd="sng" algn="ctr">
                      <a:solidFill>
                        <a:srgbClr val="C9CFDA"/>
                      </a:solidFill>
                      <a:prstDash val="solid"/>
                      <a:round/>
                    </a:lnT>
                    <a:lnB w="9525" cap="flat" cmpd="sng" algn="ctr">
                      <a:solidFill>
                        <a:srgbClr val="C9CFDA"/>
                      </a:solidFill>
                      <a:prstDash val="solid"/>
                      <a:round/>
                    </a:lnB>
                    <a:solidFill>
                      <a:srgbClr val="FFFFFF"/>
                    </a:solidFill>
                  </a:tcPr>
                </a:tc>
                <a:tc>
                  <a:txBody>
                    <a:bodyPr wrap="square">
                      <a:noAutofit/>
                    </a:bodyPr>
                    <a:lstStyle/>
                    <a:p>
                      <a:pPr algn="ctr">
                        <a:lnSpc>
                          <a:spcPct val="100000"/>
                        </a:lnSpc>
                        <a:spcAft>
                          <a:spcPts val="0"/>
                        </a:spcAft>
                        <a:buNone/>
                      </a:pPr>
                      <a:r>
                        <a:rPr sz="1400" b="0" i="0">
                          <a:solidFill>
                            <a:srgbClr val="1F2433"/>
                          </a:solidFill>
                          <a:latin typeface="Arial"/>
                        </a:rPr>
                        <a:t>46</a:t>
                      </a:r>
                    </a:p>
                  </a:txBody>
                  <a:tcPr marL="91440" marR="91440" marT="36576" marB="36576" anchor="ctr">
                    <a:lnL w="9525" cap="flat" cmpd="sng" algn="ctr">
                      <a:solidFill>
                        <a:srgbClr val="C9CFDA"/>
                      </a:solidFill>
                      <a:prstDash val="solid"/>
                      <a:round/>
                    </a:lnL>
                    <a:lnR w="9525" cap="flat" cmpd="sng" algn="ctr">
                      <a:solidFill>
                        <a:srgbClr val="C9CFDA"/>
                      </a:solidFill>
                      <a:prstDash val="solid"/>
                      <a:round/>
                    </a:lnR>
                    <a:lnT w="9525" cap="flat" cmpd="sng" algn="ctr">
                      <a:solidFill>
                        <a:srgbClr val="C9CFDA"/>
                      </a:solidFill>
                      <a:prstDash val="solid"/>
                      <a:round/>
                    </a:lnT>
                    <a:lnB w="9525" cap="flat" cmpd="sng" algn="ctr">
                      <a:solidFill>
                        <a:srgbClr val="C9CFDA"/>
                      </a:solidFill>
                      <a:prstDash val="solid"/>
                      <a:round/>
                    </a:lnB>
                    <a:solidFill>
                      <a:srgbClr val="FFFFFF"/>
                    </a:solidFill>
                  </a:tcPr>
                </a:tc>
                <a:tc>
                  <a:txBody>
                    <a:bodyPr wrap="square">
                      <a:noAutofit/>
                    </a:bodyPr>
                    <a:lstStyle/>
                    <a:p>
                      <a:pPr algn="ctr">
                        <a:lnSpc>
                          <a:spcPct val="100000"/>
                        </a:lnSpc>
                        <a:spcAft>
                          <a:spcPts val="0"/>
                        </a:spcAft>
                        <a:buNone/>
                      </a:pPr>
                      <a:r>
                        <a:rPr sz="1400" b="0" i="0">
                          <a:solidFill>
                            <a:srgbClr val="1F2433"/>
                          </a:solidFill>
                          <a:latin typeface="Arial"/>
                        </a:rPr>
                        <a:t>82</a:t>
                      </a:r>
                    </a:p>
                  </a:txBody>
                  <a:tcPr marL="91440" marR="91440" marT="36576" marB="36576" anchor="ctr">
                    <a:lnL w="9525" cap="flat" cmpd="sng" algn="ctr">
                      <a:solidFill>
                        <a:srgbClr val="C9CFDA"/>
                      </a:solidFill>
                      <a:prstDash val="solid"/>
                      <a:round/>
                    </a:lnL>
                    <a:lnR w="9525" cap="flat" cmpd="sng" algn="ctr">
                      <a:solidFill>
                        <a:srgbClr val="C9CFDA"/>
                      </a:solidFill>
                      <a:prstDash val="solid"/>
                      <a:round/>
                    </a:lnR>
                    <a:lnT w="9525" cap="flat" cmpd="sng" algn="ctr">
                      <a:solidFill>
                        <a:srgbClr val="C9CFDA"/>
                      </a:solidFill>
                      <a:prstDash val="solid"/>
                      <a:round/>
                    </a:lnT>
                    <a:lnB w="9525" cap="flat" cmpd="sng" algn="ctr">
                      <a:solidFill>
                        <a:srgbClr val="C9CFDA"/>
                      </a:solidFill>
                      <a:prstDash val="solid"/>
                      <a:round/>
                    </a:lnB>
                    <a:solidFill>
                      <a:srgbClr val="FFFFFF"/>
                    </a:solidFill>
                  </a:tcPr>
                </a:tc>
                <a:tc>
                  <a:txBody>
                    <a:bodyPr wrap="square">
                      <a:noAutofit/>
                    </a:bodyPr>
                    <a:lstStyle/>
                    <a:p>
                      <a:pPr algn="ctr">
                        <a:lnSpc>
                          <a:spcPct val="100000"/>
                        </a:lnSpc>
                        <a:spcAft>
                          <a:spcPts val="0"/>
                        </a:spcAft>
                        <a:buNone/>
                      </a:pPr>
                      <a:r>
                        <a:rPr sz="1400" b="0" i="0">
                          <a:solidFill>
                            <a:srgbClr val="1F2433"/>
                          </a:solidFill>
                          <a:latin typeface="Arial"/>
                        </a:rPr>
                        <a:t>56,1%</a:t>
                      </a:r>
                    </a:p>
                  </a:txBody>
                  <a:tcPr marL="91440" marR="91440" marT="36576" marB="36576" anchor="ctr">
                    <a:lnL w="9525" cap="flat" cmpd="sng" algn="ctr">
                      <a:solidFill>
                        <a:srgbClr val="C9CFDA"/>
                      </a:solidFill>
                      <a:prstDash val="solid"/>
                      <a:round/>
                    </a:lnL>
                    <a:lnR w="9525" cap="flat" cmpd="sng" algn="ctr">
                      <a:solidFill>
                        <a:srgbClr val="C9CFDA"/>
                      </a:solidFill>
                      <a:prstDash val="solid"/>
                      <a:round/>
                    </a:lnR>
                    <a:lnT w="9525" cap="flat" cmpd="sng" algn="ctr">
                      <a:solidFill>
                        <a:srgbClr val="C9CFDA"/>
                      </a:solidFill>
                      <a:prstDash val="solid"/>
                      <a:round/>
                    </a:lnT>
                    <a:lnB w="9525" cap="flat" cmpd="sng" algn="ctr">
                      <a:solidFill>
                        <a:srgbClr val="C9CFDA"/>
                      </a:solidFill>
                      <a:prstDash val="solid"/>
                      <a:round/>
                    </a:lnB>
                    <a:solidFill>
                      <a:srgbClr val="FFFFFF"/>
                    </a:solidFill>
                  </a:tcPr>
                </a:tc>
                <a:tc>
                  <a:txBody>
                    <a:bodyPr wrap="square">
                      <a:noAutofit/>
                    </a:bodyPr>
                    <a:lstStyle/>
                    <a:p>
                      <a:pPr algn="l">
                        <a:lnSpc>
                          <a:spcPct val="100000"/>
                        </a:lnSpc>
                        <a:spcAft>
                          <a:spcPts val="0"/>
                        </a:spcAft>
                        <a:buNone/>
                      </a:pPr>
                      <a:r>
                        <a:rPr sz="1400" b="0" i="0">
                          <a:solidFill>
                            <a:srgbClr val="1F2433"/>
                          </a:solidFill>
                          <a:latin typeface="Arial"/>
                        </a:rPr>
                        <a:t>irritação ocular</a:t>
                      </a:r>
                    </a:p>
                  </a:txBody>
                  <a:tcPr marL="91440" marR="91440" marT="36576" marB="36576" anchor="ctr">
                    <a:lnL w="9525" cap="flat" cmpd="sng" algn="ctr">
                      <a:solidFill>
                        <a:srgbClr val="C9CFDA"/>
                      </a:solidFill>
                      <a:prstDash val="solid"/>
                      <a:round/>
                    </a:lnL>
                    <a:lnR w="9525" cap="flat" cmpd="sng" algn="ctr">
                      <a:solidFill>
                        <a:srgbClr val="C9CFDA"/>
                      </a:solidFill>
                      <a:prstDash val="solid"/>
                      <a:round/>
                    </a:lnR>
                    <a:lnT w="9525" cap="flat" cmpd="sng" algn="ctr">
                      <a:solidFill>
                        <a:srgbClr val="C9CFDA"/>
                      </a:solidFill>
                      <a:prstDash val="solid"/>
                      <a:round/>
                    </a:lnT>
                    <a:lnB w="9525" cap="flat" cmpd="sng" algn="ctr">
                      <a:solidFill>
                        <a:srgbClr val="C9CFDA"/>
                      </a:solidFill>
                      <a:prstDash val="solid"/>
                      <a:round/>
                    </a:lnB>
                    <a:solidFill>
                      <a:srgbClr val="FFFFFF"/>
                    </a:solidFill>
                  </a:tcPr>
                </a:tc>
              </a:tr>
              <a:tr h="402336">
                <a:tc>
                  <a:txBody>
                    <a:bodyPr wrap="square">
                      <a:noAutofit/>
                    </a:bodyPr>
                    <a:lstStyle/>
                    <a:p>
                      <a:pPr algn="l">
                        <a:lnSpc>
                          <a:spcPct val="100000"/>
                        </a:lnSpc>
                        <a:spcAft>
                          <a:spcPts val="0"/>
                        </a:spcAft>
                        <a:buNone/>
                      </a:pPr>
                      <a:r>
                        <a:rPr sz="1400" b="0" i="0">
                          <a:solidFill>
                            <a:srgbClr val="1F2433"/>
                          </a:solidFill>
                          <a:latin typeface="Arial"/>
                        </a:rPr>
                        <a:t>Bieniek et al., 2022</a:t>
                      </a:r>
                    </a:p>
                  </a:txBody>
                  <a:tcPr marL="91440" marR="91440" marT="36576" marB="36576" anchor="ctr">
                    <a:lnL w="9525" cap="flat" cmpd="sng" algn="ctr">
                      <a:solidFill>
                        <a:srgbClr val="C9CFDA"/>
                      </a:solidFill>
                      <a:prstDash val="solid"/>
                      <a:round/>
                    </a:lnL>
                    <a:lnR w="9525" cap="flat" cmpd="sng" algn="ctr">
                      <a:solidFill>
                        <a:srgbClr val="C9CFDA"/>
                      </a:solidFill>
                      <a:prstDash val="solid"/>
                      <a:round/>
                    </a:lnR>
                    <a:lnT w="9525" cap="flat" cmpd="sng" algn="ctr">
                      <a:solidFill>
                        <a:srgbClr val="C9CFDA"/>
                      </a:solidFill>
                      <a:prstDash val="solid"/>
                      <a:round/>
                    </a:lnT>
                    <a:lnB w="9525" cap="flat" cmpd="sng" algn="ctr">
                      <a:solidFill>
                        <a:srgbClr val="C9CFDA"/>
                      </a:solidFill>
                      <a:prstDash val="solid"/>
                      <a:round/>
                    </a:lnB>
                    <a:solidFill>
                      <a:srgbClr val="F2F4F8"/>
                    </a:solidFill>
                  </a:tcPr>
                </a:tc>
                <a:tc>
                  <a:txBody>
                    <a:bodyPr wrap="square">
                      <a:noAutofit/>
                    </a:bodyPr>
                    <a:lstStyle/>
                    <a:p>
                      <a:pPr algn="ctr">
                        <a:lnSpc>
                          <a:spcPct val="100000"/>
                        </a:lnSpc>
                        <a:spcAft>
                          <a:spcPts val="0"/>
                        </a:spcAft>
                        <a:buNone/>
                      </a:pPr>
                      <a:r>
                        <a:rPr sz="1400" b="0" i="0">
                          <a:solidFill>
                            <a:srgbClr val="1F2433"/>
                          </a:solidFill>
                          <a:latin typeface="Arial"/>
                        </a:rPr>
                        <a:t>67</a:t>
                      </a:r>
                    </a:p>
                  </a:txBody>
                  <a:tcPr marL="91440" marR="91440" marT="36576" marB="36576" anchor="ctr">
                    <a:lnL w="9525" cap="flat" cmpd="sng" algn="ctr">
                      <a:solidFill>
                        <a:srgbClr val="C9CFDA"/>
                      </a:solidFill>
                      <a:prstDash val="solid"/>
                      <a:round/>
                    </a:lnL>
                    <a:lnR w="9525" cap="flat" cmpd="sng" algn="ctr">
                      <a:solidFill>
                        <a:srgbClr val="C9CFDA"/>
                      </a:solidFill>
                      <a:prstDash val="solid"/>
                      <a:round/>
                    </a:lnR>
                    <a:lnT w="9525" cap="flat" cmpd="sng" algn="ctr">
                      <a:solidFill>
                        <a:srgbClr val="C9CFDA"/>
                      </a:solidFill>
                      <a:prstDash val="solid"/>
                      <a:round/>
                    </a:lnT>
                    <a:lnB w="9525" cap="flat" cmpd="sng" algn="ctr">
                      <a:solidFill>
                        <a:srgbClr val="C9CFDA"/>
                      </a:solidFill>
                      <a:prstDash val="solid"/>
                      <a:round/>
                    </a:lnB>
                    <a:solidFill>
                      <a:srgbClr val="F2F4F8"/>
                    </a:solidFill>
                  </a:tcPr>
                </a:tc>
                <a:tc>
                  <a:txBody>
                    <a:bodyPr wrap="square">
                      <a:noAutofit/>
                    </a:bodyPr>
                    <a:lstStyle/>
                    <a:p>
                      <a:pPr algn="ctr">
                        <a:lnSpc>
                          <a:spcPct val="100000"/>
                        </a:lnSpc>
                        <a:spcAft>
                          <a:spcPts val="0"/>
                        </a:spcAft>
                        <a:buNone/>
                      </a:pPr>
                      <a:r>
                        <a:rPr sz="1400" b="0" i="0">
                          <a:solidFill>
                            <a:srgbClr val="1F2433"/>
                          </a:solidFill>
                          <a:latin typeface="Arial"/>
                        </a:rPr>
                        <a:t>155</a:t>
                      </a:r>
                    </a:p>
                  </a:txBody>
                  <a:tcPr marL="91440" marR="91440" marT="36576" marB="36576" anchor="ctr">
                    <a:lnL w="9525" cap="flat" cmpd="sng" algn="ctr">
                      <a:solidFill>
                        <a:srgbClr val="C9CFDA"/>
                      </a:solidFill>
                      <a:prstDash val="solid"/>
                      <a:round/>
                    </a:lnL>
                    <a:lnR w="9525" cap="flat" cmpd="sng" algn="ctr">
                      <a:solidFill>
                        <a:srgbClr val="C9CFDA"/>
                      </a:solidFill>
                      <a:prstDash val="solid"/>
                      <a:round/>
                    </a:lnR>
                    <a:lnT w="9525" cap="flat" cmpd="sng" algn="ctr">
                      <a:solidFill>
                        <a:srgbClr val="C9CFDA"/>
                      </a:solidFill>
                      <a:prstDash val="solid"/>
                      <a:round/>
                    </a:lnT>
                    <a:lnB w="9525" cap="flat" cmpd="sng" algn="ctr">
                      <a:solidFill>
                        <a:srgbClr val="C9CFDA"/>
                      </a:solidFill>
                      <a:prstDash val="solid"/>
                      <a:round/>
                    </a:lnB>
                    <a:solidFill>
                      <a:srgbClr val="F2F4F8"/>
                    </a:solidFill>
                  </a:tcPr>
                </a:tc>
                <a:tc>
                  <a:txBody>
                    <a:bodyPr wrap="square">
                      <a:noAutofit/>
                    </a:bodyPr>
                    <a:lstStyle/>
                    <a:p>
                      <a:pPr algn="ctr">
                        <a:lnSpc>
                          <a:spcPct val="100000"/>
                        </a:lnSpc>
                        <a:spcAft>
                          <a:spcPts val="0"/>
                        </a:spcAft>
                        <a:buNone/>
                      </a:pPr>
                      <a:r>
                        <a:rPr sz="1400" b="0" i="0">
                          <a:solidFill>
                            <a:srgbClr val="1F2433"/>
                          </a:solidFill>
                          <a:latin typeface="Arial"/>
                        </a:rPr>
                        <a:t>43,2%</a:t>
                      </a:r>
                    </a:p>
                  </a:txBody>
                  <a:tcPr marL="91440" marR="91440" marT="36576" marB="36576" anchor="ctr">
                    <a:lnL w="9525" cap="flat" cmpd="sng" algn="ctr">
                      <a:solidFill>
                        <a:srgbClr val="C9CFDA"/>
                      </a:solidFill>
                      <a:prstDash val="solid"/>
                      <a:round/>
                    </a:lnL>
                    <a:lnR w="9525" cap="flat" cmpd="sng" algn="ctr">
                      <a:solidFill>
                        <a:srgbClr val="C9CFDA"/>
                      </a:solidFill>
                      <a:prstDash val="solid"/>
                      <a:round/>
                    </a:lnR>
                    <a:lnT w="9525" cap="flat" cmpd="sng" algn="ctr">
                      <a:solidFill>
                        <a:srgbClr val="C9CFDA"/>
                      </a:solidFill>
                      <a:prstDash val="solid"/>
                      <a:round/>
                    </a:lnT>
                    <a:lnB w="9525" cap="flat" cmpd="sng" algn="ctr">
                      <a:solidFill>
                        <a:srgbClr val="C9CFDA"/>
                      </a:solidFill>
                      <a:prstDash val="solid"/>
                      <a:round/>
                    </a:lnB>
                    <a:solidFill>
                      <a:srgbClr val="F2F4F8"/>
                    </a:solidFill>
                  </a:tcPr>
                </a:tc>
                <a:tc>
                  <a:txBody>
                    <a:bodyPr wrap="square">
                      <a:noAutofit/>
                    </a:bodyPr>
                    <a:lstStyle/>
                    <a:p>
                      <a:pPr algn="l">
                        <a:lnSpc>
                          <a:spcPct val="100000"/>
                        </a:lnSpc>
                        <a:spcAft>
                          <a:spcPts val="0"/>
                        </a:spcAft>
                        <a:buNone/>
                      </a:pPr>
                      <a:r>
                        <a:rPr sz="1400" b="0" i="0">
                          <a:solidFill>
                            <a:srgbClr val="1F2433"/>
                          </a:solidFill>
                          <a:latin typeface="Arial"/>
                        </a:rPr>
                        <a:t>escala ocular</a:t>
                      </a:r>
                    </a:p>
                  </a:txBody>
                  <a:tcPr marL="91440" marR="91440" marT="36576" marB="36576" anchor="ctr">
                    <a:lnL w="9525" cap="flat" cmpd="sng" algn="ctr">
                      <a:solidFill>
                        <a:srgbClr val="C9CFDA"/>
                      </a:solidFill>
                      <a:prstDash val="solid"/>
                      <a:round/>
                    </a:lnL>
                    <a:lnR w="9525" cap="flat" cmpd="sng" algn="ctr">
                      <a:solidFill>
                        <a:srgbClr val="C9CFDA"/>
                      </a:solidFill>
                      <a:prstDash val="solid"/>
                      <a:round/>
                    </a:lnR>
                    <a:lnT w="9525" cap="flat" cmpd="sng" algn="ctr">
                      <a:solidFill>
                        <a:srgbClr val="C9CFDA"/>
                      </a:solidFill>
                      <a:prstDash val="solid"/>
                      <a:round/>
                    </a:lnT>
                    <a:lnB w="9525" cap="flat" cmpd="sng" algn="ctr">
                      <a:solidFill>
                        <a:srgbClr val="C9CFDA"/>
                      </a:solidFill>
                      <a:prstDash val="solid"/>
                      <a:round/>
                    </a:lnB>
                    <a:solidFill>
                      <a:srgbClr val="F2F4F8"/>
                    </a:solidFill>
                  </a:tcPr>
                </a:tc>
              </a:tr>
            </a:tbl>
          </a:graphicData>
        </a:graphic>
      </p:graphicFrame>
      <p:sp>
        <p:nvSpPr>
          <p:cNvPr id="29" name="TextBox 28"/>
          <p:cNvSpPr txBox="1"/>
          <p:nvPr/>
        </p:nvSpPr>
        <p:spPr>
          <a:xfrm>
            <a:off x="8092440" y="1783080"/>
            <a:ext cx="9692639" cy="411480"/>
          </a:xfrm>
          <a:prstGeom prst="rect">
            <a:avLst/>
          </a:prstGeom>
          <a:noFill/>
        </p:spPr>
        <p:txBody>
          <a:bodyPr wrap="square" lIns="0" rIns="0" tIns="0" bIns="0" anchor="t">
            <a:noAutofit/>
          </a:bodyPr>
          <a:lstStyle/>
          <a:p>
            <a:pPr algn="l">
              <a:lnSpc>
                <a:spcPct val="100000"/>
              </a:lnSpc>
              <a:spcAft>
                <a:spcPts val="0"/>
              </a:spcAft>
              <a:buNone/>
            </a:pPr>
            <a:r>
              <a:rPr sz="1800" b="1" i="0">
                <a:solidFill>
                  <a:srgbClr val="002060"/>
                </a:solidFill>
                <a:latin typeface="Arial"/>
              </a:rPr>
              <a:t>Risco de viés: ferramenta JBI escolhida pela função de cada estudo</a:t>
            </a:r>
          </a:p>
        </p:txBody>
      </p:sp>
      <p:sp>
        <p:nvSpPr>
          <p:cNvPr id="30" name="Rounded Rectangle 29"/>
          <p:cNvSpPr/>
          <p:nvPr/>
        </p:nvSpPr>
        <p:spPr>
          <a:xfrm>
            <a:off x="8092440" y="2331720"/>
            <a:ext cx="3078479" cy="1371600"/>
          </a:xfrm>
          <a:prstGeom prst="roundRect">
            <a:avLst>
              <a:gd name="adj" fmla="val 6000"/>
            </a:avLst>
          </a:prstGeom>
          <a:solidFill>
            <a:srgbClr val="F2F4F8"/>
          </a:solidFill>
          <a:ln>
            <a:noFill/>
          </a:ln>
          <a:effectLst/>
        </p:spPr>
        <p:txBody>
          <a:bodyPr rtlCol="0" anchor="ctr"/>
          <a:lstStyle/>
          <a:p/>
        </p:txBody>
      </p:sp>
      <p:sp>
        <p:nvSpPr>
          <p:cNvPr id="31" name="TextBox 30"/>
          <p:cNvSpPr txBox="1"/>
          <p:nvPr/>
        </p:nvSpPr>
        <p:spPr>
          <a:xfrm>
            <a:off x="8321040" y="2514600"/>
            <a:ext cx="2621279" cy="320040"/>
          </a:xfrm>
          <a:prstGeom prst="rect">
            <a:avLst/>
          </a:prstGeom>
          <a:noFill/>
        </p:spPr>
        <p:txBody>
          <a:bodyPr wrap="square" lIns="0" rIns="0" tIns="0" bIns="0" anchor="t">
            <a:noAutofit/>
          </a:bodyPr>
          <a:lstStyle/>
          <a:p>
            <a:pPr algn="l">
              <a:lnSpc>
                <a:spcPct val="100000"/>
              </a:lnSpc>
              <a:spcAft>
                <a:spcPts val="0"/>
              </a:spcAft>
              <a:buNone/>
            </a:pPr>
            <a:r>
              <a:rPr sz="1600" b="1" i="0">
                <a:solidFill>
                  <a:srgbClr val="002060"/>
                </a:solidFill>
                <a:latin typeface="Arial"/>
              </a:rPr>
              <a:t>Prevalência</a:t>
            </a:r>
          </a:p>
        </p:txBody>
      </p:sp>
      <p:sp>
        <p:nvSpPr>
          <p:cNvPr id="32" name="TextBox 31"/>
          <p:cNvSpPr txBox="1"/>
          <p:nvPr/>
        </p:nvSpPr>
        <p:spPr>
          <a:xfrm>
            <a:off x="8321040" y="2834639"/>
            <a:ext cx="2621279" cy="411480"/>
          </a:xfrm>
          <a:prstGeom prst="rect">
            <a:avLst/>
          </a:prstGeom>
          <a:noFill/>
        </p:spPr>
        <p:txBody>
          <a:bodyPr wrap="square" lIns="0" rIns="0" tIns="0" bIns="0" anchor="t">
            <a:noAutofit/>
          </a:bodyPr>
          <a:lstStyle/>
          <a:p>
            <a:pPr algn="l">
              <a:lnSpc>
                <a:spcPct val="100000"/>
              </a:lnSpc>
              <a:spcAft>
                <a:spcPts val="0"/>
              </a:spcAft>
              <a:buNone/>
            </a:pPr>
            <a:r>
              <a:rPr sz="2200" b="1" i="0">
                <a:solidFill>
                  <a:srgbClr val="1F2433"/>
                </a:solidFill>
                <a:latin typeface="Arial"/>
              </a:rPr>
              <a:t>9 itens</a:t>
            </a:r>
          </a:p>
        </p:txBody>
      </p:sp>
      <p:sp>
        <p:nvSpPr>
          <p:cNvPr id="33" name="TextBox 32"/>
          <p:cNvSpPr txBox="1"/>
          <p:nvPr/>
        </p:nvSpPr>
        <p:spPr>
          <a:xfrm>
            <a:off x="8321040" y="3264408"/>
            <a:ext cx="2621279" cy="274320"/>
          </a:xfrm>
          <a:prstGeom prst="rect">
            <a:avLst/>
          </a:prstGeom>
          <a:noFill/>
        </p:spPr>
        <p:txBody>
          <a:bodyPr wrap="square" lIns="0" rIns="0" tIns="0" bIns="0" anchor="t">
            <a:noAutofit/>
          </a:bodyPr>
          <a:lstStyle/>
          <a:p>
            <a:pPr algn="l">
              <a:lnSpc>
                <a:spcPct val="100000"/>
              </a:lnSpc>
              <a:spcAft>
                <a:spcPts val="0"/>
              </a:spcAft>
              <a:buNone/>
            </a:pPr>
            <a:r>
              <a:rPr sz="1400" b="0" i="0">
                <a:solidFill>
                  <a:srgbClr val="5A6270"/>
                </a:solidFill>
                <a:latin typeface="Arial"/>
              </a:rPr>
              <a:t>estudos das metanálises (k = 7)</a:t>
            </a:r>
          </a:p>
        </p:txBody>
      </p:sp>
      <p:sp>
        <p:nvSpPr>
          <p:cNvPr id="34" name="Rounded Rectangle 33"/>
          <p:cNvSpPr/>
          <p:nvPr/>
        </p:nvSpPr>
        <p:spPr>
          <a:xfrm>
            <a:off x="11399520" y="2331720"/>
            <a:ext cx="3078479" cy="1371600"/>
          </a:xfrm>
          <a:prstGeom prst="roundRect">
            <a:avLst>
              <a:gd name="adj" fmla="val 6000"/>
            </a:avLst>
          </a:prstGeom>
          <a:solidFill>
            <a:srgbClr val="F2F4F8"/>
          </a:solidFill>
          <a:ln>
            <a:noFill/>
          </a:ln>
          <a:effectLst/>
        </p:spPr>
        <p:txBody>
          <a:bodyPr rtlCol="0" anchor="ctr"/>
          <a:lstStyle/>
          <a:p/>
        </p:txBody>
      </p:sp>
      <p:sp>
        <p:nvSpPr>
          <p:cNvPr id="35" name="TextBox 34"/>
          <p:cNvSpPr txBox="1"/>
          <p:nvPr/>
        </p:nvSpPr>
        <p:spPr>
          <a:xfrm>
            <a:off x="11628120" y="2514600"/>
            <a:ext cx="2621279" cy="320040"/>
          </a:xfrm>
          <a:prstGeom prst="rect">
            <a:avLst/>
          </a:prstGeom>
          <a:noFill/>
        </p:spPr>
        <p:txBody>
          <a:bodyPr wrap="square" lIns="0" rIns="0" tIns="0" bIns="0" anchor="t">
            <a:noAutofit/>
          </a:bodyPr>
          <a:lstStyle/>
          <a:p>
            <a:pPr algn="l">
              <a:lnSpc>
                <a:spcPct val="100000"/>
              </a:lnSpc>
              <a:spcAft>
                <a:spcPts val="0"/>
              </a:spcAft>
              <a:buNone/>
            </a:pPr>
            <a:r>
              <a:rPr sz="1600" b="1" i="0">
                <a:solidFill>
                  <a:srgbClr val="0E7C86"/>
                </a:solidFill>
                <a:latin typeface="Arial"/>
              </a:rPr>
              <a:t>Transversal analítico</a:t>
            </a:r>
          </a:p>
        </p:txBody>
      </p:sp>
      <p:sp>
        <p:nvSpPr>
          <p:cNvPr id="36" name="TextBox 35"/>
          <p:cNvSpPr txBox="1"/>
          <p:nvPr/>
        </p:nvSpPr>
        <p:spPr>
          <a:xfrm>
            <a:off x="11628120" y="2834639"/>
            <a:ext cx="2621279" cy="411480"/>
          </a:xfrm>
          <a:prstGeom prst="rect">
            <a:avLst/>
          </a:prstGeom>
          <a:noFill/>
        </p:spPr>
        <p:txBody>
          <a:bodyPr wrap="square" lIns="0" rIns="0" tIns="0" bIns="0" anchor="t">
            <a:noAutofit/>
          </a:bodyPr>
          <a:lstStyle/>
          <a:p>
            <a:pPr algn="l">
              <a:lnSpc>
                <a:spcPct val="100000"/>
              </a:lnSpc>
              <a:spcAft>
                <a:spcPts val="0"/>
              </a:spcAft>
              <a:buNone/>
            </a:pPr>
            <a:r>
              <a:rPr sz="2200" b="1" i="0">
                <a:solidFill>
                  <a:srgbClr val="1F2433"/>
                </a:solidFill>
                <a:latin typeface="Arial"/>
              </a:rPr>
              <a:t>8 itens</a:t>
            </a:r>
          </a:p>
        </p:txBody>
      </p:sp>
      <p:sp>
        <p:nvSpPr>
          <p:cNvPr id="37" name="TextBox 36"/>
          <p:cNvSpPr txBox="1"/>
          <p:nvPr/>
        </p:nvSpPr>
        <p:spPr>
          <a:xfrm>
            <a:off x="11628120" y="3264408"/>
            <a:ext cx="2621279" cy="274320"/>
          </a:xfrm>
          <a:prstGeom prst="rect">
            <a:avLst/>
          </a:prstGeom>
          <a:noFill/>
        </p:spPr>
        <p:txBody>
          <a:bodyPr wrap="square" lIns="0" rIns="0" tIns="0" bIns="0" anchor="t">
            <a:noAutofit/>
          </a:bodyPr>
          <a:lstStyle/>
          <a:p>
            <a:pPr algn="l">
              <a:lnSpc>
                <a:spcPct val="100000"/>
              </a:lnSpc>
              <a:spcAft>
                <a:spcPts val="0"/>
              </a:spcAft>
              <a:buNone/>
            </a:pPr>
            <a:r>
              <a:rPr sz="1400" b="0" i="0">
                <a:solidFill>
                  <a:srgbClr val="5A6270"/>
                </a:solidFill>
                <a:latin typeface="Arial"/>
              </a:rPr>
              <a:t>comparativos e objetivos</a:t>
            </a:r>
          </a:p>
        </p:txBody>
      </p:sp>
      <p:sp>
        <p:nvSpPr>
          <p:cNvPr id="38" name="Rounded Rectangle 37"/>
          <p:cNvSpPr/>
          <p:nvPr/>
        </p:nvSpPr>
        <p:spPr>
          <a:xfrm>
            <a:off x="14706599" y="2331720"/>
            <a:ext cx="3078479" cy="1371600"/>
          </a:xfrm>
          <a:prstGeom prst="roundRect">
            <a:avLst>
              <a:gd name="adj" fmla="val 6000"/>
            </a:avLst>
          </a:prstGeom>
          <a:solidFill>
            <a:srgbClr val="F2F4F8"/>
          </a:solidFill>
          <a:ln>
            <a:noFill/>
          </a:ln>
          <a:effectLst/>
        </p:spPr>
        <p:txBody>
          <a:bodyPr rtlCol="0" anchor="ctr"/>
          <a:lstStyle/>
          <a:p/>
        </p:txBody>
      </p:sp>
      <p:sp>
        <p:nvSpPr>
          <p:cNvPr id="39" name="TextBox 38"/>
          <p:cNvSpPr txBox="1"/>
          <p:nvPr/>
        </p:nvSpPr>
        <p:spPr>
          <a:xfrm>
            <a:off x="14935199" y="2514600"/>
            <a:ext cx="2621279" cy="320040"/>
          </a:xfrm>
          <a:prstGeom prst="rect">
            <a:avLst/>
          </a:prstGeom>
          <a:noFill/>
        </p:spPr>
        <p:txBody>
          <a:bodyPr wrap="square" lIns="0" rIns="0" tIns="0" bIns="0" anchor="t">
            <a:noAutofit/>
          </a:bodyPr>
          <a:lstStyle/>
          <a:p>
            <a:pPr algn="l">
              <a:lnSpc>
                <a:spcPct val="100000"/>
              </a:lnSpc>
              <a:spcAft>
                <a:spcPts val="0"/>
              </a:spcAft>
              <a:buNone/>
            </a:pPr>
            <a:r>
              <a:rPr sz="1600" b="1" i="0">
                <a:solidFill>
                  <a:srgbClr val="8A6D1F"/>
                </a:solidFill>
                <a:latin typeface="Arial"/>
              </a:rPr>
              <a:t>Coorte</a:t>
            </a:r>
          </a:p>
        </p:txBody>
      </p:sp>
      <p:sp>
        <p:nvSpPr>
          <p:cNvPr id="40" name="TextBox 39"/>
          <p:cNvSpPr txBox="1"/>
          <p:nvPr/>
        </p:nvSpPr>
        <p:spPr>
          <a:xfrm>
            <a:off x="14935199" y="2834639"/>
            <a:ext cx="2621279" cy="411480"/>
          </a:xfrm>
          <a:prstGeom prst="rect">
            <a:avLst/>
          </a:prstGeom>
          <a:noFill/>
        </p:spPr>
        <p:txBody>
          <a:bodyPr wrap="square" lIns="0" rIns="0" tIns="0" bIns="0" anchor="t">
            <a:noAutofit/>
          </a:bodyPr>
          <a:lstStyle/>
          <a:p>
            <a:pPr algn="l">
              <a:lnSpc>
                <a:spcPct val="100000"/>
              </a:lnSpc>
              <a:spcAft>
                <a:spcPts val="0"/>
              </a:spcAft>
              <a:buNone/>
            </a:pPr>
            <a:r>
              <a:rPr sz="2200" b="1" i="0">
                <a:solidFill>
                  <a:srgbClr val="1F2433"/>
                </a:solidFill>
                <a:latin typeface="Arial"/>
              </a:rPr>
              <a:t>11 itens</a:t>
            </a:r>
          </a:p>
        </p:txBody>
      </p:sp>
      <p:sp>
        <p:nvSpPr>
          <p:cNvPr id="41" name="TextBox 40"/>
          <p:cNvSpPr txBox="1"/>
          <p:nvPr/>
        </p:nvSpPr>
        <p:spPr>
          <a:xfrm>
            <a:off x="14935199" y="3264408"/>
            <a:ext cx="2621279" cy="274320"/>
          </a:xfrm>
          <a:prstGeom prst="rect">
            <a:avLst/>
          </a:prstGeom>
          <a:noFill/>
        </p:spPr>
        <p:txBody>
          <a:bodyPr wrap="square" lIns="0" rIns="0" tIns="0" bIns="0" anchor="t">
            <a:noAutofit/>
          </a:bodyPr>
          <a:lstStyle/>
          <a:p>
            <a:pPr algn="l">
              <a:lnSpc>
                <a:spcPct val="100000"/>
              </a:lnSpc>
              <a:spcAft>
                <a:spcPts val="0"/>
              </a:spcAft>
              <a:buNone/>
            </a:pPr>
            <a:r>
              <a:rPr sz="1400" b="0" i="0">
                <a:solidFill>
                  <a:srgbClr val="5A6270"/>
                </a:solidFill>
                <a:latin typeface="Arial"/>
              </a:rPr>
              <a:t>3 coortes prospectivas</a:t>
            </a:r>
          </a:p>
        </p:txBody>
      </p:sp>
      <p:sp>
        <p:nvSpPr>
          <p:cNvPr id="42" name="TextBox 41"/>
          <p:cNvSpPr txBox="1"/>
          <p:nvPr/>
        </p:nvSpPr>
        <p:spPr>
          <a:xfrm>
            <a:off x="8092440" y="3904487"/>
            <a:ext cx="9692639" cy="868680"/>
          </a:xfrm>
          <a:prstGeom prst="rect">
            <a:avLst/>
          </a:prstGeom>
          <a:noFill/>
        </p:spPr>
        <p:txBody>
          <a:bodyPr wrap="square" lIns="0" rIns="0" tIns="0" bIns="0" anchor="t">
            <a:noAutofit/>
          </a:bodyPr>
          <a:lstStyle/>
          <a:p>
            <a:pPr algn="l">
              <a:lnSpc>
                <a:spcPct val="100000"/>
              </a:lnSpc>
              <a:spcAft>
                <a:spcPts val="0"/>
              </a:spcAft>
              <a:buNone/>
            </a:pPr>
            <a:r>
              <a:rPr sz="1500" b="1" i="0">
                <a:solidFill>
                  <a:srgbClr val="002060"/>
                </a:solidFill>
                <a:latin typeface="Arial"/>
              </a:rPr>
              <a:t>Julgamento global: </a:t>
            </a:r>
            <a:r>
              <a:rPr sz="1500" b="0" i="0">
                <a:solidFill>
                  <a:srgbClr val="1F2433"/>
                </a:solidFill>
                <a:latin typeface="Arial"/>
              </a:rPr>
              <a:t>qualitativo, pelos domínios críticos (amostragem, tamanho amostral, validade da mensuração, taxa de resposta), não por corte percentual; “não” pesou mais que “incerto”. Todos os estudos foram mantidos e a classificação alimentou o GRADE.</a:t>
            </a:r>
          </a:p>
        </p:txBody>
      </p:sp>
      <p:sp>
        <p:nvSpPr>
          <p:cNvPr id="43" name="TextBox 42"/>
          <p:cNvSpPr txBox="1"/>
          <p:nvPr/>
        </p:nvSpPr>
        <p:spPr>
          <a:xfrm>
            <a:off x="11932920" y="4892040"/>
            <a:ext cx="585215" cy="347472"/>
          </a:xfrm>
          <a:prstGeom prst="rect">
            <a:avLst/>
          </a:prstGeom>
          <a:noFill/>
        </p:spPr>
        <p:txBody>
          <a:bodyPr wrap="square" lIns="0" rIns="0" tIns="0" bIns="0" anchor="ctr">
            <a:noAutofit/>
          </a:bodyPr>
          <a:lstStyle/>
          <a:p>
            <a:pPr algn="ctr">
              <a:lnSpc>
                <a:spcPct val="100000"/>
              </a:lnSpc>
              <a:spcAft>
                <a:spcPts val="0"/>
              </a:spcAft>
              <a:buNone/>
            </a:pPr>
            <a:r>
              <a:rPr sz="1400" b="1" i="0">
                <a:solidFill>
                  <a:srgbClr val="002060"/>
                </a:solidFill>
                <a:latin typeface="Arial"/>
              </a:rPr>
              <a:t>1</a:t>
            </a:r>
          </a:p>
        </p:txBody>
      </p:sp>
      <p:sp>
        <p:nvSpPr>
          <p:cNvPr id="44" name="TextBox 43"/>
          <p:cNvSpPr txBox="1"/>
          <p:nvPr/>
        </p:nvSpPr>
        <p:spPr>
          <a:xfrm>
            <a:off x="12518136" y="4892040"/>
            <a:ext cx="585215" cy="347472"/>
          </a:xfrm>
          <a:prstGeom prst="rect">
            <a:avLst/>
          </a:prstGeom>
          <a:noFill/>
        </p:spPr>
        <p:txBody>
          <a:bodyPr wrap="square" lIns="0" rIns="0" tIns="0" bIns="0" anchor="ctr">
            <a:noAutofit/>
          </a:bodyPr>
          <a:lstStyle/>
          <a:p>
            <a:pPr algn="ctr">
              <a:lnSpc>
                <a:spcPct val="100000"/>
              </a:lnSpc>
              <a:spcAft>
                <a:spcPts val="0"/>
              </a:spcAft>
              <a:buNone/>
            </a:pPr>
            <a:r>
              <a:rPr sz="1400" b="1" i="0">
                <a:solidFill>
                  <a:srgbClr val="002060"/>
                </a:solidFill>
                <a:latin typeface="Arial"/>
              </a:rPr>
              <a:t>2</a:t>
            </a:r>
          </a:p>
        </p:txBody>
      </p:sp>
      <p:sp>
        <p:nvSpPr>
          <p:cNvPr id="45" name="TextBox 44"/>
          <p:cNvSpPr txBox="1"/>
          <p:nvPr/>
        </p:nvSpPr>
        <p:spPr>
          <a:xfrm>
            <a:off x="13103352" y="4892040"/>
            <a:ext cx="585215" cy="347472"/>
          </a:xfrm>
          <a:prstGeom prst="rect">
            <a:avLst/>
          </a:prstGeom>
          <a:noFill/>
        </p:spPr>
        <p:txBody>
          <a:bodyPr wrap="square" lIns="0" rIns="0" tIns="0" bIns="0" anchor="ctr">
            <a:noAutofit/>
          </a:bodyPr>
          <a:lstStyle/>
          <a:p>
            <a:pPr algn="ctr">
              <a:lnSpc>
                <a:spcPct val="100000"/>
              </a:lnSpc>
              <a:spcAft>
                <a:spcPts val="0"/>
              </a:spcAft>
              <a:buNone/>
            </a:pPr>
            <a:r>
              <a:rPr sz="1400" b="1" i="0">
                <a:solidFill>
                  <a:srgbClr val="002060"/>
                </a:solidFill>
                <a:latin typeface="Arial"/>
              </a:rPr>
              <a:t>3</a:t>
            </a:r>
          </a:p>
        </p:txBody>
      </p:sp>
      <p:sp>
        <p:nvSpPr>
          <p:cNvPr id="46" name="TextBox 45"/>
          <p:cNvSpPr txBox="1"/>
          <p:nvPr/>
        </p:nvSpPr>
        <p:spPr>
          <a:xfrm>
            <a:off x="13688568" y="4892040"/>
            <a:ext cx="585215" cy="347472"/>
          </a:xfrm>
          <a:prstGeom prst="rect">
            <a:avLst/>
          </a:prstGeom>
          <a:noFill/>
        </p:spPr>
        <p:txBody>
          <a:bodyPr wrap="square" lIns="0" rIns="0" tIns="0" bIns="0" anchor="ctr">
            <a:noAutofit/>
          </a:bodyPr>
          <a:lstStyle/>
          <a:p>
            <a:pPr algn="ctr">
              <a:lnSpc>
                <a:spcPct val="100000"/>
              </a:lnSpc>
              <a:spcAft>
                <a:spcPts val="0"/>
              </a:spcAft>
              <a:buNone/>
            </a:pPr>
            <a:r>
              <a:rPr sz="1400" b="1" i="0">
                <a:solidFill>
                  <a:srgbClr val="002060"/>
                </a:solidFill>
                <a:latin typeface="Arial"/>
              </a:rPr>
              <a:t>4</a:t>
            </a:r>
          </a:p>
        </p:txBody>
      </p:sp>
      <p:sp>
        <p:nvSpPr>
          <p:cNvPr id="47" name="TextBox 46"/>
          <p:cNvSpPr txBox="1"/>
          <p:nvPr/>
        </p:nvSpPr>
        <p:spPr>
          <a:xfrm>
            <a:off x="14273784" y="4892040"/>
            <a:ext cx="585215" cy="347472"/>
          </a:xfrm>
          <a:prstGeom prst="rect">
            <a:avLst/>
          </a:prstGeom>
          <a:noFill/>
        </p:spPr>
        <p:txBody>
          <a:bodyPr wrap="square" lIns="0" rIns="0" tIns="0" bIns="0" anchor="ctr">
            <a:noAutofit/>
          </a:bodyPr>
          <a:lstStyle/>
          <a:p>
            <a:pPr algn="ctr">
              <a:lnSpc>
                <a:spcPct val="100000"/>
              </a:lnSpc>
              <a:spcAft>
                <a:spcPts val="0"/>
              </a:spcAft>
              <a:buNone/>
            </a:pPr>
            <a:r>
              <a:rPr sz="1400" b="1" i="0">
                <a:solidFill>
                  <a:srgbClr val="002060"/>
                </a:solidFill>
                <a:latin typeface="Arial"/>
              </a:rPr>
              <a:t>5</a:t>
            </a:r>
          </a:p>
        </p:txBody>
      </p:sp>
      <p:sp>
        <p:nvSpPr>
          <p:cNvPr id="48" name="TextBox 47"/>
          <p:cNvSpPr txBox="1"/>
          <p:nvPr/>
        </p:nvSpPr>
        <p:spPr>
          <a:xfrm>
            <a:off x="14859000" y="4892040"/>
            <a:ext cx="585215" cy="347472"/>
          </a:xfrm>
          <a:prstGeom prst="rect">
            <a:avLst/>
          </a:prstGeom>
          <a:noFill/>
        </p:spPr>
        <p:txBody>
          <a:bodyPr wrap="square" lIns="0" rIns="0" tIns="0" bIns="0" anchor="ctr">
            <a:noAutofit/>
          </a:bodyPr>
          <a:lstStyle/>
          <a:p>
            <a:pPr algn="ctr">
              <a:lnSpc>
                <a:spcPct val="100000"/>
              </a:lnSpc>
              <a:spcAft>
                <a:spcPts val="0"/>
              </a:spcAft>
              <a:buNone/>
            </a:pPr>
            <a:r>
              <a:rPr sz="1400" b="1" i="0">
                <a:solidFill>
                  <a:srgbClr val="002060"/>
                </a:solidFill>
                <a:latin typeface="Arial"/>
              </a:rPr>
              <a:t>6</a:t>
            </a:r>
          </a:p>
        </p:txBody>
      </p:sp>
      <p:sp>
        <p:nvSpPr>
          <p:cNvPr id="49" name="TextBox 48"/>
          <p:cNvSpPr txBox="1"/>
          <p:nvPr/>
        </p:nvSpPr>
        <p:spPr>
          <a:xfrm>
            <a:off x="15444216" y="4892040"/>
            <a:ext cx="585215" cy="347472"/>
          </a:xfrm>
          <a:prstGeom prst="rect">
            <a:avLst/>
          </a:prstGeom>
          <a:noFill/>
        </p:spPr>
        <p:txBody>
          <a:bodyPr wrap="square" lIns="0" rIns="0" tIns="0" bIns="0" anchor="ctr">
            <a:noAutofit/>
          </a:bodyPr>
          <a:lstStyle/>
          <a:p>
            <a:pPr algn="ctr">
              <a:lnSpc>
                <a:spcPct val="100000"/>
              </a:lnSpc>
              <a:spcAft>
                <a:spcPts val="0"/>
              </a:spcAft>
              <a:buNone/>
            </a:pPr>
            <a:r>
              <a:rPr sz="1400" b="1" i="0">
                <a:solidFill>
                  <a:srgbClr val="002060"/>
                </a:solidFill>
                <a:latin typeface="Arial"/>
              </a:rPr>
              <a:t>7</a:t>
            </a:r>
          </a:p>
        </p:txBody>
      </p:sp>
      <p:sp>
        <p:nvSpPr>
          <p:cNvPr id="50" name="TextBox 49"/>
          <p:cNvSpPr txBox="1"/>
          <p:nvPr/>
        </p:nvSpPr>
        <p:spPr>
          <a:xfrm>
            <a:off x="16029432" y="4892040"/>
            <a:ext cx="585215" cy="347472"/>
          </a:xfrm>
          <a:prstGeom prst="rect">
            <a:avLst/>
          </a:prstGeom>
          <a:noFill/>
        </p:spPr>
        <p:txBody>
          <a:bodyPr wrap="square" lIns="0" rIns="0" tIns="0" bIns="0" anchor="ctr">
            <a:noAutofit/>
          </a:bodyPr>
          <a:lstStyle/>
          <a:p>
            <a:pPr algn="ctr">
              <a:lnSpc>
                <a:spcPct val="100000"/>
              </a:lnSpc>
              <a:spcAft>
                <a:spcPts val="0"/>
              </a:spcAft>
              <a:buNone/>
            </a:pPr>
            <a:r>
              <a:rPr sz="1400" b="1" i="0">
                <a:solidFill>
                  <a:srgbClr val="002060"/>
                </a:solidFill>
                <a:latin typeface="Arial"/>
              </a:rPr>
              <a:t>8</a:t>
            </a:r>
          </a:p>
        </p:txBody>
      </p:sp>
      <p:sp>
        <p:nvSpPr>
          <p:cNvPr id="51" name="TextBox 50"/>
          <p:cNvSpPr txBox="1"/>
          <p:nvPr/>
        </p:nvSpPr>
        <p:spPr>
          <a:xfrm>
            <a:off x="16614648" y="4892040"/>
            <a:ext cx="585215" cy="347472"/>
          </a:xfrm>
          <a:prstGeom prst="rect">
            <a:avLst/>
          </a:prstGeom>
          <a:noFill/>
        </p:spPr>
        <p:txBody>
          <a:bodyPr wrap="square" lIns="0" rIns="0" tIns="0" bIns="0" anchor="ctr">
            <a:noAutofit/>
          </a:bodyPr>
          <a:lstStyle/>
          <a:p>
            <a:pPr algn="ctr">
              <a:lnSpc>
                <a:spcPct val="100000"/>
              </a:lnSpc>
              <a:spcAft>
                <a:spcPts val="0"/>
              </a:spcAft>
              <a:buNone/>
            </a:pPr>
            <a:r>
              <a:rPr sz="1400" b="1" i="0">
                <a:solidFill>
                  <a:srgbClr val="002060"/>
                </a:solidFill>
                <a:latin typeface="Arial"/>
              </a:rPr>
              <a:t>9</a:t>
            </a:r>
          </a:p>
        </p:txBody>
      </p:sp>
      <p:sp>
        <p:nvSpPr>
          <p:cNvPr id="52" name="TextBox 51"/>
          <p:cNvSpPr txBox="1"/>
          <p:nvPr/>
        </p:nvSpPr>
        <p:spPr>
          <a:xfrm>
            <a:off x="17199864" y="4892040"/>
            <a:ext cx="585215" cy="347472"/>
          </a:xfrm>
          <a:prstGeom prst="rect">
            <a:avLst/>
          </a:prstGeom>
          <a:noFill/>
        </p:spPr>
        <p:txBody>
          <a:bodyPr wrap="square" lIns="0" rIns="0" tIns="0" bIns="0" anchor="ctr">
            <a:noAutofit/>
          </a:bodyPr>
          <a:lstStyle/>
          <a:p>
            <a:pPr algn="ctr">
              <a:lnSpc>
                <a:spcPct val="100000"/>
              </a:lnSpc>
              <a:spcAft>
                <a:spcPts val="0"/>
              </a:spcAft>
              <a:buNone/>
            </a:pPr>
            <a:r>
              <a:rPr sz="1400" b="1" i="0">
                <a:solidFill>
                  <a:srgbClr val="002060"/>
                </a:solidFill>
                <a:latin typeface="Arial"/>
              </a:rPr>
              <a:t>Geral</a:t>
            </a:r>
          </a:p>
        </p:txBody>
      </p:sp>
      <p:sp>
        <p:nvSpPr>
          <p:cNvPr id="53" name="Faixa zebrada"/>
          <p:cNvSpPr/>
          <p:nvPr/>
        </p:nvSpPr>
        <p:spPr>
          <a:xfrm>
            <a:off x="8092440" y="5239512"/>
            <a:ext cx="9692639" cy="415398"/>
          </a:xfrm>
          <a:prstGeom prst="rect">
            <a:avLst/>
          </a:prstGeom>
          <a:solidFill>
            <a:srgbClr val="F2F4F8"/>
          </a:solidFill>
          <a:ln>
            <a:noFill/>
          </a:ln>
          <a:effectLst/>
        </p:spPr>
        <p:txBody>
          <a:bodyPr rtlCol="0" anchor="ctr"/>
          <a:lstStyle/>
          <a:p/>
        </p:txBody>
      </p:sp>
      <p:sp>
        <p:nvSpPr>
          <p:cNvPr id="54" name="TextBox 53"/>
          <p:cNvSpPr txBox="1"/>
          <p:nvPr/>
        </p:nvSpPr>
        <p:spPr>
          <a:xfrm>
            <a:off x="8183880" y="5239512"/>
            <a:ext cx="3611879" cy="415398"/>
          </a:xfrm>
          <a:prstGeom prst="rect">
            <a:avLst/>
          </a:prstGeom>
          <a:noFill/>
        </p:spPr>
        <p:txBody>
          <a:bodyPr wrap="square" lIns="0" rIns="0" tIns="0" bIns="0" anchor="ctr">
            <a:noAutofit/>
          </a:bodyPr>
          <a:lstStyle/>
          <a:p>
            <a:pPr algn="r">
              <a:lnSpc>
                <a:spcPct val="100000"/>
              </a:lnSpc>
              <a:spcAft>
                <a:spcPts val="0"/>
              </a:spcAft>
              <a:buNone/>
            </a:pPr>
            <a:r>
              <a:rPr sz="1400" b="0" i="0">
                <a:solidFill>
                  <a:srgbClr val="1F2433"/>
                </a:solidFill>
                <a:latin typeface="Arial"/>
              </a:rPr>
              <a:t>İlçe et al., 2017</a:t>
            </a:r>
          </a:p>
        </p:txBody>
      </p:sp>
      <p:sp>
        <p:nvSpPr>
          <p:cNvPr id="55" name="Oval 54"/>
          <p:cNvSpPr/>
          <p:nvPr/>
        </p:nvSpPr>
        <p:spPr>
          <a:xfrm>
            <a:off x="12060936" y="5282619"/>
            <a:ext cx="329184" cy="329184"/>
          </a:xfrm>
          <a:prstGeom prst="ellipse">
            <a:avLst/>
          </a:prstGeom>
          <a:solidFill>
            <a:srgbClr val="2E7D32"/>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56" name="Oval 55"/>
          <p:cNvSpPr/>
          <p:nvPr/>
        </p:nvSpPr>
        <p:spPr>
          <a:xfrm>
            <a:off x="12646152" y="5282619"/>
            <a:ext cx="329184" cy="329184"/>
          </a:xfrm>
          <a:prstGeom prst="ellipse">
            <a:avLst/>
          </a:prstGeom>
          <a:solidFill>
            <a:srgbClr val="E08A1E"/>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57" name="Oval 56"/>
          <p:cNvSpPr/>
          <p:nvPr/>
        </p:nvSpPr>
        <p:spPr>
          <a:xfrm>
            <a:off x="13231368" y="5282619"/>
            <a:ext cx="329184" cy="329184"/>
          </a:xfrm>
          <a:prstGeom prst="ellipse">
            <a:avLst/>
          </a:prstGeom>
          <a:solidFill>
            <a:srgbClr val="E08A1E"/>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58" name="Oval 57"/>
          <p:cNvSpPr/>
          <p:nvPr/>
        </p:nvSpPr>
        <p:spPr>
          <a:xfrm>
            <a:off x="13816584" y="5282619"/>
            <a:ext cx="329184" cy="329184"/>
          </a:xfrm>
          <a:prstGeom prst="ellipse">
            <a:avLst/>
          </a:prstGeom>
          <a:solidFill>
            <a:srgbClr val="2E7D32"/>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59" name="Oval 58"/>
          <p:cNvSpPr/>
          <p:nvPr/>
        </p:nvSpPr>
        <p:spPr>
          <a:xfrm>
            <a:off x="14401800" y="5282619"/>
            <a:ext cx="329184" cy="329184"/>
          </a:xfrm>
          <a:prstGeom prst="ellipse">
            <a:avLst/>
          </a:prstGeom>
          <a:solidFill>
            <a:srgbClr val="2E7D32"/>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60" name="Oval 59"/>
          <p:cNvSpPr/>
          <p:nvPr/>
        </p:nvSpPr>
        <p:spPr>
          <a:xfrm>
            <a:off x="14987016" y="5282619"/>
            <a:ext cx="329184" cy="329184"/>
          </a:xfrm>
          <a:prstGeom prst="ellipse">
            <a:avLst/>
          </a:prstGeom>
          <a:solidFill>
            <a:srgbClr val="8B0000"/>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61" name="Oval 60"/>
          <p:cNvSpPr/>
          <p:nvPr/>
        </p:nvSpPr>
        <p:spPr>
          <a:xfrm>
            <a:off x="15572232" y="5282619"/>
            <a:ext cx="329184" cy="329184"/>
          </a:xfrm>
          <a:prstGeom prst="ellipse">
            <a:avLst/>
          </a:prstGeom>
          <a:solidFill>
            <a:srgbClr val="2E7D32"/>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62" name="Oval 61"/>
          <p:cNvSpPr/>
          <p:nvPr/>
        </p:nvSpPr>
        <p:spPr>
          <a:xfrm>
            <a:off x="16157448" y="5282619"/>
            <a:ext cx="329184" cy="329184"/>
          </a:xfrm>
          <a:prstGeom prst="ellipse">
            <a:avLst/>
          </a:prstGeom>
          <a:solidFill>
            <a:srgbClr val="2E7D32"/>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63" name="Oval 62"/>
          <p:cNvSpPr/>
          <p:nvPr/>
        </p:nvSpPr>
        <p:spPr>
          <a:xfrm>
            <a:off x="16742664" y="5282619"/>
            <a:ext cx="329184" cy="329184"/>
          </a:xfrm>
          <a:prstGeom prst="ellipse">
            <a:avLst/>
          </a:prstGeom>
          <a:solidFill>
            <a:srgbClr val="E08A1E"/>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64" name="Oval 63"/>
          <p:cNvSpPr/>
          <p:nvPr/>
        </p:nvSpPr>
        <p:spPr>
          <a:xfrm>
            <a:off x="17327880" y="5282619"/>
            <a:ext cx="329184" cy="329184"/>
          </a:xfrm>
          <a:prstGeom prst="ellipse">
            <a:avLst/>
          </a:prstGeom>
          <a:solidFill>
            <a:srgbClr val="8B0000"/>
          </a:solidFill>
          <a:ln>
            <a:noFill/>
          </a:ln>
          <a:effectLst/>
        </p:spPr>
        <p:txBody>
          <a:bodyPr rtlCol="0" anchor="ctr" lIns="0" rIns="0" tIns="0" bIns="0"/>
          <a:lstStyle/>
          <a:p/>
        </p:txBody>
      </p:sp>
      <p:sp>
        <p:nvSpPr>
          <p:cNvPr id="65" name="TextBox 64"/>
          <p:cNvSpPr txBox="1"/>
          <p:nvPr/>
        </p:nvSpPr>
        <p:spPr>
          <a:xfrm>
            <a:off x="8183880" y="5654910"/>
            <a:ext cx="3611879" cy="415398"/>
          </a:xfrm>
          <a:prstGeom prst="rect">
            <a:avLst/>
          </a:prstGeom>
          <a:noFill/>
        </p:spPr>
        <p:txBody>
          <a:bodyPr wrap="square" lIns="0" rIns="0" tIns="0" bIns="0" anchor="ctr">
            <a:noAutofit/>
          </a:bodyPr>
          <a:lstStyle/>
          <a:p>
            <a:pPr algn="r">
              <a:lnSpc>
                <a:spcPct val="100000"/>
              </a:lnSpc>
              <a:spcAft>
                <a:spcPts val="0"/>
              </a:spcAft>
              <a:buNone/>
            </a:pPr>
            <a:r>
              <a:rPr sz="1400" b="0" i="0">
                <a:solidFill>
                  <a:srgbClr val="1F2433"/>
                </a:solidFill>
                <a:latin typeface="Arial"/>
              </a:rPr>
              <a:t>Cinar; Sanlier, 2022</a:t>
            </a:r>
          </a:p>
        </p:txBody>
      </p:sp>
      <p:sp>
        <p:nvSpPr>
          <p:cNvPr id="66" name="Oval 65"/>
          <p:cNvSpPr/>
          <p:nvPr/>
        </p:nvSpPr>
        <p:spPr>
          <a:xfrm>
            <a:off x="12060936" y="5698018"/>
            <a:ext cx="329184" cy="329184"/>
          </a:xfrm>
          <a:prstGeom prst="ellipse">
            <a:avLst/>
          </a:prstGeom>
          <a:solidFill>
            <a:srgbClr val="2E7D32"/>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67" name="Oval 66"/>
          <p:cNvSpPr/>
          <p:nvPr/>
        </p:nvSpPr>
        <p:spPr>
          <a:xfrm>
            <a:off x="12646152" y="5698018"/>
            <a:ext cx="329184" cy="329184"/>
          </a:xfrm>
          <a:prstGeom prst="ellipse">
            <a:avLst/>
          </a:prstGeom>
          <a:solidFill>
            <a:srgbClr val="E08A1E"/>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68" name="Oval 67"/>
          <p:cNvSpPr/>
          <p:nvPr/>
        </p:nvSpPr>
        <p:spPr>
          <a:xfrm>
            <a:off x="13231368" y="5698018"/>
            <a:ext cx="329184" cy="329184"/>
          </a:xfrm>
          <a:prstGeom prst="ellipse">
            <a:avLst/>
          </a:prstGeom>
          <a:solidFill>
            <a:srgbClr val="E08A1E"/>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69" name="Oval 68"/>
          <p:cNvSpPr/>
          <p:nvPr/>
        </p:nvSpPr>
        <p:spPr>
          <a:xfrm>
            <a:off x="13816584" y="5698018"/>
            <a:ext cx="329184" cy="329184"/>
          </a:xfrm>
          <a:prstGeom prst="ellipse">
            <a:avLst/>
          </a:prstGeom>
          <a:solidFill>
            <a:srgbClr val="2E7D32"/>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70" name="Oval 69"/>
          <p:cNvSpPr/>
          <p:nvPr/>
        </p:nvSpPr>
        <p:spPr>
          <a:xfrm>
            <a:off x="14401800" y="5698018"/>
            <a:ext cx="329184" cy="329184"/>
          </a:xfrm>
          <a:prstGeom prst="ellipse">
            <a:avLst/>
          </a:prstGeom>
          <a:solidFill>
            <a:srgbClr val="2E7D32"/>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71" name="Oval 70"/>
          <p:cNvSpPr/>
          <p:nvPr/>
        </p:nvSpPr>
        <p:spPr>
          <a:xfrm>
            <a:off x="14987016" y="5698018"/>
            <a:ext cx="329184" cy="329184"/>
          </a:xfrm>
          <a:prstGeom prst="ellipse">
            <a:avLst/>
          </a:prstGeom>
          <a:solidFill>
            <a:srgbClr val="2E7D32"/>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72" name="Oval 71"/>
          <p:cNvSpPr/>
          <p:nvPr/>
        </p:nvSpPr>
        <p:spPr>
          <a:xfrm>
            <a:off x="15572232" y="5698018"/>
            <a:ext cx="329184" cy="329184"/>
          </a:xfrm>
          <a:prstGeom prst="ellipse">
            <a:avLst/>
          </a:prstGeom>
          <a:solidFill>
            <a:srgbClr val="2E7D32"/>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73" name="Oval 72"/>
          <p:cNvSpPr/>
          <p:nvPr/>
        </p:nvSpPr>
        <p:spPr>
          <a:xfrm>
            <a:off x="16157448" y="5698018"/>
            <a:ext cx="329184" cy="329184"/>
          </a:xfrm>
          <a:prstGeom prst="ellipse">
            <a:avLst/>
          </a:prstGeom>
          <a:solidFill>
            <a:srgbClr val="2E7D32"/>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74" name="Oval 73"/>
          <p:cNvSpPr/>
          <p:nvPr/>
        </p:nvSpPr>
        <p:spPr>
          <a:xfrm>
            <a:off x="16742664" y="5698018"/>
            <a:ext cx="329184" cy="329184"/>
          </a:xfrm>
          <a:prstGeom prst="ellipse">
            <a:avLst/>
          </a:prstGeom>
          <a:solidFill>
            <a:srgbClr val="E08A1E"/>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75" name="Oval 74"/>
          <p:cNvSpPr/>
          <p:nvPr/>
        </p:nvSpPr>
        <p:spPr>
          <a:xfrm>
            <a:off x="17327880" y="5698018"/>
            <a:ext cx="329184" cy="329184"/>
          </a:xfrm>
          <a:prstGeom prst="ellipse">
            <a:avLst/>
          </a:prstGeom>
          <a:solidFill>
            <a:srgbClr val="E08A1E"/>
          </a:solidFill>
          <a:ln>
            <a:noFill/>
          </a:ln>
          <a:effectLst/>
        </p:spPr>
        <p:txBody>
          <a:bodyPr rtlCol="0" anchor="ctr" lIns="0" rIns="0" tIns="0" bIns="0"/>
          <a:lstStyle/>
          <a:p/>
        </p:txBody>
      </p:sp>
      <p:sp>
        <p:nvSpPr>
          <p:cNvPr id="76" name="Faixa zebrada"/>
          <p:cNvSpPr/>
          <p:nvPr/>
        </p:nvSpPr>
        <p:spPr>
          <a:xfrm>
            <a:off x="8092440" y="6070309"/>
            <a:ext cx="9692639" cy="415398"/>
          </a:xfrm>
          <a:prstGeom prst="rect">
            <a:avLst/>
          </a:prstGeom>
          <a:solidFill>
            <a:srgbClr val="F2F4F8"/>
          </a:solidFill>
          <a:ln>
            <a:noFill/>
          </a:ln>
          <a:effectLst/>
        </p:spPr>
        <p:txBody>
          <a:bodyPr rtlCol="0" anchor="ctr"/>
          <a:lstStyle/>
          <a:p/>
        </p:txBody>
      </p:sp>
      <p:sp>
        <p:nvSpPr>
          <p:cNvPr id="77" name="TextBox 76"/>
          <p:cNvSpPr txBox="1"/>
          <p:nvPr/>
        </p:nvSpPr>
        <p:spPr>
          <a:xfrm>
            <a:off x="8183880" y="6070309"/>
            <a:ext cx="3611879" cy="415398"/>
          </a:xfrm>
          <a:prstGeom prst="rect">
            <a:avLst/>
          </a:prstGeom>
          <a:noFill/>
        </p:spPr>
        <p:txBody>
          <a:bodyPr wrap="square" lIns="0" rIns="0" tIns="0" bIns="0" anchor="ctr">
            <a:noAutofit/>
          </a:bodyPr>
          <a:lstStyle/>
          <a:p>
            <a:pPr algn="r">
              <a:lnSpc>
                <a:spcPct val="100000"/>
              </a:lnSpc>
              <a:spcAft>
                <a:spcPts val="0"/>
              </a:spcAft>
              <a:buNone/>
            </a:pPr>
            <a:r>
              <a:rPr sz="1400" b="0" i="0">
                <a:solidFill>
                  <a:srgbClr val="1F2433"/>
                </a:solidFill>
                <a:latin typeface="Arial"/>
              </a:rPr>
              <a:t>Usta et al., 2019</a:t>
            </a:r>
          </a:p>
        </p:txBody>
      </p:sp>
      <p:sp>
        <p:nvSpPr>
          <p:cNvPr id="78" name="Oval 77"/>
          <p:cNvSpPr/>
          <p:nvPr/>
        </p:nvSpPr>
        <p:spPr>
          <a:xfrm>
            <a:off x="12060936" y="6113417"/>
            <a:ext cx="329184" cy="329184"/>
          </a:xfrm>
          <a:prstGeom prst="ellipse">
            <a:avLst/>
          </a:prstGeom>
          <a:solidFill>
            <a:srgbClr val="2E7D32"/>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79" name="Oval 78"/>
          <p:cNvSpPr/>
          <p:nvPr/>
        </p:nvSpPr>
        <p:spPr>
          <a:xfrm>
            <a:off x="12646152" y="6113417"/>
            <a:ext cx="329184" cy="329184"/>
          </a:xfrm>
          <a:prstGeom prst="ellipse">
            <a:avLst/>
          </a:prstGeom>
          <a:solidFill>
            <a:srgbClr val="E08A1E"/>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80" name="Oval 79"/>
          <p:cNvSpPr/>
          <p:nvPr/>
        </p:nvSpPr>
        <p:spPr>
          <a:xfrm>
            <a:off x="13231368" y="6113417"/>
            <a:ext cx="329184" cy="329184"/>
          </a:xfrm>
          <a:prstGeom prst="ellipse">
            <a:avLst/>
          </a:prstGeom>
          <a:solidFill>
            <a:srgbClr val="E08A1E"/>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81" name="Oval 80"/>
          <p:cNvSpPr/>
          <p:nvPr/>
        </p:nvSpPr>
        <p:spPr>
          <a:xfrm>
            <a:off x="13816584" y="6113417"/>
            <a:ext cx="329184" cy="329184"/>
          </a:xfrm>
          <a:prstGeom prst="ellipse">
            <a:avLst/>
          </a:prstGeom>
          <a:solidFill>
            <a:srgbClr val="2E7D32"/>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82" name="Oval 81"/>
          <p:cNvSpPr/>
          <p:nvPr/>
        </p:nvSpPr>
        <p:spPr>
          <a:xfrm>
            <a:off x="14401800" y="6113417"/>
            <a:ext cx="329184" cy="329184"/>
          </a:xfrm>
          <a:prstGeom prst="ellipse">
            <a:avLst/>
          </a:prstGeom>
          <a:solidFill>
            <a:srgbClr val="2E7D32"/>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83" name="Oval 82"/>
          <p:cNvSpPr/>
          <p:nvPr/>
        </p:nvSpPr>
        <p:spPr>
          <a:xfrm>
            <a:off x="14987016" y="6113417"/>
            <a:ext cx="329184" cy="329184"/>
          </a:xfrm>
          <a:prstGeom prst="ellipse">
            <a:avLst/>
          </a:prstGeom>
          <a:solidFill>
            <a:srgbClr val="8B0000"/>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84" name="Oval 83"/>
          <p:cNvSpPr/>
          <p:nvPr/>
        </p:nvSpPr>
        <p:spPr>
          <a:xfrm>
            <a:off x="15572232" y="6113417"/>
            <a:ext cx="329184" cy="329184"/>
          </a:xfrm>
          <a:prstGeom prst="ellipse">
            <a:avLst/>
          </a:prstGeom>
          <a:solidFill>
            <a:srgbClr val="2E7D32"/>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85" name="Oval 84"/>
          <p:cNvSpPr/>
          <p:nvPr/>
        </p:nvSpPr>
        <p:spPr>
          <a:xfrm>
            <a:off x="16157448" y="6113417"/>
            <a:ext cx="329184" cy="329184"/>
          </a:xfrm>
          <a:prstGeom prst="ellipse">
            <a:avLst/>
          </a:prstGeom>
          <a:solidFill>
            <a:srgbClr val="2E7D32"/>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86" name="Oval 85"/>
          <p:cNvSpPr/>
          <p:nvPr/>
        </p:nvSpPr>
        <p:spPr>
          <a:xfrm>
            <a:off x="16742664" y="6113417"/>
            <a:ext cx="329184" cy="329184"/>
          </a:xfrm>
          <a:prstGeom prst="ellipse">
            <a:avLst/>
          </a:prstGeom>
          <a:solidFill>
            <a:srgbClr val="E08A1E"/>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87" name="Oval 86"/>
          <p:cNvSpPr/>
          <p:nvPr/>
        </p:nvSpPr>
        <p:spPr>
          <a:xfrm>
            <a:off x="17327880" y="6113417"/>
            <a:ext cx="329184" cy="329184"/>
          </a:xfrm>
          <a:prstGeom prst="ellipse">
            <a:avLst/>
          </a:prstGeom>
          <a:solidFill>
            <a:srgbClr val="8B0000"/>
          </a:solidFill>
          <a:ln>
            <a:noFill/>
          </a:ln>
          <a:effectLst/>
        </p:spPr>
        <p:txBody>
          <a:bodyPr rtlCol="0" anchor="ctr" lIns="0" rIns="0" tIns="0" bIns="0"/>
          <a:lstStyle/>
          <a:p/>
        </p:txBody>
      </p:sp>
      <p:sp>
        <p:nvSpPr>
          <p:cNvPr id="88" name="TextBox 87"/>
          <p:cNvSpPr txBox="1"/>
          <p:nvPr/>
        </p:nvSpPr>
        <p:spPr>
          <a:xfrm>
            <a:off x="8183880" y="6485708"/>
            <a:ext cx="3611879" cy="415398"/>
          </a:xfrm>
          <a:prstGeom prst="rect">
            <a:avLst/>
          </a:prstGeom>
          <a:noFill/>
        </p:spPr>
        <p:txBody>
          <a:bodyPr wrap="square" lIns="0" rIns="0" tIns="0" bIns="0" anchor="ctr">
            <a:noAutofit/>
          </a:bodyPr>
          <a:lstStyle/>
          <a:p>
            <a:pPr algn="r">
              <a:lnSpc>
                <a:spcPct val="100000"/>
              </a:lnSpc>
              <a:spcAft>
                <a:spcPts val="0"/>
              </a:spcAft>
              <a:buNone/>
            </a:pPr>
            <a:r>
              <a:rPr sz="1400" b="0" i="0">
                <a:solidFill>
                  <a:srgbClr val="1F2433"/>
                </a:solidFill>
                <a:latin typeface="Arial"/>
              </a:rPr>
              <a:t>Mohd Fikri Rosely; Titi Rahmawati, 2019</a:t>
            </a:r>
          </a:p>
        </p:txBody>
      </p:sp>
      <p:sp>
        <p:nvSpPr>
          <p:cNvPr id="89" name="Oval 88"/>
          <p:cNvSpPr/>
          <p:nvPr/>
        </p:nvSpPr>
        <p:spPr>
          <a:xfrm>
            <a:off x="12060936" y="6528816"/>
            <a:ext cx="329184" cy="329184"/>
          </a:xfrm>
          <a:prstGeom prst="ellipse">
            <a:avLst/>
          </a:prstGeom>
          <a:solidFill>
            <a:srgbClr val="2E7D32"/>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90" name="Oval 89"/>
          <p:cNvSpPr/>
          <p:nvPr/>
        </p:nvSpPr>
        <p:spPr>
          <a:xfrm>
            <a:off x="12646152" y="6528816"/>
            <a:ext cx="329184" cy="329184"/>
          </a:xfrm>
          <a:prstGeom prst="ellipse">
            <a:avLst/>
          </a:prstGeom>
          <a:solidFill>
            <a:srgbClr val="2E7D32"/>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91" name="Oval 90"/>
          <p:cNvSpPr/>
          <p:nvPr/>
        </p:nvSpPr>
        <p:spPr>
          <a:xfrm>
            <a:off x="13231368" y="6528816"/>
            <a:ext cx="329184" cy="329184"/>
          </a:xfrm>
          <a:prstGeom prst="ellipse">
            <a:avLst/>
          </a:prstGeom>
          <a:solidFill>
            <a:srgbClr val="2E7D32"/>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92" name="Oval 91"/>
          <p:cNvSpPr/>
          <p:nvPr/>
        </p:nvSpPr>
        <p:spPr>
          <a:xfrm>
            <a:off x="13816584" y="6528816"/>
            <a:ext cx="329184" cy="329184"/>
          </a:xfrm>
          <a:prstGeom prst="ellipse">
            <a:avLst/>
          </a:prstGeom>
          <a:solidFill>
            <a:srgbClr val="2E7D32"/>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93" name="Oval 92"/>
          <p:cNvSpPr/>
          <p:nvPr/>
        </p:nvSpPr>
        <p:spPr>
          <a:xfrm>
            <a:off x="14401800" y="6528816"/>
            <a:ext cx="329184" cy="329184"/>
          </a:xfrm>
          <a:prstGeom prst="ellipse">
            <a:avLst/>
          </a:prstGeom>
          <a:solidFill>
            <a:srgbClr val="2E7D32"/>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94" name="Oval 93"/>
          <p:cNvSpPr/>
          <p:nvPr/>
        </p:nvSpPr>
        <p:spPr>
          <a:xfrm>
            <a:off x="14987016" y="6528816"/>
            <a:ext cx="329184" cy="329184"/>
          </a:xfrm>
          <a:prstGeom prst="ellipse">
            <a:avLst/>
          </a:prstGeom>
          <a:solidFill>
            <a:srgbClr val="8B0000"/>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95" name="Oval 94"/>
          <p:cNvSpPr/>
          <p:nvPr/>
        </p:nvSpPr>
        <p:spPr>
          <a:xfrm>
            <a:off x="15572232" y="6528816"/>
            <a:ext cx="329184" cy="329184"/>
          </a:xfrm>
          <a:prstGeom prst="ellipse">
            <a:avLst/>
          </a:prstGeom>
          <a:solidFill>
            <a:srgbClr val="2E7D32"/>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96" name="Oval 95"/>
          <p:cNvSpPr/>
          <p:nvPr/>
        </p:nvSpPr>
        <p:spPr>
          <a:xfrm>
            <a:off x="16157448" y="6528816"/>
            <a:ext cx="329184" cy="329184"/>
          </a:xfrm>
          <a:prstGeom prst="ellipse">
            <a:avLst/>
          </a:prstGeom>
          <a:solidFill>
            <a:srgbClr val="2E7D32"/>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97" name="Oval 96"/>
          <p:cNvSpPr/>
          <p:nvPr/>
        </p:nvSpPr>
        <p:spPr>
          <a:xfrm>
            <a:off x="16742664" y="6528816"/>
            <a:ext cx="329184" cy="329184"/>
          </a:xfrm>
          <a:prstGeom prst="ellipse">
            <a:avLst/>
          </a:prstGeom>
          <a:solidFill>
            <a:srgbClr val="E08A1E"/>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98" name="Oval 97"/>
          <p:cNvSpPr/>
          <p:nvPr/>
        </p:nvSpPr>
        <p:spPr>
          <a:xfrm>
            <a:off x="17327880" y="6528816"/>
            <a:ext cx="329184" cy="329184"/>
          </a:xfrm>
          <a:prstGeom prst="ellipse">
            <a:avLst/>
          </a:prstGeom>
          <a:solidFill>
            <a:srgbClr val="E08A1E"/>
          </a:solidFill>
          <a:ln>
            <a:noFill/>
          </a:ln>
          <a:effectLst/>
        </p:spPr>
        <p:txBody>
          <a:bodyPr rtlCol="0" anchor="ctr" lIns="0" rIns="0" tIns="0" bIns="0"/>
          <a:lstStyle/>
          <a:p/>
        </p:txBody>
      </p:sp>
      <p:sp>
        <p:nvSpPr>
          <p:cNvPr id="99" name="Faixa zebrada"/>
          <p:cNvSpPr/>
          <p:nvPr/>
        </p:nvSpPr>
        <p:spPr>
          <a:xfrm>
            <a:off x="8092440" y="6901107"/>
            <a:ext cx="9692639" cy="415398"/>
          </a:xfrm>
          <a:prstGeom prst="rect">
            <a:avLst/>
          </a:prstGeom>
          <a:solidFill>
            <a:srgbClr val="F2F4F8"/>
          </a:solidFill>
          <a:ln>
            <a:noFill/>
          </a:ln>
          <a:effectLst/>
        </p:spPr>
        <p:txBody>
          <a:bodyPr rtlCol="0" anchor="ctr"/>
          <a:lstStyle/>
          <a:p/>
        </p:txBody>
      </p:sp>
      <p:sp>
        <p:nvSpPr>
          <p:cNvPr id="100" name="TextBox 99"/>
          <p:cNvSpPr txBox="1"/>
          <p:nvPr/>
        </p:nvSpPr>
        <p:spPr>
          <a:xfrm>
            <a:off x="8183880" y="6901107"/>
            <a:ext cx="3611879" cy="415398"/>
          </a:xfrm>
          <a:prstGeom prst="rect">
            <a:avLst/>
          </a:prstGeom>
          <a:noFill/>
        </p:spPr>
        <p:txBody>
          <a:bodyPr wrap="square" lIns="0" rIns="0" tIns="0" bIns="0" anchor="ctr">
            <a:noAutofit/>
          </a:bodyPr>
          <a:lstStyle/>
          <a:p>
            <a:pPr algn="r">
              <a:lnSpc>
                <a:spcPct val="100000"/>
              </a:lnSpc>
              <a:spcAft>
                <a:spcPts val="0"/>
              </a:spcAft>
              <a:buNone/>
            </a:pPr>
            <a:r>
              <a:rPr sz="1400" b="0" i="0">
                <a:solidFill>
                  <a:srgbClr val="1F2433"/>
                </a:solidFill>
                <a:latin typeface="Arial"/>
              </a:rPr>
              <a:t>Van Giersbergen et al., 2019</a:t>
            </a:r>
          </a:p>
        </p:txBody>
      </p:sp>
      <p:sp>
        <p:nvSpPr>
          <p:cNvPr id="101" name="Oval 100"/>
          <p:cNvSpPr/>
          <p:nvPr/>
        </p:nvSpPr>
        <p:spPr>
          <a:xfrm>
            <a:off x="12060936" y="6944214"/>
            <a:ext cx="329184" cy="329184"/>
          </a:xfrm>
          <a:prstGeom prst="ellipse">
            <a:avLst/>
          </a:prstGeom>
          <a:solidFill>
            <a:srgbClr val="2E7D32"/>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102" name="Oval 101"/>
          <p:cNvSpPr/>
          <p:nvPr/>
        </p:nvSpPr>
        <p:spPr>
          <a:xfrm>
            <a:off x="12646152" y="6944214"/>
            <a:ext cx="329184" cy="329184"/>
          </a:xfrm>
          <a:prstGeom prst="ellipse">
            <a:avLst/>
          </a:prstGeom>
          <a:solidFill>
            <a:srgbClr val="8B0000"/>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103" name="Oval 102"/>
          <p:cNvSpPr/>
          <p:nvPr/>
        </p:nvSpPr>
        <p:spPr>
          <a:xfrm>
            <a:off x="13231368" y="6944214"/>
            <a:ext cx="329184" cy="329184"/>
          </a:xfrm>
          <a:prstGeom prst="ellipse">
            <a:avLst/>
          </a:prstGeom>
          <a:solidFill>
            <a:srgbClr val="E08A1E"/>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104" name="Oval 103"/>
          <p:cNvSpPr/>
          <p:nvPr/>
        </p:nvSpPr>
        <p:spPr>
          <a:xfrm>
            <a:off x="13816584" y="6944214"/>
            <a:ext cx="329184" cy="329184"/>
          </a:xfrm>
          <a:prstGeom prst="ellipse">
            <a:avLst/>
          </a:prstGeom>
          <a:solidFill>
            <a:srgbClr val="2E7D32"/>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105" name="Oval 104"/>
          <p:cNvSpPr/>
          <p:nvPr/>
        </p:nvSpPr>
        <p:spPr>
          <a:xfrm>
            <a:off x="14401800" y="6944214"/>
            <a:ext cx="329184" cy="329184"/>
          </a:xfrm>
          <a:prstGeom prst="ellipse">
            <a:avLst/>
          </a:prstGeom>
          <a:solidFill>
            <a:srgbClr val="2E7D32"/>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106" name="Oval 105"/>
          <p:cNvSpPr/>
          <p:nvPr/>
        </p:nvSpPr>
        <p:spPr>
          <a:xfrm>
            <a:off x="14987016" y="6944214"/>
            <a:ext cx="329184" cy="329184"/>
          </a:xfrm>
          <a:prstGeom prst="ellipse">
            <a:avLst/>
          </a:prstGeom>
          <a:solidFill>
            <a:srgbClr val="8B0000"/>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107" name="Oval 106"/>
          <p:cNvSpPr/>
          <p:nvPr/>
        </p:nvSpPr>
        <p:spPr>
          <a:xfrm>
            <a:off x="15572232" y="6944214"/>
            <a:ext cx="329184" cy="329184"/>
          </a:xfrm>
          <a:prstGeom prst="ellipse">
            <a:avLst/>
          </a:prstGeom>
          <a:solidFill>
            <a:srgbClr val="2E7D32"/>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108" name="Oval 107"/>
          <p:cNvSpPr/>
          <p:nvPr/>
        </p:nvSpPr>
        <p:spPr>
          <a:xfrm>
            <a:off x="16157448" y="6944214"/>
            <a:ext cx="329184" cy="329184"/>
          </a:xfrm>
          <a:prstGeom prst="ellipse">
            <a:avLst/>
          </a:prstGeom>
          <a:solidFill>
            <a:srgbClr val="2E7D32"/>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109" name="Oval 108"/>
          <p:cNvSpPr/>
          <p:nvPr/>
        </p:nvSpPr>
        <p:spPr>
          <a:xfrm>
            <a:off x="16742664" y="6944214"/>
            <a:ext cx="329184" cy="329184"/>
          </a:xfrm>
          <a:prstGeom prst="ellipse">
            <a:avLst/>
          </a:prstGeom>
          <a:solidFill>
            <a:srgbClr val="E08A1E"/>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110" name="Oval 109"/>
          <p:cNvSpPr/>
          <p:nvPr/>
        </p:nvSpPr>
        <p:spPr>
          <a:xfrm>
            <a:off x="17327880" y="6944214"/>
            <a:ext cx="329184" cy="329184"/>
          </a:xfrm>
          <a:prstGeom prst="ellipse">
            <a:avLst/>
          </a:prstGeom>
          <a:solidFill>
            <a:srgbClr val="8B0000"/>
          </a:solidFill>
          <a:ln>
            <a:noFill/>
          </a:ln>
          <a:effectLst/>
        </p:spPr>
        <p:txBody>
          <a:bodyPr rtlCol="0" anchor="ctr" lIns="0" rIns="0" tIns="0" bIns="0"/>
          <a:lstStyle/>
          <a:p/>
        </p:txBody>
      </p:sp>
      <p:sp>
        <p:nvSpPr>
          <p:cNvPr id="111" name="TextBox 110"/>
          <p:cNvSpPr txBox="1"/>
          <p:nvPr/>
        </p:nvSpPr>
        <p:spPr>
          <a:xfrm>
            <a:off x="8183880" y="7316506"/>
            <a:ext cx="3611879" cy="415398"/>
          </a:xfrm>
          <a:prstGeom prst="rect">
            <a:avLst/>
          </a:prstGeom>
          <a:noFill/>
        </p:spPr>
        <p:txBody>
          <a:bodyPr wrap="square" lIns="0" rIns="0" tIns="0" bIns="0" anchor="ctr">
            <a:noAutofit/>
          </a:bodyPr>
          <a:lstStyle/>
          <a:p>
            <a:pPr algn="r">
              <a:lnSpc>
                <a:spcPct val="100000"/>
              </a:lnSpc>
              <a:spcAft>
                <a:spcPts val="0"/>
              </a:spcAft>
              <a:buNone/>
            </a:pPr>
            <a:r>
              <a:rPr sz="1400" b="0" i="0">
                <a:solidFill>
                  <a:srgbClr val="1F2433"/>
                </a:solidFill>
                <a:latin typeface="Arial"/>
              </a:rPr>
              <a:t>Bieniek et al., 2022</a:t>
            </a:r>
          </a:p>
        </p:txBody>
      </p:sp>
      <p:sp>
        <p:nvSpPr>
          <p:cNvPr id="112" name="Oval 111"/>
          <p:cNvSpPr/>
          <p:nvPr/>
        </p:nvSpPr>
        <p:spPr>
          <a:xfrm>
            <a:off x="12060936" y="7359613"/>
            <a:ext cx="329184" cy="329184"/>
          </a:xfrm>
          <a:prstGeom prst="ellipse">
            <a:avLst/>
          </a:prstGeom>
          <a:solidFill>
            <a:srgbClr val="2E7D32"/>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113" name="Oval 112"/>
          <p:cNvSpPr/>
          <p:nvPr/>
        </p:nvSpPr>
        <p:spPr>
          <a:xfrm>
            <a:off x="12646152" y="7359613"/>
            <a:ext cx="329184" cy="329184"/>
          </a:xfrm>
          <a:prstGeom prst="ellipse">
            <a:avLst/>
          </a:prstGeom>
          <a:solidFill>
            <a:srgbClr val="E08A1E"/>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114" name="Oval 113"/>
          <p:cNvSpPr/>
          <p:nvPr/>
        </p:nvSpPr>
        <p:spPr>
          <a:xfrm>
            <a:off x="13231368" y="7359613"/>
            <a:ext cx="329184" cy="329184"/>
          </a:xfrm>
          <a:prstGeom prst="ellipse">
            <a:avLst/>
          </a:prstGeom>
          <a:solidFill>
            <a:srgbClr val="E08A1E"/>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115" name="Oval 114"/>
          <p:cNvSpPr/>
          <p:nvPr/>
        </p:nvSpPr>
        <p:spPr>
          <a:xfrm>
            <a:off x="13816584" y="7359613"/>
            <a:ext cx="329184" cy="329184"/>
          </a:xfrm>
          <a:prstGeom prst="ellipse">
            <a:avLst/>
          </a:prstGeom>
          <a:solidFill>
            <a:srgbClr val="2E7D32"/>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116" name="Oval 115"/>
          <p:cNvSpPr/>
          <p:nvPr/>
        </p:nvSpPr>
        <p:spPr>
          <a:xfrm>
            <a:off x="14401800" y="7359613"/>
            <a:ext cx="329184" cy="329184"/>
          </a:xfrm>
          <a:prstGeom prst="ellipse">
            <a:avLst/>
          </a:prstGeom>
          <a:solidFill>
            <a:srgbClr val="2E7D32"/>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117" name="Oval 116"/>
          <p:cNvSpPr/>
          <p:nvPr/>
        </p:nvSpPr>
        <p:spPr>
          <a:xfrm>
            <a:off x="14987016" y="7359613"/>
            <a:ext cx="329184" cy="329184"/>
          </a:xfrm>
          <a:prstGeom prst="ellipse">
            <a:avLst/>
          </a:prstGeom>
          <a:solidFill>
            <a:srgbClr val="2E7D32"/>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118" name="Oval 117"/>
          <p:cNvSpPr/>
          <p:nvPr/>
        </p:nvSpPr>
        <p:spPr>
          <a:xfrm>
            <a:off x="15572232" y="7359613"/>
            <a:ext cx="329184" cy="329184"/>
          </a:xfrm>
          <a:prstGeom prst="ellipse">
            <a:avLst/>
          </a:prstGeom>
          <a:solidFill>
            <a:srgbClr val="2E7D32"/>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119" name="Oval 118"/>
          <p:cNvSpPr/>
          <p:nvPr/>
        </p:nvSpPr>
        <p:spPr>
          <a:xfrm>
            <a:off x="16157448" y="7359613"/>
            <a:ext cx="329184" cy="329184"/>
          </a:xfrm>
          <a:prstGeom prst="ellipse">
            <a:avLst/>
          </a:prstGeom>
          <a:solidFill>
            <a:srgbClr val="2E7D32"/>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120" name="Oval 119"/>
          <p:cNvSpPr/>
          <p:nvPr/>
        </p:nvSpPr>
        <p:spPr>
          <a:xfrm>
            <a:off x="16742664" y="7359613"/>
            <a:ext cx="329184" cy="329184"/>
          </a:xfrm>
          <a:prstGeom prst="ellipse">
            <a:avLst/>
          </a:prstGeom>
          <a:solidFill>
            <a:srgbClr val="E08A1E"/>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121" name="Oval 120"/>
          <p:cNvSpPr/>
          <p:nvPr/>
        </p:nvSpPr>
        <p:spPr>
          <a:xfrm>
            <a:off x="17327880" y="7359613"/>
            <a:ext cx="329184" cy="329184"/>
          </a:xfrm>
          <a:prstGeom prst="ellipse">
            <a:avLst/>
          </a:prstGeom>
          <a:solidFill>
            <a:srgbClr val="E08A1E"/>
          </a:solidFill>
          <a:ln>
            <a:noFill/>
          </a:ln>
          <a:effectLst/>
        </p:spPr>
        <p:txBody>
          <a:bodyPr rtlCol="0" anchor="ctr" lIns="0" rIns="0" tIns="0" bIns="0"/>
          <a:lstStyle/>
          <a:p/>
        </p:txBody>
      </p:sp>
      <p:sp>
        <p:nvSpPr>
          <p:cNvPr id="122" name="Faixa zebrada"/>
          <p:cNvSpPr/>
          <p:nvPr/>
        </p:nvSpPr>
        <p:spPr>
          <a:xfrm>
            <a:off x="8092440" y="7731905"/>
            <a:ext cx="9692639" cy="415398"/>
          </a:xfrm>
          <a:prstGeom prst="rect">
            <a:avLst/>
          </a:prstGeom>
          <a:solidFill>
            <a:srgbClr val="F2F4F8"/>
          </a:solidFill>
          <a:ln>
            <a:noFill/>
          </a:ln>
          <a:effectLst/>
        </p:spPr>
        <p:txBody>
          <a:bodyPr rtlCol="0" anchor="ctr"/>
          <a:lstStyle/>
          <a:p/>
        </p:txBody>
      </p:sp>
      <p:sp>
        <p:nvSpPr>
          <p:cNvPr id="123" name="TextBox 122"/>
          <p:cNvSpPr txBox="1"/>
          <p:nvPr/>
        </p:nvSpPr>
        <p:spPr>
          <a:xfrm>
            <a:off x="8183880" y="7731905"/>
            <a:ext cx="3611879" cy="415398"/>
          </a:xfrm>
          <a:prstGeom prst="rect">
            <a:avLst/>
          </a:prstGeom>
          <a:noFill/>
        </p:spPr>
        <p:txBody>
          <a:bodyPr wrap="square" lIns="0" rIns="0" tIns="0" bIns="0" anchor="ctr">
            <a:noAutofit/>
          </a:bodyPr>
          <a:lstStyle/>
          <a:p>
            <a:pPr algn="r">
              <a:lnSpc>
                <a:spcPct val="100000"/>
              </a:lnSpc>
              <a:spcAft>
                <a:spcPts val="0"/>
              </a:spcAft>
              <a:buNone/>
            </a:pPr>
            <a:r>
              <a:rPr sz="1400" b="0" i="0">
                <a:solidFill>
                  <a:srgbClr val="1F2433"/>
                </a:solidFill>
                <a:latin typeface="Arial"/>
              </a:rPr>
              <a:t>Mohd Fikri Rosely, 2022</a:t>
            </a:r>
          </a:p>
        </p:txBody>
      </p:sp>
      <p:sp>
        <p:nvSpPr>
          <p:cNvPr id="124" name="Oval 123"/>
          <p:cNvSpPr/>
          <p:nvPr/>
        </p:nvSpPr>
        <p:spPr>
          <a:xfrm>
            <a:off x="12060936" y="7775012"/>
            <a:ext cx="329184" cy="329184"/>
          </a:xfrm>
          <a:prstGeom prst="ellipse">
            <a:avLst/>
          </a:prstGeom>
          <a:solidFill>
            <a:srgbClr val="E08A1E"/>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125" name="Oval 124"/>
          <p:cNvSpPr/>
          <p:nvPr/>
        </p:nvSpPr>
        <p:spPr>
          <a:xfrm>
            <a:off x="12646152" y="7775012"/>
            <a:ext cx="329184" cy="329184"/>
          </a:xfrm>
          <a:prstGeom prst="ellipse">
            <a:avLst/>
          </a:prstGeom>
          <a:solidFill>
            <a:srgbClr val="E08A1E"/>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126" name="Oval 125"/>
          <p:cNvSpPr/>
          <p:nvPr/>
        </p:nvSpPr>
        <p:spPr>
          <a:xfrm>
            <a:off x="13231368" y="7775012"/>
            <a:ext cx="329184" cy="329184"/>
          </a:xfrm>
          <a:prstGeom prst="ellipse">
            <a:avLst/>
          </a:prstGeom>
          <a:solidFill>
            <a:srgbClr val="E08A1E"/>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127" name="Oval 126"/>
          <p:cNvSpPr/>
          <p:nvPr/>
        </p:nvSpPr>
        <p:spPr>
          <a:xfrm>
            <a:off x="13816584" y="7775012"/>
            <a:ext cx="329184" cy="329184"/>
          </a:xfrm>
          <a:prstGeom prst="ellipse">
            <a:avLst/>
          </a:prstGeom>
          <a:solidFill>
            <a:srgbClr val="E08A1E"/>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128" name="Oval 127"/>
          <p:cNvSpPr/>
          <p:nvPr/>
        </p:nvSpPr>
        <p:spPr>
          <a:xfrm>
            <a:off x="14401800" y="7775012"/>
            <a:ext cx="329184" cy="329184"/>
          </a:xfrm>
          <a:prstGeom prst="ellipse">
            <a:avLst/>
          </a:prstGeom>
          <a:solidFill>
            <a:srgbClr val="E08A1E"/>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129" name="Oval 128"/>
          <p:cNvSpPr/>
          <p:nvPr/>
        </p:nvSpPr>
        <p:spPr>
          <a:xfrm>
            <a:off x="14987016" y="7775012"/>
            <a:ext cx="329184" cy="329184"/>
          </a:xfrm>
          <a:prstGeom prst="ellipse">
            <a:avLst/>
          </a:prstGeom>
          <a:solidFill>
            <a:srgbClr val="E08A1E"/>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130" name="Oval 129"/>
          <p:cNvSpPr/>
          <p:nvPr/>
        </p:nvSpPr>
        <p:spPr>
          <a:xfrm>
            <a:off x="15572232" y="7775012"/>
            <a:ext cx="329184" cy="329184"/>
          </a:xfrm>
          <a:prstGeom prst="ellipse">
            <a:avLst/>
          </a:prstGeom>
          <a:solidFill>
            <a:srgbClr val="E08A1E"/>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131" name="Oval 130"/>
          <p:cNvSpPr/>
          <p:nvPr/>
        </p:nvSpPr>
        <p:spPr>
          <a:xfrm>
            <a:off x="16157448" y="7775012"/>
            <a:ext cx="329184" cy="329184"/>
          </a:xfrm>
          <a:prstGeom prst="ellipse">
            <a:avLst/>
          </a:prstGeom>
          <a:solidFill>
            <a:srgbClr val="E08A1E"/>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132" name="Oval 131"/>
          <p:cNvSpPr/>
          <p:nvPr/>
        </p:nvSpPr>
        <p:spPr>
          <a:xfrm>
            <a:off x="16742664" y="7775012"/>
            <a:ext cx="329184" cy="329184"/>
          </a:xfrm>
          <a:prstGeom prst="ellipse">
            <a:avLst/>
          </a:prstGeom>
          <a:solidFill>
            <a:srgbClr val="E08A1E"/>
          </a:solidFill>
          <a:ln>
            <a:noFill/>
          </a:ln>
          <a:effectLst/>
        </p:spPr>
        <p:txBody>
          <a:bodyPr rtlCol="0" anchor="ctr" lIns="0" rIns="0" tIns="0" bIns="0" wrap="square">
            <a:noAutofit/>
          </a:bodyPr>
          <a:lstStyle/>
          <a:p>
            <a:pPr algn="ctr">
              <a:lnSpc>
                <a:spcPct val="100000"/>
              </a:lnSpc>
              <a:spcAft>
                <a:spcPts val="0"/>
              </a:spcAft>
              <a:buNone/>
            </a:pPr>
            <a:r>
              <a:rPr sz="1400" b="1" i="0">
                <a:solidFill>
                  <a:srgbClr val="FFFFFF"/>
                </a:solidFill>
                <a:latin typeface="Arial"/>
              </a:rPr>
              <a:t>?</a:t>
            </a:r>
          </a:p>
        </p:txBody>
      </p:sp>
      <p:sp>
        <p:nvSpPr>
          <p:cNvPr id="133" name="Oval 132"/>
          <p:cNvSpPr/>
          <p:nvPr/>
        </p:nvSpPr>
        <p:spPr>
          <a:xfrm>
            <a:off x="17327880" y="7775012"/>
            <a:ext cx="329184" cy="329184"/>
          </a:xfrm>
          <a:prstGeom prst="ellipse">
            <a:avLst/>
          </a:prstGeom>
          <a:solidFill>
            <a:srgbClr val="8B0000"/>
          </a:solidFill>
          <a:ln>
            <a:noFill/>
          </a:ln>
          <a:effectLst/>
        </p:spPr>
        <p:txBody>
          <a:bodyPr rtlCol="0" anchor="ctr" lIns="0" rIns="0" tIns="0" bIns="0"/>
          <a:lstStyle/>
          <a:p/>
        </p:txBody>
      </p:sp>
      <p:sp>
        <p:nvSpPr>
          <p:cNvPr id="134" name="TextBox 133"/>
          <p:cNvSpPr txBox="1"/>
          <p:nvPr/>
        </p:nvSpPr>
        <p:spPr>
          <a:xfrm>
            <a:off x="8092440" y="8257031"/>
            <a:ext cx="9692639" cy="749808"/>
          </a:xfrm>
          <a:prstGeom prst="rect">
            <a:avLst/>
          </a:prstGeom>
          <a:noFill/>
        </p:spPr>
        <p:txBody>
          <a:bodyPr wrap="square" lIns="0" rIns="0" tIns="0" bIns="0" anchor="t">
            <a:noAutofit/>
          </a:bodyPr>
          <a:lstStyle/>
          <a:p>
            <a:pPr algn="l">
              <a:lnSpc>
                <a:spcPct val="100000"/>
              </a:lnSpc>
              <a:spcAft>
                <a:spcPts val="200"/>
              </a:spcAft>
              <a:buNone/>
            </a:pPr>
            <a:r>
              <a:rPr sz="1400" b="1" i="0">
                <a:solidFill>
                  <a:srgbClr val="1F2433"/>
                </a:solidFill>
                <a:latin typeface="Arial"/>
              </a:rPr>
              <a:t>Figura E1. </a:t>
            </a:r>
            <a:r>
              <a:rPr sz="1400" b="1" i="0">
                <a:solidFill>
                  <a:srgbClr val="2E7D32"/>
                </a:solidFill>
                <a:latin typeface="Arial"/>
              </a:rPr>
              <a:t>+ sim  </a:t>
            </a:r>
            <a:r>
              <a:rPr sz="1400" b="1" i="0">
                <a:solidFill>
                  <a:srgbClr val="E08A1E"/>
                </a:solidFill>
                <a:latin typeface="Arial"/>
              </a:rPr>
              <a:t>? incerto  </a:t>
            </a:r>
            <a:r>
              <a:rPr sz="1400" b="1" i="0">
                <a:solidFill>
                  <a:srgbClr val="8B0000"/>
                </a:solidFill>
                <a:latin typeface="Arial"/>
              </a:rPr>
              <a:t>− não</a:t>
            </a:r>
            <a:r>
              <a:rPr sz="1400" b="1" i="0">
                <a:solidFill>
                  <a:srgbClr val="1F2433"/>
                </a:solidFill>
                <a:latin typeface="Arial"/>
              </a:rPr>
              <a:t>  ·  Geral: </a:t>
            </a:r>
            <a:r>
              <a:rPr sz="1400" b="1" i="0">
                <a:solidFill>
                  <a:srgbClr val="8B0000"/>
                </a:solidFill>
                <a:latin typeface="Arial"/>
              </a:rPr>
              <a:t>● alta  </a:t>
            </a:r>
            <a:r>
              <a:rPr sz="1400" b="1" i="0">
                <a:solidFill>
                  <a:srgbClr val="E08A1E"/>
                </a:solidFill>
                <a:latin typeface="Arial"/>
              </a:rPr>
              <a:t>● moderada</a:t>
            </a:r>
            <a:r>
              <a:rPr sz="1400" b="0" i="0">
                <a:solidFill>
                  <a:srgbClr val="1F2433"/>
                </a:solidFill>
                <a:latin typeface="Arial"/>
              </a:rPr>
              <a:t>  →  </a:t>
            </a:r>
            <a:r>
              <a:rPr sz="1400" b="1" i="0">
                <a:solidFill>
                  <a:srgbClr val="1F2433"/>
                </a:solidFill>
                <a:highlight>
                  <a:srgbClr val="FFEB99"/>
                </a:highlight>
                <a:latin typeface="Arial"/>
              </a:rPr>
              <a:t>nenhum com preocupação baixa.</a:t>
            </a:r>
          </a:p>
          <a:p>
            <a:pPr algn="l">
              <a:lnSpc>
                <a:spcPct val="100000"/>
              </a:lnSpc>
              <a:spcAft>
                <a:spcPts val="200"/>
              </a:spcAft>
              <a:buNone/>
            </a:pPr>
            <a:r>
              <a:rPr sz="1400" b="1" i="0">
                <a:solidFill>
                  <a:srgbClr val="002060"/>
                </a:solidFill>
                <a:latin typeface="Arial"/>
              </a:rPr>
              <a:t>Itens: </a:t>
            </a:r>
            <a:r>
              <a:rPr sz="1400" b="0" i="0">
                <a:solidFill>
                  <a:srgbClr val="5A6270"/>
                </a:solidFill>
                <a:latin typeface="Arial"/>
              </a:rPr>
              <a:t>1 marco amostral · 2 amostragem · 3 tamanho · 4 sujeitos/cenário · 5 cobertura · 6 validade · 7 padronização · 8 análise · 9 taxa de resposta</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lano de fundo do modelo" descr="tpl_bg.png"/>
          <p:cNvPicPr>
            <a:picLocks noChangeAspect="1"/>
          </p:cNvPicPr>
          <p:nvPr/>
        </p:nvPicPr>
        <p:blipFill>
          <a:blip r:embed="rId2"/>
          <a:stretch>
            <a:fillRect/>
          </a:stretch>
        </p:blipFill>
        <p:spPr>
          <a:xfrm>
            <a:off x="20" y="1923"/>
            <a:ext cx="18287980" cy="10285077"/>
          </a:xfrm>
          <a:prstGeom prst="rect">
            <a:avLst/>
          </a:prstGeom>
        </p:spPr>
      </p:pic>
      <p:sp>
        <p:nvSpPr>
          <p:cNvPr id="3" name="Retângulo branco (modelo)"/>
          <p:cNvSpPr/>
          <p:nvPr/>
        </p:nvSpPr>
        <p:spPr>
          <a:xfrm>
            <a:off x="15888345" y="279974"/>
            <a:ext cx="2362200" cy="863025"/>
          </a:xfrm>
          <a:prstGeom prst="rect">
            <a:avLst/>
          </a:prstGeom>
          <a:solidFill>
            <a:srgbClr val="FFFFFF"/>
          </a:solidFill>
          <a:ln>
            <a:noFill/>
          </a:ln>
        </p:spPr>
        <p:txBody>
          <a:bodyPr rtlCol="0" anchor="ctr"/>
          <a:lstStyle/>
          <a:p>
            <a:pPr algn="ctr"/>
          </a:p>
        </p:txBody>
      </p:sp>
      <p:pic>
        <p:nvPicPr>
          <p:cNvPr id="4" name="Logo SEMICA" descr="image.png"/>
          <p:cNvPicPr>
            <a:picLocks noChangeAspect="1"/>
          </p:cNvPicPr>
          <p:nvPr/>
        </p:nvPicPr>
        <p:blipFill>
          <a:blip r:embed="rId3"/>
          <a:stretch>
            <a:fillRect/>
          </a:stretch>
        </p:blipFill>
        <p:spPr>
          <a:xfrm>
            <a:off x="15544800" y="279974"/>
            <a:ext cx="2512314" cy="1234862"/>
          </a:xfrm>
          <a:prstGeom prst="rect">
            <a:avLst/>
          </a:prstGeom>
        </p:spPr>
      </p:pic>
      <p:sp>
        <p:nvSpPr>
          <p:cNvPr id="5" name="Título da seção"/>
          <p:cNvSpPr txBox="1"/>
          <p:nvPr/>
        </p:nvSpPr>
        <p:spPr>
          <a:xfrm>
            <a:off x="1143000" y="558224"/>
            <a:ext cx="10058400" cy="584775"/>
          </a:xfrm>
          <a:prstGeom prst="rect">
            <a:avLst/>
          </a:prstGeom>
          <a:noFill/>
        </p:spPr>
        <p:txBody>
          <a:bodyPr wrap="square">
            <a:noAutofit/>
          </a:bodyPr>
          <a:lstStyle/>
          <a:p>
            <a:pPr algn="l">
              <a:lnSpc>
                <a:spcPct val="100000"/>
              </a:lnSpc>
              <a:spcAft>
                <a:spcPts val="0"/>
              </a:spcAft>
              <a:buNone/>
            </a:pPr>
            <a:r>
              <a:rPr sz="3200" b="0" i="0">
                <a:solidFill>
                  <a:srgbClr val="000000"/>
                </a:solidFill>
                <a:latin typeface="Arial"/>
              </a:rPr>
              <a:t>METODOLOGIA</a:t>
            </a:r>
          </a:p>
        </p:txBody>
      </p:sp>
      <p:sp>
        <p:nvSpPr>
          <p:cNvPr id="6" name="Subtítulo"/>
          <p:cNvSpPr txBox="1"/>
          <p:nvPr/>
        </p:nvSpPr>
        <p:spPr>
          <a:xfrm>
            <a:off x="1143000" y="1097280"/>
            <a:ext cx="14173200" cy="502920"/>
          </a:xfrm>
          <a:prstGeom prst="rect">
            <a:avLst/>
          </a:prstGeom>
          <a:noFill/>
        </p:spPr>
        <p:txBody>
          <a:bodyPr wrap="square" lIns="0" rIns="0" tIns="0" bIns="0" anchor="t">
            <a:noAutofit/>
          </a:bodyPr>
          <a:lstStyle/>
          <a:p>
            <a:pPr algn="l">
              <a:lnSpc>
                <a:spcPct val="100000"/>
              </a:lnSpc>
              <a:spcAft>
                <a:spcPts val="0"/>
              </a:spcAft>
              <a:buNone/>
            </a:pPr>
            <a:r>
              <a:rPr sz="2400" b="1" i="0">
                <a:solidFill>
                  <a:srgbClr val="002060"/>
                </a:solidFill>
                <a:latin typeface="Arial"/>
              </a:rPr>
              <a:t>Passo 6 · Metanálise de prevalência explicada: de 6–7 proporções a uma estimativa combinada</a:t>
            </a:r>
          </a:p>
        </p:txBody>
      </p:sp>
      <p:cxnSp>
        <p:nvCxnSpPr>
          <p:cNvPr id="7" name="Connector 6"/>
          <p:cNvCxnSpPr/>
          <p:nvPr/>
        </p:nvCxnSpPr>
        <p:spPr>
          <a:xfrm>
            <a:off x="2410097" y="9454896"/>
            <a:ext cx="14107885" cy="0"/>
          </a:xfrm>
          <a:prstGeom prst="line">
            <a:avLst/>
          </a:prstGeom>
          <a:ln w="31750">
            <a:solidFill>
              <a:srgbClr val="C9CFDA"/>
            </a:solidFill>
          </a:ln>
        </p:spPr>
      </p:cxnSp>
      <p:sp>
        <p:nvSpPr>
          <p:cNvPr id="8" name="Oval 7"/>
          <p:cNvSpPr/>
          <p:nvPr/>
        </p:nvSpPr>
        <p:spPr>
          <a:xfrm>
            <a:off x="2245505" y="9290304"/>
            <a:ext cx="329184" cy="329184"/>
          </a:xfrm>
          <a:prstGeom prst="ellipse">
            <a:avLst/>
          </a:prstGeom>
          <a:solidFill>
            <a:srgbClr val="C9CFDA"/>
          </a:solidFill>
          <a:ln>
            <a:noFill/>
          </a:ln>
          <a:effectLst/>
        </p:spPr>
        <p:txBody>
          <a:bodyPr rtlCol="0" anchor="ctr" lIns="0" rIns="0" tIns="0" bIns="0" wrap="square">
            <a:noAutofit/>
          </a:bodyPr>
          <a:lstStyle/>
          <a:p>
            <a:pPr algn="ctr">
              <a:lnSpc>
                <a:spcPct val="100000"/>
              </a:lnSpc>
              <a:spcAft>
                <a:spcPts val="0"/>
              </a:spcAft>
              <a:buNone/>
            </a:pPr>
            <a:r>
              <a:rPr sz="1300" b="1" i="0">
                <a:solidFill>
                  <a:srgbClr val="FFFFFF"/>
                </a:solidFill>
                <a:latin typeface="Arial"/>
              </a:rPr>
              <a:t>1</a:t>
            </a:r>
          </a:p>
        </p:txBody>
      </p:sp>
      <p:sp>
        <p:nvSpPr>
          <p:cNvPr id="9" name="TextBox 8"/>
          <p:cNvSpPr txBox="1"/>
          <p:nvPr/>
        </p:nvSpPr>
        <p:spPr>
          <a:xfrm>
            <a:off x="1234439" y="9710928"/>
            <a:ext cx="2351314" cy="365760"/>
          </a:xfrm>
          <a:prstGeom prst="rect">
            <a:avLst/>
          </a:prstGeom>
          <a:noFill/>
        </p:spPr>
        <p:txBody>
          <a:bodyPr wrap="square" lIns="0" rIns="0" tIns="0" bIns="0" anchor="t">
            <a:noAutofit/>
          </a:bodyPr>
          <a:lstStyle/>
          <a:p>
            <a:pPr algn="ctr">
              <a:lnSpc>
                <a:spcPct val="100000"/>
              </a:lnSpc>
              <a:spcAft>
                <a:spcPts val="0"/>
              </a:spcAft>
              <a:buNone/>
            </a:pPr>
            <a:r>
              <a:rPr sz="1400" b="0" i="0">
                <a:solidFill>
                  <a:srgbClr val="5A6270"/>
                </a:solidFill>
                <a:latin typeface="Arial"/>
              </a:rPr>
              <a:t>Protocolo</a:t>
            </a:r>
          </a:p>
        </p:txBody>
      </p:sp>
      <p:sp>
        <p:nvSpPr>
          <p:cNvPr id="10" name="Oval 9"/>
          <p:cNvSpPr/>
          <p:nvPr/>
        </p:nvSpPr>
        <p:spPr>
          <a:xfrm>
            <a:off x="4596819" y="9290304"/>
            <a:ext cx="329184" cy="329184"/>
          </a:xfrm>
          <a:prstGeom prst="ellipse">
            <a:avLst/>
          </a:prstGeom>
          <a:solidFill>
            <a:srgbClr val="C9CFDA"/>
          </a:solidFill>
          <a:ln>
            <a:noFill/>
          </a:ln>
          <a:effectLst/>
        </p:spPr>
        <p:txBody>
          <a:bodyPr rtlCol="0" anchor="ctr" lIns="0" rIns="0" tIns="0" bIns="0" wrap="square">
            <a:noAutofit/>
          </a:bodyPr>
          <a:lstStyle/>
          <a:p>
            <a:pPr algn="ctr">
              <a:lnSpc>
                <a:spcPct val="100000"/>
              </a:lnSpc>
              <a:spcAft>
                <a:spcPts val="0"/>
              </a:spcAft>
              <a:buNone/>
            </a:pPr>
            <a:r>
              <a:rPr sz="1300" b="1" i="0">
                <a:solidFill>
                  <a:srgbClr val="FFFFFF"/>
                </a:solidFill>
                <a:latin typeface="Arial"/>
              </a:rPr>
              <a:t>2</a:t>
            </a:r>
          </a:p>
        </p:txBody>
      </p:sp>
      <p:sp>
        <p:nvSpPr>
          <p:cNvPr id="11" name="TextBox 10"/>
          <p:cNvSpPr txBox="1"/>
          <p:nvPr/>
        </p:nvSpPr>
        <p:spPr>
          <a:xfrm>
            <a:off x="3585754" y="9710928"/>
            <a:ext cx="2351314" cy="365760"/>
          </a:xfrm>
          <a:prstGeom prst="rect">
            <a:avLst/>
          </a:prstGeom>
          <a:noFill/>
        </p:spPr>
        <p:txBody>
          <a:bodyPr wrap="square" lIns="0" rIns="0" tIns="0" bIns="0" anchor="t">
            <a:noAutofit/>
          </a:bodyPr>
          <a:lstStyle/>
          <a:p>
            <a:pPr algn="ctr">
              <a:lnSpc>
                <a:spcPct val="100000"/>
              </a:lnSpc>
              <a:spcAft>
                <a:spcPts val="0"/>
              </a:spcAft>
              <a:buNone/>
            </a:pPr>
            <a:r>
              <a:rPr sz="1400" b="0" i="0">
                <a:solidFill>
                  <a:srgbClr val="5A6270"/>
                </a:solidFill>
                <a:latin typeface="Arial"/>
              </a:rPr>
              <a:t>Busca</a:t>
            </a:r>
          </a:p>
        </p:txBody>
      </p:sp>
      <p:sp>
        <p:nvSpPr>
          <p:cNvPr id="12" name="Oval 11"/>
          <p:cNvSpPr/>
          <p:nvPr/>
        </p:nvSpPr>
        <p:spPr>
          <a:xfrm>
            <a:off x="6948133" y="9290304"/>
            <a:ext cx="329184" cy="329184"/>
          </a:xfrm>
          <a:prstGeom prst="ellipse">
            <a:avLst/>
          </a:prstGeom>
          <a:solidFill>
            <a:srgbClr val="C9CFDA"/>
          </a:solidFill>
          <a:ln>
            <a:noFill/>
          </a:ln>
          <a:effectLst/>
        </p:spPr>
        <p:txBody>
          <a:bodyPr rtlCol="0" anchor="ctr" lIns="0" rIns="0" tIns="0" bIns="0" wrap="square">
            <a:noAutofit/>
          </a:bodyPr>
          <a:lstStyle/>
          <a:p>
            <a:pPr algn="ctr">
              <a:lnSpc>
                <a:spcPct val="100000"/>
              </a:lnSpc>
              <a:spcAft>
                <a:spcPts val="0"/>
              </a:spcAft>
              <a:buNone/>
            </a:pPr>
            <a:r>
              <a:rPr sz="1300" b="1" i="0">
                <a:solidFill>
                  <a:srgbClr val="FFFFFF"/>
                </a:solidFill>
                <a:latin typeface="Arial"/>
              </a:rPr>
              <a:t>3</a:t>
            </a:r>
          </a:p>
        </p:txBody>
      </p:sp>
      <p:sp>
        <p:nvSpPr>
          <p:cNvPr id="13" name="TextBox 12"/>
          <p:cNvSpPr txBox="1"/>
          <p:nvPr/>
        </p:nvSpPr>
        <p:spPr>
          <a:xfrm>
            <a:off x="5937068" y="9710928"/>
            <a:ext cx="2351314" cy="365760"/>
          </a:xfrm>
          <a:prstGeom prst="rect">
            <a:avLst/>
          </a:prstGeom>
          <a:noFill/>
        </p:spPr>
        <p:txBody>
          <a:bodyPr wrap="square" lIns="0" rIns="0" tIns="0" bIns="0" anchor="t">
            <a:noAutofit/>
          </a:bodyPr>
          <a:lstStyle/>
          <a:p>
            <a:pPr algn="ctr">
              <a:lnSpc>
                <a:spcPct val="100000"/>
              </a:lnSpc>
              <a:spcAft>
                <a:spcPts val="0"/>
              </a:spcAft>
              <a:buNone/>
            </a:pPr>
            <a:r>
              <a:rPr sz="1400" b="0" i="0">
                <a:solidFill>
                  <a:srgbClr val="5A6270"/>
                </a:solidFill>
                <a:latin typeface="Arial"/>
              </a:rPr>
              <a:t>Seleção</a:t>
            </a:r>
          </a:p>
        </p:txBody>
      </p:sp>
      <p:sp>
        <p:nvSpPr>
          <p:cNvPr id="14" name="Oval 13"/>
          <p:cNvSpPr/>
          <p:nvPr/>
        </p:nvSpPr>
        <p:spPr>
          <a:xfrm>
            <a:off x="9299447" y="9290304"/>
            <a:ext cx="329184" cy="329184"/>
          </a:xfrm>
          <a:prstGeom prst="ellipse">
            <a:avLst/>
          </a:prstGeom>
          <a:solidFill>
            <a:srgbClr val="C9CFDA"/>
          </a:solidFill>
          <a:ln>
            <a:noFill/>
          </a:ln>
          <a:effectLst/>
        </p:spPr>
        <p:txBody>
          <a:bodyPr rtlCol="0" anchor="ctr" lIns="0" rIns="0" tIns="0" bIns="0" wrap="square">
            <a:noAutofit/>
          </a:bodyPr>
          <a:lstStyle/>
          <a:p>
            <a:pPr algn="ctr">
              <a:lnSpc>
                <a:spcPct val="100000"/>
              </a:lnSpc>
              <a:spcAft>
                <a:spcPts val="0"/>
              </a:spcAft>
              <a:buNone/>
            </a:pPr>
            <a:r>
              <a:rPr sz="1300" b="1" i="0">
                <a:solidFill>
                  <a:srgbClr val="FFFFFF"/>
                </a:solidFill>
                <a:latin typeface="Arial"/>
              </a:rPr>
              <a:t>4</a:t>
            </a:r>
          </a:p>
        </p:txBody>
      </p:sp>
      <p:sp>
        <p:nvSpPr>
          <p:cNvPr id="15" name="TextBox 14"/>
          <p:cNvSpPr txBox="1"/>
          <p:nvPr/>
        </p:nvSpPr>
        <p:spPr>
          <a:xfrm>
            <a:off x="8288382" y="9710928"/>
            <a:ext cx="2351314" cy="365760"/>
          </a:xfrm>
          <a:prstGeom prst="rect">
            <a:avLst/>
          </a:prstGeom>
          <a:noFill/>
        </p:spPr>
        <p:txBody>
          <a:bodyPr wrap="square" lIns="0" rIns="0" tIns="0" bIns="0" anchor="t">
            <a:noAutofit/>
          </a:bodyPr>
          <a:lstStyle/>
          <a:p>
            <a:pPr algn="ctr">
              <a:lnSpc>
                <a:spcPct val="100000"/>
              </a:lnSpc>
              <a:spcAft>
                <a:spcPts val="0"/>
              </a:spcAft>
              <a:buNone/>
            </a:pPr>
            <a:r>
              <a:rPr sz="1400" b="0" i="0">
                <a:solidFill>
                  <a:srgbClr val="5A6270"/>
                </a:solidFill>
                <a:latin typeface="Arial"/>
              </a:rPr>
              <a:t>Extração</a:t>
            </a:r>
          </a:p>
        </p:txBody>
      </p:sp>
      <p:sp>
        <p:nvSpPr>
          <p:cNvPr id="16" name="Oval 15"/>
          <p:cNvSpPr/>
          <p:nvPr/>
        </p:nvSpPr>
        <p:spPr>
          <a:xfrm>
            <a:off x="11650762" y="9290304"/>
            <a:ext cx="329184" cy="329184"/>
          </a:xfrm>
          <a:prstGeom prst="ellipse">
            <a:avLst/>
          </a:prstGeom>
          <a:solidFill>
            <a:srgbClr val="C9CFDA"/>
          </a:solidFill>
          <a:ln>
            <a:noFill/>
          </a:ln>
          <a:effectLst/>
        </p:spPr>
        <p:txBody>
          <a:bodyPr rtlCol="0" anchor="ctr" lIns="0" rIns="0" tIns="0" bIns="0" wrap="square">
            <a:noAutofit/>
          </a:bodyPr>
          <a:lstStyle/>
          <a:p>
            <a:pPr algn="ctr">
              <a:lnSpc>
                <a:spcPct val="100000"/>
              </a:lnSpc>
              <a:spcAft>
                <a:spcPts val="0"/>
              </a:spcAft>
              <a:buNone/>
            </a:pPr>
            <a:r>
              <a:rPr sz="1300" b="1" i="0">
                <a:solidFill>
                  <a:srgbClr val="FFFFFF"/>
                </a:solidFill>
                <a:latin typeface="Arial"/>
              </a:rPr>
              <a:t>5</a:t>
            </a:r>
          </a:p>
        </p:txBody>
      </p:sp>
      <p:sp>
        <p:nvSpPr>
          <p:cNvPr id="17" name="TextBox 16"/>
          <p:cNvSpPr txBox="1"/>
          <p:nvPr/>
        </p:nvSpPr>
        <p:spPr>
          <a:xfrm>
            <a:off x="10639697" y="9710928"/>
            <a:ext cx="2351314" cy="365760"/>
          </a:xfrm>
          <a:prstGeom prst="rect">
            <a:avLst/>
          </a:prstGeom>
          <a:noFill/>
        </p:spPr>
        <p:txBody>
          <a:bodyPr wrap="square" lIns="0" rIns="0" tIns="0" bIns="0" anchor="t">
            <a:noAutofit/>
          </a:bodyPr>
          <a:lstStyle/>
          <a:p>
            <a:pPr algn="ctr">
              <a:lnSpc>
                <a:spcPct val="100000"/>
              </a:lnSpc>
              <a:spcAft>
                <a:spcPts val="0"/>
              </a:spcAft>
              <a:buNone/>
            </a:pPr>
            <a:r>
              <a:rPr sz="1400" b="0" i="0">
                <a:solidFill>
                  <a:srgbClr val="5A6270"/>
                </a:solidFill>
                <a:latin typeface="Arial"/>
              </a:rPr>
              <a:t>Risco de viés</a:t>
            </a:r>
          </a:p>
        </p:txBody>
      </p:sp>
      <p:sp>
        <p:nvSpPr>
          <p:cNvPr id="18" name="Oval 17"/>
          <p:cNvSpPr/>
          <p:nvPr/>
        </p:nvSpPr>
        <p:spPr>
          <a:xfrm>
            <a:off x="13965500" y="9253728"/>
            <a:ext cx="402336" cy="402336"/>
          </a:xfrm>
          <a:prstGeom prst="ellipse">
            <a:avLst/>
          </a:prstGeom>
          <a:solidFill>
            <a:srgbClr val="8B0000"/>
          </a:solidFill>
          <a:ln>
            <a:noFill/>
          </a:ln>
          <a:effectLst/>
        </p:spPr>
        <p:txBody>
          <a:bodyPr rtlCol="0" anchor="ctr" lIns="0" rIns="0" tIns="0" bIns="0" wrap="square">
            <a:noAutofit/>
          </a:bodyPr>
          <a:lstStyle/>
          <a:p>
            <a:pPr algn="ctr">
              <a:lnSpc>
                <a:spcPct val="100000"/>
              </a:lnSpc>
              <a:spcAft>
                <a:spcPts val="0"/>
              </a:spcAft>
              <a:buNone/>
            </a:pPr>
            <a:r>
              <a:rPr sz="1600" b="1" i="0">
                <a:solidFill>
                  <a:srgbClr val="FFFFFF"/>
                </a:solidFill>
                <a:latin typeface="Arial"/>
              </a:rPr>
              <a:t>6</a:t>
            </a:r>
          </a:p>
        </p:txBody>
      </p:sp>
      <p:sp>
        <p:nvSpPr>
          <p:cNvPr id="19" name="TextBox 18"/>
          <p:cNvSpPr txBox="1"/>
          <p:nvPr/>
        </p:nvSpPr>
        <p:spPr>
          <a:xfrm>
            <a:off x="12991011" y="9710928"/>
            <a:ext cx="2351314" cy="365760"/>
          </a:xfrm>
          <a:prstGeom prst="rect">
            <a:avLst/>
          </a:prstGeom>
          <a:noFill/>
        </p:spPr>
        <p:txBody>
          <a:bodyPr wrap="square" lIns="0" rIns="0" tIns="0" bIns="0" anchor="t">
            <a:noAutofit/>
          </a:bodyPr>
          <a:lstStyle/>
          <a:p>
            <a:pPr algn="ctr">
              <a:lnSpc>
                <a:spcPct val="100000"/>
              </a:lnSpc>
              <a:spcAft>
                <a:spcPts val="0"/>
              </a:spcAft>
              <a:buNone/>
            </a:pPr>
            <a:r>
              <a:rPr sz="1400" b="1" i="0">
                <a:solidFill>
                  <a:srgbClr val="002060"/>
                </a:solidFill>
                <a:latin typeface="Arial"/>
              </a:rPr>
              <a:t>Síntese</a:t>
            </a:r>
          </a:p>
        </p:txBody>
      </p:sp>
      <p:sp>
        <p:nvSpPr>
          <p:cNvPr id="20" name="Oval 19"/>
          <p:cNvSpPr/>
          <p:nvPr/>
        </p:nvSpPr>
        <p:spPr>
          <a:xfrm>
            <a:off x="16353390" y="9290304"/>
            <a:ext cx="329184" cy="329184"/>
          </a:xfrm>
          <a:prstGeom prst="ellipse">
            <a:avLst/>
          </a:prstGeom>
          <a:solidFill>
            <a:srgbClr val="C9CFDA"/>
          </a:solidFill>
          <a:ln>
            <a:noFill/>
          </a:ln>
          <a:effectLst/>
        </p:spPr>
        <p:txBody>
          <a:bodyPr rtlCol="0" anchor="ctr" lIns="0" rIns="0" tIns="0" bIns="0" wrap="square">
            <a:noAutofit/>
          </a:bodyPr>
          <a:lstStyle/>
          <a:p>
            <a:pPr algn="ctr">
              <a:lnSpc>
                <a:spcPct val="100000"/>
              </a:lnSpc>
              <a:spcAft>
                <a:spcPts val="0"/>
              </a:spcAft>
              <a:buNone/>
            </a:pPr>
            <a:r>
              <a:rPr sz="1300" b="1" i="0">
                <a:solidFill>
                  <a:srgbClr val="FFFFFF"/>
                </a:solidFill>
                <a:latin typeface="Arial"/>
              </a:rPr>
              <a:t>7</a:t>
            </a:r>
          </a:p>
        </p:txBody>
      </p:sp>
      <p:sp>
        <p:nvSpPr>
          <p:cNvPr id="21" name="TextBox 20"/>
          <p:cNvSpPr txBox="1"/>
          <p:nvPr/>
        </p:nvSpPr>
        <p:spPr>
          <a:xfrm>
            <a:off x="15342325" y="9710928"/>
            <a:ext cx="2351314" cy="365760"/>
          </a:xfrm>
          <a:prstGeom prst="rect">
            <a:avLst/>
          </a:prstGeom>
          <a:noFill/>
        </p:spPr>
        <p:txBody>
          <a:bodyPr wrap="square" lIns="0" rIns="0" tIns="0" bIns="0" anchor="t">
            <a:noAutofit/>
          </a:bodyPr>
          <a:lstStyle/>
          <a:p>
            <a:pPr algn="ctr">
              <a:lnSpc>
                <a:spcPct val="100000"/>
              </a:lnSpc>
              <a:spcAft>
                <a:spcPts val="0"/>
              </a:spcAft>
              <a:buNone/>
            </a:pPr>
            <a:r>
              <a:rPr sz="1400" b="0" i="0">
                <a:solidFill>
                  <a:srgbClr val="5A6270"/>
                </a:solidFill>
                <a:latin typeface="Arial"/>
              </a:rPr>
              <a:t>Certeza (GRADE)</a:t>
            </a:r>
          </a:p>
        </p:txBody>
      </p:sp>
      <p:sp>
        <p:nvSpPr>
          <p:cNvPr id="22" name="Rounded Rectangle 21"/>
          <p:cNvSpPr/>
          <p:nvPr/>
        </p:nvSpPr>
        <p:spPr>
          <a:xfrm>
            <a:off x="1143000" y="1783080"/>
            <a:ext cx="3108960" cy="4251960"/>
          </a:xfrm>
          <a:prstGeom prst="roundRect">
            <a:avLst>
              <a:gd name="adj" fmla="val 6000"/>
            </a:avLst>
          </a:prstGeom>
          <a:solidFill>
            <a:srgbClr val="F2F4F8"/>
          </a:solidFill>
          <a:ln>
            <a:noFill/>
          </a:ln>
          <a:effectLst/>
        </p:spPr>
        <p:txBody>
          <a:bodyPr rtlCol="0" anchor="ctr"/>
          <a:lstStyle/>
          <a:p/>
        </p:txBody>
      </p:sp>
      <p:sp>
        <p:nvSpPr>
          <p:cNvPr id="23" name="Oval 22"/>
          <p:cNvSpPr/>
          <p:nvPr/>
        </p:nvSpPr>
        <p:spPr>
          <a:xfrm>
            <a:off x="1463040" y="2103120"/>
            <a:ext cx="548640" cy="548640"/>
          </a:xfrm>
          <a:prstGeom prst="ellipse">
            <a:avLst/>
          </a:prstGeom>
          <a:solidFill>
            <a:srgbClr val="8B0000"/>
          </a:solidFill>
          <a:ln>
            <a:noFill/>
          </a:ln>
          <a:effectLst/>
        </p:spPr>
        <p:txBody>
          <a:bodyPr rtlCol="0" anchor="ctr" lIns="0" rIns="0" tIns="0" bIns="0" wrap="square">
            <a:noAutofit/>
          </a:bodyPr>
          <a:lstStyle/>
          <a:p>
            <a:pPr algn="ctr">
              <a:lnSpc>
                <a:spcPct val="100000"/>
              </a:lnSpc>
              <a:spcAft>
                <a:spcPts val="0"/>
              </a:spcAft>
              <a:buNone/>
            </a:pPr>
            <a:r>
              <a:rPr sz="2000" b="1" i="0">
                <a:solidFill>
                  <a:srgbClr val="FFFFFF"/>
                </a:solidFill>
                <a:latin typeface="Arial"/>
              </a:rPr>
              <a:t>1</a:t>
            </a:r>
          </a:p>
        </p:txBody>
      </p:sp>
      <p:sp>
        <p:nvSpPr>
          <p:cNvPr id="24" name="TextBox 23"/>
          <p:cNvSpPr txBox="1"/>
          <p:nvPr/>
        </p:nvSpPr>
        <p:spPr>
          <a:xfrm>
            <a:off x="2148840" y="2057400"/>
            <a:ext cx="1783080" cy="640080"/>
          </a:xfrm>
          <a:prstGeom prst="rect">
            <a:avLst/>
          </a:prstGeom>
          <a:noFill/>
        </p:spPr>
        <p:txBody>
          <a:bodyPr wrap="square" lIns="0" rIns="0" tIns="0" bIns="0" anchor="ctr">
            <a:noAutofit/>
          </a:bodyPr>
          <a:lstStyle/>
          <a:p>
            <a:pPr algn="l">
              <a:lnSpc>
                <a:spcPct val="100000"/>
              </a:lnSpc>
              <a:spcAft>
                <a:spcPts val="0"/>
              </a:spcAft>
              <a:buNone/>
            </a:pPr>
            <a:r>
              <a:rPr sz="1600" b="1" i="0">
                <a:solidFill>
                  <a:srgbClr val="002060"/>
                </a:solidFill>
                <a:latin typeface="Arial"/>
              </a:rPr>
              <a:t>Proporção de cada estudo</a:t>
            </a:r>
          </a:p>
        </p:txBody>
      </p:sp>
      <p:sp>
        <p:nvSpPr>
          <p:cNvPr id="25" name="Rounded Rectangle 24"/>
          <p:cNvSpPr/>
          <p:nvPr/>
        </p:nvSpPr>
        <p:spPr>
          <a:xfrm>
            <a:off x="1371600" y="2880360"/>
            <a:ext cx="2651760" cy="548640"/>
          </a:xfrm>
          <a:prstGeom prst="roundRect">
            <a:avLst>
              <a:gd name="adj" fmla="val 6000"/>
            </a:avLst>
          </a:prstGeom>
          <a:solidFill>
            <a:srgbClr val="FFFFFF"/>
          </a:solidFill>
          <a:ln w="12700">
            <a:solidFill>
              <a:srgbClr val="C9CFDA"/>
            </a:solidFill>
          </a:ln>
          <a:effectLst/>
        </p:spPr>
        <p:txBody>
          <a:bodyPr rtlCol="0" anchor="ctr"/>
          <a:lstStyle/>
          <a:p/>
        </p:txBody>
      </p:sp>
      <p:sp>
        <p:nvSpPr>
          <p:cNvPr id="26" name="TextBox 25"/>
          <p:cNvSpPr txBox="1"/>
          <p:nvPr/>
        </p:nvSpPr>
        <p:spPr>
          <a:xfrm>
            <a:off x="1463040" y="2880360"/>
            <a:ext cx="2468880" cy="548640"/>
          </a:xfrm>
          <a:prstGeom prst="rect">
            <a:avLst/>
          </a:prstGeom>
          <a:noFill/>
        </p:spPr>
        <p:txBody>
          <a:bodyPr wrap="square" lIns="0" rIns="0" tIns="0" bIns="0" anchor="ctr">
            <a:noAutofit/>
          </a:bodyPr>
          <a:lstStyle/>
          <a:p>
            <a:pPr algn="ctr">
              <a:lnSpc>
                <a:spcPct val="100000"/>
              </a:lnSpc>
              <a:spcAft>
                <a:spcPts val="0"/>
              </a:spcAft>
              <a:buNone/>
            </a:pPr>
            <a:r>
              <a:rPr sz="1600" b="1" i="0">
                <a:solidFill>
                  <a:srgbClr val="8B0000"/>
                </a:solidFill>
                <a:latin typeface="Arial"/>
              </a:rPr>
              <a:t>p = eventos ÷ n</a:t>
            </a:r>
          </a:p>
        </p:txBody>
      </p:sp>
      <p:sp>
        <p:nvSpPr>
          <p:cNvPr id="27" name="TextBox 26"/>
          <p:cNvSpPr txBox="1"/>
          <p:nvPr/>
        </p:nvSpPr>
        <p:spPr>
          <a:xfrm>
            <a:off x="1371600" y="3611880"/>
            <a:ext cx="2651760" cy="2103120"/>
          </a:xfrm>
          <a:prstGeom prst="rect">
            <a:avLst/>
          </a:prstGeom>
          <a:noFill/>
        </p:spPr>
        <p:txBody>
          <a:bodyPr wrap="square" lIns="0" rIns="0" tIns="0" bIns="0" anchor="t">
            <a:noAutofit/>
          </a:bodyPr>
          <a:lstStyle/>
          <a:p>
            <a:pPr algn="l" marL="274320" indent="-274320">
              <a:lnSpc>
                <a:spcPct val="100000"/>
              </a:lnSpc>
              <a:spcAft>
                <a:spcPts val="400"/>
              </a:spcAft>
              <a:buClr>
                <a:srgbClr val="002060"/>
              </a:buClr>
              <a:buFont typeface="Arial"/>
              <a:buChar char="•"/>
            </a:pPr>
            <a:r>
              <a:rPr sz="1600" b="0" i="0">
                <a:solidFill>
                  <a:srgbClr val="1F2433"/>
                </a:solidFill>
                <a:latin typeface="Arial"/>
              </a:rPr>
              <a:t>Ex.: </a:t>
            </a:r>
            <a:r>
              <a:rPr sz="1600" b="1" i="0">
                <a:solidFill>
                  <a:srgbClr val="1F2433"/>
                </a:solidFill>
                <a:latin typeface="Arial"/>
              </a:rPr>
              <a:t>33/81 = 40,7%</a:t>
            </a:r>
            <a:r>
              <a:rPr sz="1600" b="0" i="0">
                <a:solidFill>
                  <a:srgbClr val="1F2433"/>
                </a:solidFill>
                <a:latin typeface="Arial"/>
              </a:rPr>
              <a:t>.</a:t>
            </a:r>
          </a:p>
          <a:p>
            <a:pPr algn="l" marL="274320" indent="-274320">
              <a:lnSpc>
                <a:spcPct val="100000"/>
              </a:lnSpc>
              <a:spcAft>
                <a:spcPts val="400"/>
              </a:spcAft>
              <a:buClr>
                <a:srgbClr val="002060"/>
              </a:buClr>
              <a:buFont typeface="Arial"/>
              <a:buChar char="•"/>
            </a:pPr>
            <a:r>
              <a:rPr sz="1600" b="0" i="0">
                <a:solidFill>
                  <a:srgbClr val="1F2433"/>
                </a:solidFill>
                <a:latin typeface="Arial"/>
              </a:rPr>
              <a:t>IC95% de cada estudo pelo </a:t>
            </a:r>
            <a:r>
              <a:rPr sz="1600" b="1" i="0">
                <a:solidFill>
                  <a:srgbClr val="1F2433"/>
                </a:solidFill>
                <a:latin typeface="Arial"/>
              </a:rPr>
              <a:t>método de Wilson</a:t>
            </a:r>
            <a:r>
              <a:rPr sz="1600" b="0" i="0">
                <a:solidFill>
                  <a:srgbClr val="1F2433"/>
                </a:solidFill>
                <a:latin typeface="Arial"/>
              </a:rPr>
              <a:t>.</a:t>
            </a:r>
          </a:p>
        </p:txBody>
      </p:sp>
      <p:cxnSp>
        <p:nvCxnSpPr>
          <p:cNvPr id="28" name="Connector 27"/>
          <p:cNvCxnSpPr/>
          <p:nvPr/>
        </p:nvCxnSpPr>
        <p:spPr>
          <a:xfrm>
            <a:off x="4279392" y="3840480"/>
            <a:ext cx="219455" cy="0"/>
          </a:xfrm>
          <a:prstGeom prst="line">
            <a:avLst/>
          </a:prstGeom>
          <a:ln w="31750">
            <a:solidFill>
              <a:srgbClr val="002060"/>
            </a:solidFill>
            <a:tailEnd type="triangle" w="med" len="med"/>
          </a:ln>
        </p:spPr>
      </p:cxnSp>
      <p:sp>
        <p:nvSpPr>
          <p:cNvPr id="29" name="Rounded Rectangle 28"/>
          <p:cNvSpPr/>
          <p:nvPr/>
        </p:nvSpPr>
        <p:spPr>
          <a:xfrm>
            <a:off x="4526279" y="1783080"/>
            <a:ext cx="3108960" cy="4251960"/>
          </a:xfrm>
          <a:prstGeom prst="roundRect">
            <a:avLst>
              <a:gd name="adj" fmla="val 6000"/>
            </a:avLst>
          </a:prstGeom>
          <a:solidFill>
            <a:srgbClr val="F2F4F8"/>
          </a:solidFill>
          <a:ln>
            <a:noFill/>
          </a:ln>
          <a:effectLst/>
        </p:spPr>
        <p:txBody>
          <a:bodyPr rtlCol="0" anchor="ctr"/>
          <a:lstStyle/>
          <a:p/>
        </p:txBody>
      </p:sp>
      <p:sp>
        <p:nvSpPr>
          <p:cNvPr id="30" name="Oval 29"/>
          <p:cNvSpPr/>
          <p:nvPr/>
        </p:nvSpPr>
        <p:spPr>
          <a:xfrm>
            <a:off x="4846319" y="2103120"/>
            <a:ext cx="548640" cy="548640"/>
          </a:xfrm>
          <a:prstGeom prst="ellipse">
            <a:avLst/>
          </a:prstGeom>
          <a:solidFill>
            <a:srgbClr val="8B0000"/>
          </a:solidFill>
          <a:ln>
            <a:noFill/>
          </a:ln>
          <a:effectLst/>
        </p:spPr>
        <p:txBody>
          <a:bodyPr rtlCol="0" anchor="ctr" lIns="0" rIns="0" tIns="0" bIns="0" wrap="square">
            <a:noAutofit/>
          </a:bodyPr>
          <a:lstStyle/>
          <a:p>
            <a:pPr algn="ctr">
              <a:lnSpc>
                <a:spcPct val="100000"/>
              </a:lnSpc>
              <a:spcAft>
                <a:spcPts val="0"/>
              </a:spcAft>
              <a:buNone/>
            </a:pPr>
            <a:r>
              <a:rPr sz="2000" b="1" i="0">
                <a:solidFill>
                  <a:srgbClr val="FFFFFF"/>
                </a:solidFill>
                <a:latin typeface="Arial"/>
              </a:rPr>
              <a:t>2</a:t>
            </a:r>
          </a:p>
        </p:txBody>
      </p:sp>
      <p:sp>
        <p:nvSpPr>
          <p:cNvPr id="31" name="TextBox 30"/>
          <p:cNvSpPr txBox="1"/>
          <p:nvPr/>
        </p:nvSpPr>
        <p:spPr>
          <a:xfrm>
            <a:off x="5532119" y="2057400"/>
            <a:ext cx="1783080" cy="640080"/>
          </a:xfrm>
          <a:prstGeom prst="rect">
            <a:avLst/>
          </a:prstGeom>
          <a:noFill/>
        </p:spPr>
        <p:txBody>
          <a:bodyPr wrap="square" lIns="0" rIns="0" tIns="0" bIns="0" anchor="ctr">
            <a:noAutofit/>
          </a:bodyPr>
          <a:lstStyle/>
          <a:p>
            <a:pPr algn="l">
              <a:lnSpc>
                <a:spcPct val="100000"/>
              </a:lnSpc>
              <a:spcAft>
                <a:spcPts val="0"/>
              </a:spcAft>
              <a:buNone/>
            </a:pPr>
            <a:r>
              <a:rPr sz="1600" b="1" i="0">
                <a:solidFill>
                  <a:srgbClr val="002060"/>
                </a:solidFill>
                <a:latin typeface="Arial"/>
              </a:rPr>
              <a:t>Transformação logito</a:t>
            </a:r>
          </a:p>
        </p:txBody>
      </p:sp>
      <p:sp>
        <p:nvSpPr>
          <p:cNvPr id="32" name="Rounded Rectangle 31"/>
          <p:cNvSpPr/>
          <p:nvPr/>
        </p:nvSpPr>
        <p:spPr>
          <a:xfrm>
            <a:off x="4754879" y="2880360"/>
            <a:ext cx="2651760" cy="548640"/>
          </a:xfrm>
          <a:prstGeom prst="roundRect">
            <a:avLst>
              <a:gd name="adj" fmla="val 6000"/>
            </a:avLst>
          </a:prstGeom>
          <a:solidFill>
            <a:srgbClr val="FFFFFF"/>
          </a:solidFill>
          <a:ln w="12700">
            <a:solidFill>
              <a:srgbClr val="C9CFDA"/>
            </a:solidFill>
          </a:ln>
          <a:effectLst/>
        </p:spPr>
        <p:txBody>
          <a:bodyPr rtlCol="0" anchor="ctr"/>
          <a:lstStyle/>
          <a:p/>
        </p:txBody>
      </p:sp>
      <p:sp>
        <p:nvSpPr>
          <p:cNvPr id="33" name="TextBox 32"/>
          <p:cNvSpPr txBox="1"/>
          <p:nvPr/>
        </p:nvSpPr>
        <p:spPr>
          <a:xfrm>
            <a:off x="4846319" y="2880360"/>
            <a:ext cx="2468880" cy="548640"/>
          </a:xfrm>
          <a:prstGeom prst="rect">
            <a:avLst/>
          </a:prstGeom>
          <a:noFill/>
        </p:spPr>
        <p:txBody>
          <a:bodyPr wrap="square" lIns="0" rIns="0" tIns="0" bIns="0" anchor="ctr">
            <a:noAutofit/>
          </a:bodyPr>
          <a:lstStyle/>
          <a:p>
            <a:pPr algn="ctr">
              <a:lnSpc>
                <a:spcPct val="100000"/>
              </a:lnSpc>
              <a:spcAft>
                <a:spcPts val="0"/>
              </a:spcAft>
              <a:buNone/>
            </a:pPr>
            <a:r>
              <a:rPr sz="1600" b="1" i="0">
                <a:solidFill>
                  <a:srgbClr val="8B0000"/>
                </a:solidFill>
                <a:latin typeface="Arial"/>
              </a:rPr>
              <a:t>ln[ p ÷ (1 − p) ]</a:t>
            </a:r>
          </a:p>
        </p:txBody>
      </p:sp>
      <p:sp>
        <p:nvSpPr>
          <p:cNvPr id="34" name="TextBox 33"/>
          <p:cNvSpPr txBox="1"/>
          <p:nvPr/>
        </p:nvSpPr>
        <p:spPr>
          <a:xfrm>
            <a:off x="4754879" y="3611880"/>
            <a:ext cx="2651760" cy="2103120"/>
          </a:xfrm>
          <a:prstGeom prst="rect">
            <a:avLst/>
          </a:prstGeom>
          <a:noFill/>
        </p:spPr>
        <p:txBody>
          <a:bodyPr wrap="square" lIns="0" rIns="0" tIns="0" bIns="0" anchor="t">
            <a:noAutofit/>
          </a:bodyPr>
          <a:lstStyle/>
          <a:p>
            <a:pPr algn="l" marL="274320" indent="-274320">
              <a:lnSpc>
                <a:spcPct val="100000"/>
              </a:lnSpc>
              <a:spcAft>
                <a:spcPts val="400"/>
              </a:spcAft>
              <a:buClr>
                <a:srgbClr val="002060"/>
              </a:buClr>
              <a:buFont typeface="Arial"/>
              <a:buChar char="•"/>
            </a:pPr>
            <a:r>
              <a:rPr sz="1600" b="0" i="0">
                <a:solidFill>
                  <a:srgbClr val="1F2433"/>
                </a:solidFill>
                <a:latin typeface="Arial"/>
              </a:rPr>
              <a:t>Leva a proporção (0 a 1) para a escala </a:t>
            </a:r>
            <a:r>
              <a:rPr sz="1600" b="1" i="0">
                <a:solidFill>
                  <a:srgbClr val="1F2433"/>
                </a:solidFill>
                <a:latin typeface="Arial"/>
              </a:rPr>
              <a:t>−∞ a +∞</a:t>
            </a:r>
            <a:r>
              <a:rPr sz="1600" b="0" i="0">
                <a:solidFill>
                  <a:srgbClr val="1F2433"/>
                </a:solidFill>
                <a:latin typeface="Arial"/>
              </a:rPr>
              <a:t>.</a:t>
            </a:r>
          </a:p>
          <a:p>
            <a:pPr algn="l" marL="274320" indent="-274320">
              <a:lnSpc>
                <a:spcPct val="100000"/>
              </a:lnSpc>
              <a:spcAft>
                <a:spcPts val="400"/>
              </a:spcAft>
              <a:buClr>
                <a:srgbClr val="002060"/>
              </a:buClr>
              <a:buFont typeface="Arial"/>
              <a:buChar char="•"/>
            </a:pPr>
            <a:r>
              <a:rPr sz="1600" b="0" i="0">
                <a:solidFill>
                  <a:srgbClr val="1F2433"/>
                </a:solidFill>
                <a:latin typeface="Arial"/>
              </a:rPr>
              <a:t>Aproxima da normal e mantém estimativa e IC entre 0 e 100%.</a:t>
            </a:r>
          </a:p>
          <a:p>
            <a:pPr algn="l" marL="274320" indent="-274320">
              <a:lnSpc>
                <a:spcPct val="100000"/>
              </a:lnSpc>
              <a:spcAft>
                <a:spcPts val="400"/>
              </a:spcAft>
              <a:buClr>
                <a:srgbClr val="002060"/>
              </a:buClr>
              <a:buFont typeface="Arial"/>
              <a:buChar char="•"/>
            </a:pPr>
            <a:r>
              <a:rPr sz="1600" b="0" i="0">
                <a:solidFill>
                  <a:srgbClr val="1F2433"/>
                </a:solidFill>
                <a:latin typeface="Arial"/>
              </a:rPr>
              <a:t>Sem 0% ou 100% → sem correção de continuidade.</a:t>
            </a:r>
          </a:p>
        </p:txBody>
      </p:sp>
      <p:cxnSp>
        <p:nvCxnSpPr>
          <p:cNvPr id="35" name="Connector 34"/>
          <p:cNvCxnSpPr/>
          <p:nvPr/>
        </p:nvCxnSpPr>
        <p:spPr>
          <a:xfrm>
            <a:off x="7662671" y="3840480"/>
            <a:ext cx="219456" cy="0"/>
          </a:xfrm>
          <a:prstGeom prst="line">
            <a:avLst/>
          </a:prstGeom>
          <a:ln w="31750">
            <a:solidFill>
              <a:srgbClr val="002060"/>
            </a:solidFill>
            <a:tailEnd type="triangle" w="med" len="med"/>
          </a:ln>
        </p:spPr>
      </p:cxnSp>
      <p:sp>
        <p:nvSpPr>
          <p:cNvPr id="36" name="Rounded Rectangle 35"/>
          <p:cNvSpPr/>
          <p:nvPr/>
        </p:nvSpPr>
        <p:spPr>
          <a:xfrm>
            <a:off x="7909559" y="1783080"/>
            <a:ext cx="3108960" cy="4251960"/>
          </a:xfrm>
          <a:prstGeom prst="roundRect">
            <a:avLst>
              <a:gd name="adj" fmla="val 6000"/>
            </a:avLst>
          </a:prstGeom>
          <a:solidFill>
            <a:srgbClr val="F2F4F8"/>
          </a:solidFill>
          <a:ln>
            <a:noFill/>
          </a:ln>
          <a:effectLst/>
        </p:spPr>
        <p:txBody>
          <a:bodyPr rtlCol="0" anchor="ctr"/>
          <a:lstStyle/>
          <a:p/>
        </p:txBody>
      </p:sp>
      <p:sp>
        <p:nvSpPr>
          <p:cNvPr id="37" name="Oval 36"/>
          <p:cNvSpPr/>
          <p:nvPr/>
        </p:nvSpPr>
        <p:spPr>
          <a:xfrm>
            <a:off x="8229599" y="2103120"/>
            <a:ext cx="548640" cy="548640"/>
          </a:xfrm>
          <a:prstGeom prst="ellipse">
            <a:avLst/>
          </a:prstGeom>
          <a:solidFill>
            <a:srgbClr val="8B0000"/>
          </a:solidFill>
          <a:ln>
            <a:noFill/>
          </a:ln>
          <a:effectLst/>
        </p:spPr>
        <p:txBody>
          <a:bodyPr rtlCol="0" anchor="ctr" lIns="0" rIns="0" tIns="0" bIns="0" wrap="square">
            <a:noAutofit/>
          </a:bodyPr>
          <a:lstStyle/>
          <a:p>
            <a:pPr algn="ctr">
              <a:lnSpc>
                <a:spcPct val="100000"/>
              </a:lnSpc>
              <a:spcAft>
                <a:spcPts val="0"/>
              </a:spcAft>
              <a:buNone/>
            </a:pPr>
            <a:r>
              <a:rPr sz="2000" b="1" i="0">
                <a:solidFill>
                  <a:srgbClr val="FFFFFF"/>
                </a:solidFill>
                <a:latin typeface="Arial"/>
              </a:rPr>
              <a:t>3</a:t>
            </a:r>
          </a:p>
        </p:txBody>
      </p:sp>
      <p:sp>
        <p:nvSpPr>
          <p:cNvPr id="38" name="TextBox 37"/>
          <p:cNvSpPr txBox="1"/>
          <p:nvPr/>
        </p:nvSpPr>
        <p:spPr>
          <a:xfrm>
            <a:off x="8915399" y="2057400"/>
            <a:ext cx="1783080" cy="640080"/>
          </a:xfrm>
          <a:prstGeom prst="rect">
            <a:avLst/>
          </a:prstGeom>
          <a:noFill/>
        </p:spPr>
        <p:txBody>
          <a:bodyPr wrap="square" lIns="0" rIns="0" tIns="0" bIns="0" anchor="ctr">
            <a:noAutofit/>
          </a:bodyPr>
          <a:lstStyle/>
          <a:p>
            <a:pPr algn="l">
              <a:lnSpc>
                <a:spcPct val="100000"/>
              </a:lnSpc>
              <a:spcAft>
                <a:spcPts val="0"/>
              </a:spcAft>
              <a:buNone/>
            </a:pPr>
            <a:r>
              <a:rPr sz="1600" b="1" i="0">
                <a:solidFill>
                  <a:srgbClr val="002060"/>
                </a:solidFill>
                <a:latin typeface="Arial"/>
              </a:rPr>
              <a:t>Modelo de efeitos aleatórios</a:t>
            </a:r>
          </a:p>
        </p:txBody>
      </p:sp>
      <p:sp>
        <p:nvSpPr>
          <p:cNvPr id="39" name="Rounded Rectangle 38"/>
          <p:cNvSpPr/>
          <p:nvPr/>
        </p:nvSpPr>
        <p:spPr>
          <a:xfrm>
            <a:off x="8138159" y="2880360"/>
            <a:ext cx="2651760" cy="548640"/>
          </a:xfrm>
          <a:prstGeom prst="roundRect">
            <a:avLst>
              <a:gd name="adj" fmla="val 6000"/>
            </a:avLst>
          </a:prstGeom>
          <a:solidFill>
            <a:srgbClr val="FFFFFF"/>
          </a:solidFill>
          <a:ln w="12700">
            <a:solidFill>
              <a:srgbClr val="C9CFDA"/>
            </a:solidFill>
          </a:ln>
          <a:effectLst/>
        </p:spPr>
        <p:txBody>
          <a:bodyPr rtlCol="0" anchor="ctr"/>
          <a:lstStyle/>
          <a:p/>
        </p:txBody>
      </p:sp>
      <p:sp>
        <p:nvSpPr>
          <p:cNvPr id="40" name="TextBox 39"/>
          <p:cNvSpPr txBox="1"/>
          <p:nvPr/>
        </p:nvSpPr>
        <p:spPr>
          <a:xfrm>
            <a:off x="8229599" y="2880360"/>
            <a:ext cx="2468880" cy="548640"/>
          </a:xfrm>
          <a:prstGeom prst="rect">
            <a:avLst/>
          </a:prstGeom>
          <a:noFill/>
        </p:spPr>
        <p:txBody>
          <a:bodyPr wrap="square" lIns="0" rIns="0" tIns="0" bIns="0" anchor="ctr">
            <a:noAutofit/>
          </a:bodyPr>
          <a:lstStyle/>
          <a:p>
            <a:pPr algn="ctr">
              <a:lnSpc>
                <a:spcPct val="100000"/>
              </a:lnSpc>
              <a:spcAft>
                <a:spcPts val="0"/>
              </a:spcAft>
              <a:buNone/>
            </a:pPr>
            <a:r>
              <a:rPr sz="1600" b="1" i="0">
                <a:solidFill>
                  <a:srgbClr val="8B0000"/>
                </a:solidFill>
                <a:latin typeface="Arial"/>
              </a:rPr>
              <a:t>τ² por Paule-Mandel</a:t>
            </a:r>
          </a:p>
        </p:txBody>
      </p:sp>
      <p:sp>
        <p:nvSpPr>
          <p:cNvPr id="41" name="TextBox 40"/>
          <p:cNvSpPr txBox="1"/>
          <p:nvPr/>
        </p:nvSpPr>
        <p:spPr>
          <a:xfrm>
            <a:off x="8138159" y="3611880"/>
            <a:ext cx="2651760" cy="2103120"/>
          </a:xfrm>
          <a:prstGeom prst="rect">
            <a:avLst/>
          </a:prstGeom>
          <a:noFill/>
        </p:spPr>
        <p:txBody>
          <a:bodyPr wrap="square" lIns="0" rIns="0" tIns="0" bIns="0" anchor="t">
            <a:noAutofit/>
          </a:bodyPr>
          <a:lstStyle/>
          <a:p>
            <a:pPr algn="l" marL="274320" indent="-274320">
              <a:lnSpc>
                <a:spcPct val="100000"/>
              </a:lnSpc>
              <a:spcAft>
                <a:spcPts val="400"/>
              </a:spcAft>
              <a:buClr>
                <a:srgbClr val="002060"/>
              </a:buClr>
              <a:buFont typeface="Arial"/>
              <a:buChar char="•"/>
            </a:pPr>
            <a:r>
              <a:rPr sz="1600" b="0" i="0">
                <a:solidFill>
                  <a:srgbClr val="1F2433"/>
                </a:solidFill>
                <a:latin typeface="Arial"/>
              </a:rPr>
              <a:t>A prevalência verdadeira </a:t>
            </a:r>
            <a:r>
              <a:rPr sz="1600" b="1" i="0">
                <a:solidFill>
                  <a:srgbClr val="1F2433"/>
                </a:solidFill>
                <a:latin typeface="Arial"/>
              </a:rPr>
              <a:t>varia entre estudos</a:t>
            </a:r>
            <a:r>
              <a:rPr sz="1600" b="0" i="0">
                <a:solidFill>
                  <a:srgbClr val="1F2433"/>
                </a:solidFill>
                <a:latin typeface="Arial"/>
              </a:rPr>
              <a:t>.</a:t>
            </a:r>
          </a:p>
          <a:p>
            <a:pPr algn="l" marL="274320" indent="-274320">
              <a:lnSpc>
                <a:spcPct val="100000"/>
              </a:lnSpc>
              <a:spcAft>
                <a:spcPts val="400"/>
              </a:spcAft>
              <a:buClr>
                <a:srgbClr val="002060"/>
              </a:buClr>
              <a:buFont typeface="Arial"/>
              <a:buChar char="•"/>
            </a:pPr>
            <a:r>
              <a:rPr sz="1600" b="1" i="0">
                <a:solidFill>
                  <a:srgbClr val="1F2433"/>
                </a:solidFill>
                <a:latin typeface="Arial"/>
              </a:rPr>
              <a:t>τ² = variância entre estudos; </a:t>
            </a:r>
            <a:r>
              <a:rPr sz="1600" b="0" i="0">
                <a:solidFill>
                  <a:srgbClr val="1F2433"/>
                </a:solidFill>
                <a:latin typeface="Arial"/>
              </a:rPr>
              <a:t>peso = 1 ÷ (variância + τ²).</a:t>
            </a:r>
          </a:p>
          <a:p>
            <a:pPr algn="l" marL="274320" indent="-274320">
              <a:lnSpc>
                <a:spcPct val="100000"/>
              </a:lnSpc>
              <a:spcAft>
                <a:spcPts val="400"/>
              </a:spcAft>
              <a:buClr>
                <a:srgbClr val="002060"/>
              </a:buClr>
              <a:buFont typeface="Arial"/>
              <a:buChar char="•"/>
            </a:pPr>
            <a:r>
              <a:rPr sz="1600" b="0" i="0">
                <a:solidFill>
                  <a:srgbClr val="1F2433"/>
                </a:solidFill>
                <a:latin typeface="Arial"/>
              </a:rPr>
              <a:t>Subestima τ² menos que DerSimonian-Laird com poucos estudos.</a:t>
            </a:r>
          </a:p>
        </p:txBody>
      </p:sp>
      <p:cxnSp>
        <p:nvCxnSpPr>
          <p:cNvPr id="42" name="Connector 41"/>
          <p:cNvCxnSpPr/>
          <p:nvPr/>
        </p:nvCxnSpPr>
        <p:spPr>
          <a:xfrm>
            <a:off x="11045951" y="3840480"/>
            <a:ext cx="219457" cy="0"/>
          </a:xfrm>
          <a:prstGeom prst="line">
            <a:avLst/>
          </a:prstGeom>
          <a:ln w="31750">
            <a:solidFill>
              <a:srgbClr val="002060"/>
            </a:solidFill>
            <a:tailEnd type="triangle" w="med" len="med"/>
          </a:ln>
        </p:spPr>
      </p:cxnSp>
      <p:sp>
        <p:nvSpPr>
          <p:cNvPr id="43" name="Rounded Rectangle 42"/>
          <p:cNvSpPr/>
          <p:nvPr/>
        </p:nvSpPr>
        <p:spPr>
          <a:xfrm>
            <a:off x="11292840" y="1783080"/>
            <a:ext cx="3108960" cy="4251960"/>
          </a:xfrm>
          <a:prstGeom prst="roundRect">
            <a:avLst>
              <a:gd name="adj" fmla="val 6000"/>
            </a:avLst>
          </a:prstGeom>
          <a:solidFill>
            <a:srgbClr val="F2F4F8"/>
          </a:solidFill>
          <a:ln>
            <a:noFill/>
          </a:ln>
          <a:effectLst/>
        </p:spPr>
        <p:txBody>
          <a:bodyPr rtlCol="0" anchor="ctr"/>
          <a:lstStyle/>
          <a:p/>
        </p:txBody>
      </p:sp>
      <p:sp>
        <p:nvSpPr>
          <p:cNvPr id="44" name="Oval 43"/>
          <p:cNvSpPr/>
          <p:nvPr/>
        </p:nvSpPr>
        <p:spPr>
          <a:xfrm>
            <a:off x="11612880" y="2103120"/>
            <a:ext cx="548640" cy="548640"/>
          </a:xfrm>
          <a:prstGeom prst="ellipse">
            <a:avLst/>
          </a:prstGeom>
          <a:solidFill>
            <a:srgbClr val="8B0000"/>
          </a:solidFill>
          <a:ln>
            <a:noFill/>
          </a:ln>
          <a:effectLst/>
        </p:spPr>
        <p:txBody>
          <a:bodyPr rtlCol="0" anchor="ctr" lIns="0" rIns="0" tIns="0" bIns="0" wrap="square">
            <a:noAutofit/>
          </a:bodyPr>
          <a:lstStyle/>
          <a:p>
            <a:pPr algn="ctr">
              <a:lnSpc>
                <a:spcPct val="100000"/>
              </a:lnSpc>
              <a:spcAft>
                <a:spcPts val="0"/>
              </a:spcAft>
              <a:buNone/>
            </a:pPr>
            <a:r>
              <a:rPr sz="2000" b="1" i="0">
                <a:solidFill>
                  <a:srgbClr val="FFFFFF"/>
                </a:solidFill>
                <a:latin typeface="Arial"/>
              </a:rPr>
              <a:t>4</a:t>
            </a:r>
          </a:p>
        </p:txBody>
      </p:sp>
      <p:sp>
        <p:nvSpPr>
          <p:cNvPr id="45" name="TextBox 44"/>
          <p:cNvSpPr txBox="1"/>
          <p:nvPr/>
        </p:nvSpPr>
        <p:spPr>
          <a:xfrm>
            <a:off x="12298680" y="2057400"/>
            <a:ext cx="1783080" cy="640080"/>
          </a:xfrm>
          <a:prstGeom prst="rect">
            <a:avLst/>
          </a:prstGeom>
          <a:noFill/>
        </p:spPr>
        <p:txBody>
          <a:bodyPr wrap="square" lIns="0" rIns="0" tIns="0" bIns="0" anchor="ctr">
            <a:noAutofit/>
          </a:bodyPr>
          <a:lstStyle/>
          <a:p>
            <a:pPr algn="l">
              <a:lnSpc>
                <a:spcPct val="100000"/>
              </a:lnSpc>
              <a:spcAft>
                <a:spcPts val="0"/>
              </a:spcAft>
              <a:buNone/>
            </a:pPr>
            <a:r>
              <a:rPr sz="1600" b="1" i="0">
                <a:solidFill>
                  <a:srgbClr val="002060"/>
                </a:solidFill>
                <a:latin typeface="Arial"/>
              </a:rPr>
              <a:t>Ajuste de Hartung-Knapp</a:t>
            </a:r>
          </a:p>
        </p:txBody>
      </p:sp>
      <p:sp>
        <p:nvSpPr>
          <p:cNvPr id="46" name="Rounded Rectangle 45"/>
          <p:cNvSpPr/>
          <p:nvPr/>
        </p:nvSpPr>
        <p:spPr>
          <a:xfrm>
            <a:off x="11521440" y="2880360"/>
            <a:ext cx="2651760" cy="548640"/>
          </a:xfrm>
          <a:prstGeom prst="roundRect">
            <a:avLst>
              <a:gd name="adj" fmla="val 6000"/>
            </a:avLst>
          </a:prstGeom>
          <a:solidFill>
            <a:srgbClr val="FFFFFF"/>
          </a:solidFill>
          <a:ln w="12700">
            <a:solidFill>
              <a:srgbClr val="C9CFDA"/>
            </a:solidFill>
          </a:ln>
          <a:effectLst/>
        </p:spPr>
        <p:txBody>
          <a:bodyPr rtlCol="0" anchor="ctr"/>
          <a:lstStyle/>
          <a:p/>
        </p:txBody>
      </p:sp>
      <p:sp>
        <p:nvSpPr>
          <p:cNvPr id="47" name="TextBox 46"/>
          <p:cNvSpPr txBox="1"/>
          <p:nvPr/>
        </p:nvSpPr>
        <p:spPr>
          <a:xfrm>
            <a:off x="11612880" y="2880360"/>
            <a:ext cx="2468880" cy="548640"/>
          </a:xfrm>
          <a:prstGeom prst="rect">
            <a:avLst/>
          </a:prstGeom>
          <a:noFill/>
        </p:spPr>
        <p:txBody>
          <a:bodyPr wrap="square" lIns="0" rIns="0" tIns="0" bIns="0" anchor="ctr">
            <a:noAutofit/>
          </a:bodyPr>
          <a:lstStyle/>
          <a:p>
            <a:pPr algn="ctr">
              <a:lnSpc>
                <a:spcPct val="100000"/>
              </a:lnSpc>
              <a:spcAft>
                <a:spcPts val="0"/>
              </a:spcAft>
              <a:buNone/>
            </a:pPr>
            <a:r>
              <a:rPr sz="1600" b="1" i="0">
                <a:solidFill>
                  <a:srgbClr val="8B0000"/>
                </a:solidFill>
                <a:latin typeface="Arial"/>
              </a:rPr>
              <a:t>IC pela distribuição t</a:t>
            </a:r>
          </a:p>
        </p:txBody>
      </p:sp>
      <p:sp>
        <p:nvSpPr>
          <p:cNvPr id="48" name="TextBox 47"/>
          <p:cNvSpPr txBox="1"/>
          <p:nvPr/>
        </p:nvSpPr>
        <p:spPr>
          <a:xfrm>
            <a:off x="11521440" y="3611880"/>
            <a:ext cx="2651760" cy="2103120"/>
          </a:xfrm>
          <a:prstGeom prst="rect">
            <a:avLst/>
          </a:prstGeom>
          <a:noFill/>
        </p:spPr>
        <p:txBody>
          <a:bodyPr wrap="square" lIns="0" rIns="0" tIns="0" bIns="0" anchor="t">
            <a:noAutofit/>
          </a:bodyPr>
          <a:lstStyle/>
          <a:p>
            <a:pPr algn="l" marL="274320" indent="-274320">
              <a:lnSpc>
                <a:spcPct val="100000"/>
              </a:lnSpc>
              <a:spcAft>
                <a:spcPts val="400"/>
              </a:spcAft>
              <a:buClr>
                <a:srgbClr val="002060"/>
              </a:buClr>
              <a:buFont typeface="Arial"/>
              <a:buChar char="•"/>
            </a:pPr>
            <a:r>
              <a:rPr sz="1600" b="0" i="0">
                <a:solidFill>
                  <a:srgbClr val="1F2433"/>
                </a:solidFill>
                <a:latin typeface="Arial"/>
              </a:rPr>
              <a:t>Usa t com </a:t>
            </a:r>
            <a:r>
              <a:rPr sz="1600" b="1" i="0">
                <a:solidFill>
                  <a:srgbClr val="1F2433"/>
                </a:solidFill>
                <a:latin typeface="Arial"/>
              </a:rPr>
              <a:t>k − 1 graus de liberdade</a:t>
            </a:r>
            <a:r>
              <a:rPr sz="1600" b="0" i="0">
                <a:solidFill>
                  <a:srgbClr val="1F2433"/>
                </a:solidFill>
                <a:latin typeface="Arial"/>
              </a:rPr>
              <a:t>.</a:t>
            </a:r>
          </a:p>
          <a:p>
            <a:pPr algn="l" marL="274320" indent="-274320">
              <a:lnSpc>
                <a:spcPct val="100000"/>
              </a:lnSpc>
              <a:spcAft>
                <a:spcPts val="400"/>
              </a:spcAft>
              <a:buClr>
                <a:srgbClr val="002060"/>
              </a:buClr>
              <a:buFont typeface="Arial"/>
              <a:buChar char="•"/>
            </a:pPr>
            <a:r>
              <a:rPr sz="1600" b="0" i="0">
                <a:solidFill>
                  <a:srgbClr val="1F2433"/>
                </a:solidFill>
                <a:latin typeface="Arial"/>
              </a:rPr>
              <a:t>IC mais honesto (em geral mais largo) com poucos estudos e alta heterogeneidade (IntHout; Ioannidis; Borm, 2014).</a:t>
            </a:r>
          </a:p>
        </p:txBody>
      </p:sp>
      <p:cxnSp>
        <p:nvCxnSpPr>
          <p:cNvPr id="49" name="Connector 48"/>
          <p:cNvCxnSpPr/>
          <p:nvPr/>
        </p:nvCxnSpPr>
        <p:spPr>
          <a:xfrm>
            <a:off x="14429231" y="3840480"/>
            <a:ext cx="219456" cy="0"/>
          </a:xfrm>
          <a:prstGeom prst="line">
            <a:avLst/>
          </a:prstGeom>
          <a:ln w="31750">
            <a:solidFill>
              <a:srgbClr val="002060"/>
            </a:solidFill>
            <a:tailEnd type="triangle" w="med" len="med"/>
          </a:ln>
        </p:spPr>
      </p:cxnSp>
      <p:sp>
        <p:nvSpPr>
          <p:cNvPr id="50" name="Rounded Rectangle 49"/>
          <p:cNvSpPr/>
          <p:nvPr/>
        </p:nvSpPr>
        <p:spPr>
          <a:xfrm>
            <a:off x="14676119" y="1783080"/>
            <a:ext cx="3108960" cy="4251960"/>
          </a:xfrm>
          <a:prstGeom prst="roundRect">
            <a:avLst>
              <a:gd name="adj" fmla="val 6000"/>
            </a:avLst>
          </a:prstGeom>
          <a:solidFill>
            <a:srgbClr val="F2F4F8"/>
          </a:solidFill>
          <a:ln>
            <a:noFill/>
          </a:ln>
          <a:effectLst/>
        </p:spPr>
        <p:txBody>
          <a:bodyPr rtlCol="0" anchor="ctr"/>
          <a:lstStyle/>
          <a:p/>
        </p:txBody>
      </p:sp>
      <p:sp>
        <p:nvSpPr>
          <p:cNvPr id="51" name="Oval 50"/>
          <p:cNvSpPr/>
          <p:nvPr/>
        </p:nvSpPr>
        <p:spPr>
          <a:xfrm>
            <a:off x="14996159" y="2103120"/>
            <a:ext cx="548640" cy="548640"/>
          </a:xfrm>
          <a:prstGeom prst="ellipse">
            <a:avLst/>
          </a:prstGeom>
          <a:solidFill>
            <a:srgbClr val="8B0000"/>
          </a:solidFill>
          <a:ln>
            <a:noFill/>
          </a:ln>
          <a:effectLst/>
        </p:spPr>
        <p:txBody>
          <a:bodyPr rtlCol="0" anchor="ctr" lIns="0" rIns="0" tIns="0" bIns="0" wrap="square">
            <a:noAutofit/>
          </a:bodyPr>
          <a:lstStyle/>
          <a:p>
            <a:pPr algn="ctr">
              <a:lnSpc>
                <a:spcPct val="100000"/>
              </a:lnSpc>
              <a:spcAft>
                <a:spcPts val="0"/>
              </a:spcAft>
              <a:buNone/>
            </a:pPr>
            <a:r>
              <a:rPr sz="2000" b="1" i="0">
                <a:solidFill>
                  <a:srgbClr val="FFFFFF"/>
                </a:solidFill>
                <a:latin typeface="Arial"/>
              </a:rPr>
              <a:t>5</a:t>
            </a:r>
          </a:p>
        </p:txBody>
      </p:sp>
      <p:sp>
        <p:nvSpPr>
          <p:cNvPr id="52" name="TextBox 51"/>
          <p:cNvSpPr txBox="1"/>
          <p:nvPr/>
        </p:nvSpPr>
        <p:spPr>
          <a:xfrm>
            <a:off x="15681959" y="2057400"/>
            <a:ext cx="1783080" cy="640080"/>
          </a:xfrm>
          <a:prstGeom prst="rect">
            <a:avLst/>
          </a:prstGeom>
          <a:noFill/>
        </p:spPr>
        <p:txBody>
          <a:bodyPr wrap="square" lIns="0" rIns="0" tIns="0" bIns="0" anchor="ctr">
            <a:noAutofit/>
          </a:bodyPr>
          <a:lstStyle/>
          <a:p>
            <a:pPr algn="l">
              <a:lnSpc>
                <a:spcPct val="100000"/>
              </a:lnSpc>
              <a:spcAft>
                <a:spcPts val="0"/>
              </a:spcAft>
              <a:buNone/>
            </a:pPr>
            <a:r>
              <a:rPr sz="1600" b="1" i="0">
                <a:solidFill>
                  <a:srgbClr val="002060"/>
                </a:solidFill>
                <a:latin typeface="Arial"/>
              </a:rPr>
              <a:t>Voltar para % e interpretar</a:t>
            </a:r>
          </a:p>
        </p:txBody>
      </p:sp>
      <p:sp>
        <p:nvSpPr>
          <p:cNvPr id="53" name="Rounded Rectangle 52"/>
          <p:cNvSpPr/>
          <p:nvPr/>
        </p:nvSpPr>
        <p:spPr>
          <a:xfrm>
            <a:off x="14904719" y="2880360"/>
            <a:ext cx="2651760" cy="548640"/>
          </a:xfrm>
          <a:prstGeom prst="roundRect">
            <a:avLst>
              <a:gd name="adj" fmla="val 6000"/>
            </a:avLst>
          </a:prstGeom>
          <a:solidFill>
            <a:srgbClr val="FFFFFF"/>
          </a:solidFill>
          <a:ln w="12700">
            <a:solidFill>
              <a:srgbClr val="C9CFDA"/>
            </a:solidFill>
          </a:ln>
          <a:effectLst/>
        </p:spPr>
        <p:txBody>
          <a:bodyPr rtlCol="0" anchor="ctr"/>
          <a:lstStyle/>
          <a:p/>
        </p:txBody>
      </p:sp>
      <p:sp>
        <p:nvSpPr>
          <p:cNvPr id="54" name="TextBox 53"/>
          <p:cNvSpPr txBox="1"/>
          <p:nvPr/>
        </p:nvSpPr>
        <p:spPr>
          <a:xfrm>
            <a:off x="14996159" y="2880360"/>
            <a:ext cx="2468880" cy="548640"/>
          </a:xfrm>
          <a:prstGeom prst="rect">
            <a:avLst/>
          </a:prstGeom>
          <a:noFill/>
        </p:spPr>
        <p:txBody>
          <a:bodyPr wrap="square" lIns="0" rIns="0" tIns="0" bIns="0" anchor="ctr">
            <a:noAutofit/>
          </a:bodyPr>
          <a:lstStyle/>
          <a:p>
            <a:pPr algn="ctr">
              <a:lnSpc>
                <a:spcPct val="100000"/>
              </a:lnSpc>
              <a:spcAft>
                <a:spcPts val="0"/>
              </a:spcAft>
              <a:buNone/>
            </a:pPr>
            <a:r>
              <a:rPr sz="1600" b="1" i="0">
                <a:solidFill>
                  <a:srgbClr val="8B0000"/>
                </a:solidFill>
                <a:latin typeface="Arial"/>
              </a:rPr>
              <a:t>I² + predição</a:t>
            </a:r>
          </a:p>
        </p:txBody>
      </p:sp>
      <p:sp>
        <p:nvSpPr>
          <p:cNvPr id="55" name="TextBox 54"/>
          <p:cNvSpPr txBox="1"/>
          <p:nvPr/>
        </p:nvSpPr>
        <p:spPr>
          <a:xfrm>
            <a:off x="14904719" y="3611880"/>
            <a:ext cx="2651760" cy="2103120"/>
          </a:xfrm>
          <a:prstGeom prst="rect">
            <a:avLst/>
          </a:prstGeom>
          <a:noFill/>
        </p:spPr>
        <p:txBody>
          <a:bodyPr wrap="square" lIns="0" rIns="0" tIns="0" bIns="0" anchor="t">
            <a:noAutofit/>
          </a:bodyPr>
          <a:lstStyle/>
          <a:p>
            <a:pPr algn="l" marL="274320" indent="-274320">
              <a:lnSpc>
                <a:spcPct val="100000"/>
              </a:lnSpc>
              <a:spcAft>
                <a:spcPts val="400"/>
              </a:spcAft>
              <a:buClr>
                <a:srgbClr val="002060"/>
              </a:buClr>
              <a:buFont typeface="Arial"/>
              <a:buChar char="•"/>
            </a:pPr>
            <a:r>
              <a:rPr sz="1600" b="0" i="0">
                <a:solidFill>
                  <a:srgbClr val="1F2433"/>
                </a:solidFill>
                <a:latin typeface="Arial"/>
              </a:rPr>
              <a:t>Retrotransformação para porcentagem.</a:t>
            </a:r>
          </a:p>
          <a:p>
            <a:pPr algn="l" marL="274320" indent="-274320">
              <a:lnSpc>
                <a:spcPct val="100000"/>
              </a:lnSpc>
              <a:spcAft>
                <a:spcPts val="400"/>
              </a:spcAft>
              <a:buClr>
                <a:srgbClr val="002060"/>
              </a:buClr>
              <a:buFont typeface="Arial"/>
              <a:buChar char="•"/>
            </a:pPr>
            <a:r>
              <a:rPr sz="1600" b="0" i="0">
                <a:solidFill>
                  <a:srgbClr val="1F2433"/>
                </a:solidFill>
                <a:latin typeface="Arial"/>
              </a:rPr>
              <a:t>I² = % da variação </a:t>
            </a:r>
            <a:r>
              <a:rPr sz="1600" b="1" i="0">
                <a:solidFill>
                  <a:srgbClr val="1F2433"/>
                </a:solidFill>
                <a:latin typeface="Arial"/>
              </a:rPr>
              <a:t>devida à heterogeneidade</a:t>
            </a:r>
            <a:r>
              <a:rPr sz="1600" b="0" i="0">
                <a:solidFill>
                  <a:srgbClr val="1F2433"/>
                </a:solidFill>
                <a:latin typeface="Arial"/>
              </a:rPr>
              <a:t>.</a:t>
            </a:r>
          </a:p>
          <a:p>
            <a:pPr algn="l" marL="274320" indent="-274320">
              <a:lnSpc>
                <a:spcPct val="100000"/>
              </a:lnSpc>
              <a:spcAft>
                <a:spcPts val="400"/>
              </a:spcAft>
              <a:buClr>
                <a:srgbClr val="002060"/>
              </a:buClr>
              <a:buFont typeface="Arial"/>
              <a:buChar char="•"/>
            </a:pPr>
            <a:r>
              <a:rPr sz="1600" b="0" i="0">
                <a:solidFill>
                  <a:srgbClr val="1F2433"/>
                </a:solidFill>
                <a:latin typeface="Arial"/>
              </a:rPr>
              <a:t>Intervalo de predição: </a:t>
            </a:r>
            <a:r>
              <a:rPr sz="1600" b="1" i="0">
                <a:solidFill>
                  <a:srgbClr val="1F2433"/>
                </a:solidFill>
                <a:highlight>
                  <a:srgbClr val="FFEB99"/>
                </a:highlight>
                <a:latin typeface="Arial"/>
              </a:rPr>
              <a:t>faixa esperada para um novo estudo</a:t>
            </a:r>
            <a:r>
              <a:rPr sz="1600" b="0" i="0">
                <a:solidFill>
                  <a:srgbClr val="1F2433"/>
                </a:solidFill>
                <a:latin typeface="Arial"/>
              </a:rPr>
              <a:t>; instável com k &lt; 10.</a:t>
            </a:r>
          </a:p>
        </p:txBody>
      </p:sp>
      <p:sp>
        <p:nvSpPr>
          <p:cNvPr id="56" name="TextBox 55"/>
          <p:cNvSpPr txBox="1"/>
          <p:nvPr/>
        </p:nvSpPr>
        <p:spPr>
          <a:xfrm>
            <a:off x="1143000" y="6236208"/>
            <a:ext cx="16642080" cy="365760"/>
          </a:xfrm>
          <a:prstGeom prst="rect">
            <a:avLst/>
          </a:prstGeom>
          <a:noFill/>
        </p:spPr>
        <p:txBody>
          <a:bodyPr wrap="square" lIns="0" rIns="0" tIns="0" bIns="0" anchor="t">
            <a:noAutofit/>
          </a:bodyPr>
          <a:lstStyle/>
          <a:p>
            <a:pPr algn="l">
              <a:lnSpc>
                <a:spcPct val="100000"/>
              </a:lnSpc>
              <a:spcAft>
                <a:spcPts val="0"/>
              </a:spcAft>
              <a:buNone/>
            </a:pPr>
            <a:r>
              <a:rPr sz="1700" b="1" i="0">
                <a:solidFill>
                  <a:srgbClr val="002060"/>
                </a:solidFill>
                <a:latin typeface="Arial"/>
              </a:rPr>
              <a:t>Verificando a robustez </a:t>
            </a:r>
            <a:r>
              <a:rPr sz="1700" b="0" i="0">
                <a:solidFill>
                  <a:srgbClr val="5A6270"/>
                </a:solidFill>
                <a:latin typeface="Arial"/>
              </a:rPr>
              <a:t>(sensibilidade, influência e subgrupo)</a:t>
            </a:r>
          </a:p>
        </p:txBody>
      </p:sp>
      <p:sp>
        <p:nvSpPr>
          <p:cNvPr id="57" name="Rounded Rectangle 56"/>
          <p:cNvSpPr/>
          <p:nvPr/>
        </p:nvSpPr>
        <p:spPr>
          <a:xfrm>
            <a:off x="1143000" y="6647688"/>
            <a:ext cx="2621280" cy="1170431"/>
          </a:xfrm>
          <a:prstGeom prst="roundRect">
            <a:avLst>
              <a:gd name="adj" fmla="val 6000"/>
            </a:avLst>
          </a:prstGeom>
          <a:solidFill>
            <a:srgbClr val="E3F3F4"/>
          </a:solidFill>
          <a:ln>
            <a:noFill/>
          </a:ln>
          <a:effectLst/>
        </p:spPr>
        <p:txBody>
          <a:bodyPr rtlCol="0" anchor="ctr"/>
          <a:lstStyle/>
          <a:p/>
        </p:txBody>
      </p:sp>
      <p:sp>
        <p:nvSpPr>
          <p:cNvPr id="58" name="TextBox 57"/>
          <p:cNvSpPr txBox="1"/>
          <p:nvPr/>
        </p:nvSpPr>
        <p:spPr>
          <a:xfrm>
            <a:off x="1371600" y="6830568"/>
            <a:ext cx="2164080" cy="320040"/>
          </a:xfrm>
          <a:prstGeom prst="rect">
            <a:avLst/>
          </a:prstGeom>
          <a:noFill/>
        </p:spPr>
        <p:txBody>
          <a:bodyPr wrap="square" lIns="0" rIns="0" tIns="0" bIns="0" anchor="t">
            <a:noAutofit/>
          </a:bodyPr>
          <a:lstStyle/>
          <a:p>
            <a:pPr algn="l">
              <a:lnSpc>
                <a:spcPct val="100000"/>
              </a:lnSpc>
              <a:spcAft>
                <a:spcPts val="0"/>
              </a:spcAft>
              <a:buNone/>
            </a:pPr>
            <a:r>
              <a:rPr sz="1600" b="1" i="0">
                <a:solidFill>
                  <a:srgbClr val="0E7C86"/>
                </a:solidFill>
                <a:latin typeface="Arial"/>
              </a:rPr>
              <a:t>Freeman-Tukey</a:t>
            </a:r>
          </a:p>
        </p:txBody>
      </p:sp>
      <p:sp>
        <p:nvSpPr>
          <p:cNvPr id="59" name="TextBox 58"/>
          <p:cNvSpPr txBox="1"/>
          <p:nvPr/>
        </p:nvSpPr>
        <p:spPr>
          <a:xfrm>
            <a:off x="1371600" y="7178040"/>
            <a:ext cx="2164080" cy="457199"/>
          </a:xfrm>
          <a:prstGeom prst="rect">
            <a:avLst/>
          </a:prstGeom>
          <a:noFill/>
        </p:spPr>
        <p:txBody>
          <a:bodyPr wrap="square" lIns="0" rIns="0" tIns="0" bIns="0" anchor="t">
            <a:noAutofit/>
          </a:bodyPr>
          <a:lstStyle/>
          <a:p>
            <a:pPr algn="l">
              <a:lnSpc>
                <a:spcPct val="100000"/>
              </a:lnSpc>
              <a:spcAft>
                <a:spcPts val="0"/>
              </a:spcAft>
              <a:buNone/>
            </a:pPr>
            <a:r>
              <a:rPr sz="1400" b="0" i="0">
                <a:solidFill>
                  <a:srgbClr val="1F2433"/>
                </a:solidFill>
                <a:latin typeface="Arial"/>
              </a:rPr>
              <a:t>duplo-arcoseno (DerSimonian-Laird)</a:t>
            </a:r>
          </a:p>
        </p:txBody>
      </p:sp>
      <p:sp>
        <p:nvSpPr>
          <p:cNvPr id="60" name="Rounded Rectangle 59"/>
          <p:cNvSpPr/>
          <p:nvPr/>
        </p:nvSpPr>
        <p:spPr>
          <a:xfrm>
            <a:off x="3947160" y="6647688"/>
            <a:ext cx="2621280" cy="1170431"/>
          </a:xfrm>
          <a:prstGeom prst="roundRect">
            <a:avLst>
              <a:gd name="adj" fmla="val 6000"/>
            </a:avLst>
          </a:prstGeom>
          <a:solidFill>
            <a:srgbClr val="E3F3F4"/>
          </a:solidFill>
          <a:ln>
            <a:noFill/>
          </a:ln>
          <a:effectLst/>
        </p:spPr>
        <p:txBody>
          <a:bodyPr rtlCol="0" anchor="ctr"/>
          <a:lstStyle/>
          <a:p/>
        </p:txBody>
      </p:sp>
      <p:sp>
        <p:nvSpPr>
          <p:cNvPr id="61" name="TextBox 60"/>
          <p:cNvSpPr txBox="1"/>
          <p:nvPr/>
        </p:nvSpPr>
        <p:spPr>
          <a:xfrm>
            <a:off x="4175760" y="6830568"/>
            <a:ext cx="2164080" cy="320040"/>
          </a:xfrm>
          <a:prstGeom prst="rect">
            <a:avLst/>
          </a:prstGeom>
          <a:noFill/>
        </p:spPr>
        <p:txBody>
          <a:bodyPr wrap="square" lIns="0" rIns="0" tIns="0" bIns="0" anchor="t">
            <a:noAutofit/>
          </a:bodyPr>
          <a:lstStyle/>
          <a:p>
            <a:pPr algn="l">
              <a:lnSpc>
                <a:spcPct val="100000"/>
              </a:lnSpc>
              <a:spcAft>
                <a:spcPts val="0"/>
              </a:spcAft>
              <a:buNone/>
            </a:pPr>
            <a:r>
              <a:rPr sz="1600" b="1" i="0">
                <a:solidFill>
                  <a:srgbClr val="0E7C86"/>
                </a:solidFill>
                <a:latin typeface="Arial"/>
              </a:rPr>
              <a:t>GLMM logístico</a:t>
            </a:r>
          </a:p>
        </p:txBody>
      </p:sp>
      <p:sp>
        <p:nvSpPr>
          <p:cNvPr id="62" name="TextBox 61"/>
          <p:cNvSpPr txBox="1"/>
          <p:nvPr/>
        </p:nvSpPr>
        <p:spPr>
          <a:xfrm>
            <a:off x="4175760" y="7178040"/>
            <a:ext cx="2164080" cy="457199"/>
          </a:xfrm>
          <a:prstGeom prst="rect">
            <a:avLst/>
          </a:prstGeom>
          <a:noFill/>
        </p:spPr>
        <p:txBody>
          <a:bodyPr wrap="square" lIns="0" rIns="0" tIns="0" bIns="0" anchor="t">
            <a:noAutofit/>
          </a:bodyPr>
          <a:lstStyle/>
          <a:p>
            <a:pPr algn="l">
              <a:lnSpc>
                <a:spcPct val="100000"/>
              </a:lnSpc>
              <a:spcAft>
                <a:spcPts val="0"/>
              </a:spcAft>
              <a:buNone/>
            </a:pPr>
            <a:r>
              <a:rPr sz="1400" b="0" i="0">
                <a:solidFill>
                  <a:srgbClr val="1F2433"/>
                </a:solidFill>
                <a:latin typeface="Arial"/>
              </a:rPr>
              <a:t>intercepto aleatório por estudo</a:t>
            </a:r>
          </a:p>
        </p:txBody>
      </p:sp>
      <p:sp>
        <p:nvSpPr>
          <p:cNvPr id="63" name="Rounded Rectangle 62"/>
          <p:cNvSpPr/>
          <p:nvPr/>
        </p:nvSpPr>
        <p:spPr>
          <a:xfrm>
            <a:off x="6751320" y="6647688"/>
            <a:ext cx="2621280" cy="1170431"/>
          </a:xfrm>
          <a:prstGeom prst="roundRect">
            <a:avLst>
              <a:gd name="adj" fmla="val 6000"/>
            </a:avLst>
          </a:prstGeom>
          <a:solidFill>
            <a:srgbClr val="E3F3F4"/>
          </a:solidFill>
          <a:ln>
            <a:noFill/>
          </a:ln>
          <a:effectLst/>
        </p:spPr>
        <p:txBody>
          <a:bodyPr rtlCol="0" anchor="ctr"/>
          <a:lstStyle/>
          <a:p/>
        </p:txBody>
      </p:sp>
      <p:sp>
        <p:nvSpPr>
          <p:cNvPr id="64" name="TextBox 63"/>
          <p:cNvSpPr txBox="1"/>
          <p:nvPr/>
        </p:nvSpPr>
        <p:spPr>
          <a:xfrm>
            <a:off x="6979920" y="6830568"/>
            <a:ext cx="2164080" cy="320040"/>
          </a:xfrm>
          <a:prstGeom prst="rect">
            <a:avLst/>
          </a:prstGeom>
          <a:noFill/>
        </p:spPr>
        <p:txBody>
          <a:bodyPr wrap="square" lIns="0" rIns="0" tIns="0" bIns="0" anchor="t">
            <a:noAutofit/>
          </a:bodyPr>
          <a:lstStyle/>
          <a:p>
            <a:pPr algn="l">
              <a:lnSpc>
                <a:spcPct val="100000"/>
              </a:lnSpc>
              <a:spcAft>
                <a:spcPts val="0"/>
              </a:spcAft>
              <a:buNone/>
            </a:pPr>
            <a:r>
              <a:rPr sz="1600" b="1" i="0">
                <a:solidFill>
                  <a:srgbClr val="0E7C86"/>
                </a:solidFill>
                <a:latin typeface="Arial"/>
              </a:rPr>
              <a:t>Leave-one-out</a:t>
            </a:r>
          </a:p>
        </p:txBody>
      </p:sp>
      <p:sp>
        <p:nvSpPr>
          <p:cNvPr id="65" name="TextBox 64"/>
          <p:cNvSpPr txBox="1"/>
          <p:nvPr/>
        </p:nvSpPr>
        <p:spPr>
          <a:xfrm>
            <a:off x="6979920" y="7178040"/>
            <a:ext cx="2164080" cy="457199"/>
          </a:xfrm>
          <a:prstGeom prst="rect">
            <a:avLst/>
          </a:prstGeom>
          <a:noFill/>
        </p:spPr>
        <p:txBody>
          <a:bodyPr wrap="square" lIns="0" rIns="0" tIns="0" bIns="0" anchor="t">
            <a:noAutofit/>
          </a:bodyPr>
          <a:lstStyle/>
          <a:p>
            <a:pPr algn="l">
              <a:lnSpc>
                <a:spcPct val="100000"/>
              </a:lnSpc>
              <a:spcAft>
                <a:spcPts val="0"/>
              </a:spcAft>
              <a:buNone/>
            </a:pPr>
            <a:r>
              <a:rPr sz="1400" b="0" i="0">
                <a:solidFill>
                  <a:srgbClr val="1F2433"/>
                </a:solidFill>
                <a:latin typeface="Arial"/>
              </a:rPr>
              <a:t>retira 1 estudo por vez</a:t>
            </a:r>
          </a:p>
        </p:txBody>
      </p:sp>
      <p:sp>
        <p:nvSpPr>
          <p:cNvPr id="66" name="Rounded Rectangle 65"/>
          <p:cNvSpPr/>
          <p:nvPr/>
        </p:nvSpPr>
        <p:spPr>
          <a:xfrm>
            <a:off x="9555480" y="6647688"/>
            <a:ext cx="2621280" cy="1170431"/>
          </a:xfrm>
          <a:prstGeom prst="roundRect">
            <a:avLst>
              <a:gd name="adj" fmla="val 6000"/>
            </a:avLst>
          </a:prstGeom>
          <a:solidFill>
            <a:srgbClr val="E3F3F4"/>
          </a:solidFill>
          <a:ln>
            <a:noFill/>
          </a:ln>
          <a:effectLst/>
        </p:spPr>
        <p:txBody>
          <a:bodyPr rtlCol="0" anchor="ctr"/>
          <a:lstStyle/>
          <a:p/>
        </p:txBody>
      </p:sp>
      <p:sp>
        <p:nvSpPr>
          <p:cNvPr id="67" name="TextBox 66"/>
          <p:cNvSpPr txBox="1"/>
          <p:nvPr/>
        </p:nvSpPr>
        <p:spPr>
          <a:xfrm>
            <a:off x="9784080" y="6830568"/>
            <a:ext cx="2164080" cy="320040"/>
          </a:xfrm>
          <a:prstGeom prst="rect">
            <a:avLst/>
          </a:prstGeom>
          <a:noFill/>
        </p:spPr>
        <p:txBody>
          <a:bodyPr wrap="square" lIns="0" rIns="0" tIns="0" bIns="0" anchor="t">
            <a:noAutofit/>
          </a:bodyPr>
          <a:lstStyle/>
          <a:p>
            <a:pPr algn="l">
              <a:lnSpc>
                <a:spcPct val="100000"/>
              </a:lnSpc>
              <a:spcAft>
                <a:spcPts val="0"/>
              </a:spcAft>
              <a:buNone/>
            </a:pPr>
            <a:r>
              <a:rPr sz="1600" b="1" i="0">
                <a:solidFill>
                  <a:srgbClr val="0E7C86"/>
                </a:solidFill>
                <a:latin typeface="Arial"/>
              </a:rPr>
              <a:t>Gráfico de Baujat</a:t>
            </a:r>
          </a:p>
        </p:txBody>
      </p:sp>
      <p:sp>
        <p:nvSpPr>
          <p:cNvPr id="68" name="TextBox 67"/>
          <p:cNvSpPr txBox="1"/>
          <p:nvPr/>
        </p:nvSpPr>
        <p:spPr>
          <a:xfrm>
            <a:off x="9784080" y="7178040"/>
            <a:ext cx="2164080" cy="457199"/>
          </a:xfrm>
          <a:prstGeom prst="rect">
            <a:avLst/>
          </a:prstGeom>
          <a:noFill/>
        </p:spPr>
        <p:txBody>
          <a:bodyPr wrap="square" lIns="0" rIns="0" tIns="0" bIns="0" anchor="t">
            <a:noAutofit/>
          </a:bodyPr>
          <a:lstStyle/>
          <a:p>
            <a:pPr algn="l">
              <a:lnSpc>
                <a:spcPct val="100000"/>
              </a:lnSpc>
              <a:spcAft>
                <a:spcPts val="0"/>
              </a:spcAft>
              <a:buNone/>
            </a:pPr>
            <a:r>
              <a:rPr sz="1400" b="0" i="0">
                <a:solidFill>
                  <a:srgbClr val="1F2433"/>
                </a:solidFill>
                <a:latin typeface="Arial"/>
              </a:rPr>
              <a:t>quem puxa a heterogeneidade</a:t>
            </a:r>
          </a:p>
        </p:txBody>
      </p:sp>
      <p:sp>
        <p:nvSpPr>
          <p:cNvPr id="69" name="Rounded Rectangle 68"/>
          <p:cNvSpPr/>
          <p:nvPr/>
        </p:nvSpPr>
        <p:spPr>
          <a:xfrm>
            <a:off x="12359640" y="6647688"/>
            <a:ext cx="2621280" cy="1170431"/>
          </a:xfrm>
          <a:prstGeom prst="roundRect">
            <a:avLst>
              <a:gd name="adj" fmla="val 6000"/>
            </a:avLst>
          </a:prstGeom>
          <a:solidFill>
            <a:srgbClr val="E3F3F4"/>
          </a:solidFill>
          <a:ln>
            <a:noFill/>
          </a:ln>
          <a:effectLst/>
        </p:spPr>
        <p:txBody>
          <a:bodyPr rtlCol="0" anchor="ctr"/>
          <a:lstStyle/>
          <a:p/>
        </p:txBody>
      </p:sp>
      <p:sp>
        <p:nvSpPr>
          <p:cNvPr id="70" name="TextBox 69"/>
          <p:cNvSpPr txBox="1"/>
          <p:nvPr/>
        </p:nvSpPr>
        <p:spPr>
          <a:xfrm>
            <a:off x="12588240" y="6830568"/>
            <a:ext cx="2164080" cy="320040"/>
          </a:xfrm>
          <a:prstGeom prst="rect">
            <a:avLst/>
          </a:prstGeom>
          <a:noFill/>
        </p:spPr>
        <p:txBody>
          <a:bodyPr wrap="square" lIns="0" rIns="0" tIns="0" bIns="0" anchor="t">
            <a:noAutofit/>
          </a:bodyPr>
          <a:lstStyle/>
          <a:p>
            <a:pPr algn="l">
              <a:lnSpc>
                <a:spcPct val="100000"/>
              </a:lnSpc>
              <a:spcAft>
                <a:spcPts val="0"/>
              </a:spcAft>
              <a:buNone/>
            </a:pPr>
            <a:r>
              <a:rPr sz="1600" b="1" i="0">
                <a:solidFill>
                  <a:srgbClr val="0E7C86"/>
                </a:solidFill>
                <a:latin typeface="Arial"/>
              </a:rPr>
              <a:t>Subgrupo por país</a:t>
            </a:r>
          </a:p>
        </p:txBody>
      </p:sp>
      <p:sp>
        <p:nvSpPr>
          <p:cNvPr id="71" name="TextBox 70"/>
          <p:cNvSpPr txBox="1"/>
          <p:nvPr/>
        </p:nvSpPr>
        <p:spPr>
          <a:xfrm>
            <a:off x="12588240" y="7178040"/>
            <a:ext cx="2164080" cy="457199"/>
          </a:xfrm>
          <a:prstGeom prst="rect">
            <a:avLst/>
          </a:prstGeom>
          <a:noFill/>
        </p:spPr>
        <p:txBody>
          <a:bodyPr wrap="square" lIns="0" rIns="0" tIns="0" bIns="0" anchor="t">
            <a:noAutofit/>
          </a:bodyPr>
          <a:lstStyle/>
          <a:p>
            <a:pPr algn="l">
              <a:lnSpc>
                <a:spcPct val="100000"/>
              </a:lnSpc>
              <a:spcAft>
                <a:spcPts val="0"/>
              </a:spcAft>
              <a:buNone/>
            </a:pPr>
            <a:r>
              <a:rPr sz="1400" b="0" i="0">
                <a:solidFill>
                  <a:srgbClr val="1F2433"/>
                </a:solidFill>
                <a:latin typeface="Arial"/>
              </a:rPr>
              <a:t>exploratório; teste Q</a:t>
            </a:r>
          </a:p>
        </p:txBody>
      </p:sp>
      <p:sp>
        <p:nvSpPr>
          <p:cNvPr id="72" name="Rounded Rectangle 71"/>
          <p:cNvSpPr/>
          <p:nvPr/>
        </p:nvSpPr>
        <p:spPr>
          <a:xfrm>
            <a:off x="15163800" y="6647688"/>
            <a:ext cx="2621280" cy="1170431"/>
          </a:xfrm>
          <a:prstGeom prst="roundRect">
            <a:avLst>
              <a:gd name="adj" fmla="val 6000"/>
            </a:avLst>
          </a:prstGeom>
          <a:solidFill>
            <a:srgbClr val="E3F3F4"/>
          </a:solidFill>
          <a:ln>
            <a:noFill/>
          </a:ln>
          <a:effectLst/>
        </p:spPr>
        <p:txBody>
          <a:bodyPr rtlCol="0" anchor="ctr"/>
          <a:lstStyle/>
          <a:p/>
        </p:txBody>
      </p:sp>
      <p:sp>
        <p:nvSpPr>
          <p:cNvPr id="73" name="TextBox 72"/>
          <p:cNvSpPr txBox="1"/>
          <p:nvPr/>
        </p:nvSpPr>
        <p:spPr>
          <a:xfrm>
            <a:off x="15392400" y="6830568"/>
            <a:ext cx="2164080" cy="320040"/>
          </a:xfrm>
          <a:prstGeom prst="rect">
            <a:avLst/>
          </a:prstGeom>
          <a:noFill/>
        </p:spPr>
        <p:txBody>
          <a:bodyPr wrap="square" lIns="0" rIns="0" tIns="0" bIns="0" anchor="t">
            <a:noAutofit/>
          </a:bodyPr>
          <a:lstStyle/>
          <a:p>
            <a:pPr algn="l">
              <a:lnSpc>
                <a:spcPct val="100000"/>
              </a:lnSpc>
              <a:spcAft>
                <a:spcPts val="0"/>
              </a:spcAft>
              <a:buNone/>
            </a:pPr>
            <a:r>
              <a:rPr sz="1600" b="1" i="0">
                <a:solidFill>
                  <a:srgbClr val="0E7C86"/>
                </a:solidFill>
                <a:latin typeface="Arial"/>
              </a:rPr>
              <a:t>Sensibilidade extra</a:t>
            </a:r>
          </a:p>
        </p:txBody>
      </p:sp>
      <p:sp>
        <p:nvSpPr>
          <p:cNvPr id="74" name="TextBox 73"/>
          <p:cNvSpPr txBox="1"/>
          <p:nvPr/>
        </p:nvSpPr>
        <p:spPr>
          <a:xfrm>
            <a:off x="15392400" y="7178040"/>
            <a:ext cx="2164080" cy="457199"/>
          </a:xfrm>
          <a:prstGeom prst="rect">
            <a:avLst/>
          </a:prstGeom>
          <a:noFill/>
        </p:spPr>
        <p:txBody>
          <a:bodyPr wrap="square" lIns="0" rIns="0" tIns="0" bIns="0" anchor="t">
            <a:noAutofit/>
          </a:bodyPr>
          <a:lstStyle/>
          <a:p>
            <a:pPr algn="l">
              <a:lnSpc>
                <a:spcPct val="100000"/>
              </a:lnSpc>
              <a:spcAft>
                <a:spcPts val="0"/>
              </a:spcAft>
              <a:buNone/>
            </a:pPr>
            <a:r>
              <a:rPr sz="1400" b="0" i="0">
                <a:solidFill>
                  <a:srgbClr val="1F2433"/>
                </a:solidFill>
                <a:latin typeface="Arial"/>
              </a:rPr>
              <a:t>sem resumo; definições específicas</a:t>
            </a:r>
          </a:p>
        </p:txBody>
      </p:sp>
      <p:sp>
        <p:nvSpPr>
          <p:cNvPr id="75" name="Rounded Rectangle 74"/>
          <p:cNvSpPr/>
          <p:nvPr/>
        </p:nvSpPr>
        <p:spPr>
          <a:xfrm>
            <a:off x="1143000" y="8092440"/>
            <a:ext cx="16642080" cy="914400"/>
          </a:xfrm>
          <a:prstGeom prst="roundRect">
            <a:avLst>
              <a:gd name="adj" fmla="val 6000"/>
            </a:avLst>
          </a:prstGeom>
          <a:solidFill>
            <a:srgbClr val="FBF5E3"/>
          </a:solidFill>
          <a:ln>
            <a:noFill/>
          </a:ln>
          <a:effectLst/>
        </p:spPr>
        <p:txBody>
          <a:bodyPr rtlCol="0" anchor="ctr"/>
          <a:lstStyle/>
          <a:p/>
        </p:txBody>
      </p:sp>
      <p:pic>
        <p:nvPicPr>
          <p:cNvPr id="76" name="icone question" descr="question_navy.png"/>
          <p:cNvPicPr>
            <a:picLocks noChangeAspect="1"/>
          </p:cNvPicPr>
          <p:nvPr/>
        </p:nvPicPr>
        <p:blipFill>
          <a:blip r:embed="rId4"/>
          <a:stretch>
            <a:fillRect/>
          </a:stretch>
        </p:blipFill>
        <p:spPr>
          <a:xfrm>
            <a:off x="1463040" y="8275319"/>
            <a:ext cx="548640" cy="548640"/>
          </a:xfrm>
          <a:prstGeom prst="rect">
            <a:avLst/>
          </a:prstGeom>
        </p:spPr>
      </p:pic>
      <p:sp>
        <p:nvSpPr>
          <p:cNvPr id="77" name="TextBox 76"/>
          <p:cNvSpPr txBox="1"/>
          <p:nvPr/>
        </p:nvSpPr>
        <p:spPr>
          <a:xfrm>
            <a:off x="2240280" y="8229600"/>
            <a:ext cx="15224759" cy="640080"/>
          </a:xfrm>
          <a:prstGeom prst="rect">
            <a:avLst/>
          </a:prstGeom>
          <a:noFill/>
        </p:spPr>
        <p:txBody>
          <a:bodyPr wrap="square" lIns="0" rIns="0" tIns="0" bIns="0" anchor="ctr">
            <a:noAutofit/>
          </a:bodyPr>
          <a:lstStyle/>
          <a:p>
            <a:pPr algn="l">
              <a:lnSpc>
                <a:spcPct val="100000"/>
              </a:lnSpc>
              <a:spcAft>
                <a:spcPts val="0"/>
              </a:spcAft>
              <a:buNone/>
            </a:pPr>
            <a:r>
              <a:rPr sz="1500" b="1" i="0">
                <a:solidFill>
                  <a:srgbClr val="002060"/>
                </a:solidFill>
                <a:latin typeface="Arial"/>
              </a:rPr>
              <a:t>Sem teste de Egger nem funil por erro-padrão: </a:t>
            </a:r>
            <a:r>
              <a:rPr sz="1500" b="0" i="0">
                <a:solidFill>
                  <a:srgbClr val="1F2433"/>
                </a:solidFill>
                <a:latin typeface="Arial"/>
              </a:rPr>
              <a:t>em proporções o erro-padrão depende da própria proporção (assimetria espúria) e os testes exigem ≥ 10 estudos; viés de relato apreciado qualitativamente. </a:t>
            </a:r>
            <a:r>
              <a:rPr sz="1500" b="1" i="0">
                <a:solidFill>
                  <a:srgbClr val="1F2433"/>
                </a:solidFill>
                <a:latin typeface="Arial"/>
              </a:rPr>
              <a:t>Sem metarregressão </a:t>
            </a:r>
            <a:r>
              <a:rPr sz="1500" b="0" i="0">
                <a:solidFill>
                  <a:srgbClr val="1F2433"/>
                </a:solidFill>
                <a:latin typeface="Arial"/>
              </a:rPr>
              <a:t>(poucos estudos por covariável). </a:t>
            </a:r>
            <a:r>
              <a:rPr sz="1500" b="1" i="0">
                <a:solidFill>
                  <a:srgbClr val="1F2433"/>
                </a:solidFill>
                <a:latin typeface="Arial"/>
              </a:rPr>
              <a:t>RR </a:t>
            </a:r>
            <a:r>
              <a:rPr sz="1500" b="0" i="0">
                <a:solidFill>
                  <a:srgbClr val="1F2433"/>
                </a:solidFill>
                <a:latin typeface="Arial"/>
              </a:rPr>
              <a:t>na escala log (Wald).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350"/>
                                        <p:tgtEl>
                                          <p:spTgt spid="2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fade">
                                      <p:cBhvr>
                                        <p:cTn id="10" dur="350"/>
                                        <p:tgtEl>
                                          <p:spTgt spid="2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350"/>
                                        <p:tgtEl>
                                          <p:spTgt spid="2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fade">
                                      <p:cBhvr>
                                        <p:cTn id="16" dur="350"/>
                                        <p:tgtEl>
                                          <p:spTgt spid="2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350"/>
                                        <p:tgtEl>
                                          <p:spTgt spid="2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350"/>
                                        <p:tgtEl>
                                          <p:spTgt spid="27"/>
                                        </p:tgtEl>
                                      </p:cBhvr>
                                    </p:animEffect>
                                  </p:childTnLst>
                                </p:cTn>
                              </p:par>
                            </p:childTnLst>
                          </p:cTn>
                        </p:par>
                        <p:par>
                          <p:cTn id="23" fill="hold">
                            <p:stCondLst>
                              <p:cond delay="350"/>
                            </p:stCondLst>
                            <p:childTnLst>
                              <p:par>
                                <p:cTn id="24" presetID="10" presetClass="entr" presetSubtype="0" fill="hold" grpId="0" nodeType="afterEffect">
                                  <p:stCondLst>
                                    <p:cond delay="0"/>
                                  </p:stCondLst>
                                  <p:childTnLst>
                                    <p:set>
                                      <p:cBhvr>
                                        <p:cTn id="25" dur="1" fill="hold">
                                          <p:stCondLst>
                                            <p:cond delay="0"/>
                                          </p:stCondLst>
                                        </p:cTn>
                                        <p:tgtEl>
                                          <p:spTgt spid="28"/>
                                        </p:tgtEl>
                                        <p:attrNameLst>
                                          <p:attrName>style.visibility</p:attrName>
                                        </p:attrNameLst>
                                      </p:cBhvr>
                                      <p:to>
                                        <p:strVal val="visible"/>
                                      </p:to>
                                    </p:set>
                                    <p:animEffect transition="in" filter="fade">
                                      <p:cBhvr>
                                        <p:cTn id="26" dur="350"/>
                                        <p:tgtEl>
                                          <p:spTgt spid="28"/>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9"/>
                                        </p:tgtEl>
                                        <p:attrNameLst>
                                          <p:attrName>style.visibility</p:attrName>
                                        </p:attrNameLst>
                                      </p:cBhvr>
                                      <p:to>
                                        <p:strVal val="visible"/>
                                      </p:to>
                                    </p:set>
                                    <p:animEffect transition="in" filter="fade">
                                      <p:cBhvr>
                                        <p:cTn id="29" dur="350"/>
                                        <p:tgtEl>
                                          <p:spTgt spid="29"/>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
                                        </p:tgtEl>
                                        <p:attrNameLst>
                                          <p:attrName>style.visibility</p:attrName>
                                        </p:attrNameLst>
                                      </p:cBhvr>
                                      <p:to>
                                        <p:strVal val="visible"/>
                                      </p:to>
                                    </p:set>
                                    <p:animEffect transition="in" filter="fade">
                                      <p:cBhvr>
                                        <p:cTn id="32" dur="350"/>
                                        <p:tgtEl>
                                          <p:spTgt spid="30"/>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
                                        </p:tgtEl>
                                        <p:attrNameLst>
                                          <p:attrName>style.visibility</p:attrName>
                                        </p:attrNameLst>
                                      </p:cBhvr>
                                      <p:to>
                                        <p:strVal val="visible"/>
                                      </p:to>
                                    </p:set>
                                    <p:animEffect transition="in" filter="fade">
                                      <p:cBhvr>
                                        <p:cTn id="35" dur="350"/>
                                        <p:tgtEl>
                                          <p:spTgt spid="31"/>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32"/>
                                        </p:tgtEl>
                                        <p:attrNameLst>
                                          <p:attrName>style.visibility</p:attrName>
                                        </p:attrNameLst>
                                      </p:cBhvr>
                                      <p:to>
                                        <p:strVal val="visible"/>
                                      </p:to>
                                    </p:set>
                                    <p:animEffect transition="in" filter="fade">
                                      <p:cBhvr>
                                        <p:cTn id="38" dur="350"/>
                                        <p:tgtEl>
                                          <p:spTgt spid="32"/>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33"/>
                                        </p:tgtEl>
                                        <p:attrNameLst>
                                          <p:attrName>style.visibility</p:attrName>
                                        </p:attrNameLst>
                                      </p:cBhvr>
                                      <p:to>
                                        <p:strVal val="visible"/>
                                      </p:to>
                                    </p:set>
                                    <p:animEffect transition="in" filter="fade">
                                      <p:cBhvr>
                                        <p:cTn id="41" dur="350"/>
                                        <p:tgtEl>
                                          <p:spTgt spid="33"/>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34"/>
                                        </p:tgtEl>
                                        <p:attrNameLst>
                                          <p:attrName>style.visibility</p:attrName>
                                        </p:attrNameLst>
                                      </p:cBhvr>
                                      <p:to>
                                        <p:strVal val="visible"/>
                                      </p:to>
                                    </p:set>
                                    <p:animEffect transition="in" filter="fade">
                                      <p:cBhvr>
                                        <p:cTn id="44" dur="350"/>
                                        <p:tgtEl>
                                          <p:spTgt spid="34"/>
                                        </p:tgtEl>
                                      </p:cBhvr>
                                    </p:animEffect>
                                  </p:childTnLst>
                                </p:cTn>
                              </p:par>
                            </p:childTnLst>
                          </p:cTn>
                        </p:par>
                        <p:par>
                          <p:cTn id="45" fill="hold">
                            <p:stCondLst>
                              <p:cond delay="700"/>
                            </p:stCondLst>
                            <p:childTnLst>
                              <p:par>
                                <p:cTn id="46" presetID="10" presetClass="entr" presetSubtype="0" fill="hold" grpId="0" nodeType="afterEffect">
                                  <p:stCondLst>
                                    <p:cond delay="0"/>
                                  </p:stCondLst>
                                  <p:childTnLst>
                                    <p:set>
                                      <p:cBhvr>
                                        <p:cTn id="47" dur="1" fill="hold">
                                          <p:stCondLst>
                                            <p:cond delay="0"/>
                                          </p:stCondLst>
                                        </p:cTn>
                                        <p:tgtEl>
                                          <p:spTgt spid="35"/>
                                        </p:tgtEl>
                                        <p:attrNameLst>
                                          <p:attrName>style.visibility</p:attrName>
                                        </p:attrNameLst>
                                      </p:cBhvr>
                                      <p:to>
                                        <p:strVal val="visible"/>
                                      </p:to>
                                    </p:set>
                                    <p:animEffect transition="in" filter="fade">
                                      <p:cBhvr>
                                        <p:cTn id="48" dur="350"/>
                                        <p:tgtEl>
                                          <p:spTgt spid="35"/>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36"/>
                                        </p:tgtEl>
                                        <p:attrNameLst>
                                          <p:attrName>style.visibility</p:attrName>
                                        </p:attrNameLst>
                                      </p:cBhvr>
                                      <p:to>
                                        <p:strVal val="visible"/>
                                      </p:to>
                                    </p:set>
                                    <p:animEffect transition="in" filter="fade">
                                      <p:cBhvr>
                                        <p:cTn id="51" dur="350"/>
                                        <p:tgtEl>
                                          <p:spTgt spid="36"/>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37"/>
                                        </p:tgtEl>
                                        <p:attrNameLst>
                                          <p:attrName>style.visibility</p:attrName>
                                        </p:attrNameLst>
                                      </p:cBhvr>
                                      <p:to>
                                        <p:strVal val="visible"/>
                                      </p:to>
                                    </p:set>
                                    <p:animEffect transition="in" filter="fade">
                                      <p:cBhvr>
                                        <p:cTn id="54" dur="350"/>
                                        <p:tgtEl>
                                          <p:spTgt spid="37"/>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38"/>
                                        </p:tgtEl>
                                        <p:attrNameLst>
                                          <p:attrName>style.visibility</p:attrName>
                                        </p:attrNameLst>
                                      </p:cBhvr>
                                      <p:to>
                                        <p:strVal val="visible"/>
                                      </p:to>
                                    </p:set>
                                    <p:animEffect transition="in" filter="fade">
                                      <p:cBhvr>
                                        <p:cTn id="57" dur="350"/>
                                        <p:tgtEl>
                                          <p:spTgt spid="38"/>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39"/>
                                        </p:tgtEl>
                                        <p:attrNameLst>
                                          <p:attrName>style.visibility</p:attrName>
                                        </p:attrNameLst>
                                      </p:cBhvr>
                                      <p:to>
                                        <p:strVal val="visible"/>
                                      </p:to>
                                    </p:set>
                                    <p:animEffect transition="in" filter="fade">
                                      <p:cBhvr>
                                        <p:cTn id="60" dur="350"/>
                                        <p:tgtEl>
                                          <p:spTgt spid="39"/>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40"/>
                                        </p:tgtEl>
                                        <p:attrNameLst>
                                          <p:attrName>style.visibility</p:attrName>
                                        </p:attrNameLst>
                                      </p:cBhvr>
                                      <p:to>
                                        <p:strVal val="visible"/>
                                      </p:to>
                                    </p:set>
                                    <p:animEffect transition="in" filter="fade">
                                      <p:cBhvr>
                                        <p:cTn id="63" dur="350"/>
                                        <p:tgtEl>
                                          <p:spTgt spid="40"/>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41"/>
                                        </p:tgtEl>
                                        <p:attrNameLst>
                                          <p:attrName>style.visibility</p:attrName>
                                        </p:attrNameLst>
                                      </p:cBhvr>
                                      <p:to>
                                        <p:strVal val="visible"/>
                                      </p:to>
                                    </p:set>
                                    <p:animEffect transition="in" filter="fade">
                                      <p:cBhvr>
                                        <p:cTn id="66" dur="350"/>
                                        <p:tgtEl>
                                          <p:spTgt spid="41"/>
                                        </p:tgtEl>
                                      </p:cBhvr>
                                    </p:animEffect>
                                  </p:childTnLst>
                                </p:cTn>
                              </p:par>
                            </p:childTnLst>
                          </p:cTn>
                        </p:par>
                        <p:par>
                          <p:cTn id="67" fill="hold">
                            <p:stCondLst>
                              <p:cond delay="1050"/>
                            </p:stCondLst>
                            <p:childTnLst>
                              <p:par>
                                <p:cTn id="68" presetID="10" presetClass="entr" presetSubtype="0" fill="hold" grpId="0" nodeType="afterEffect">
                                  <p:stCondLst>
                                    <p:cond delay="0"/>
                                  </p:stCondLst>
                                  <p:childTnLst>
                                    <p:set>
                                      <p:cBhvr>
                                        <p:cTn id="69" dur="1" fill="hold">
                                          <p:stCondLst>
                                            <p:cond delay="0"/>
                                          </p:stCondLst>
                                        </p:cTn>
                                        <p:tgtEl>
                                          <p:spTgt spid="42"/>
                                        </p:tgtEl>
                                        <p:attrNameLst>
                                          <p:attrName>style.visibility</p:attrName>
                                        </p:attrNameLst>
                                      </p:cBhvr>
                                      <p:to>
                                        <p:strVal val="visible"/>
                                      </p:to>
                                    </p:set>
                                    <p:animEffect transition="in" filter="fade">
                                      <p:cBhvr>
                                        <p:cTn id="70" dur="350"/>
                                        <p:tgtEl>
                                          <p:spTgt spid="42"/>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43"/>
                                        </p:tgtEl>
                                        <p:attrNameLst>
                                          <p:attrName>style.visibility</p:attrName>
                                        </p:attrNameLst>
                                      </p:cBhvr>
                                      <p:to>
                                        <p:strVal val="visible"/>
                                      </p:to>
                                    </p:set>
                                    <p:animEffect transition="in" filter="fade">
                                      <p:cBhvr>
                                        <p:cTn id="73" dur="350"/>
                                        <p:tgtEl>
                                          <p:spTgt spid="43"/>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44"/>
                                        </p:tgtEl>
                                        <p:attrNameLst>
                                          <p:attrName>style.visibility</p:attrName>
                                        </p:attrNameLst>
                                      </p:cBhvr>
                                      <p:to>
                                        <p:strVal val="visible"/>
                                      </p:to>
                                    </p:set>
                                    <p:animEffect transition="in" filter="fade">
                                      <p:cBhvr>
                                        <p:cTn id="76" dur="350"/>
                                        <p:tgtEl>
                                          <p:spTgt spid="44"/>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45"/>
                                        </p:tgtEl>
                                        <p:attrNameLst>
                                          <p:attrName>style.visibility</p:attrName>
                                        </p:attrNameLst>
                                      </p:cBhvr>
                                      <p:to>
                                        <p:strVal val="visible"/>
                                      </p:to>
                                    </p:set>
                                    <p:animEffect transition="in" filter="fade">
                                      <p:cBhvr>
                                        <p:cTn id="79" dur="350"/>
                                        <p:tgtEl>
                                          <p:spTgt spid="45"/>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46"/>
                                        </p:tgtEl>
                                        <p:attrNameLst>
                                          <p:attrName>style.visibility</p:attrName>
                                        </p:attrNameLst>
                                      </p:cBhvr>
                                      <p:to>
                                        <p:strVal val="visible"/>
                                      </p:to>
                                    </p:set>
                                    <p:animEffect transition="in" filter="fade">
                                      <p:cBhvr>
                                        <p:cTn id="82" dur="350"/>
                                        <p:tgtEl>
                                          <p:spTgt spid="46"/>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47"/>
                                        </p:tgtEl>
                                        <p:attrNameLst>
                                          <p:attrName>style.visibility</p:attrName>
                                        </p:attrNameLst>
                                      </p:cBhvr>
                                      <p:to>
                                        <p:strVal val="visible"/>
                                      </p:to>
                                    </p:set>
                                    <p:animEffect transition="in" filter="fade">
                                      <p:cBhvr>
                                        <p:cTn id="85" dur="350"/>
                                        <p:tgtEl>
                                          <p:spTgt spid="47"/>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48"/>
                                        </p:tgtEl>
                                        <p:attrNameLst>
                                          <p:attrName>style.visibility</p:attrName>
                                        </p:attrNameLst>
                                      </p:cBhvr>
                                      <p:to>
                                        <p:strVal val="visible"/>
                                      </p:to>
                                    </p:set>
                                    <p:animEffect transition="in" filter="fade">
                                      <p:cBhvr>
                                        <p:cTn id="88" dur="350"/>
                                        <p:tgtEl>
                                          <p:spTgt spid="48"/>
                                        </p:tgtEl>
                                      </p:cBhvr>
                                    </p:animEffect>
                                  </p:childTnLst>
                                </p:cTn>
                              </p:par>
                            </p:childTnLst>
                          </p:cTn>
                        </p:par>
                        <p:par>
                          <p:cTn id="89" fill="hold">
                            <p:stCondLst>
                              <p:cond delay="1400"/>
                            </p:stCondLst>
                            <p:childTnLst>
                              <p:par>
                                <p:cTn id="90" presetID="10" presetClass="entr" presetSubtype="0" fill="hold" grpId="0" nodeType="afterEffect">
                                  <p:stCondLst>
                                    <p:cond delay="0"/>
                                  </p:stCondLst>
                                  <p:childTnLst>
                                    <p:set>
                                      <p:cBhvr>
                                        <p:cTn id="91" dur="1" fill="hold">
                                          <p:stCondLst>
                                            <p:cond delay="0"/>
                                          </p:stCondLst>
                                        </p:cTn>
                                        <p:tgtEl>
                                          <p:spTgt spid="49"/>
                                        </p:tgtEl>
                                        <p:attrNameLst>
                                          <p:attrName>style.visibility</p:attrName>
                                        </p:attrNameLst>
                                      </p:cBhvr>
                                      <p:to>
                                        <p:strVal val="visible"/>
                                      </p:to>
                                    </p:set>
                                    <p:animEffect transition="in" filter="fade">
                                      <p:cBhvr>
                                        <p:cTn id="92" dur="350"/>
                                        <p:tgtEl>
                                          <p:spTgt spid="49"/>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50"/>
                                        </p:tgtEl>
                                        <p:attrNameLst>
                                          <p:attrName>style.visibility</p:attrName>
                                        </p:attrNameLst>
                                      </p:cBhvr>
                                      <p:to>
                                        <p:strVal val="visible"/>
                                      </p:to>
                                    </p:set>
                                    <p:animEffect transition="in" filter="fade">
                                      <p:cBhvr>
                                        <p:cTn id="95" dur="350"/>
                                        <p:tgtEl>
                                          <p:spTgt spid="50"/>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51"/>
                                        </p:tgtEl>
                                        <p:attrNameLst>
                                          <p:attrName>style.visibility</p:attrName>
                                        </p:attrNameLst>
                                      </p:cBhvr>
                                      <p:to>
                                        <p:strVal val="visible"/>
                                      </p:to>
                                    </p:set>
                                    <p:animEffect transition="in" filter="fade">
                                      <p:cBhvr>
                                        <p:cTn id="98" dur="350"/>
                                        <p:tgtEl>
                                          <p:spTgt spid="51"/>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52"/>
                                        </p:tgtEl>
                                        <p:attrNameLst>
                                          <p:attrName>style.visibility</p:attrName>
                                        </p:attrNameLst>
                                      </p:cBhvr>
                                      <p:to>
                                        <p:strVal val="visible"/>
                                      </p:to>
                                    </p:set>
                                    <p:animEffect transition="in" filter="fade">
                                      <p:cBhvr>
                                        <p:cTn id="101" dur="350"/>
                                        <p:tgtEl>
                                          <p:spTgt spid="52"/>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53"/>
                                        </p:tgtEl>
                                        <p:attrNameLst>
                                          <p:attrName>style.visibility</p:attrName>
                                        </p:attrNameLst>
                                      </p:cBhvr>
                                      <p:to>
                                        <p:strVal val="visible"/>
                                      </p:to>
                                    </p:set>
                                    <p:animEffect transition="in" filter="fade">
                                      <p:cBhvr>
                                        <p:cTn id="104" dur="350"/>
                                        <p:tgtEl>
                                          <p:spTgt spid="53"/>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54"/>
                                        </p:tgtEl>
                                        <p:attrNameLst>
                                          <p:attrName>style.visibility</p:attrName>
                                        </p:attrNameLst>
                                      </p:cBhvr>
                                      <p:to>
                                        <p:strVal val="visible"/>
                                      </p:to>
                                    </p:set>
                                    <p:animEffect transition="in" filter="fade">
                                      <p:cBhvr>
                                        <p:cTn id="107" dur="350"/>
                                        <p:tgtEl>
                                          <p:spTgt spid="54"/>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55"/>
                                        </p:tgtEl>
                                        <p:attrNameLst>
                                          <p:attrName>style.visibility</p:attrName>
                                        </p:attrNameLst>
                                      </p:cBhvr>
                                      <p:to>
                                        <p:strVal val="visible"/>
                                      </p:to>
                                    </p:set>
                                    <p:animEffect transition="in" filter="fade">
                                      <p:cBhvr>
                                        <p:cTn id="110" dur="350"/>
                                        <p:tgtEl>
                                          <p:spTgt spid="55"/>
                                        </p:tgtEl>
                                      </p:cBhvr>
                                    </p:animEffect>
                                  </p:childTnLst>
                                </p:cTn>
                              </p:par>
                            </p:childTnLst>
                          </p:cTn>
                        </p:par>
                        <p:par>
                          <p:cTn id="111" fill="hold">
                            <p:stCondLst>
                              <p:cond delay="1750"/>
                            </p:stCondLst>
                            <p:childTnLst>
                              <p:par>
                                <p:cTn id="112" presetID="10" presetClass="entr" presetSubtype="0" fill="hold" grpId="0" nodeType="afterEffect">
                                  <p:stCondLst>
                                    <p:cond delay="0"/>
                                  </p:stCondLst>
                                  <p:childTnLst>
                                    <p:set>
                                      <p:cBhvr>
                                        <p:cTn id="113" dur="1" fill="hold">
                                          <p:stCondLst>
                                            <p:cond delay="0"/>
                                          </p:stCondLst>
                                        </p:cTn>
                                        <p:tgtEl>
                                          <p:spTgt spid="56"/>
                                        </p:tgtEl>
                                        <p:attrNameLst>
                                          <p:attrName>style.visibility</p:attrName>
                                        </p:attrNameLst>
                                      </p:cBhvr>
                                      <p:to>
                                        <p:strVal val="visible"/>
                                      </p:to>
                                    </p:set>
                                    <p:animEffect transition="in" filter="fade">
                                      <p:cBhvr>
                                        <p:cTn id="114" dur="350"/>
                                        <p:tgtEl>
                                          <p:spTgt spid="56"/>
                                        </p:tgtEl>
                                      </p:cBhvr>
                                    </p:animEffect>
                                  </p:childTnLst>
                                </p:cTn>
                              </p:par>
                              <p:par>
                                <p:cTn id="115" presetID="10" presetClass="entr" presetSubtype="0" fill="hold" grpId="0" nodeType="withEffect">
                                  <p:stCondLst>
                                    <p:cond delay="0"/>
                                  </p:stCondLst>
                                  <p:childTnLst>
                                    <p:set>
                                      <p:cBhvr>
                                        <p:cTn id="116" dur="1" fill="hold">
                                          <p:stCondLst>
                                            <p:cond delay="0"/>
                                          </p:stCondLst>
                                        </p:cTn>
                                        <p:tgtEl>
                                          <p:spTgt spid="57"/>
                                        </p:tgtEl>
                                        <p:attrNameLst>
                                          <p:attrName>style.visibility</p:attrName>
                                        </p:attrNameLst>
                                      </p:cBhvr>
                                      <p:to>
                                        <p:strVal val="visible"/>
                                      </p:to>
                                    </p:set>
                                    <p:animEffect transition="in" filter="fade">
                                      <p:cBhvr>
                                        <p:cTn id="117" dur="350"/>
                                        <p:tgtEl>
                                          <p:spTgt spid="57"/>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58"/>
                                        </p:tgtEl>
                                        <p:attrNameLst>
                                          <p:attrName>style.visibility</p:attrName>
                                        </p:attrNameLst>
                                      </p:cBhvr>
                                      <p:to>
                                        <p:strVal val="visible"/>
                                      </p:to>
                                    </p:set>
                                    <p:animEffect transition="in" filter="fade">
                                      <p:cBhvr>
                                        <p:cTn id="120" dur="350"/>
                                        <p:tgtEl>
                                          <p:spTgt spid="58"/>
                                        </p:tgtEl>
                                      </p:cBhvr>
                                    </p:animEffect>
                                  </p:childTnLst>
                                </p:cTn>
                              </p:par>
                              <p:par>
                                <p:cTn id="121" presetID="10" presetClass="entr" presetSubtype="0" fill="hold" grpId="0" nodeType="withEffect">
                                  <p:stCondLst>
                                    <p:cond delay="0"/>
                                  </p:stCondLst>
                                  <p:childTnLst>
                                    <p:set>
                                      <p:cBhvr>
                                        <p:cTn id="122" dur="1" fill="hold">
                                          <p:stCondLst>
                                            <p:cond delay="0"/>
                                          </p:stCondLst>
                                        </p:cTn>
                                        <p:tgtEl>
                                          <p:spTgt spid="59"/>
                                        </p:tgtEl>
                                        <p:attrNameLst>
                                          <p:attrName>style.visibility</p:attrName>
                                        </p:attrNameLst>
                                      </p:cBhvr>
                                      <p:to>
                                        <p:strVal val="visible"/>
                                      </p:to>
                                    </p:set>
                                    <p:animEffect transition="in" filter="fade">
                                      <p:cBhvr>
                                        <p:cTn id="123" dur="350"/>
                                        <p:tgtEl>
                                          <p:spTgt spid="59"/>
                                        </p:tgtEl>
                                      </p:cBhvr>
                                    </p:animEffect>
                                  </p:childTnLst>
                                </p:cTn>
                              </p:par>
                              <p:par>
                                <p:cTn id="124" presetID="10" presetClass="entr" presetSubtype="0" fill="hold" grpId="0" nodeType="withEffect">
                                  <p:stCondLst>
                                    <p:cond delay="0"/>
                                  </p:stCondLst>
                                  <p:childTnLst>
                                    <p:set>
                                      <p:cBhvr>
                                        <p:cTn id="125" dur="1" fill="hold">
                                          <p:stCondLst>
                                            <p:cond delay="0"/>
                                          </p:stCondLst>
                                        </p:cTn>
                                        <p:tgtEl>
                                          <p:spTgt spid="60"/>
                                        </p:tgtEl>
                                        <p:attrNameLst>
                                          <p:attrName>style.visibility</p:attrName>
                                        </p:attrNameLst>
                                      </p:cBhvr>
                                      <p:to>
                                        <p:strVal val="visible"/>
                                      </p:to>
                                    </p:set>
                                    <p:animEffect transition="in" filter="fade">
                                      <p:cBhvr>
                                        <p:cTn id="126" dur="350"/>
                                        <p:tgtEl>
                                          <p:spTgt spid="60"/>
                                        </p:tgtEl>
                                      </p:cBhvr>
                                    </p:animEffect>
                                  </p:childTnLst>
                                </p:cTn>
                              </p:par>
                              <p:par>
                                <p:cTn id="127" presetID="10" presetClass="entr" presetSubtype="0" fill="hold" grpId="0" nodeType="withEffect">
                                  <p:stCondLst>
                                    <p:cond delay="0"/>
                                  </p:stCondLst>
                                  <p:childTnLst>
                                    <p:set>
                                      <p:cBhvr>
                                        <p:cTn id="128" dur="1" fill="hold">
                                          <p:stCondLst>
                                            <p:cond delay="0"/>
                                          </p:stCondLst>
                                        </p:cTn>
                                        <p:tgtEl>
                                          <p:spTgt spid="61"/>
                                        </p:tgtEl>
                                        <p:attrNameLst>
                                          <p:attrName>style.visibility</p:attrName>
                                        </p:attrNameLst>
                                      </p:cBhvr>
                                      <p:to>
                                        <p:strVal val="visible"/>
                                      </p:to>
                                    </p:set>
                                    <p:animEffect transition="in" filter="fade">
                                      <p:cBhvr>
                                        <p:cTn id="129" dur="350"/>
                                        <p:tgtEl>
                                          <p:spTgt spid="61"/>
                                        </p:tgtEl>
                                      </p:cBhvr>
                                    </p:animEffect>
                                  </p:childTnLst>
                                </p:cTn>
                              </p:par>
                              <p:par>
                                <p:cTn id="130" presetID="10" presetClass="entr" presetSubtype="0" fill="hold" grpId="0" nodeType="withEffect">
                                  <p:stCondLst>
                                    <p:cond delay="0"/>
                                  </p:stCondLst>
                                  <p:childTnLst>
                                    <p:set>
                                      <p:cBhvr>
                                        <p:cTn id="131" dur="1" fill="hold">
                                          <p:stCondLst>
                                            <p:cond delay="0"/>
                                          </p:stCondLst>
                                        </p:cTn>
                                        <p:tgtEl>
                                          <p:spTgt spid="62"/>
                                        </p:tgtEl>
                                        <p:attrNameLst>
                                          <p:attrName>style.visibility</p:attrName>
                                        </p:attrNameLst>
                                      </p:cBhvr>
                                      <p:to>
                                        <p:strVal val="visible"/>
                                      </p:to>
                                    </p:set>
                                    <p:animEffect transition="in" filter="fade">
                                      <p:cBhvr>
                                        <p:cTn id="132" dur="350"/>
                                        <p:tgtEl>
                                          <p:spTgt spid="62"/>
                                        </p:tgtEl>
                                      </p:cBhvr>
                                    </p:animEffect>
                                  </p:childTnLst>
                                </p:cTn>
                              </p:par>
                              <p:par>
                                <p:cTn id="133" presetID="10" presetClass="entr" presetSubtype="0" fill="hold" grpId="0" nodeType="withEffect">
                                  <p:stCondLst>
                                    <p:cond delay="0"/>
                                  </p:stCondLst>
                                  <p:childTnLst>
                                    <p:set>
                                      <p:cBhvr>
                                        <p:cTn id="134" dur="1" fill="hold">
                                          <p:stCondLst>
                                            <p:cond delay="0"/>
                                          </p:stCondLst>
                                        </p:cTn>
                                        <p:tgtEl>
                                          <p:spTgt spid="63"/>
                                        </p:tgtEl>
                                        <p:attrNameLst>
                                          <p:attrName>style.visibility</p:attrName>
                                        </p:attrNameLst>
                                      </p:cBhvr>
                                      <p:to>
                                        <p:strVal val="visible"/>
                                      </p:to>
                                    </p:set>
                                    <p:animEffect transition="in" filter="fade">
                                      <p:cBhvr>
                                        <p:cTn id="135" dur="350"/>
                                        <p:tgtEl>
                                          <p:spTgt spid="63"/>
                                        </p:tgtEl>
                                      </p:cBhvr>
                                    </p:animEffect>
                                  </p:childTnLst>
                                </p:cTn>
                              </p:par>
                              <p:par>
                                <p:cTn id="136" presetID="10" presetClass="entr" presetSubtype="0" fill="hold" grpId="0" nodeType="withEffect">
                                  <p:stCondLst>
                                    <p:cond delay="0"/>
                                  </p:stCondLst>
                                  <p:childTnLst>
                                    <p:set>
                                      <p:cBhvr>
                                        <p:cTn id="137" dur="1" fill="hold">
                                          <p:stCondLst>
                                            <p:cond delay="0"/>
                                          </p:stCondLst>
                                        </p:cTn>
                                        <p:tgtEl>
                                          <p:spTgt spid="64"/>
                                        </p:tgtEl>
                                        <p:attrNameLst>
                                          <p:attrName>style.visibility</p:attrName>
                                        </p:attrNameLst>
                                      </p:cBhvr>
                                      <p:to>
                                        <p:strVal val="visible"/>
                                      </p:to>
                                    </p:set>
                                    <p:animEffect transition="in" filter="fade">
                                      <p:cBhvr>
                                        <p:cTn id="138" dur="350"/>
                                        <p:tgtEl>
                                          <p:spTgt spid="64"/>
                                        </p:tgtEl>
                                      </p:cBhvr>
                                    </p:animEffect>
                                  </p:childTnLst>
                                </p:cTn>
                              </p:par>
                              <p:par>
                                <p:cTn id="139" presetID="10" presetClass="entr" presetSubtype="0" fill="hold" grpId="0" nodeType="withEffect">
                                  <p:stCondLst>
                                    <p:cond delay="0"/>
                                  </p:stCondLst>
                                  <p:childTnLst>
                                    <p:set>
                                      <p:cBhvr>
                                        <p:cTn id="140" dur="1" fill="hold">
                                          <p:stCondLst>
                                            <p:cond delay="0"/>
                                          </p:stCondLst>
                                        </p:cTn>
                                        <p:tgtEl>
                                          <p:spTgt spid="65"/>
                                        </p:tgtEl>
                                        <p:attrNameLst>
                                          <p:attrName>style.visibility</p:attrName>
                                        </p:attrNameLst>
                                      </p:cBhvr>
                                      <p:to>
                                        <p:strVal val="visible"/>
                                      </p:to>
                                    </p:set>
                                    <p:animEffect transition="in" filter="fade">
                                      <p:cBhvr>
                                        <p:cTn id="141" dur="350"/>
                                        <p:tgtEl>
                                          <p:spTgt spid="65"/>
                                        </p:tgtEl>
                                      </p:cBhvr>
                                    </p:animEffect>
                                  </p:childTnLst>
                                </p:cTn>
                              </p:par>
                              <p:par>
                                <p:cTn id="142" presetID="10" presetClass="entr" presetSubtype="0" fill="hold" grpId="0" nodeType="withEffect">
                                  <p:stCondLst>
                                    <p:cond delay="0"/>
                                  </p:stCondLst>
                                  <p:childTnLst>
                                    <p:set>
                                      <p:cBhvr>
                                        <p:cTn id="143" dur="1" fill="hold">
                                          <p:stCondLst>
                                            <p:cond delay="0"/>
                                          </p:stCondLst>
                                        </p:cTn>
                                        <p:tgtEl>
                                          <p:spTgt spid="66"/>
                                        </p:tgtEl>
                                        <p:attrNameLst>
                                          <p:attrName>style.visibility</p:attrName>
                                        </p:attrNameLst>
                                      </p:cBhvr>
                                      <p:to>
                                        <p:strVal val="visible"/>
                                      </p:to>
                                    </p:set>
                                    <p:animEffect transition="in" filter="fade">
                                      <p:cBhvr>
                                        <p:cTn id="144" dur="350"/>
                                        <p:tgtEl>
                                          <p:spTgt spid="66"/>
                                        </p:tgtEl>
                                      </p:cBhvr>
                                    </p:animEffect>
                                  </p:childTnLst>
                                </p:cTn>
                              </p:par>
                              <p:par>
                                <p:cTn id="145" presetID="10" presetClass="entr" presetSubtype="0" fill="hold" grpId="0" nodeType="withEffect">
                                  <p:stCondLst>
                                    <p:cond delay="0"/>
                                  </p:stCondLst>
                                  <p:childTnLst>
                                    <p:set>
                                      <p:cBhvr>
                                        <p:cTn id="146" dur="1" fill="hold">
                                          <p:stCondLst>
                                            <p:cond delay="0"/>
                                          </p:stCondLst>
                                        </p:cTn>
                                        <p:tgtEl>
                                          <p:spTgt spid="67"/>
                                        </p:tgtEl>
                                        <p:attrNameLst>
                                          <p:attrName>style.visibility</p:attrName>
                                        </p:attrNameLst>
                                      </p:cBhvr>
                                      <p:to>
                                        <p:strVal val="visible"/>
                                      </p:to>
                                    </p:set>
                                    <p:animEffect transition="in" filter="fade">
                                      <p:cBhvr>
                                        <p:cTn id="147" dur="350"/>
                                        <p:tgtEl>
                                          <p:spTgt spid="67"/>
                                        </p:tgtEl>
                                      </p:cBhvr>
                                    </p:animEffect>
                                  </p:childTnLst>
                                </p:cTn>
                              </p:par>
                              <p:par>
                                <p:cTn id="148" presetID="10" presetClass="entr" presetSubtype="0" fill="hold" grpId="0" nodeType="withEffect">
                                  <p:stCondLst>
                                    <p:cond delay="0"/>
                                  </p:stCondLst>
                                  <p:childTnLst>
                                    <p:set>
                                      <p:cBhvr>
                                        <p:cTn id="149" dur="1" fill="hold">
                                          <p:stCondLst>
                                            <p:cond delay="0"/>
                                          </p:stCondLst>
                                        </p:cTn>
                                        <p:tgtEl>
                                          <p:spTgt spid="68"/>
                                        </p:tgtEl>
                                        <p:attrNameLst>
                                          <p:attrName>style.visibility</p:attrName>
                                        </p:attrNameLst>
                                      </p:cBhvr>
                                      <p:to>
                                        <p:strVal val="visible"/>
                                      </p:to>
                                    </p:set>
                                    <p:animEffect transition="in" filter="fade">
                                      <p:cBhvr>
                                        <p:cTn id="150" dur="350"/>
                                        <p:tgtEl>
                                          <p:spTgt spid="68"/>
                                        </p:tgtEl>
                                      </p:cBhvr>
                                    </p:animEffect>
                                  </p:childTnLst>
                                </p:cTn>
                              </p:par>
                              <p:par>
                                <p:cTn id="151" presetID="10" presetClass="entr" presetSubtype="0" fill="hold" grpId="0" nodeType="withEffect">
                                  <p:stCondLst>
                                    <p:cond delay="0"/>
                                  </p:stCondLst>
                                  <p:childTnLst>
                                    <p:set>
                                      <p:cBhvr>
                                        <p:cTn id="152" dur="1" fill="hold">
                                          <p:stCondLst>
                                            <p:cond delay="0"/>
                                          </p:stCondLst>
                                        </p:cTn>
                                        <p:tgtEl>
                                          <p:spTgt spid="69"/>
                                        </p:tgtEl>
                                        <p:attrNameLst>
                                          <p:attrName>style.visibility</p:attrName>
                                        </p:attrNameLst>
                                      </p:cBhvr>
                                      <p:to>
                                        <p:strVal val="visible"/>
                                      </p:to>
                                    </p:set>
                                    <p:animEffect transition="in" filter="fade">
                                      <p:cBhvr>
                                        <p:cTn id="153" dur="350"/>
                                        <p:tgtEl>
                                          <p:spTgt spid="69"/>
                                        </p:tgtEl>
                                      </p:cBhvr>
                                    </p:animEffect>
                                  </p:childTnLst>
                                </p:cTn>
                              </p:par>
                              <p:par>
                                <p:cTn id="154" presetID="10" presetClass="entr" presetSubtype="0" fill="hold" grpId="0" nodeType="withEffect">
                                  <p:stCondLst>
                                    <p:cond delay="0"/>
                                  </p:stCondLst>
                                  <p:childTnLst>
                                    <p:set>
                                      <p:cBhvr>
                                        <p:cTn id="155" dur="1" fill="hold">
                                          <p:stCondLst>
                                            <p:cond delay="0"/>
                                          </p:stCondLst>
                                        </p:cTn>
                                        <p:tgtEl>
                                          <p:spTgt spid="70"/>
                                        </p:tgtEl>
                                        <p:attrNameLst>
                                          <p:attrName>style.visibility</p:attrName>
                                        </p:attrNameLst>
                                      </p:cBhvr>
                                      <p:to>
                                        <p:strVal val="visible"/>
                                      </p:to>
                                    </p:set>
                                    <p:animEffect transition="in" filter="fade">
                                      <p:cBhvr>
                                        <p:cTn id="156" dur="350"/>
                                        <p:tgtEl>
                                          <p:spTgt spid="70"/>
                                        </p:tgtEl>
                                      </p:cBhvr>
                                    </p:animEffect>
                                  </p:childTnLst>
                                </p:cTn>
                              </p:par>
                              <p:par>
                                <p:cTn id="157" presetID="10" presetClass="entr" presetSubtype="0" fill="hold" grpId="0" nodeType="withEffect">
                                  <p:stCondLst>
                                    <p:cond delay="0"/>
                                  </p:stCondLst>
                                  <p:childTnLst>
                                    <p:set>
                                      <p:cBhvr>
                                        <p:cTn id="158" dur="1" fill="hold">
                                          <p:stCondLst>
                                            <p:cond delay="0"/>
                                          </p:stCondLst>
                                        </p:cTn>
                                        <p:tgtEl>
                                          <p:spTgt spid="71"/>
                                        </p:tgtEl>
                                        <p:attrNameLst>
                                          <p:attrName>style.visibility</p:attrName>
                                        </p:attrNameLst>
                                      </p:cBhvr>
                                      <p:to>
                                        <p:strVal val="visible"/>
                                      </p:to>
                                    </p:set>
                                    <p:animEffect transition="in" filter="fade">
                                      <p:cBhvr>
                                        <p:cTn id="159" dur="350"/>
                                        <p:tgtEl>
                                          <p:spTgt spid="71"/>
                                        </p:tgtEl>
                                      </p:cBhvr>
                                    </p:animEffect>
                                  </p:childTnLst>
                                </p:cTn>
                              </p:par>
                              <p:par>
                                <p:cTn id="160" presetID="10" presetClass="entr" presetSubtype="0" fill="hold" grpId="0" nodeType="withEffect">
                                  <p:stCondLst>
                                    <p:cond delay="0"/>
                                  </p:stCondLst>
                                  <p:childTnLst>
                                    <p:set>
                                      <p:cBhvr>
                                        <p:cTn id="161" dur="1" fill="hold">
                                          <p:stCondLst>
                                            <p:cond delay="0"/>
                                          </p:stCondLst>
                                        </p:cTn>
                                        <p:tgtEl>
                                          <p:spTgt spid="72"/>
                                        </p:tgtEl>
                                        <p:attrNameLst>
                                          <p:attrName>style.visibility</p:attrName>
                                        </p:attrNameLst>
                                      </p:cBhvr>
                                      <p:to>
                                        <p:strVal val="visible"/>
                                      </p:to>
                                    </p:set>
                                    <p:animEffect transition="in" filter="fade">
                                      <p:cBhvr>
                                        <p:cTn id="162" dur="350"/>
                                        <p:tgtEl>
                                          <p:spTgt spid="72"/>
                                        </p:tgtEl>
                                      </p:cBhvr>
                                    </p:animEffect>
                                  </p:childTnLst>
                                </p:cTn>
                              </p:par>
                              <p:par>
                                <p:cTn id="163" presetID="10" presetClass="entr" presetSubtype="0" fill="hold" grpId="0" nodeType="withEffect">
                                  <p:stCondLst>
                                    <p:cond delay="0"/>
                                  </p:stCondLst>
                                  <p:childTnLst>
                                    <p:set>
                                      <p:cBhvr>
                                        <p:cTn id="164" dur="1" fill="hold">
                                          <p:stCondLst>
                                            <p:cond delay="0"/>
                                          </p:stCondLst>
                                        </p:cTn>
                                        <p:tgtEl>
                                          <p:spTgt spid="73"/>
                                        </p:tgtEl>
                                        <p:attrNameLst>
                                          <p:attrName>style.visibility</p:attrName>
                                        </p:attrNameLst>
                                      </p:cBhvr>
                                      <p:to>
                                        <p:strVal val="visible"/>
                                      </p:to>
                                    </p:set>
                                    <p:animEffect transition="in" filter="fade">
                                      <p:cBhvr>
                                        <p:cTn id="165" dur="350"/>
                                        <p:tgtEl>
                                          <p:spTgt spid="73"/>
                                        </p:tgtEl>
                                      </p:cBhvr>
                                    </p:animEffect>
                                  </p:childTnLst>
                                </p:cTn>
                              </p:par>
                              <p:par>
                                <p:cTn id="166" presetID="10" presetClass="entr" presetSubtype="0" fill="hold" grpId="0" nodeType="withEffect">
                                  <p:stCondLst>
                                    <p:cond delay="0"/>
                                  </p:stCondLst>
                                  <p:childTnLst>
                                    <p:set>
                                      <p:cBhvr>
                                        <p:cTn id="167" dur="1" fill="hold">
                                          <p:stCondLst>
                                            <p:cond delay="0"/>
                                          </p:stCondLst>
                                        </p:cTn>
                                        <p:tgtEl>
                                          <p:spTgt spid="74"/>
                                        </p:tgtEl>
                                        <p:attrNameLst>
                                          <p:attrName>style.visibility</p:attrName>
                                        </p:attrNameLst>
                                      </p:cBhvr>
                                      <p:to>
                                        <p:strVal val="visible"/>
                                      </p:to>
                                    </p:set>
                                    <p:animEffect transition="in" filter="fade">
                                      <p:cBhvr>
                                        <p:cTn id="168" dur="350"/>
                                        <p:tgtEl>
                                          <p:spTgt spid="74"/>
                                        </p:tgtEl>
                                      </p:cBhvr>
                                    </p:animEffect>
                                  </p:childTnLst>
                                </p:cTn>
                              </p:par>
                            </p:childTnLst>
                          </p:cTn>
                        </p:par>
                        <p:par>
                          <p:cTn id="169" fill="hold">
                            <p:stCondLst>
                              <p:cond delay="2100"/>
                            </p:stCondLst>
                            <p:childTnLst>
                              <p:par>
                                <p:cTn id="170" presetID="10" presetClass="entr" presetSubtype="0" fill="hold" grpId="0" nodeType="afterEffect">
                                  <p:stCondLst>
                                    <p:cond delay="0"/>
                                  </p:stCondLst>
                                  <p:childTnLst>
                                    <p:set>
                                      <p:cBhvr>
                                        <p:cTn id="171" dur="1" fill="hold">
                                          <p:stCondLst>
                                            <p:cond delay="0"/>
                                          </p:stCondLst>
                                        </p:cTn>
                                        <p:tgtEl>
                                          <p:spTgt spid="75"/>
                                        </p:tgtEl>
                                        <p:attrNameLst>
                                          <p:attrName>style.visibility</p:attrName>
                                        </p:attrNameLst>
                                      </p:cBhvr>
                                      <p:to>
                                        <p:strVal val="visible"/>
                                      </p:to>
                                    </p:set>
                                    <p:animEffect transition="in" filter="fade">
                                      <p:cBhvr>
                                        <p:cTn id="172" dur="350"/>
                                        <p:tgtEl>
                                          <p:spTgt spid="75"/>
                                        </p:tgtEl>
                                      </p:cBhvr>
                                    </p:animEffect>
                                  </p:childTnLst>
                                </p:cTn>
                              </p:par>
                              <p:par>
                                <p:cTn id="173" presetID="10" presetClass="entr" presetSubtype="0" fill="hold" grpId="0" nodeType="withEffect">
                                  <p:stCondLst>
                                    <p:cond delay="0"/>
                                  </p:stCondLst>
                                  <p:childTnLst>
                                    <p:set>
                                      <p:cBhvr>
                                        <p:cTn id="174" dur="1" fill="hold">
                                          <p:stCondLst>
                                            <p:cond delay="0"/>
                                          </p:stCondLst>
                                        </p:cTn>
                                        <p:tgtEl>
                                          <p:spTgt spid="76"/>
                                        </p:tgtEl>
                                        <p:attrNameLst>
                                          <p:attrName>style.visibility</p:attrName>
                                        </p:attrNameLst>
                                      </p:cBhvr>
                                      <p:to>
                                        <p:strVal val="visible"/>
                                      </p:to>
                                    </p:set>
                                    <p:animEffect transition="in" filter="fade">
                                      <p:cBhvr>
                                        <p:cTn id="175" dur="350"/>
                                        <p:tgtEl>
                                          <p:spTgt spid="76"/>
                                        </p:tgtEl>
                                      </p:cBhvr>
                                    </p:animEffect>
                                  </p:childTnLst>
                                </p:cTn>
                              </p:par>
                              <p:par>
                                <p:cTn id="176" presetID="10" presetClass="entr" presetSubtype="0" fill="hold" grpId="0" nodeType="withEffect">
                                  <p:stCondLst>
                                    <p:cond delay="0"/>
                                  </p:stCondLst>
                                  <p:childTnLst>
                                    <p:set>
                                      <p:cBhvr>
                                        <p:cTn id="177" dur="1" fill="hold">
                                          <p:stCondLst>
                                            <p:cond delay="0"/>
                                          </p:stCondLst>
                                        </p:cTn>
                                        <p:tgtEl>
                                          <p:spTgt spid="77"/>
                                        </p:tgtEl>
                                        <p:attrNameLst>
                                          <p:attrName>style.visibility</p:attrName>
                                        </p:attrNameLst>
                                      </p:cBhvr>
                                      <p:to>
                                        <p:strVal val="visible"/>
                                      </p:to>
                                    </p:set>
                                    <p:animEffect transition="in" filter="fade">
                                      <p:cBhvr>
                                        <p:cTn id="178" dur="350"/>
                                        <p:tgtEl>
                                          <p:spTgt spid="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4" grpId="0" animBg="1"/>
      <p:bldP spid="25" grpId="0" animBg="1"/>
      <p:bldP spid="26" grpId="0" animBg="1"/>
      <p:bldP spid="27" grpId="0" animBg="1"/>
      <p:bldP spid="29" grpId="0" animBg="1"/>
      <p:bldP spid="30" grpId="0" animBg="1"/>
      <p:bldP spid="31" grpId="0" animBg="1"/>
      <p:bldP spid="32" grpId="0" animBg="1"/>
      <p:bldP spid="33" grpId="0" animBg="1"/>
      <p:bldP spid="34" grpId="0" animBg="1"/>
      <p:bldP spid="36" grpId="0" animBg="1"/>
      <p:bldP spid="37" grpId="0" animBg="1"/>
      <p:bldP spid="38" grpId="0" animBg="1"/>
      <p:bldP spid="39" grpId="0" animBg="1"/>
      <p:bldP spid="40" grpId="0" animBg="1"/>
      <p:bldP spid="41" grpId="0" animBg="1"/>
      <p:bldP spid="43" grpId="0" animBg="1"/>
      <p:bldP spid="44" grpId="0" animBg="1"/>
      <p:bldP spid="45" grpId="0" animBg="1"/>
      <p:bldP spid="46" grpId="0" animBg="1"/>
      <p:bldP spid="47" grpId="0" animBg="1"/>
      <p:bldP spid="48"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P spid="69" grpId="0" animBg="1"/>
      <p:bldP spid="70" grpId="0" animBg="1"/>
      <p:bldP spid="71" grpId="0" animBg="1"/>
      <p:bldP spid="72" grpId="0" animBg="1"/>
      <p:bldP spid="73" grpId="0" animBg="1"/>
      <p:bldP spid="74" grpId="0" animBg="1"/>
      <p:bldP spid="75" grpId="0" animBg="1"/>
      <p:bldP spid="77" grpId="0" animBg="1"/>
    </p:bld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lano de fundo do modelo" descr="tpl_bg.png"/>
          <p:cNvPicPr>
            <a:picLocks noChangeAspect="1"/>
          </p:cNvPicPr>
          <p:nvPr/>
        </p:nvPicPr>
        <p:blipFill>
          <a:blip r:embed="rId2"/>
          <a:stretch>
            <a:fillRect/>
          </a:stretch>
        </p:blipFill>
        <p:spPr>
          <a:xfrm>
            <a:off x="20" y="1923"/>
            <a:ext cx="18287980" cy="10285077"/>
          </a:xfrm>
          <a:prstGeom prst="rect">
            <a:avLst/>
          </a:prstGeom>
        </p:spPr>
      </p:pic>
      <p:sp>
        <p:nvSpPr>
          <p:cNvPr id="3" name="Retângulo branco (modelo)"/>
          <p:cNvSpPr/>
          <p:nvPr/>
        </p:nvSpPr>
        <p:spPr>
          <a:xfrm>
            <a:off x="15888345" y="279974"/>
            <a:ext cx="2362200" cy="863025"/>
          </a:xfrm>
          <a:prstGeom prst="rect">
            <a:avLst/>
          </a:prstGeom>
          <a:solidFill>
            <a:srgbClr val="FFFFFF"/>
          </a:solidFill>
          <a:ln>
            <a:noFill/>
          </a:ln>
        </p:spPr>
        <p:txBody>
          <a:bodyPr rtlCol="0" anchor="ctr"/>
          <a:lstStyle/>
          <a:p>
            <a:pPr algn="ctr"/>
          </a:p>
        </p:txBody>
      </p:sp>
      <p:pic>
        <p:nvPicPr>
          <p:cNvPr id="4" name="Logo SEMICA" descr="image.png"/>
          <p:cNvPicPr>
            <a:picLocks noChangeAspect="1"/>
          </p:cNvPicPr>
          <p:nvPr/>
        </p:nvPicPr>
        <p:blipFill>
          <a:blip r:embed="rId3"/>
          <a:stretch>
            <a:fillRect/>
          </a:stretch>
        </p:blipFill>
        <p:spPr>
          <a:xfrm>
            <a:off x="15544800" y="279974"/>
            <a:ext cx="2512314" cy="1234862"/>
          </a:xfrm>
          <a:prstGeom prst="rect">
            <a:avLst/>
          </a:prstGeom>
        </p:spPr>
      </p:pic>
      <p:sp>
        <p:nvSpPr>
          <p:cNvPr id="5" name="Título da seção"/>
          <p:cNvSpPr txBox="1"/>
          <p:nvPr/>
        </p:nvSpPr>
        <p:spPr>
          <a:xfrm>
            <a:off x="1143000" y="558224"/>
            <a:ext cx="10058400" cy="584775"/>
          </a:xfrm>
          <a:prstGeom prst="rect">
            <a:avLst/>
          </a:prstGeom>
          <a:noFill/>
        </p:spPr>
        <p:txBody>
          <a:bodyPr wrap="square">
            <a:noAutofit/>
          </a:bodyPr>
          <a:lstStyle/>
          <a:p>
            <a:pPr algn="l">
              <a:lnSpc>
                <a:spcPct val="100000"/>
              </a:lnSpc>
              <a:spcAft>
                <a:spcPts val="0"/>
              </a:spcAft>
              <a:buNone/>
            </a:pPr>
            <a:r>
              <a:rPr sz="3200" b="0" i="0">
                <a:solidFill>
                  <a:srgbClr val="000000"/>
                </a:solidFill>
                <a:latin typeface="Arial"/>
              </a:rPr>
              <a:t>METODOLOGIA</a:t>
            </a:r>
          </a:p>
        </p:txBody>
      </p:sp>
      <p:sp>
        <p:nvSpPr>
          <p:cNvPr id="6" name="Subtítulo"/>
          <p:cNvSpPr txBox="1"/>
          <p:nvPr/>
        </p:nvSpPr>
        <p:spPr>
          <a:xfrm>
            <a:off x="1143000" y="1097280"/>
            <a:ext cx="14173200" cy="502920"/>
          </a:xfrm>
          <a:prstGeom prst="rect">
            <a:avLst/>
          </a:prstGeom>
          <a:noFill/>
        </p:spPr>
        <p:txBody>
          <a:bodyPr wrap="square" lIns="0" rIns="0" tIns="0" bIns="0" anchor="t">
            <a:noAutofit/>
          </a:bodyPr>
          <a:lstStyle/>
          <a:p>
            <a:pPr algn="l">
              <a:lnSpc>
                <a:spcPct val="100000"/>
              </a:lnSpc>
              <a:spcAft>
                <a:spcPts val="0"/>
              </a:spcAft>
              <a:buNone/>
            </a:pPr>
            <a:r>
              <a:rPr sz="2400" b="1" i="0">
                <a:solidFill>
                  <a:srgbClr val="002060"/>
                </a:solidFill>
                <a:latin typeface="Arial"/>
              </a:rPr>
              <a:t>Passo 7 · Certeza da evidência: GRADE adaptado a desfechos de prevalência</a:t>
            </a:r>
          </a:p>
        </p:txBody>
      </p:sp>
      <p:cxnSp>
        <p:nvCxnSpPr>
          <p:cNvPr id="7" name="Connector 6"/>
          <p:cNvCxnSpPr/>
          <p:nvPr/>
        </p:nvCxnSpPr>
        <p:spPr>
          <a:xfrm>
            <a:off x="2410097" y="9454896"/>
            <a:ext cx="14107885" cy="0"/>
          </a:xfrm>
          <a:prstGeom prst="line">
            <a:avLst/>
          </a:prstGeom>
          <a:ln w="31750">
            <a:solidFill>
              <a:srgbClr val="C9CFDA"/>
            </a:solidFill>
          </a:ln>
        </p:spPr>
      </p:cxnSp>
      <p:sp>
        <p:nvSpPr>
          <p:cNvPr id="8" name="Oval 7"/>
          <p:cNvSpPr/>
          <p:nvPr/>
        </p:nvSpPr>
        <p:spPr>
          <a:xfrm>
            <a:off x="2245505" y="9290304"/>
            <a:ext cx="329184" cy="329184"/>
          </a:xfrm>
          <a:prstGeom prst="ellipse">
            <a:avLst/>
          </a:prstGeom>
          <a:solidFill>
            <a:srgbClr val="C9CFDA"/>
          </a:solidFill>
          <a:ln>
            <a:noFill/>
          </a:ln>
          <a:effectLst/>
        </p:spPr>
        <p:txBody>
          <a:bodyPr rtlCol="0" anchor="ctr" lIns="0" rIns="0" tIns="0" bIns="0" wrap="square">
            <a:noAutofit/>
          </a:bodyPr>
          <a:lstStyle/>
          <a:p>
            <a:pPr algn="ctr">
              <a:lnSpc>
                <a:spcPct val="100000"/>
              </a:lnSpc>
              <a:spcAft>
                <a:spcPts val="0"/>
              </a:spcAft>
              <a:buNone/>
            </a:pPr>
            <a:r>
              <a:rPr sz="1300" b="1" i="0">
                <a:solidFill>
                  <a:srgbClr val="FFFFFF"/>
                </a:solidFill>
                <a:latin typeface="Arial"/>
              </a:rPr>
              <a:t>1</a:t>
            </a:r>
          </a:p>
        </p:txBody>
      </p:sp>
      <p:sp>
        <p:nvSpPr>
          <p:cNvPr id="9" name="TextBox 8"/>
          <p:cNvSpPr txBox="1"/>
          <p:nvPr/>
        </p:nvSpPr>
        <p:spPr>
          <a:xfrm>
            <a:off x="1234439" y="9710928"/>
            <a:ext cx="2351314" cy="365760"/>
          </a:xfrm>
          <a:prstGeom prst="rect">
            <a:avLst/>
          </a:prstGeom>
          <a:noFill/>
        </p:spPr>
        <p:txBody>
          <a:bodyPr wrap="square" lIns="0" rIns="0" tIns="0" bIns="0" anchor="t">
            <a:noAutofit/>
          </a:bodyPr>
          <a:lstStyle/>
          <a:p>
            <a:pPr algn="ctr">
              <a:lnSpc>
                <a:spcPct val="100000"/>
              </a:lnSpc>
              <a:spcAft>
                <a:spcPts val="0"/>
              </a:spcAft>
              <a:buNone/>
            </a:pPr>
            <a:r>
              <a:rPr sz="1400" b="0" i="0">
                <a:solidFill>
                  <a:srgbClr val="5A6270"/>
                </a:solidFill>
                <a:latin typeface="Arial"/>
              </a:rPr>
              <a:t>Protocolo</a:t>
            </a:r>
          </a:p>
        </p:txBody>
      </p:sp>
      <p:sp>
        <p:nvSpPr>
          <p:cNvPr id="10" name="Oval 9"/>
          <p:cNvSpPr/>
          <p:nvPr/>
        </p:nvSpPr>
        <p:spPr>
          <a:xfrm>
            <a:off x="4596819" y="9290304"/>
            <a:ext cx="329184" cy="329184"/>
          </a:xfrm>
          <a:prstGeom prst="ellipse">
            <a:avLst/>
          </a:prstGeom>
          <a:solidFill>
            <a:srgbClr val="C9CFDA"/>
          </a:solidFill>
          <a:ln>
            <a:noFill/>
          </a:ln>
          <a:effectLst/>
        </p:spPr>
        <p:txBody>
          <a:bodyPr rtlCol="0" anchor="ctr" lIns="0" rIns="0" tIns="0" bIns="0" wrap="square">
            <a:noAutofit/>
          </a:bodyPr>
          <a:lstStyle/>
          <a:p>
            <a:pPr algn="ctr">
              <a:lnSpc>
                <a:spcPct val="100000"/>
              </a:lnSpc>
              <a:spcAft>
                <a:spcPts val="0"/>
              </a:spcAft>
              <a:buNone/>
            </a:pPr>
            <a:r>
              <a:rPr sz="1300" b="1" i="0">
                <a:solidFill>
                  <a:srgbClr val="FFFFFF"/>
                </a:solidFill>
                <a:latin typeface="Arial"/>
              </a:rPr>
              <a:t>2</a:t>
            </a:r>
          </a:p>
        </p:txBody>
      </p:sp>
      <p:sp>
        <p:nvSpPr>
          <p:cNvPr id="11" name="TextBox 10"/>
          <p:cNvSpPr txBox="1"/>
          <p:nvPr/>
        </p:nvSpPr>
        <p:spPr>
          <a:xfrm>
            <a:off x="3585754" y="9710928"/>
            <a:ext cx="2351314" cy="365760"/>
          </a:xfrm>
          <a:prstGeom prst="rect">
            <a:avLst/>
          </a:prstGeom>
          <a:noFill/>
        </p:spPr>
        <p:txBody>
          <a:bodyPr wrap="square" lIns="0" rIns="0" tIns="0" bIns="0" anchor="t">
            <a:noAutofit/>
          </a:bodyPr>
          <a:lstStyle/>
          <a:p>
            <a:pPr algn="ctr">
              <a:lnSpc>
                <a:spcPct val="100000"/>
              </a:lnSpc>
              <a:spcAft>
                <a:spcPts val="0"/>
              </a:spcAft>
              <a:buNone/>
            </a:pPr>
            <a:r>
              <a:rPr sz="1400" b="0" i="0">
                <a:solidFill>
                  <a:srgbClr val="5A6270"/>
                </a:solidFill>
                <a:latin typeface="Arial"/>
              </a:rPr>
              <a:t>Busca</a:t>
            </a:r>
          </a:p>
        </p:txBody>
      </p:sp>
      <p:sp>
        <p:nvSpPr>
          <p:cNvPr id="12" name="Oval 11"/>
          <p:cNvSpPr/>
          <p:nvPr/>
        </p:nvSpPr>
        <p:spPr>
          <a:xfrm>
            <a:off x="6948133" y="9290304"/>
            <a:ext cx="329184" cy="329184"/>
          </a:xfrm>
          <a:prstGeom prst="ellipse">
            <a:avLst/>
          </a:prstGeom>
          <a:solidFill>
            <a:srgbClr val="C9CFDA"/>
          </a:solidFill>
          <a:ln>
            <a:noFill/>
          </a:ln>
          <a:effectLst/>
        </p:spPr>
        <p:txBody>
          <a:bodyPr rtlCol="0" anchor="ctr" lIns="0" rIns="0" tIns="0" bIns="0" wrap="square">
            <a:noAutofit/>
          </a:bodyPr>
          <a:lstStyle/>
          <a:p>
            <a:pPr algn="ctr">
              <a:lnSpc>
                <a:spcPct val="100000"/>
              </a:lnSpc>
              <a:spcAft>
                <a:spcPts val="0"/>
              </a:spcAft>
              <a:buNone/>
            </a:pPr>
            <a:r>
              <a:rPr sz="1300" b="1" i="0">
                <a:solidFill>
                  <a:srgbClr val="FFFFFF"/>
                </a:solidFill>
                <a:latin typeface="Arial"/>
              </a:rPr>
              <a:t>3</a:t>
            </a:r>
          </a:p>
        </p:txBody>
      </p:sp>
      <p:sp>
        <p:nvSpPr>
          <p:cNvPr id="13" name="TextBox 12"/>
          <p:cNvSpPr txBox="1"/>
          <p:nvPr/>
        </p:nvSpPr>
        <p:spPr>
          <a:xfrm>
            <a:off x="5937068" y="9710928"/>
            <a:ext cx="2351314" cy="365760"/>
          </a:xfrm>
          <a:prstGeom prst="rect">
            <a:avLst/>
          </a:prstGeom>
          <a:noFill/>
        </p:spPr>
        <p:txBody>
          <a:bodyPr wrap="square" lIns="0" rIns="0" tIns="0" bIns="0" anchor="t">
            <a:noAutofit/>
          </a:bodyPr>
          <a:lstStyle/>
          <a:p>
            <a:pPr algn="ctr">
              <a:lnSpc>
                <a:spcPct val="100000"/>
              </a:lnSpc>
              <a:spcAft>
                <a:spcPts val="0"/>
              </a:spcAft>
              <a:buNone/>
            </a:pPr>
            <a:r>
              <a:rPr sz="1400" b="0" i="0">
                <a:solidFill>
                  <a:srgbClr val="5A6270"/>
                </a:solidFill>
                <a:latin typeface="Arial"/>
              </a:rPr>
              <a:t>Seleção</a:t>
            </a:r>
          </a:p>
        </p:txBody>
      </p:sp>
      <p:sp>
        <p:nvSpPr>
          <p:cNvPr id="14" name="Oval 13"/>
          <p:cNvSpPr/>
          <p:nvPr/>
        </p:nvSpPr>
        <p:spPr>
          <a:xfrm>
            <a:off x="9299447" y="9290304"/>
            <a:ext cx="329184" cy="329184"/>
          </a:xfrm>
          <a:prstGeom prst="ellipse">
            <a:avLst/>
          </a:prstGeom>
          <a:solidFill>
            <a:srgbClr val="C9CFDA"/>
          </a:solidFill>
          <a:ln>
            <a:noFill/>
          </a:ln>
          <a:effectLst/>
        </p:spPr>
        <p:txBody>
          <a:bodyPr rtlCol="0" anchor="ctr" lIns="0" rIns="0" tIns="0" bIns="0" wrap="square">
            <a:noAutofit/>
          </a:bodyPr>
          <a:lstStyle/>
          <a:p>
            <a:pPr algn="ctr">
              <a:lnSpc>
                <a:spcPct val="100000"/>
              </a:lnSpc>
              <a:spcAft>
                <a:spcPts val="0"/>
              </a:spcAft>
              <a:buNone/>
            </a:pPr>
            <a:r>
              <a:rPr sz="1300" b="1" i="0">
                <a:solidFill>
                  <a:srgbClr val="FFFFFF"/>
                </a:solidFill>
                <a:latin typeface="Arial"/>
              </a:rPr>
              <a:t>4</a:t>
            </a:r>
          </a:p>
        </p:txBody>
      </p:sp>
      <p:sp>
        <p:nvSpPr>
          <p:cNvPr id="15" name="TextBox 14"/>
          <p:cNvSpPr txBox="1"/>
          <p:nvPr/>
        </p:nvSpPr>
        <p:spPr>
          <a:xfrm>
            <a:off x="8288382" y="9710928"/>
            <a:ext cx="2351314" cy="365760"/>
          </a:xfrm>
          <a:prstGeom prst="rect">
            <a:avLst/>
          </a:prstGeom>
          <a:noFill/>
        </p:spPr>
        <p:txBody>
          <a:bodyPr wrap="square" lIns="0" rIns="0" tIns="0" bIns="0" anchor="t">
            <a:noAutofit/>
          </a:bodyPr>
          <a:lstStyle/>
          <a:p>
            <a:pPr algn="ctr">
              <a:lnSpc>
                <a:spcPct val="100000"/>
              </a:lnSpc>
              <a:spcAft>
                <a:spcPts val="0"/>
              </a:spcAft>
              <a:buNone/>
            </a:pPr>
            <a:r>
              <a:rPr sz="1400" b="0" i="0">
                <a:solidFill>
                  <a:srgbClr val="5A6270"/>
                </a:solidFill>
                <a:latin typeface="Arial"/>
              </a:rPr>
              <a:t>Extração</a:t>
            </a:r>
          </a:p>
        </p:txBody>
      </p:sp>
      <p:sp>
        <p:nvSpPr>
          <p:cNvPr id="16" name="Oval 15"/>
          <p:cNvSpPr/>
          <p:nvPr/>
        </p:nvSpPr>
        <p:spPr>
          <a:xfrm>
            <a:off x="11650762" y="9290304"/>
            <a:ext cx="329184" cy="329184"/>
          </a:xfrm>
          <a:prstGeom prst="ellipse">
            <a:avLst/>
          </a:prstGeom>
          <a:solidFill>
            <a:srgbClr val="C9CFDA"/>
          </a:solidFill>
          <a:ln>
            <a:noFill/>
          </a:ln>
          <a:effectLst/>
        </p:spPr>
        <p:txBody>
          <a:bodyPr rtlCol="0" anchor="ctr" lIns="0" rIns="0" tIns="0" bIns="0" wrap="square">
            <a:noAutofit/>
          </a:bodyPr>
          <a:lstStyle/>
          <a:p>
            <a:pPr algn="ctr">
              <a:lnSpc>
                <a:spcPct val="100000"/>
              </a:lnSpc>
              <a:spcAft>
                <a:spcPts val="0"/>
              </a:spcAft>
              <a:buNone/>
            </a:pPr>
            <a:r>
              <a:rPr sz="1300" b="1" i="0">
                <a:solidFill>
                  <a:srgbClr val="FFFFFF"/>
                </a:solidFill>
                <a:latin typeface="Arial"/>
              </a:rPr>
              <a:t>5</a:t>
            </a:r>
          </a:p>
        </p:txBody>
      </p:sp>
      <p:sp>
        <p:nvSpPr>
          <p:cNvPr id="17" name="TextBox 16"/>
          <p:cNvSpPr txBox="1"/>
          <p:nvPr/>
        </p:nvSpPr>
        <p:spPr>
          <a:xfrm>
            <a:off x="10639697" y="9710928"/>
            <a:ext cx="2351314" cy="365760"/>
          </a:xfrm>
          <a:prstGeom prst="rect">
            <a:avLst/>
          </a:prstGeom>
          <a:noFill/>
        </p:spPr>
        <p:txBody>
          <a:bodyPr wrap="square" lIns="0" rIns="0" tIns="0" bIns="0" anchor="t">
            <a:noAutofit/>
          </a:bodyPr>
          <a:lstStyle/>
          <a:p>
            <a:pPr algn="ctr">
              <a:lnSpc>
                <a:spcPct val="100000"/>
              </a:lnSpc>
              <a:spcAft>
                <a:spcPts val="0"/>
              </a:spcAft>
              <a:buNone/>
            </a:pPr>
            <a:r>
              <a:rPr sz="1400" b="0" i="0">
                <a:solidFill>
                  <a:srgbClr val="5A6270"/>
                </a:solidFill>
                <a:latin typeface="Arial"/>
              </a:rPr>
              <a:t>Risco de viés</a:t>
            </a:r>
          </a:p>
        </p:txBody>
      </p:sp>
      <p:sp>
        <p:nvSpPr>
          <p:cNvPr id="18" name="Oval 17"/>
          <p:cNvSpPr/>
          <p:nvPr/>
        </p:nvSpPr>
        <p:spPr>
          <a:xfrm>
            <a:off x="14002076" y="9290304"/>
            <a:ext cx="329184" cy="329184"/>
          </a:xfrm>
          <a:prstGeom prst="ellipse">
            <a:avLst/>
          </a:prstGeom>
          <a:solidFill>
            <a:srgbClr val="C9CFDA"/>
          </a:solidFill>
          <a:ln>
            <a:noFill/>
          </a:ln>
          <a:effectLst/>
        </p:spPr>
        <p:txBody>
          <a:bodyPr rtlCol="0" anchor="ctr" lIns="0" rIns="0" tIns="0" bIns="0" wrap="square">
            <a:noAutofit/>
          </a:bodyPr>
          <a:lstStyle/>
          <a:p>
            <a:pPr algn="ctr">
              <a:lnSpc>
                <a:spcPct val="100000"/>
              </a:lnSpc>
              <a:spcAft>
                <a:spcPts val="0"/>
              </a:spcAft>
              <a:buNone/>
            </a:pPr>
            <a:r>
              <a:rPr sz="1300" b="1" i="0">
                <a:solidFill>
                  <a:srgbClr val="FFFFFF"/>
                </a:solidFill>
                <a:latin typeface="Arial"/>
              </a:rPr>
              <a:t>6</a:t>
            </a:r>
          </a:p>
        </p:txBody>
      </p:sp>
      <p:sp>
        <p:nvSpPr>
          <p:cNvPr id="19" name="TextBox 18"/>
          <p:cNvSpPr txBox="1"/>
          <p:nvPr/>
        </p:nvSpPr>
        <p:spPr>
          <a:xfrm>
            <a:off x="12991011" y="9710928"/>
            <a:ext cx="2351314" cy="365760"/>
          </a:xfrm>
          <a:prstGeom prst="rect">
            <a:avLst/>
          </a:prstGeom>
          <a:noFill/>
        </p:spPr>
        <p:txBody>
          <a:bodyPr wrap="square" lIns="0" rIns="0" tIns="0" bIns="0" anchor="t">
            <a:noAutofit/>
          </a:bodyPr>
          <a:lstStyle/>
          <a:p>
            <a:pPr algn="ctr">
              <a:lnSpc>
                <a:spcPct val="100000"/>
              </a:lnSpc>
              <a:spcAft>
                <a:spcPts val="0"/>
              </a:spcAft>
              <a:buNone/>
            </a:pPr>
            <a:r>
              <a:rPr sz="1400" b="0" i="0">
                <a:solidFill>
                  <a:srgbClr val="5A6270"/>
                </a:solidFill>
                <a:latin typeface="Arial"/>
              </a:rPr>
              <a:t>Síntese</a:t>
            </a:r>
          </a:p>
        </p:txBody>
      </p:sp>
      <p:sp>
        <p:nvSpPr>
          <p:cNvPr id="20" name="Oval 19"/>
          <p:cNvSpPr/>
          <p:nvPr/>
        </p:nvSpPr>
        <p:spPr>
          <a:xfrm>
            <a:off x="16316814" y="9253728"/>
            <a:ext cx="402336" cy="402336"/>
          </a:xfrm>
          <a:prstGeom prst="ellipse">
            <a:avLst/>
          </a:prstGeom>
          <a:solidFill>
            <a:srgbClr val="8B0000"/>
          </a:solidFill>
          <a:ln>
            <a:noFill/>
          </a:ln>
          <a:effectLst/>
        </p:spPr>
        <p:txBody>
          <a:bodyPr rtlCol="0" anchor="ctr" lIns="0" rIns="0" tIns="0" bIns="0" wrap="square">
            <a:noAutofit/>
          </a:bodyPr>
          <a:lstStyle/>
          <a:p>
            <a:pPr algn="ctr">
              <a:lnSpc>
                <a:spcPct val="100000"/>
              </a:lnSpc>
              <a:spcAft>
                <a:spcPts val="0"/>
              </a:spcAft>
              <a:buNone/>
            </a:pPr>
            <a:r>
              <a:rPr sz="1600" b="1" i="0">
                <a:solidFill>
                  <a:srgbClr val="FFFFFF"/>
                </a:solidFill>
                <a:latin typeface="Arial"/>
              </a:rPr>
              <a:t>7</a:t>
            </a:r>
          </a:p>
        </p:txBody>
      </p:sp>
      <p:sp>
        <p:nvSpPr>
          <p:cNvPr id="21" name="TextBox 20"/>
          <p:cNvSpPr txBox="1"/>
          <p:nvPr/>
        </p:nvSpPr>
        <p:spPr>
          <a:xfrm>
            <a:off x="15342325" y="9710928"/>
            <a:ext cx="2351314" cy="365760"/>
          </a:xfrm>
          <a:prstGeom prst="rect">
            <a:avLst/>
          </a:prstGeom>
          <a:noFill/>
        </p:spPr>
        <p:txBody>
          <a:bodyPr wrap="square" lIns="0" rIns="0" tIns="0" bIns="0" anchor="t">
            <a:noAutofit/>
          </a:bodyPr>
          <a:lstStyle/>
          <a:p>
            <a:pPr algn="ctr">
              <a:lnSpc>
                <a:spcPct val="100000"/>
              </a:lnSpc>
              <a:spcAft>
                <a:spcPts val="0"/>
              </a:spcAft>
              <a:buNone/>
            </a:pPr>
            <a:r>
              <a:rPr sz="1400" b="1" i="0">
                <a:solidFill>
                  <a:srgbClr val="002060"/>
                </a:solidFill>
                <a:latin typeface="Arial"/>
              </a:rPr>
              <a:t>Certeza (GRADE)</a:t>
            </a:r>
          </a:p>
        </p:txBody>
      </p:sp>
      <p:sp>
        <p:nvSpPr>
          <p:cNvPr id="22" name="Rounded Rectangle 21"/>
          <p:cNvSpPr/>
          <p:nvPr/>
        </p:nvSpPr>
        <p:spPr>
          <a:xfrm>
            <a:off x="1143000" y="1783080"/>
            <a:ext cx="3108960" cy="3154680"/>
          </a:xfrm>
          <a:prstGeom prst="roundRect">
            <a:avLst>
              <a:gd name="adj" fmla="val 6000"/>
            </a:avLst>
          </a:prstGeom>
          <a:solidFill>
            <a:srgbClr val="F2F4F8"/>
          </a:solidFill>
          <a:ln>
            <a:noFill/>
          </a:ln>
          <a:effectLst/>
        </p:spPr>
        <p:txBody>
          <a:bodyPr rtlCol="0" anchor="ctr"/>
          <a:lstStyle/>
          <a:p/>
        </p:txBody>
      </p:sp>
      <p:sp>
        <p:nvSpPr>
          <p:cNvPr id="23" name="Oval 22"/>
          <p:cNvSpPr/>
          <p:nvPr/>
        </p:nvSpPr>
        <p:spPr>
          <a:xfrm>
            <a:off x="1417320" y="2057400"/>
            <a:ext cx="685800" cy="685800"/>
          </a:xfrm>
          <a:prstGeom prst="ellipse">
            <a:avLst/>
          </a:prstGeom>
          <a:solidFill>
            <a:srgbClr val="002060"/>
          </a:solidFill>
          <a:ln>
            <a:noFill/>
          </a:ln>
          <a:effectLst/>
        </p:spPr>
        <p:txBody>
          <a:bodyPr rtlCol="0" anchor="ctr" lIns="0" rIns="0" tIns="0" bIns="0"/>
          <a:lstStyle/>
          <a:p/>
        </p:txBody>
      </p:sp>
      <p:pic>
        <p:nvPicPr>
          <p:cNvPr id="24" name="icone balance" descr="balance_white.png"/>
          <p:cNvPicPr>
            <a:picLocks noChangeAspect="1"/>
          </p:cNvPicPr>
          <p:nvPr/>
        </p:nvPicPr>
        <p:blipFill>
          <a:blip r:embed="rId4"/>
          <a:stretch>
            <a:fillRect/>
          </a:stretch>
        </p:blipFill>
        <p:spPr>
          <a:xfrm>
            <a:off x="1588770" y="2228850"/>
            <a:ext cx="342900" cy="342900"/>
          </a:xfrm>
          <a:prstGeom prst="rect">
            <a:avLst/>
          </a:prstGeom>
        </p:spPr>
      </p:pic>
      <p:sp>
        <p:nvSpPr>
          <p:cNvPr id="25" name="TextBox 24"/>
          <p:cNvSpPr txBox="1"/>
          <p:nvPr/>
        </p:nvSpPr>
        <p:spPr>
          <a:xfrm>
            <a:off x="2331720" y="2057400"/>
            <a:ext cx="1645920" cy="685800"/>
          </a:xfrm>
          <a:prstGeom prst="rect">
            <a:avLst/>
          </a:prstGeom>
          <a:noFill/>
        </p:spPr>
        <p:txBody>
          <a:bodyPr wrap="square" lIns="0" rIns="0" tIns="0" bIns="0" anchor="ctr">
            <a:noAutofit/>
          </a:bodyPr>
          <a:lstStyle/>
          <a:p>
            <a:pPr algn="l">
              <a:lnSpc>
                <a:spcPct val="100000"/>
              </a:lnSpc>
              <a:spcAft>
                <a:spcPts val="0"/>
              </a:spcAft>
              <a:buNone/>
            </a:pPr>
            <a:r>
              <a:rPr sz="1700" b="1" i="0">
                <a:solidFill>
                  <a:srgbClr val="002060"/>
                </a:solidFill>
                <a:latin typeface="Arial"/>
              </a:rPr>
              <a:t>Risco de viés</a:t>
            </a:r>
          </a:p>
        </p:txBody>
      </p:sp>
      <p:sp>
        <p:nvSpPr>
          <p:cNvPr id="26" name="TextBox 25"/>
          <p:cNvSpPr txBox="1"/>
          <p:nvPr/>
        </p:nvSpPr>
        <p:spPr>
          <a:xfrm>
            <a:off x="1417320" y="2926080"/>
            <a:ext cx="2560320" cy="1737360"/>
          </a:xfrm>
          <a:prstGeom prst="rect">
            <a:avLst/>
          </a:prstGeom>
          <a:noFill/>
        </p:spPr>
        <p:txBody>
          <a:bodyPr wrap="square" lIns="0" rIns="0" tIns="0" bIns="0" anchor="t">
            <a:noAutofit/>
          </a:bodyPr>
          <a:lstStyle/>
          <a:p>
            <a:pPr algn="l">
              <a:lnSpc>
                <a:spcPct val="100000"/>
              </a:lnSpc>
              <a:spcAft>
                <a:spcPts val="500"/>
              </a:spcAft>
              <a:buNone/>
            </a:pPr>
            <a:r>
              <a:rPr sz="1600" b="0" i="0">
                <a:solidFill>
                  <a:srgbClr val="1F2433"/>
                </a:solidFill>
                <a:latin typeface="Arial"/>
              </a:rPr>
              <a:t>Do JBI: amostragem não probabilística, taxa de resposta não relatada, autorrelato; nos objetivos, sem ajuste para confundidores.</a:t>
            </a:r>
          </a:p>
        </p:txBody>
      </p:sp>
      <p:sp>
        <p:nvSpPr>
          <p:cNvPr id="27" name="Rounded Rectangle 26"/>
          <p:cNvSpPr/>
          <p:nvPr/>
        </p:nvSpPr>
        <p:spPr>
          <a:xfrm>
            <a:off x="4526279" y="1783080"/>
            <a:ext cx="3108960" cy="3154680"/>
          </a:xfrm>
          <a:prstGeom prst="roundRect">
            <a:avLst>
              <a:gd name="adj" fmla="val 6000"/>
            </a:avLst>
          </a:prstGeom>
          <a:solidFill>
            <a:srgbClr val="F2F4F8"/>
          </a:solidFill>
          <a:ln>
            <a:noFill/>
          </a:ln>
          <a:effectLst/>
        </p:spPr>
        <p:txBody>
          <a:bodyPr rtlCol="0" anchor="ctr"/>
          <a:lstStyle/>
          <a:p/>
        </p:txBody>
      </p:sp>
      <p:sp>
        <p:nvSpPr>
          <p:cNvPr id="28" name="Oval 27"/>
          <p:cNvSpPr/>
          <p:nvPr/>
        </p:nvSpPr>
        <p:spPr>
          <a:xfrm>
            <a:off x="4800599" y="2057400"/>
            <a:ext cx="685800" cy="685800"/>
          </a:xfrm>
          <a:prstGeom prst="ellipse">
            <a:avLst/>
          </a:prstGeom>
          <a:solidFill>
            <a:srgbClr val="002060"/>
          </a:solidFill>
          <a:ln>
            <a:noFill/>
          </a:ln>
          <a:effectLst/>
        </p:spPr>
        <p:txBody>
          <a:bodyPr rtlCol="0" anchor="ctr" lIns="0" rIns="0" tIns="0" bIns="0"/>
          <a:lstStyle/>
          <a:p/>
        </p:txBody>
      </p:sp>
      <p:pic>
        <p:nvPicPr>
          <p:cNvPr id="29" name="icone spiral" descr="spiral_white.png"/>
          <p:cNvPicPr>
            <a:picLocks noChangeAspect="1"/>
          </p:cNvPicPr>
          <p:nvPr/>
        </p:nvPicPr>
        <p:blipFill>
          <a:blip r:embed="rId5"/>
          <a:stretch>
            <a:fillRect/>
          </a:stretch>
        </p:blipFill>
        <p:spPr>
          <a:xfrm>
            <a:off x="4972049" y="2228850"/>
            <a:ext cx="342900" cy="342900"/>
          </a:xfrm>
          <a:prstGeom prst="rect">
            <a:avLst/>
          </a:prstGeom>
        </p:spPr>
      </p:pic>
      <p:sp>
        <p:nvSpPr>
          <p:cNvPr id="30" name="TextBox 29"/>
          <p:cNvSpPr txBox="1"/>
          <p:nvPr/>
        </p:nvSpPr>
        <p:spPr>
          <a:xfrm>
            <a:off x="5714999" y="2057400"/>
            <a:ext cx="1645919" cy="685800"/>
          </a:xfrm>
          <a:prstGeom prst="rect">
            <a:avLst/>
          </a:prstGeom>
          <a:noFill/>
        </p:spPr>
        <p:txBody>
          <a:bodyPr wrap="square" lIns="0" rIns="0" tIns="0" bIns="0" anchor="ctr">
            <a:noAutofit/>
          </a:bodyPr>
          <a:lstStyle/>
          <a:p>
            <a:pPr algn="l">
              <a:lnSpc>
                <a:spcPct val="100000"/>
              </a:lnSpc>
              <a:spcAft>
                <a:spcPts val="0"/>
              </a:spcAft>
              <a:buNone/>
            </a:pPr>
            <a:r>
              <a:rPr sz="1700" b="1" i="0">
                <a:solidFill>
                  <a:srgbClr val="002060"/>
                </a:solidFill>
                <a:latin typeface="Arial"/>
              </a:rPr>
              <a:t>Inconsistência</a:t>
            </a:r>
          </a:p>
        </p:txBody>
      </p:sp>
      <p:sp>
        <p:nvSpPr>
          <p:cNvPr id="31" name="TextBox 30"/>
          <p:cNvSpPr txBox="1"/>
          <p:nvPr/>
        </p:nvSpPr>
        <p:spPr>
          <a:xfrm>
            <a:off x="4800599" y="2926080"/>
            <a:ext cx="2560320" cy="1737360"/>
          </a:xfrm>
          <a:prstGeom prst="rect">
            <a:avLst/>
          </a:prstGeom>
          <a:noFill/>
        </p:spPr>
        <p:txBody>
          <a:bodyPr wrap="square" lIns="0" rIns="0" tIns="0" bIns="0" anchor="t">
            <a:noAutofit/>
          </a:bodyPr>
          <a:lstStyle/>
          <a:p>
            <a:pPr algn="l">
              <a:lnSpc>
                <a:spcPct val="100000"/>
              </a:lnSpc>
              <a:spcAft>
                <a:spcPts val="500"/>
              </a:spcAft>
              <a:buNone/>
            </a:pPr>
            <a:r>
              <a:rPr sz="1600" b="0" i="0">
                <a:solidFill>
                  <a:srgbClr val="1F2433"/>
                </a:solidFill>
                <a:latin typeface="Arial"/>
              </a:rPr>
              <a:t>I² acima de 90%, prevalências de 19% a 56% e intervalo de predição amplo → muito grave na prevalência.</a:t>
            </a:r>
          </a:p>
        </p:txBody>
      </p:sp>
      <p:sp>
        <p:nvSpPr>
          <p:cNvPr id="32" name="Rounded Rectangle 31"/>
          <p:cNvSpPr/>
          <p:nvPr/>
        </p:nvSpPr>
        <p:spPr>
          <a:xfrm>
            <a:off x="7909559" y="1783080"/>
            <a:ext cx="3108960" cy="3154680"/>
          </a:xfrm>
          <a:prstGeom prst="roundRect">
            <a:avLst>
              <a:gd name="adj" fmla="val 6000"/>
            </a:avLst>
          </a:prstGeom>
          <a:solidFill>
            <a:srgbClr val="F2F4F8"/>
          </a:solidFill>
          <a:ln>
            <a:noFill/>
          </a:ln>
          <a:effectLst/>
        </p:spPr>
        <p:txBody>
          <a:bodyPr rtlCol="0" anchor="ctr"/>
          <a:lstStyle/>
          <a:p/>
        </p:txBody>
      </p:sp>
      <p:sp>
        <p:nvSpPr>
          <p:cNvPr id="33" name="Oval 32"/>
          <p:cNvSpPr/>
          <p:nvPr/>
        </p:nvSpPr>
        <p:spPr>
          <a:xfrm>
            <a:off x="8183879" y="2057400"/>
            <a:ext cx="685800" cy="685800"/>
          </a:xfrm>
          <a:prstGeom prst="ellipse">
            <a:avLst/>
          </a:prstGeom>
          <a:solidFill>
            <a:srgbClr val="002060"/>
          </a:solidFill>
          <a:ln>
            <a:noFill/>
          </a:ln>
          <a:effectLst/>
        </p:spPr>
        <p:txBody>
          <a:bodyPr rtlCol="0" anchor="ctr" lIns="0" rIns="0" tIns="0" bIns="0"/>
          <a:lstStyle/>
          <a:p/>
        </p:txBody>
      </p:sp>
      <p:pic>
        <p:nvPicPr>
          <p:cNvPr id="34" name="icone compass" descr="compass_white.png"/>
          <p:cNvPicPr>
            <a:picLocks noChangeAspect="1"/>
          </p:cNvPicPr>
          <p:nvPr/>
        </p:nvPicPr>
        <p:blipFill>
          <a:blip r:embed="rId6"/>
          <a:stretch>
            <a:fillRect/>
          </a:stretch>
        </p:blipFill>
        <p:spPr>
          <a:xfrm>
            <a:off x="8355329" y="2228850"/>
            <a:ext cx="342900" cy="342900"/>
          </a:xfrm>
          <a:prstGeom prst="rect">
            <a:avLst/>
          </a:prstGeom>
        </p:spPr>
      </p:pic>
      <p:sp>
        <p:nvSpPr>
          <p:cNvPr id="35" name="TextBox 34"/>
          <p:cNvSpPr txBox="1"/>
          <p:nvPr/>
        </p:nvSpPr>
        <p:spPr>
          <a:xfrm>
            <a:off x="9098280" y="2057400"/>
            <a:ext cx="1645919" cy="685800"/>
          </a:xfrm>
          <a:prstGeom prst="rect">
            <a:avLst/>
          </a:prstGeom>
          <a:noFill/>
        </p:spPr>
        <p:txBody>
          <a:bodyPr wrap="square" lIns="0" rIns="0" tIns="0" bIns="0" anchor="ctr">
            <a:noAutofit/>
          </a:bodyPr>
          <a:lstStyle/>
          <a:p>
            <a:pPr algn="l">
              <a:lnSpc>
                <a:spcPct val="100000"/>
              </a:lnSpc>
              <a:spcAft>
                <a:spcPts val="0"/>
              </a:spcAft>
              <a:buNone/>
            </a:pPr>
            <a:r>
              <a:rPr sz="1700" b="1" i="0">
                <a:solidFill>
                  <a:srgbClr val="002060"/>
                </a:solidFill>
                <a:latin typeface="Arial"/>
              </a:rPr>
              <a:t>Evidência indireta</a:t>
            </a:r>
          </a:p>
        </p:txBody>
      </p:sp>
      <p:sp>
        <p:nvSpPr>
          <p:cNvPr id="36" name="TextBox 35"/>
          <p:cNvSpPr txBox="1"/>
          <p:nvPr/>
        </p:nvSpPr>
        <p:spPr>
          <a:xfrm>
            <a:off x="8183879" y="2926080"/>
            <a:ext cx="2560320" cy="1737360"/>
          </a:xfrm>
          <a:prstGeom prst="rect">
            <a:avLst/>
          </a:prstGeom>
          <a:noFill/>
        </p:spPr>
        <p:txBody>
          <a:bodyPr wrap="square" lIns="0" rIns="0" tIns="0" bIns="0" anchor="t">
            <a:noAutofit/>
          </a:bodyPr>
          <a:lstStyle/>
          <a:p>
            <a:pPr algn="l">
              <a:lnSpc>
                <a:spcPct val="100000"/>
              </a:lnSpc>
              <a:spcAft>
                <a:spcPts val="500"/>
              </a:spcAft>
              <a:buNone/>
            </a:pPr>
            <a:r>
              <a:rPr sz="1600" b="0" i="0">
                <a:solidFill>
                  <a:srgbClr val="1F2433"/>
                </a:solidFill>
                <a:latin typeface="Arial"/>
              </a:rPr>
              <a:t>Não rebaixada na prevalência (o sintoma é o próprio desfecho); rebaixada nos desfechos objetivos (coexposições, desfechos substitutos).</a:t>
            </a:r>
          </a:p>
        </p:txBody>
      </p:sp>
      <p:sp>
        <p:nvSpPr>
          <p:cNvPr id="37" name="Rounded Rectangle 36"/>
          <p:cNvSpPr/>
          <p:nvPr/>
        </p:nvSpPr>
        <p:spPr>
          <a:xfrm>
            <a:off x="11292840" y="1783080"/>
            <a:ext cx="3108960" cy="3154680"/>
          </a:xfrm>
          <a:prstGeom prst="roundRect">
            <a:avLst>
              <a:gd name="adj" fmla="val 6000"/>
            </a:avLst>
          </a:prstGeom>
          <a:solidFill>
            <a:srgbClr val="F2F4F8"/>
          </a:solidFill>
          <a:ln>
            <a:noFill/>
          </a:ln>
          <a:effectLst/>
        </p:spPr>
        <p:txBody>
          <a:bodyPr rtlCol="0" anchor="ctr"/>
          <a:lstStyle/>
          <a:p/>
        </p:txBody>
      </p:sp>
      <p:sp>
        <p:nvSpPr>
          <p:cNvPr id="38" name="Oval 37"/>
          <p:cNvSpPr/>
          <p:nvPr/>
        </p:nvSpPr>
        <p:spPr>
          <a:xfrm>
            <a:off x="11567160" y="2057400"/>
            <a:ext cx="685800" cy="685800"/>
          </a:xfrm>
          <a:prstGeom prst="ellipse">
            <a:avLst/>
          </a:prstGeom>
          <a:solidFill>
            <a:srgbClr val="002060"/>
          </a:solidFill>
          <a:ln>
            <a:noFill/>
          </a:ln>
          <a:effectLst/>
        </p:spPr>
        <p:txBody>
          <a:bodyPr rtlCol="0" anchor="ctr" lIns="0" rIns="0" tIns="0" bIns="0"/>
          <a:lstStyle/>
          <a:p/>
        </p:txBody>
      </p:sp>
      <p:pic>
        <p:nvPicPr>
          <p:cNvPr id="39" name="icone target" descr="target_white.png"/>
          <p:cNvPicPr>
            <a:picLocks noChangeAspect="1"/>
          </p:cNvPicPr>
          <p:nvPr/>
        </p:nvPicPr>
        <p:blipFill>
          <a:blip r:embed="rId7"/>
          <a:stretch>
            <a:fillRect/>
          </a:stretch>
        </p:blipFill>
        <p:spPr>
          <a:xfrm>
            <a:off x="11738610" y="2228850"/>
            <a:ext cx="342900" cy="342900"/>
          </a:xfrm>
          <a:prstGeom prst="rect">
            <a:avLst/>
          </a:prstGeom>
        </p:spPr>
      </p:pic>
      <p:sp>
        <p:nvSpPr>
          <p:cNvPr id="40" name="TextBox 39"/>
          <p:cNvSpPr txBox="1"/>
          <p:nvPr/>
        </p:nvSpPr>
        <p:spPr>
          <a:xfrm>
            <a:off x="12481560" y="2057400"/>
            <a:ext cx="1645919" cy="685800"/>
          </a:xfrm>
          <a:prstGeom prst="rect">
            <a:avLst/>
          </a:prstGeom>
          <a:noFill/>
        </p:spPr>
        <p:txBody>
          <a:bodyPr wrap="square" lIns="0" rIns="0" tIns="0" bIns="0" anchor="ctr">
            <a:noAutofit/>
          </a:bodyPr>
          <a:lstStyle/>
          <a:p>
            <a:pPr algn="l">
              <a:lnSpc>
                <a:spcPct val="100000"/>
              </a:lnSpc>
              <a:spcAft>
                <a:spcPts val="0"/>
              </a:spcAft>
              <a:buNone/>
            </a:pPr>
            <a:r>
              <a:rPr sz="1700" b="1" i="0">
                <a:solidFill>
                  <a:srgbClr val="002060"/>
                </a:solidFill>
                <a:latin typeface="Arial"/>
              </a:rPr>
              <a:t>Imprecisão</a:t>
            </a:r>
          </a:p>
        </p:txBody>
      </p:sp>
      <p:sp>
        <p:nvSpPr>
          <p:cNvPr id="41" name="TextBox 40"/>
          <p:cNvSpPr txBox="1"/>
          <p:nvPr/>
        </p:nvSpPr>
        <p:spPr>
          <a:xfrm>
            <a:off x="11567160" y="2926080"/>
            <a:ext cx="2560320" cy="1737360"/>
          </a:xfrm>
          <a:prstGeom prst="rect">
            <a:avLst/>
          </a:prstGeom>
          <a:noFill/>
        </p:spPr>
        <p:txBody>
          <a:bodyPr wrap="square" lIns="0" rIns="0" tIns="0" bIns="0" anchor="t">
            <a:noAutofit/>
          </a:bodyPr>
          <a:lstStyle/>
          <a:p>
            <a:pPr algn="l">
              <a:lnSpc>
                <a:spcPct val="100000"/>
              </a:lnSpc>
              <a:spcAft>
                <a:spcPts val="500"/>
              </a:spcAft>
              <a:buNone/>
            </a:pPr>
            <a:r>
              <a:rPr sz="1600" b="0" i="0">
                <a:solidFill>
                  <a:srgbClr val="1F2433"/>
                </a:solidFill>
                <a:latin typeface="Arial"/>
              </a:rPr>
              <a:t>IC95% amplo ou ausente no estudo original (ex.: 21,9 a 56,5); poucos eventos nos desfechos objetivos.</a:t>
            </a:r>
          </a:p>
        </p:txBody>
      </p:sp>
      <p:sp>
        <p:nvSpPr>
          <p:cNvPr id="42" name="Rounded Rectangle 41"/>
          <p:cNvSpPr/>
          <p:nvPr/>
        </p:nvSpPr>
        <p:spPr>
          <a:xfrm>
            <a:off x="14676119" y="1783080"/>
            <a:ext cx="3108960" cy="3154680"/>
          </a:xfrm>
          <a:prstGeom prst="roundRect">
            <a:avLst>
              <a:gd name="adj" fmla="val 6000"/>
            </a:avLst>
          </a:prstGeom>
          <a:solidFill>
            <a:srgbClr val="F2F4F8"/>
          </a:solidFill>
          <a:ln>
            <a:noFill/>
          </a:ln>
          <a:effectLst/>
        </p:spPr>
        <p:txBody>
          <a:bodyPr rtlCol="0" anchor="ctr"/>
          <a:lstStyle/>
          <a:p/>
        </p:txBody>
      </p:sp>
      <p:sp>
        <p:nvSpPr>
          <p:cNvPr id="43" name="Oval 42"/>
          <p:cNvSpPr/>
          <p:nvPr/>
        </p:nvSpPr>
        <p:spPr>
          <a:xfrm>
            <a:off x="14950439" y="2057400"/>
            <a:ext cx="685800" cy="685800"/>
          </a:xfrm>
          <a:prstGeom prst="ellipse">
            <a:avLst/>
          </a:prstGeom>
          <a:solidFill>
            <a:srgbClr val="002060"/>
          </a:solidFill>
          <a:ln>
            <a:noFill/>
          </a:ln>
          <a:effectLst/>
        </p:spPr>
        <p:txBody>
          <a:bodyPr rtlCol="0" anchor="ctr" lIns="0" rIns="0" tIns="0" bIns="0"/>
          <a:lstStyle/>
          <a:p/>
        </p:txBody>
      </p:sp>
      <p:pic>
        <p:nvPicPr>
          <p:cNvPr id="44" name="icone search" descr="search_white.png"/>
          <p:cNvPicPr>
            <a:picLocks noChangeAspect="1"/>
          </p:cNvPicPr>
          <p:nvPr/>
        </p:nvPicPr>
        <p:blipFill>
          <a:blip r:embed="rId8"/>
          <a:stretch>
            <a:fillRect/>
          </a:stretch>
        </p:blipFill>
        <p:spPr>
          <a:xfrm>
            <a:off x="15121889" y="2228850"/>
            <a:ext cx="342900" cy="342900"/>
          </a:xfrm>
          <a:prstGeom prst="rect">
            <a:avLst/>
          </a:prstGeom>
        </p:spPr>
      </p:pic>
      <p:sp>
        <p:nvSpPr>
          <p:cNvPr id="45" name="TextBox 44"/>
          <p:cNvSpPr txBox="1"/>
          <p:nvPr/>
        </p:nvSpPr>
        <p:spPr>
          <a:xfrm>
            <a:off x="15864839" y="2057400"/>
            <a:ext cx="1645919" cy="685800"/>
          </a:xfrm>
          <a:prstGeom prst="rect">
            <a:avLst/>
          </a:prstGeom>
          <a:noFill/>
        </p:spPr>
        <p:txBody>
          <a:bodyPr wrap="square" lIns="0" rIns="0" tIns="0" bIns="0" anchor="ctr">
            <a:noAutofit/>
          </a:bodyPr>
          <a:lstStyle/>
          <a:p>
            <a:pPr algn="l">
              <a:lnSpc>
                <a:spcPct val="100000"/>
              </a:lnSpc>
              <a:spcAft>
                <a:spcPts val="0"/>
              </a:spcAft>
              <a:buNone/>
            </a:pPr>
            <a:r>
              <a:rPr sz="1700" b="1" i="0">
                <a:solidFill>
                  <a:srgbClr val="002060"/>
                </a:solidFill>
                <a:latin typeface="Arial"/>
              </a:rPr>
              <a:t>Viés de publicação</a:t>
            </a:r>
          </a:p>
        </p:txBody>
      </p:sp>
      <p:sp>
        <p:nvSpPr>
          <p:cNvPr id="46" name="TextBox 45"/>
          <p:cNvSpPr txBox="1"/>
          <p:nvPr/>
        </p:nvSpPr>
        <p:spPr>
          <a:xfrm>
            <a:off x="14950439" y="2926080"/>
            <a:ext cx="2560320" cy="1737360"/>
          </a:xfrm>
          <a:prstGeom prst="rect">
            <a:avLst/>
          </a:prstGeom>
          <a:noFill/>
        </p:spPr>
        <p:txBody>
          <a:bodyPr wrap="square" lIns="0" rIns="0" tIns="0" bIns="0" anchor="t">
            <a:noAutofit/>
          </a:bodyPr>
          <a:lstStyle/>
          <a:p>
            <a:pPr algn="l">
              <a:lnSpc>
                <a:spcPct val="100000"/>
              </a:lnSpc>
              <a:spcAft>
                <a:spcPts val="500"/>
              </a:spcAft>
              <a:buNone/>
            </a:pPr>
            <a:r>
              <a:rPr sz="1600" b="0" i="0">
                <a:solidFill>
                  <a:srgbClr val="1F2433"/>
                </a:solidFill>
                <a:latin typeface="Arial"/>
              </a:rPr>
              <a:t>Busca ampla, mas poucos estudos, em geral pequenos, e 6 não recuperados → viés não excluível; sem base para rebaixar.</a:t>
            </a:r>
          </a:p>
        </p:txBody>
      </p:sp>
      <p:sp>
        <p:nvSpPr>
          <p:cNvPr id="47" name="Rounded Rectangle 46"/>
          <p:cNvSpPr/>
          <p:nvPr/>
        </p:nvSpPr>
        <p:spPr>
          <a:xfrm>
            <a:off x="1143000" y="5212080"/>
            <a:ext cx="9692640" cy="3794759"/>
          </a:xfrm>
          <a:prstGeom prst="roundRect">
            <a:avLst>
              <a:gd name="adj" fmla="val 6000"/>
            </a:avLst>
          </a:prstGeom>
          <a:solidFill>
            <a:srgbClr val="E6EBF5"/>
          </a:solidFill>
          <a:ln>
            <a:noFill/>
          </a:ln>
          <a:effectLst/>
        </p:spPr>
        <p:txBody>
          <a:bodyPr rtlCol="0" anchor="ctr"/>
          <a:lstStyle/>
          <a:p/>
        </p:txBody>
      </p:sp>
      <p:sp>
        <p:nvSpPr>
          <p:cNvPr id="48" name="TextBox 47"/>
          <p:cNvSpPr txBox="1"/>
          <p:nvPr/>
        </p:nvSpPr>
        <p:spPr>
          <a:xfrm>
            <a:off x="1463040" y="5486400"/>
            <a:ext cx="9052560" cy="3200399"/>
          </a:xfrm>
          <a:prstGeom prst="rect">
            <a:avLst/>
          </a:prstGeom>
          <a:noFill/>
        </p:spPr>
        <p:txBody>
          <a:bodyPr wrap="square" lIns="0" rIns="0" tIns="0" bIns="0" anchor="t">
            <a:noAutofit/>
          </a:bodyPr>
          <a:lstStyle/>
          <a:p>
            <a:pPr algn="l">
              <a:lnSpc>
                <a:spcPct val="100000"/>
              </a:lnSpc>
              <a:spcAft>
                <a:spcPts val="600"/>
              </a:spcAft>
              <a:buNone/>
            </a:pPr>
            <a:r>
              <a:rPr sz="1800" b="1" i="0">
                <a:solidFill>
                  <a:srgbClr val="002060"/>
                </a:solidFill>
                <a:latin typeface="Arial"/>
              </a:rPr>
              <a:t>Como a certeza foi graduada</a:t>
            </a:r>
          </a:p>
          <a:p>
            <a:pPr algn="l" marL="274320" indent="-274320">
              <a:lnSpc>
                <a:spcPct val="100000"/>
              </a:lnSpc>
              <a:spcAft>
                <a:spcPts val="1200"/>
              </a:spcAft>
              <a:buClr>
                <a:srgbClr val="002060"/>
              </a:buClr>
              <a:buFont typeface="Arial"/>
              <a:buChar char="•"/>
            </a:pPr>
            <a:r>
              <a:rPr sz="1600" b="1" i="0">
                <a:solidFill>
                  <a:srgbClr val="1F2433"/>
                </a:solidFill>
                <a:latin typeface="Arial"/>
              </a:rPr>
              <a:t>Ponto de partida: certeza BAIXA </a:t>
            </a:r>
            <a:r>
              <a:rPr sz="1600" b="0" i="0">
                <a:solidFill>
                  <a:srgbClr val="1F2433"/>
                </a:solidFill>
                <a:latin typeface="Arial"/>
              </a:rPr>
              <a:t>para evidência observacional (decisão dos autores; parte da literatura sugere iniciar em alta para prevalência).</a:t>
            </a:r>
          </a:p>
          <a:p>
            <a:pPr algn="l" marL="274320" indent="-274320">
              <a:lnSpc>
                <a:spcPct val="100000"/>
              </a:lnSpc>
              <a:spcAft>
                <a:spcPts val="1200"/>
              </a:spcAft>
              <a:buClr>
                <a:srgbClr val="002060"/>
              </a:buClr>
              <a:buFont typeface="Arial"/>
              <a:buChar char="•"/>
            </a:pPr>
            <a:r>
              <a:rPr sz="1600" b="1" i="0">
                <a:solidFill>
                  <a:srgbClr val="1F2433"/>
                </a:solidFill>
                <a:latin typeface="Arial"/>
              </a:rPr>
              <a:t>Regra: </a:t>
            </a:r>
            <a:r>
              <a:rPr sz="1600" b="1" i="0">
                <a:solidFill>
                  <a:srgbClr val="1F2433"/>
                </a:solidFill>
                <a:highlight>
                  <a:srgbClr val="FFEB99"/>
                </a:highlight>
                <a:latin typeface="Arial"/>
              </a:rPr>
              <a:t>um domínio grave já leva a MUITO BAIXA</a:t>
            </a:r>
            <a:r>
              <a:rPr sz="1600" b="0" i="0">
                <a:solidFill>
                  <a:srgbClr val="1F2433"/>
                </a:solidFill>
                <a:latin typeface="Arial"/>
              </a:rPr>
              <a:t>; a certeza final não muda com o ponto de partida alternativo.</a:t>
            </a:r>
          </a:p>
          <a:p>
            <a:pPr algn="l" marL="274320" indent="-274320">
              <a:lnSpc>
                <a:spcPct val="100000"/>
              </a:lnSpc>
              <a:spcAft>
                <a:spcPts val="1200"/>
              </a:spcAft>
              <a:buClr>
                <a:srgbClr val="002060"/>
              </a:buClr>
              <a:buFont typeface="Arial"/>
              <a:buChar char="•"/>
            </a:pPr>
            <a:r>
              <a:rPr sz="1600" b="1" i="0">
                <a:solidFill>
                  <a:srgbClr val="1F2433"/>
                </a:solidFill>
                <a:latin typeface="Arial"/>
              </a:rPr>
              <a:t>Sem dupla contagem: </a:t>
            </a:r>
            <a:r>
              <a:rPr sz="1600" b="0" i="0">
                <a:solidFill>
                  <a:srgbClr val="1F2433"/>
                </a:solidFill>
                <a:latin typeface="Arial"/>
              </a:rPr>
              <a:t>intervalo de predição em inconsistência; IC95% em imprecisão.</a:t>
            </a:r>
          </a:p>
          <a:p>
            <a:pPr algn="l" marL="274320" indent="-274320">
              <a:lnSpc>
                <a:spcPct val="100000"/>
              </a:lnSpc>
              <a:spcAft>
                <a:spcPts val="1200"/>
              </a:spcAft>
              <a:buClr>
                <a:srgbClr val="002060"/>
              </a:buClr>
              <a:buFont typeface="Arial"/>
              <a:buChar char="•"/>
            </a:pPr>
            <a:r>
              <a:rPr sz="1600" b="1" i="0">
                <a:solidFill>
                  <a:srgbClr val="1F2433"/>
                </a:solidFill>
                <a:latin typeface="Arial"/>
              </a:rPr>
              <a:t>Desfechos de estudo único: </a:t>
            </a:r>
            <a:r>
              <a:rPr sz="1600" b="0" i="0">
                <a:solidFill>
                  <a:srgbClr val="1F2433"/>
                </a:solidFill>
                <a:latin typeface="Arial"/>
              </a:rPr>
              <a:t>inconsistência não aplicável; viés de publicação não avaliável.</a:t>
            </a:r>
          </a:p>
          <a:p>
            <a:pPr algn="l">
              <a:lnSpc>
                <a:spcPct val="100000"/>
              </a:lnSpc>
              <a:spcBef>
                <a:spcPts val="400"/>
              </a:spcBef>
              <a:spcAft>
                <a:spcPts val="1200"/>
              </a:spcAft>
              <a:buNone/>
            </a:pPr>
            <a:r>
              <a:rPr sz="1600" b="1" i="0">
                <a:solidFill>
                  <a:srgbClr val="002060"/>
                </a:solidFill>
                <a:latin typeface="Arial"/>
              </a:rPr>
              <a:t>●●●● alta   ●●●○ moderada   ●●○○ baixa   ●○○○ muito baixa</a:t>
            </a:r>
          </a:p>
        </p:txBody>
      </p:sp>
      <p:sp>
        <p:nvSpPr>
          <p:cNvPr id="49" name="Rounded Rectangle 48"/>
          <p:cNvSpPr/>
          <p:nvPr/>
        </p:nvSpPr>
        <p:spPr>
          <a:xfrm>
            <a:off x="11109960" y="5212080"/>
            <a:ext cx="6675120" cy="3794759"/>
          </a:xfrm>
          <a:prstGeom prst="roundRect">
            <a:avLst>
              <a:gd name="adj" fmla="val 6000"/>
            </a:avLst>
          </a:prstGeom>
          <a:solidFill>
            <a:srgbClr val="FBF5E3"/>
          </a:solidFill>
          <a:ln>
            <a:noFill/>
          </a:ln>
          <a:effectLst/>
        </p:spPr>
        <p:txBody>
          <a:bodyPr rtlCol="0" anchor="ctr"/>
          <a:lstStyle/>
          <a:p/>
        </p:txBody>
      </p:sp>
      <p:sp>
        <p:nvSpPr>
          <p:cNvPr id="50" name="TextBox 49"/>
          <p:cNvSpPr txBox="1"/>
          <p:nvPr/>
        </p:nvSpPr>
        <p:spPr>
          <a:xfrm>
            <a:off x="11430000" y="5486400"/>
            <a:ext cx="6035040" cy="3200399"/>
          </a:xfrm>
          <a:prstGeom prst="rect">
            <a:avLst/>
          </a:prstGeom>
          <a:noFill/>
        </p:spPr>
        <p:txBody>
          <a:bodyPr wrap="square" lIns="0" rIns="0" tIns="0" bIns="0" anchor="t">
            <a:noAutofit/>
          </a:bodyPr>
          <a:lstStyle/>
          <a:p>
            <a:pPr algn="l">
              <a:lnSpc>
                <a:spcPct val="100000"/>
              </a:lnSpc>
              <a:spcAft>
                <a:spcPts val="600"/>
              </a:spcAft>
              <a:buNone/>
            </a:pPr>
            <a:r>
              <a:rPr sz="1800" b="1" i="0">
                <a:solidFill>
                  <a:srgbClr val="002060"/>
                </a:solidFill>
                <a:latin typeface="Arial"/>
              </a:rPr>
              <a:t>Decisões posteriores ao registro</a:t>
            </a:r>
          </a:p>
          <a:p>
            <a:pPr algn="l" marL="274320" indent="-274320">
              <a:lnSpc>
                <a:spcPct val="100000"/>
              </a:lnSpc>
              <a:spcAft>
                <a:spcPts val="1200"/>
              </a:spcAft>
              <a:buClr>
                <a:srgbClr val="C8A951"/>
              </a:buClr>
              <a:buFont typeface="Arial"/>
              <a:buChar char="•"/>
            </a:pPr>
            <a:r>
              <a:rPr sz="1600" b="0" i="0">
                <a:solidFill>
                  <a:srgbClr val="1F2433"/>
                </a:solidFill>
                <a:latin typeface="Arial"/>
              </a:rPr>
              <a:t>Ocular principal; respiratório exploratório (definição variável);</a:t>
            </a:r>
          </a:p>
          <a:p>
            <a:pPr algn="l" marL="274320" indent="-274320">
              <a:lnSpc>
                <a:spcPct val="100000"/>
              </a:lnSpc>
              <a:spcAft>
                <a:spcPts val="1200"/>
              </a:spcAft>
              <a:buClr>
                <a:srgbClr val="C8A951"/>
              </a:buClr>
              <a:buFont typeface="Arial"/>
              <a:buChar char="•"/>
            </a:pPr>
            <a:r>
              <a:rPr sz="1600" b="0" i="0">
                <a:solidFill>
                  <a:srgbClr val="1F2433"/>
                </a:solidFill>
                <a:latin typeface="Arial"/>
              </a:rPr>
              <a:t>Modelo principal: logito, efeitos aleatórios e Hartung-Knapp;</a:t>
            </a:r>
          </a:p>
          <a:p>
            <a:pPr algn="l" marL="274320" indent="-274320">
              <a:lnSpc>
                <a:spcPct val="100000"/>
              </a:lnSpc>
              <a:spcAft>
                <a:spcPts val="1200"/>
              </a:spcAft>
              <a:buClr>
                <a:srgbClr val="C8A951"/>
              </a:buClr>
              <a:buFont typeface="Arial"/>
              <a:buChar char="•"/>
            </a:pPr>
            <a:r>
              <a:rPr sz="1600" b="0" i="0">
                <a:solidFill>
                  <a:srgbClr val="1F2433"/>
                </a:solidFill>
                <a:latin typeface="Arial"/>
              </a:rPr>
              <a:t>1 publicação por desfecho no cluster com sobreposição; análises por país e de influência exploratórias;</a:t>
            </a:r>
          </a:p>
          <a:p>
            <a:pPr algn="l" marL="274320" indent="-274320">
              <a:lnSpc>
                <a:spcPct val="100000"/>
              </a:lnSpc>
              <a:spcAft>
                <a:spcPts val="1200"/>
              </a:spcAft>
              <a:buClr>
                <a:srgbClr val="C8A951"/>
              </a:buClr>
              <a:buFont typeface="Arial"/>
              <a:buChar char="•"/>
            </a:pPr>
            <a:r>
              <a:rPr sz="1600" b="0" i="0">
                <a:solidFill>
                  <a:srgbClr val="1F2433"/>
                </a:solidFill>
                <a:latin typeface="Arial"/>
              </a:rPr>
              <a:t>Resumos de congresso incluídos (preocupação alta);</a:t>
            </a:r>
          </a:p>
          <a:p>
            <a:pPr algn="l" marL="274320" indent="-274320">
              <a:lnSpc>
                <a:spcPct val="100000"/>
              </a:lnSpc>
              <a:spcAft>
                <a:spcPts val="1200"/>
              </a:spcAft>
              <a:buClr>
                <a:srgbClr val="C8A951"/>
              </a:buClr>
              <a:buFont typeface="Arial"/>
              <a:buChar char="•"/>
            </a:pPr>
            <a:r>
              <a:rPr sz="1600" b="0" i="0">
                <a:solidFill>
                  <a:srgbClr val="1F2433"/>
                </a:solidFill>
                <a:latin typeface="Arial"/>
              </a:rPr>
              <a:t>Na análise: regra do sintoma-índice e sensibilidade por definição, independentes dos resultados.</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lano de fundo do modelo" descr="tpl_bg.png"/>
          <p:cNvPicPr>
            <a:picLocks noChangeAspect="1"/>
          </p:cNvPicPr>
          <p:nvPr/>
        </p:nvPicPr>
        <p:blipFill>
          <a:blip r:embed="rId2"/>
          <a:stretch>
            <a:fillRect/>
          </a:stretch>
        </p:blipFill>
        <p:spPr>
          <a:xfrm>
            <a:off x="20" y="1923"/>
            <a:ext cx="18287980" cy="10285077"/>
          </a:xfrm>
          <a:prstGeom prst="rect">
            <a:avLst/>
          </a:prstGeom>
        </p:spPr>
      </p:pic>
      <p:sp>
        <p:nvSpPr>
          <p:cNvPr id="3" name="Retângulo branco (modelo)"/>
          <p:cNvSpPr/>
          <p:nvPr/>
        </p:nvSpPr>
        <p:spPr>
          <a:xfrm>
            <a:off x="15888345" y="279974"/>
            <a:ext cx="2362200" cy="863025"/>
          </a:xfrm>
          <a:prstGeom prst="rect">
            <a:avLst/>
          </a:prstGeom>
          <a:solidFill>
            <a:srgbClr val="FFFFFF"/>
          </a:solidFill>
          <a:ln>
            <a:noFill/>
          </a:ln>
        </p:spPr>
        <p:txBody>
          <a:bodyPr rtlCol="0" anchor="ctr"/>
          <a:lstStyle/>
          <a:p>
            <a:pPr algn="ctr"/>
          </a:p>
        </p:txBody>
      </p:sp>
      <p:pic>
        <p:nvPicPr>
          <p:cNvPr id="4" name="Logo SEMICA" descr="image.png"/>
          <p:cNvPicPr>
            <a:picLocks noChangeAspect="1"/>
          </p:cNvPicPr>
          <p:nvPr/>
        </p:nvPicPr>
        <p:blipFill>
          <a:blip r:embed="rId3"/>
          <a:stretch>
            <a:fillRect/>
          </a:stretch>
        </p:blipFill>
        <p:spPr>
          <a:xfrm>
            <a:off x="15544800" y="279974"/>
            <a:ext cx="2512314" cy="1234862"/>
          </a:xfrm>
          <a:prstGeom prst="rect">
            <a:avLst/>
          </a:prstGeom>
        </p:spPr>
      </p:pic>
      <p:sp>
        <p:nvSpPr>
          <p:cNvPr id="5" name="Título da seção"/>
          <p:cNvSpPr txBox="1"/>
          <p:nvPr/>
        </p:nvSpPr>
        <p:spPr>
          <a:xfrm>
            <a:off x="1143000" y="558224"/>
            <a:ext cx="10058400" cy="584775"/>
          </a:xfrm>
          <a:prstGeom prst="rect">
            <a:avLst/>
          </a:prstGeom>
          <a:noFill/>
        </p:spPr>
        <p:txBody>
          <a:bodyPr wrap="square">
            <a:noAutofit/>
          </a:bodyPr>
          <a:lstStyle/>
          <a:p>
            <a:pPr algn="l">
              <a:lnSpc>
                <a:spcPct val="100000"/>
              </a:lnSpc>
              <a:spcAft>
                <a:spcPts val="0"/>
              </a:spcAft>
              <a:buNone/>
            </a:pPr>
            <a:r>
              <a:rPr sz="3200" b="0" i="0">
                <a:solidFill>
                  <a:srgbClr val="000000"/>
                </a:solidFill>
                <a:latin typeface="Arial"/>
              </a:rPr>
              <a:t>RESULTADOS</a:t>
            </a:r>
          </a:p>
        </p:txBody>
      </p:sp>
      <p:sp>
        <p:nvSpPr>
          <p:cNvPr id="6" name="Subtítulo"/>
          <p:cNvSpPr txBox="1"/>
          <p:nvPr/>
        </p:nvSpPr>
        <p:spPr>
          <a:xfrm>
            <a:off x="1143000" y="1097280"/>
            <a:ext cx="14173200" cy="502920"/>
          </a:xfrm>
          <a:prstGeom prst="rect">
            <a:avLst/>
          </a:prstGeom>
          <a:noFill/>
        </p:spPr>
        <p:txBody>
          <a:bodyPr wrap="square" lIns="0" rIns="0" tIns="0" bIns="0" anchor="t">
            <a:noAutofit/>
          </a:bodyPr>
          <a:lstStyle/>
          <a:p>
            <a:pPr algn="l">
              <a:lnSpc>
                <a:spcPct val="100000"/>
              </a:lnSpc>
              <a:spcAft>
                <a:spcPts val="0"/>
              </a:spcAft>
              <a:buNone/>
            </a:pPr>
            <a:r>
              <a:rPr sz="2400" b="1" i="0">
                <a:solidFill>
                  <a:srgbClr val="002060"/>
                </a:solidFill>
                <a:latin typeface="Arial"/>
              </a:rPr>
              <a:t>Seleção (PRISMA 2020) e características dos 22 relatórios incluídos</a:t>
            </a:r>
          </a:p>
        </p:txBody>
      </p:sp>
      <p:sp>
        <p:nvSpPr>
          <p:cNvPr id="7" name="Rounded Rectangle 6"/>
          <p:cNvSpPr/>
          <p:nvPr/>
        </p:nvSpPr>
        <p:spPr>
          <a:xfrm>
            <a:off x="2057400" y="1783080"/>
            <a:ext cx="4754880" cy="1188720"/>
          </a:xfrm>
          <a:prstGeom prst="roundRect">
            <a:avLst>
              <a:gd name="adj" fmla="val 8000"/>
            </a:avLst>
          </a:prstGeom>
          <a:solidFill>
            <a:srgbClr val="F2F4F8"/>
          </a:solidFill>
          <a:ln>
            <a:noFill/>
          </a:ln>
          <a:effectLst/>
        </p:spPr>
        <p:txBody>
          <a:bodyPr rtlCol="0" anchor="ctr"/>
          <a:lstStyle/>
          <a:p/>
        </p:txBody>
      </p:sp>
      <p:sp>
        <p:nvSpPr>
          <p:cNvPr id="8" name="TextBox 7"/>
          <p:cNvSpPr txBox="1"/>
          <p:nvPr/>
        </p:nvSpPr>
        <p:spPr>
          <a:xfrm>
            <a:off x="2331720" y="1892807"/>
            <a:ext cx="4206240" cy="969264"/>
          </a:xfrm>
          <a:prstGeom prst="rect">
            <a:avLst/>
          </a:prstGeom>
          <a:noFill/>
        </p:spPr>
        <p:txBody>
          <a:bodyPr wrap="square" lIns="0" rIns="0" tIns="0" bIns="0" anchor="ctr">
            <a:noAutofit/>
          </a:bodyPr>
          <a:lstStyle/>
          <a:p>
            <a:pPr algn="l">
              <a:lnSpc>
                <a:spcPct val="100000"/>
              </a:lnSpc>
              <a:spcAft>
                <a:spcPts val="200"/>
              </a:spcAft>
              <a:buNone/>
            </a:pPr>
            <a:r>
              <a:rPr sz="1500" b="1" i="0">
                <a:solidFill>
                  <a:srgbClr val="1F2433"/>
                </a:solidFill>
                <a:latin typeface="Arial"/>
              </a:rPr>
              <a:t>Registros identificados (n = 16.757)</a:t>
            </a:r>
          </a:p>
          <a:p>
            <a:pPr algn="l">
              <a:lnSpc>
                <a:spcPct val="100000"/>
              </a:lnSpc>
              <a:spcAft>
                <a:spcPts val="200"/>
              </a:spcAft>
              <a:buNone/>
            </a:pPr>
            <a:r>
              <a:rPr sz="1500" b="0" i="0">
                <a:solidFill>
                  <a:srgbClr val="1F2433"/>
                </a:solidFill>
                <a:latin typeface="Arial"/>
              </a:rPr>
              <a:t>Bases: 16.707 · Literatura cinzenta: 50</a:t>
            </a:r>
          </a:p>
        </p:txBody>
      </p:sp>
      <p:sp>
        <p:nvSpPr>
          <p:cNvPr id="9" name="Rounded Rectangle 8"/>
          <p:cNvSpPr/>
          <p:nvPr/>
        </p:nvSpPr>
        <p:spPr>
          <a:xfrm>
            <a:off x="7178040" y="1783080"/>
            <a:ext cx="2468880" cy="1188720"/>
          </a:xfrm>
          <a:prstGeom prst="roundRect">
            <a:avLst>
              <a:gd name="adj" fmla="val 8000"/>
            </a:avLst>
          </a:prstGeom>
          <a:solidFill>
            <a:srgbClr val="FBF5E3"/>
          </a:solidFill>
          <a:ln>
            <a:noFill/>
          </a:ln>
          <a:effectLst/>
        </p:spPr>
        <p:txBody>
          <a:bodyPr rtlCol="0" anchor="ctr"/>
          <a:lstStyle/>
          <a:p/>
        </p:txBody>
      </p:sp>
      <p:sp>
        <p:nvSpPr>
          <p:cNvPr id="10" name="TextBox 9"/>
          <p:cNvSpPr txBox="1"/>
          <p:nvPr/>
        </p:nvSpPr>
        <p:spPr>
          <a:xfrm>
            <a:off x="7406640" y="1892807"/>
            <a:ext cx="2011680" cy="969264"/>
          </a:xfrm>
          <a:prstGeom prst="rect">
            <a:avLst/>
          </a:prstGeom>
          <a:noFill/>
        </p:spPr>
        <p:txBody>
          <a:bodyPr wrap="square" lIns="0" rIns="0" tIns="0" bIns="0" anchor="ctr">
            <a:noAutofit/>
          </a:bodyPr>
          <a:lstStyle/>
          <a:p>
            <a:pPr algn="l">
              <a:lnSpc>
                <a:spcPct val="100000"/>
              </a:lnSpc>
              <a:spcAft>
                <a:spcPts val="0"/>
              </a:spcAft>
              <a:buNone/>
            </a:pPr>
            <a:r>
              <a:rPr sz="1400" b="1" i="0">
                <a:solidFill>
                  <a:srgbClr val="1F2433"/>
                </a:solidFill>
                <a:latin typeface="Arial"/>
              </a:rPr>
              <a:t>Busca por citação</a:t>
            </a:r>
          </a:p>
          <a:p>
            <a:pPr algn="l">
              <a:lnSpc>
                <a:spcPct val="100000"/>
              </a:lnSpc>
              <a:spcAft>
                <a:spcPts val="0"/>
              </a:spcAft>
              <a:buNone/>
            </a:pPr>
            <a:r>
              <a:rPr sz="1400" b="0" i="0">
                <a:solidFill>
                  <a:srgbClr val="1F2433"/>
                </a:solidFill>
                <a:latin typeface="Arial"/>
              </a:rPr>
              <a:t>443 referências →</a:t>
            </a:r>
          </a:p>
          <a:p>
            <a:pPr algn="l">
              <a:lnSpc>
                <a:spcPct val="100000"/>
              </a:lnSpc>
              <a:spcAft>
                <a:spcPts val="0"/>
              </a:spcAft>
              <a:buNone/>
            </a:pPr>
            <a:r>
              <a:rPr sz="1400" b="0" i="0">
                <a:solidFill>
                  <a:srgbClr val="1F2433"/>
                </a:solidFill>
                <a:latin typeface="Arial"/>
              </a:rPr>
              <a:t>4 relatórios buscados</a:t>
            </a:r>
          </a:p>
          <a:p>
            <a:pPr algn="l">
              <a:lnSpc>
                <a:spcPct val="100000"/>
              </a:lnSpc>
              <a:spcAft>
                <a:spcPts val="0"/>
              </a:spcAft>
              <a:buNone/>
            </a:pPr>
            <a:r>
              <a:rPr sz="1400" b="0" i="0">
                <a:solidFill>
                  <a:srgbClr val="1F2433"/>
                </a:solidFill>
                <a:latin typeface="Arial"/>
              </a:rPr>
              <a:t>na íntegra</a:t>
            </a:r>
          </a:p>
        </p:txBody>
      </p:sp>
      <p:cxnSp>
        <p:nvCxnSpPr>
          <p:cNvPr id="11" name="Connector 10"/>
          <p:cNvCxnSpPr/>
          <p:nvPr/>
        </p:nvCxnSpPr>
        <p:spPr>
          <a:xfrm>
            <a:off x="4434840" y="2971800"/>
            <a:ext cx="0" cy="237744"/>
          </a:xfrm>
          <a:prstGeom prst="line">
            <a:avLst/>
          </a:prstGeom>
          <a:ln w="25400">
            <a:solidFill>
              <a:srgbClr val="002060"/>
            </a:solidFill>
            <a:tailEnd type="triangle" w="med" len="med"/>
          </a:ln>
        </p:spPr>
      </p:cxnSp>
      <p:sp>
        <p:nvSpPr>
          <p:cNvPr id="12" name="Rounded Rectangle 11"/>
          <p:cNvSpPr/>
          <p:nvPr/>
        </p:nvSpPr>
        <p:spPr>
          <a:xfrm>
            <a:off x="2057400" y="3227832"/>
            <a:ext cx="4754880" cy="914400"/>
          </a:xfrm>
          <a:prstGeom prst="roundRect">
            <a:avLst>
              <a:gd name="adj" fmla="val 8000"/>
            </a:avLst>
          </a:prstGeom>
          <a:solidFill>
            <a:srgbClr val="F2F4F8"/>
          </a:solidFill>
          <a:ln>
            <a:noFill/>
          </a:ln>
          <a:effectLst/>
        </p:spPr>
        <p:txBody>
          <a:bodyPr rtlCol="0" anchor="ctr"/>
          <a:lstStyle/>
          <a:p/>
        </p:txBody>
      </p:sp>
      <p:sp>
        <p:nvSpPr>
          <p:cNvPr id="13" name="TextBox 12"/>
          <p:cNvSpPr txBox="1"/>
          <p:nvPr/>
        </p:nvSpPr>
        <p:spPr>
          <a:xfrm>
            <a:off x="2331720" y="3337560"/>
            <a:ext cx="4206240" cy="694944"/>
          </a:xfrm>
          <a:prstGeom prst="rect">
            <a:avLst/>
          </a:prstGeom>
          <a:noFill/>
        </p:spPr>
        <p:txBody>
          <a:bodyPr wrap="square" lIns="0" rIns="0" tIns="0" bIns="0" anchor="ctr">
            <a:noAutofit/>
          </a:bodyPr>
          <a:lstStyle/>
          <a:p>
            <a:pPr algn="l">
              <a:lnSpc>
                <a:spcPct val="100000"/>
              </a:lnSpc>
              <a:spcAft>
                <a:spcPts val="200"/>
              </a:spcAft>
              <a:buNone/>
            </a:pPr>
            <a:r>
              <a:rPr sz="1500" b="0" i="0">
                <a:solidFill>
                  <a:srgbClr val="1F2433"/>
                </a:solidFill>
                <a:latin typeface="Arial"/>
              </a:rPr>
              <a:t>Importados: 16.749 (8 não exportados)</a:t>
            </a:r>
          </a:p>
          <a:p>
            <a:pPr algn="l">
              <a:lnSpc>
                <a:spcPct val="100000"/>
              </a:lnSpc>
              <a:spcAft>
                <a:spcPts val="200"/>
              </a:spcAft>
              <a:buNone/>
            </a:pPr>
            <a:r>
              <a:rPr sz="1500" b="1" i="0">
                <a:solidFill>
                  <a:srgbClr val="1F2433"/>
                </a:solidFill>
                <a:latin typeface="Arial"/>
              </a:rPr>
              <a:t>Duplicatas removidas: 5.839</a:t>
            </a:r>
          </a:p>
        </p:txBody>
      </p:sp>
      <p:cxnSp>
        <p:nvCxnSpPr>
          <p:cNvPr id="14" name="Connector 13"/>
          <p:cNvCxnSpPr/>
          <p:nvPr/>
        </p:nvCxnSpPr>
        <p:spPr>
          <a:xfrm>
            <a:off x="4434840" y="4142232"/>
            <a:ext cx="0" cy="237744"/>
          </a:xfrm>
          <a:prstGeom prst="line">
            <a:avLst/>
          </a:prstGeom>
          <a:ln w="25400">
            <a:solidFill>
              <a:srgbClr val="002060"/>
            </a:solidFill>
            <a:tailEnd type="triangle" w="med" len="med"/>
          </a:ln>
        </p:spPr>
      </p:cxnSp>
      <p:sp>
        <p:nvSpPr>
          <p:cNvPr id="15" name="Rounded Rectangle 14"/>
          <p:cNvSpPr/>
          <p:nvPr/>
        </p:nvSpPr>
        <p:spPr>
          <a:xfrm>
            <a:off x="2057400" y="4398264"/>
            <a:ext cx="4754880" cy="914400"/>
          </a:xfrm>
          <a:prstGeom prst="roundRect">
            <a:avLst>
              <a:gd name="adj" fmla="val 8000"/>
            </a:avLst>
          </a:prstGeom>
          <a:solidFill>
            <a:srgbClr val="F2F4F8"/>
          </a:solidFill>
          <a:ln>
            <a:noFill/>
          </a:ln>
          <a:effectLst/>
        </p:spPr>
        <p:txBody>
          <a:bodyPr rtlCol="0" anchor="ctr"/>
          <a:lstStyle/>
          <a:p/>
        </p:txBody>
      </p:sp>
      <p:sp>
        <p:nvSpPr>
          <p:cNvPr id="16" name="TextBox 15"/>
          <p:cNvSpPr txBox="1"/>
          <p:nvPr/>
        </p:nvSpPr>
        <p:spPr>
          <a:xfrm>
            <a:off x="2331720" y="4507992"/>
            <a:ext cx="4206240" cy="694944"/>
          </a:xfrm>
          <a:prstGeom prst="rect">
            <a:avLst/>
          </a:prstGeom>
          <a:noFill/>
        </p:spPr>
        <p:txBody>
          <a:bodyPr wrap="square" lIns="0" rIns="0" tIns="0" bIns="0" anchor="ctr">
            <a:noAutofit/>
          </a:bodyPr>
          <a:lstStyle/>
          <a:p>
            <a:pPr algn="l">
              <a:lnSpc>
                <a:spcPct val="100000"/>
              </a:lnSpc>
              <a:spcAft>
                <a:spcPts val="200"/>
              </a:spcAft>
              <a:buNone/>
            </a:pPr>
            <a:r>
              <a:rPr sz="1500" b="1" i="0">
                <a:solidFill>
                  <a:srgbClr val="1F2433"/>
                </a:solidFill>
                <a:latin typeface="Arial"/>
              </a:rPr>
              <a:t>Triados (título e resumo): 10.910</a:t>
            </a:r>
          </a:p>
          <a:p>
            <a:pPr algn="l">
              <a:lnSpc>
                <a:spcPct val="100000"/>
              </a:lnSpc>
              <a:spcAft>
                <a:spcPts val="200"/>
              </a:spcAft>
              <a:buNone/>
            </a:pPr>
            <a:r>
              <a:rPr sz="1500" b="0" i="0">
                <a:solidFill>
                  <a:srgbClr val="1F2433"/>
                </a:solidFill>
                <a:latin typeface="Arial"/>
              </a:rPr>
              <a:t>revisor único; IA como apoio</a:t>
            </a:r>
          </a:p>
        </p:txBody>
      </p:sp>
      <p:sp>
        <p:nvSpPr>
          <p:cNvPr id="17" name="Rounded Rectangle 16"/>
          <p:cNvSpPr/>
          <p:nvPr/>
        </p:nvSpPr>
        <p:spPr>
          <a:xfrm>
            <a:off x="7178040" y="4398264"/>
            <a:ext cx="2468880" cy="914400"/>
          </a:xfrm>
          <a:prstGeom prst="roundRect">
            <a:avLst>
              <a:gd name="adj" fmla="val 8000"/>
            </a:avLst>
          </a:prstGeom>
          <a:solidFill>
            <a:srgbClr val="F2F4F8"/>
          </a:solidFill>
          <a:ln>
            <a:noFill/>
          </a:ln>
          <a:effectLst/>
        </p:spPr>
        <p:txBody>
          <a:bodyPr rtlCol="0" anchor="ctr"/>
          <a:lstStyle/>
          <a:p/>
        </p:txBody>
      </p:sp>
      <p:sp>
        <p:nvSpPr>
          <p:cNvPr id="18" name="TextBox 17"/>
          <p:cNvSpPr txBox="1"/>
          <p:nvPr/>
        </p:nvSpPr>
        <p:spPr>
          <a:xfrm>
            <a:off x="7406640" y="4507992"/>
            <a:ext cx="2011680" cy="694944"/>
          </a:xfrm>
          <a:prstGeom prst="rect">
            <a:avLst/>
          </a:prstGeom>
          <a:noFill/>
        </p:spPr>
        <p:txBody>
          <a:bodyPr wrap="square" lIns="0" rIns="0" tIns="0" bIns="0" anchor="ctr">
            <a:noAutofit/>
          </a:bodyPr>
          <a:lstStyle/>
          <a:p>
            <a:pPr algn="l">
              <a:lnSpc>
                <a:spcPct val="100000"/>
              </a:lnSpc>
              <a:spcAft>
                <a:spcPts val="0"/>
              </a:spcAft>
              <a:buNone/>
            </a:pPr>
            <a:r>
              <a:rPr sz="1400" b="1" i="0">
                <a:solidFill>
                  <a:srgbClr val="1F2433"/>
                </a:solidFill>
                <a:latin typeface="Arial"/>
              </a:rPr>
              <a:t>Excluídos na triagem</a:t>
            </a:r>
          </a:p>
          <a:p>
            <a:pPr algn="l">
              <a:lnSpc>
                <a:spcPct val="100000"/>
              </a:lnSpc>
              <a:spcAft>
                <a:spcPts val="0"/>
              </a:spcAft>
              <a:buNone/>
            </a:pPr>
            <a:r>
              <a:rPr sz="1400" b="0" i="0">
                <a:solidFill>
                  <a:srgbClr val="1F2433"/>
                </a:solidFill>
                <a:latin typeface="Arial"/>
              </a:rPr>
              <a:t>n = 10.882</a:t>
            </a:r>
          </a:p>
        </p:txBody>
      </p:sp>
      <p:cxnSp>
        <p:nvCxnSpPr>
          <p:cNvPr id="19" name="Connector 18"/>
          <p:cNvCxnSpPr/>
          <p:nvPr/>
        </p:nvCxnSpPr>
        <p:spPr>
          <a:xfrm>
            <a:off x="6812280" y="4855464"/>
            <a:ext cx="347472" cy="0"/>
          </a:xfrm>
          <a:prstGeom prst="line">
            <a:avLst/>
          </a:prstGeom>
          <a:ln w="25400">
            <a:solidFill>
              <a:srgbClr val="002060"/>
            </a:solidFill>
            <a:tailEnd type="triangle" w="med" len="med"/>
          </a:ln>
        </p:spPr>
      </p:cxnSp>
      <p:cxnSp>
        <p:nvCxnSpPr>
          <p:cNvPr id="20" name="Connector 19"/>
          <p:cNvCxnSpPr/>
          <p:nvPr/>
        </p:nvCxnSpPr>
        <p:spPr>
          <a:xfrm>
            <a:off x="4434840" y="5312664"/>
            <a:ext cx="0" cy="237744"/>
          </a:xfrm>
          <a:prstGeom prst="line">
            <a:avLst/>
          </a:prstGeom>
          <a:ln w="25400">
            <a:solidFill>
              <a:srgbClr val="002060"/>
            </a:solidFill>
            <a:tailEnd type="triangle" w="med" len="med"/>
          </a:ln>
        </p:spPr>
      </p:cxnSp>
      <p:sp>
        <p:nvSpPr>
          <p:cNvPr id="21" name="Rounded Rectangle 20"/>
          <p:cNvSpPr/>
          <p:nvPr/>
        </p:nvSpPr>
        <p:spPr>
          <a:xfrm>
            <a:off x="2057400" y="5568696"/>
            <a:ext cx="4754880" cy="914400"/>
          </a:xfrm>
          <a:prstGeom prst="roundRect">
            <a:avLst>
              <a:gd name="adj" fmla="val 8000"/>
            </a:avLst>
          </a:prstGeom>
          <a:solidFill>
            <a:srgbClr val="F2F4F8"/>
          </a:solidFill>
          <a:ln>
            <a:noFill/>
          </a:ln>
          <a:effectLst/>
        </p:spPr>
        <p:txBody>
          <a:bodyPr rtlCol="0" anchor="ctr"/>
          <a:lstStyle/>
          <a:p/>
        </p:txBody>
      </p:sp>
      <p:sp>
        <p:nvSpPr>
          <p:cNvPr id="22" name="TextBox 21"/>
          <p:cNvSpPr txBox="1"/>
          <p:nvPr/>
        </p:nvSpPr>
        <p:spPr>
          <a:xfrm>
            <a:off x="2331720" y="5678424"/>
            <a:ext cx="4206240" cy="694944"/>
          </a:xfrm>
          <a:prstGeom prst="rect">
            <a:avLst/>
          </a:prstGeom>
          <a:noFill/>
        </p:spPr>
        <p:txBody>
          <a:bodyPr wrap="square" lIns="0" rIns="0" tIns="0" bIns="0" anchor="ctr">
            <a:noAutofit/>
          </a:bodyPr>
          <a:lstStyle/>
          <a:p>
            <a:pPr algn="l">
              <a:lnSpc>
                <a:spcPct val="100000"/>
              </a:lnSpc>
              <a:spcAft>
                <a:spcPts val="200"/>
              </a:spcAft>
              <a:buNone/>
            </a:pPr>
            <a:r>
              <a:rPr sz="1500" b="1" i="0">
                <a:solidFill>
                  <a:srgbClr val="1F2433"/>
                </a:solidFill>
                <a:latin typeface="Arial"/>
              </a:rPr>
              <a:t>Buscados na íntegra: 32</a:t>
            </a:r>
          </a:p>
          <a:p>
            <a:pPr algn="l">
              <a:lnSpc>
                <a:spcPct val="100000"/>
              </a:lnSpc>
              <a:spcAft>
                <a:spcPts val="200"/>
              </a:spcAft>
              <a:buNone/>
            </a:pPr>
            <a:r>
              <a:rPr sz="1500" b="0" i="0">
                <a:solidFill>
                  <a:srgbClr val="1F2433"/>
                </a:solidFill>
                <a:latin typeface="Arial"/>
              </a:rPr>
              <a:t>28 da triagem + 4 por citação</a:t>
            </a:r>
          </a:p>
        </p:txBody>
      </p:sp>
      <p:sp>
        <p:nvSpPr>
          <p:cNvPr id="23" name="Rounded Rectangle 22"/>
          <p:cNvSpPr/>
          <p:nvPr/>
        </p:nvSpPr>
        <p:spPr>
          <a:xfrm>
            <a:off x="7178040" y="5568696"/>
            <a:ext cx="2468880" cy="914400"/>
          </a:xfrm>
          <a:prstGeom prst="roundRect">
            <a:avLst>
              <a:gd name="adj" fmla="val 8000"/>
            </a:avLst>
          </a:prstGeom>
          <a:solidFill>
            <a:srgbClr val="F2F4F8"/>
          </a:solidFill>
          <a:ln>
            <a:noFill/>
          </a:ln>
          <a:effectLst/>
        </p:spPr>
        <p:txBody>
          <a:bodyPr rtlCol="0" anchor="ctr"/>
          <a:lstStyle/>
          <a:p/>
        </p:txBody>
      </p:sp>
      <p:sp>
        <p:nvSpPr>
          <p:cNvPr id="24" name="TextBox 23"/>
          <p:cNvSpPr txBox="1"/>
          <p:nvPr/>
        </p:nvSpPr>
        <p:spPr>
          <a:xfrm>
            <a:off x="7406640" y="5678424"/>
            <a:ext cx="2011680" cy="694944"/>
          </a:xfrm>
          <a:prstGeom prst="rect">
            <a:avLst/>
          </a:prstGeom>
          <a:noFill/>
        </p:spPr>
        <p:txBody>
          <a:bodyPr wrap="square" lIns="0" rIns="0" tIns="0" bIns="0" anchor="ctr">
            <a:noAutofit/>
          </a:bodyPr>
          <a:lstStyle/>
          <a:p>
            <a:pPr algn="l">
              <a:lnSpc>
                <a:spcPct val="100000"/>
              </a:lnSpc>
              <a:spcAft>
                <a:spcPts val="0"/>
              </a:spcAft>
              <a:buNone/>
            </a:pPr>
            <a:r>
              <a:rPr sz="1400" b="1" i="0">
                <a:solidFill>
                  <a:srgbClr val="1F2433"/>
                </a:solidFill>
                <a:latin typeface="Arial"/>
              </a:rPr>
              <a:t>Não recuperados</a:t>
            </a:r>
          </a:p>
          <a:p>
            <a:pPr algn="l">
              <a:lnSpc>
                <a:spcPct val="100000"/>
              </a:lnSpc>
              <a:spcAft>
                <a:spcPts val="0"/>
              </a:spcAft>
              <a:buNone/>
            </a:pPr>
            <a:r>
              <a:rPr sz="1400" b="0" i="0">
                <a:solidFill>
                  <a:srgbClr val="1F2433"/>
                </a:solidFill>
                <a:latin typeface="Arial"/>
              </a:rPr>
              <a:t>n = 6</a:t>
            </a:r>
          </a:p>
        </p:txBody>
      </p:sp>
      <p:cxnSp>
        <p:nvCxnSpPr>
          <p:cNvPr id="25" name="Connector 24"/>
          <p:cNvCxnSpPr/>
          <p:nvPr/>
        </p:nvCxnSpPr>
        <p:spPr>
          <a:xfrm>
            <a:off x="6812280" y="6025896"/>
            <a:ext cx="347472" cy="0"/>
          </a:xfrm>
          <a:prstGeom prst="line">
            <a:avLst/>
          </a:prstGeom>
          <a:ln w="25400">
            <a:solidFill>
              <a:srgbClr val="002060"/>
            </a:solidFill>
            <a:tailEnd type="triangle" w="med" len="med"/>
          </a:ln>
        </p:spPr>
      </p:cxnSp>
      <p:cxnSp>
        <p:nvCxnSpPr>
          <p:cNvPr id="26" name="Connector 25"/>
          <p:cNvCxnSpPr/>
          <p:nvPr/>
        </p:nvCxnSpPr>
        <p:spPr>
          <a:xfrm>
            <a:off x="4434840" y="6483096"/>
            <a:ext cx="0" cy="237744"/>
          </a:xfrm>
          <a:prstGeom prst="line">
            <a:avLst/>
          </a:prstGeom>
          <a:ln w="25400">
            <a:solidFill>
              <a:srgbClr val="002060"/>
            </a:solidFill>
            <a:tailEnd type="triangle" w="med" len="med"/>
          </a:ln>
        </p:spPr>
      </p:cxnSp>
      <p:sp>
        <p:nvSpPr>
          <p:cNvPr id="27" name="Rounded Rectangle 26"/>
          <p:cNvSpPr/>
          <p:nvPr/>
        </p:nvSpPr>
        <p:spPr>
          <a:xfrm>
            <a:off x="2057400" y="6739128"/>
            <a:ext cx="4754880" cy="960120"/>
          </a:xfrm>
          <a:prstGeom prst="roundRect">
            <a:avLst>
              <a:gd name="adj" fmla="val 8000"/>
            </a:avLst>
          </a:prstGeom>
          <a:solidFill>
            <a:srgbClr val="F2F4F8"/>
          </a:solidFill>
          <a:ln>
            <a:noFill/>
          </a:ln>
          <a:effectLst/>
        </p:spPr>
        <p:txBody>
          <a:bodyPr rtlCol="0" anchor="ctr"/>
          <a:lstStyle/>
          <a:p/>
        </p:txBody>
      </p:sp>
      <p:sp>
        <p:nvSpPr>
          <p:cNvPr id="28" name="TextBox 27"/>
          <p:cNvSpPr txBox="1"/>
          <p:nvPr/>
        </p:nvSpPr>
        <p:spPr>
          <a:xfrm>
            <a:off x="2331720" y="6848856"/>
            <a:ext cx="4206240" cy="740664"/>
          </a:xfrm>
          <a:prstGeom prst="rect">
            <a:avLst/>
          </a:prstGeom>
          <a:noFill/>
        </p:spPr>
        <p:txBody>
          <a:bodyPr wrap="square" lIns="0" rIns="0" tIns="0" bIns="0" anchor="ctr">
            <a:noAutofit/>
          </a:bodyPr>
          <a:lstStyle/>
          <a:p>
            <a:pPr algn="l">
              <a:lnSpc>
                <a:spcPct val="100000"/>
              </a:lnSpc>
              <a:spcAft>
                <a:spcPts val="200"/>
              </a:spcAft>
              <a:buNone/>
            </a:pPr>
            <a:r>
              <a:rPr sz="1500" b="1" i="0">
                <a:solidFill>
                  <a:srgbClr val="1F2433"/>
                </a:solidFill>
                <a:latin typeface="Arial"/>
              </a:rPr>
              <a:t>Avaliados para elegibilidade: 26</a:t>
            </a:r>
          </a:p>
        </p:txBody>
      </p:sp>
      <p:sp>
        <p:nvSpPr>
          <p:cNvPr id="29" name="Rounded Rectangle 28"/>
          <p:cNvSpPr/>
          <p:nvPr/>
        </p:nvSpPr>
        <p:spPr>
          <a:xfrm>
            <a:off x="7178040" y="6739128"/>
            <a:ext cx="2468880" cy="960120"/>
          </a:xfrm>
          <a:prstGeom prst="roundRect">
            <a:avLst>
              <a:gd name="adj" fmla="val 8000"/>
            </a:avLst>
          </a:prstGeom>
          <a:solidFill>
            <a:srgbClr val="F2F4F8"/>
          </a:solidFill>
          <a:ln>
            <a:noFill/>
          </a:ln>
          <a:effectLst/>
        </p:spPr>
        <p:txBody>
          <a:bodyPr rtlCol="0" anchor="ctr"/>
          <a:lstStyle/>
          <a:p/>
        </p:txBody>
      </p:sp>
      <p:sp>
        <p:nvSpPr>
          <p:cNvPr id="30" name="TextBox 29"/>
          <p:cNvSpPr txBox="1"/>
          <p:nvPr/>
        </p:nvSpPr>
        <p:spPr>
          <a:xfrm>
            <a:off x="7406640" y="6848856"/>
            <a:ext cx="2011680" cy="740664"/>
          </a:xfrm>
          <a:prstGeom prst="rect">
            <a:avLst/>
          </a:prstGeom>
          <a:noFill/>
        </p:spPr>
        <p:txBody>
          <a:bodyPr wrap="square" lIns="0" rIns="0" tIns="0" bIns="0" anchor="ctr">
            <a:noAutofit/>
          </a:bodyPr>
          <a:lstStyle/>
          <a:p>
            <a:pPr algn="l">
              <a:lnSpc>
                <a:spcPct val="100000"/>
              </a:lnSpc>
              <a:spcAft>
                <a:spcPts val="0"/>
              </a:spcAft>
              <a:buNone/>
            </a:pPr>
            <a:r>
              <a:rPr sz="1400" b="1" i="0">
                <a:solidFill>
                  <a:srgbClr val="1F2433"/>
                </a:solidFill>
                <a:latin typeface="Arial"/>
              </a:rPr>
              <a:t>Excluídos (n = 4)</a:t>
            </a:r>
          </a:p>
          <a:p>
            <a:pPr algn="l">
              <a:lnSpc>
                <a:spcPct val="100000"/>
              </a:lnSpc>
              <a:spcAft>
                <a:spcPts val="0"/>
              </a:spcAft>
              <a:buNone/>
            </a:pPr>
            <a:r>
              <a:rPr sz="1400" b="0" i="0">
                <a:solidFill>
                  <a:srgbClr val="1F2433"/>
                </a:solidFill>
                <a:latin typeface="Arial"/>
              </a:rPr>
              <a:t>1 resumo; 3 população ou contexto</a:t>
            </a:r>
          </a:p>
        </p:txBody>
      </p:sp>
      <p:cxnSp>
        <p:nvCxnSpPr>
          <p:cNvPr id="31" name="Connector 30"/>
          <p:cNvCxnSpPr/>
          <p:nvPr/>
        </p:nvCxnSpPr>
        <p:spPr>
          <a:xfrm>
            <a:off x="6812280" y="7219188"/>
            <a:ext cx="347472" cy="0"/>
          </a:xfrm>
          <a:prstGeom prst="line">
            <a:avLst/>
          </a:prstGeom>
          <a:ln w="25400">
            <a:solidFill>
              <a:srgbClr val="002060"/>
            </a:solidFill>
            <a:tailEnd type="triangle" w="med" len="med"/>
          </a:ln>
        </p:spPr>
      </p:cxnSp>
      <p:cxnSp>
        <p:nvCxnSpPr>
          <p:cNvPr id="32" name="Connector 31"/>
          <p:cNvCxnSpPr/>
          <p:nvPr/>
        </p:nvCxnSpPr>
        <p:spPr>
          <a:xfrm>
            <a:off x="4434840" y="7699248"/>
            <a:ext cx="0" cy="237744"/>
          </a:xfrm>
          <a:prstGeom prst="line">
            <a:avLst/>
          </a:prstGeom>
          <a:ln w="25400">
            <a:solidFill>
              <a:srgbClr val="002060"/>
            </a:solidFill>
            <a:tailEnd type="triangle" w="med" len="med"/>
          </a:ln>
        </p:spPr>
      </p:cxnSp>
      <p:sp>
        <p:nvSpPr>
          <p:cNvPr id="33" name="Rounded Rectangle 32"/>
          <p:cNvSpPr/>
          <p:nvPr/>
        </p:nvSpPr>
        <p:spPr>
          <a:xfrm>
            <a:off x="2057400" y="7955280"/>
            <a:ext cx="4754880" cy="1280160"/>
          </a:xfrm>
          <a:prstGeom prst="roundRect">
            <a:avLst>
              <a:gd name="adj" fmla="val 8000"/>
            </a:avLst>
          </a:prstGeom>
          <a:solidFill>
            <a:srgbClr val="E7F3E8"/>
          </a:solidFill>
          <a:ln>
            <a:noFill/>
          </a:ln>
          <a:effectLst/>
        </p:spPr>
        <p:txBody>
          <a:bodyPr rtlCol="0" anchor="ctr"/>
          <a:lstStyle/>
          <a:p/>
        </p:txBody>
      </p:sp>
      <p:sp>
        <p:nvSpPr>
          <p:cNvPr id="34" name="TextBox 33"/>
          <p:cNvSpPr txBox="1"/>
          <p:nvPr/>
        </p:nvSpPr>
        <p:spPr>
          <a:xfrm>
            <a:off x="2331720" y="8065008"/>
            <a:ext cx="4206240" cy="1060704"/>
          </a:xfrm>
          <a:prstGeom prst="rect">
            <a:avLst/>
          </a:prstGeom>
          <a:noFill/>
        </p:spPr>
        <p:txBody>
          <a:bodyPr wrap="square" lIns="0" rIns="0" tIns="0" bIns="0" anchor="ctr">
            <a:noAutofit/>
          </a:bodyPr>
          <a:lstStyle/>
          <a:p>
            <a:pPr algn="l">
              <a:lnSpc>
                <a:spcPct val="100000"/>
              </a:lnSpc>
              <a:spcAft>
                <a:spcPts val="200"/>
              </a:spcAft>
              <a:buNone/>
            </a:pPr>
            <a:r>
              <a:rPr sz="1700" b="1" i="0">
                <a:solidFill>
                  <a:srgbClr val="2E7D32"/>
                </a:solidFill>
                <a:latin typeface="Arial"/>
              </a:rPr>
              <a:t>Relatórios incluídos (n = 22)</a:t>
            </a:r>
          </a:p>
          <a:p>
            <a:pPr algn="l">
              <a:lnSpc>
                <a:spcPct val="100000"/>
              </a:lnSpc>
              <a:spcAft>
                <a:spcPts val="200"/>
              </a:spcAft>
              <a:buNone/>
            </a:pPr>
            <a:r>
              <a:rPr sz="1500" b="0" i="0">
                <a:solidFill>
                  <a:srgbClr val="1F2433"/>
                </a:solidFill>
                <a:latin typeface="Arial"/>
              </a:rPr>
              <a:t>Metanálise: 6 (ocular) e 7 (respiratório)</a:t>
            </a:r>
          </a:p>
          <a:p>
            <a:pPr algn="l">
              <a:lnSpc>
                <a:spcPct val="100000"/>
              </a:lnSpc>
              <a:spcAft>
                <a:spcPts val="200"/>
              </a:spcAft>
              <a:buNone/>
            </a:pPr>
            <a:r>
              <a:rPr sz="1500" b="0" i="0">
                <a:solidFill>
                  <a:srgbClr val="1F2433"/>
                </a:solidFill>
                <a:latin typeface="Arial"/>
              </a:rPr>
              <a:t>Narrativa + GRADE: desfechos objetivos</a:t>
            </a:r>
          </a:p>
        </p:txBody>
      </p:sp>
      <p:sp>
        <p:nvSpPr>
          <p:cNvPr id="35" name="TextBox 34"/>
          <p:cNvSpPr txBox="1"/>
          <p:nvPr/>
        </p:nvSpPr>
        <p:spPr>
          <a:xfrm rot="16200000">
            <a:off x="594359" y="2779776"/>
            <a:ext cx="2011680" cy="365760"/>
          </a:xfrm>
          <a:prstGeom prst="rect">
            <a:avLst/>
          </a:prstGeom>
          <a:noFill/>
        </p:spPr>
        <p:txBody>
          <a:bodyPr wrap="square" lIns="0" rIns="0" tIns="0" bIns="0" anchor="ctr">
            <a:noAutofit/>
          </a:bodyPr>
          <a:lstStyle/>
          <a:p>
            <a:pPr algn="ctr">
              <a:lnSpc>
                <a:spcPct val="100000"/>
              </a:lnSpc>
              <a:spcAft>
                <a:spcPts val="0"/>
              </a:spcAft>
              <a:buNone/>
            </a:pPr>
            <a:r>
              <a:rPr sz="1500" b="1" i="0">
                <a:solidFill>
                  <a:srgbClr val="002060"/>
                </a:solidFill>
                <a:latin typeface="Arial"/>
              </a:rPr>
              <a:t>Identificação</a:t>
            </a:r>
          </a:p>
        </p:txBody>
      </p:sp>
      <p:sp>
        <p:nvSpPr>
          <p:cNvPr id="36" name="TextBox 35"/>
          <p:cNvSpPr txBox="1"/>
          <p:nvPr/>
        </p:nvSpPr>
        <p:spPr>
          <a:xfrm rot="16200000">
            <a:off x="594359" y="5257800"/>
            <a:ext cx="2011680" cy="365760"/>
          </a:xfrm>
          <a:prstGeom prst="rect">
            <a:avLst/>
          </a:prstGeom>
          <a:noFill/>
        </p:spPr>
        <p:txBody>
          <a:bodyPr wrap="square" lIns="0" rIns="0" tIns="0" bIns="0" anchor="ctr">
            <a:noAutofit/>
          </a:bodyPr>
          <a:lstStyle/>
          <a:p>
            <a:pPr algn="ctr">
              <a:lnSpc>
                <a:spcPct val="100000"/>
              </a:lnSpc>
              <a:spcAft>
                <a:spcPts val="0"/>
              </a:spcAft>
              <a:buNone/>
            </a:pPr>
            <a:r>
              <a:rPr sz="1500" b="1" i="0">
                <a:solidFill>
                  <a:srgbClr val="002060"/>
                </a:solidFill>
                <a:latin typeface="Arial"/>
              </a:rPr>
              <a:t>Triagem</a:t>
            </a:r>
          </a:p>
        </p:txBody>
      </p:sp>
      <p:sp>
        <p:nvSpPr>
          <p:cNvPr id="37" name="TextBox 36"/>
          <p:cNvSpPr txBox="1"/>
          <p:nvPr/>
        </p:nvSpPr>
        <p:spPr>
          <a:xfrm rot="16200000">
            <a:off x="594359" y="7036308"/>
            <a:ext cx="2011680" cy="365760"/>
          </a:xfrm>
          <a:prstGeom prst="rect">
            <a:avLst/>
          </a:prstGeom>
          <a:noFill/>
        </p:spPr>
        <p:txBody>
          <a:bodyPr wrap="square" lIns="0" rIns="0" tIns="0" bIns="0" anchor="ctr">
            <a:noAutofit/>
          </a:bodyPr>
          <a:lstStyle/>
          <a:p>
            <a:pPr algn="ctr">
              <a:lnSpc>
                <a:spcPct val="100000"/>
              </a:lnSpc>
              <a:spcAft>
                <a:spcPts val="0"/>
              </a:spcAft>
              <a:buNone/>
            </a:pPr>
            <a:r>
              <a:rPr sz="1500" b="1" i="0">
                <a:solidFill>
                  <a:srgbClr val="002060"/>
                </a:solidFill>
                <a:latin typeface="Arial"/>
              </a:rPr>
              <a:t>Elegibilidade</a:t>
            </a:r>
          </a:p>
        </p:txBody>
      </p:sp>
      <p:sp>
        <p:nvSpPr>
          <p:cNvPr id="38" name="TextBox 37"/>
          <p:cNvSpPr txBox="1"/>
          <p:nvPr/>
        </p:nvSpPr>
        <p:spPr>
          <a:xfrm rot="16200000">
            <a:off x="594359" y="8412480"/>
            <a:ext cx="2011680" cy="365760"/>
          </a:xfrm>
          <a:prstGeom prst="rect">
            <a:avLst/>
          </a:prstGeom>
          <a:noFill/>
        </p:spPr>
        <p:txBody>
          <a:bodyPr wrap="square" lIns="0" rIns="0" tIns="0" bIns="0" anchor="ctr">
            <a:noAutofit/>
          </a:bodyPr>
          <a:lstStyle/>
          <a:p>
            <a:pPr algn="ctr">
              <a:lnSpc>
                <a:spcPct val="100000"/>
              </a:lnSpc>
              <a:spcAft>
                <a:spcPts val="0"/>
              </a:spcAft>
              <a:buNone/>
            </a:pPr>
            <a:r>
              <a:rPr sz="1500" b="1" i="0">
                <a:solidFill>
                  <a:srgbClr val="002060"/>
                </a:solidFill>
                <a:latin typeface="Arial"/>
              </a:rPr>
              <a:t>Incluídos</a:t>
            </a:r>
          </a:p>
        </p:txBody>
      </p:sp>
      <p:sp>
        <p:nvSpPr>
          <p:cNvPr id="39" name="TextBox 38"/>
          <p:cNvSpPr txBox="1"/>
          <p:nvPr/>
        </p:nvSpPr>
        <p:spPr>
          <a:xfrm>
            <a:off x="2057400" y="9326880"/>
            <a:ext cx="7589520" cy="320040"/>
          </a:xfrm>
          <a:prstGeom prst="rect">
            <a:avLst/>
          </a:prstGeom>
          <a:noFill/>
        </p:spPr>
        <p:txBody>
          <a:bodyPr wrap="square" lIns="0" rIns="0" tIns="0" bIns="0" anchor="t">
            <a:noAutofit/>
          </a:bodyPr>
          <a:lstStyle/>
          <a:p>
            <a:pPr algn="l">
              <a:lnSpc>
                <a:spcPct val="100000"/>
              </a:lnSpc>
              <a:spcAft>
                <a:spcPts val="0"/>
              </a:spcAft>
              <a:buNone/>
            </a:pPr>
            <a:r>
              <a:rPr sz="1400" b="0" i="0">
                <a:solidFill>
                  <a:srgbClr val="5A6270"/>
                </a:solidFill>
                <a:latin typeface="Arial"/>
              </a:rPr>
              <a:t>Fluxograma PRISMA 2020 (Figura 1 do manuscrito); não recuperados e excluídos no Anexo C.</a:t>
            </a:r>
          </a:p>
        </p:txBody>
      </p:sp>
      <p:sp>
        <p:nvSpPr>
          <p:cNvPr id="40" name="Rounded Rectangle 39"/>
          <p:cNvSpPr/>
          <p:nvPr/>
        </p:nvSpPr>
        <p:spPr>
          <a:xfrm>
            <a:off x="9921240" y="1783080"/>
            <a:ext cx="3794759" cy="1783080"/>
          </a:xfrm>
          <a:prstGeom prst="roundRect">
            <a:avLst>
              <a:gd name="adj" fmla="val 6000"/>
            </a:avLst>
          </a:prstGeom>
          <a:solidFill>
            <a:srgbClr val="F2F4F8"/>
          </a:solidFill>
          <a:ln>
            <a:noFill/>
          </a:ln>
          <a:effectLst/>
        </p:spPr>
        <p:txBody>
          <a:bodyPr rtlCol="0" anchor="ctr"/>
          <a:lstStyle/>
          <a:p/>
        </p:txBody>
      </p:sp>
      <p:sp>
        <p:nvSpPr>
          <p:cNvPr id="41" name="TextBox 40"/>
          <p:cNvSpPr txBox="1"/>
          <p:nvPr/>
        </p:nvSpPr>
        <p:spPr>
          <a:xfrm>
            <a:off x="10195560" y="1988819"/>
            <a:ext cx="3246119" cy="670560"/>
          </a:xfrm>
          <a:prstGeom prst="rect">
            <a:avLst/>
          </a:prstGeom>
          <a:noFill/>
        </p:spPr>
        <p:txBody>
          <a:bodyPr wrap="square" lIns="0" rIns="0" tIns="0" bIns="0" anchor="t">
            <a:noAutofit/>
          </a:bodyPr>
          <a:lstStyle/>
          <a:p>
            <a:pPr algn="l">
              <a:lnSpc>
                <a:spcPct val="95000"/>
              </a:lnSpc>
              <a:spcAft>
                <a:spcPts val="0"/>
              </a:spcAft>
              <a:buNone/>
            </a:pPr>
            <a:r>
              <a:rPr sz="4400" b="1" i="0">
                <a:solidFill>
                  <a:srgbClr val="002060"/>
                </a:solidFill>
                <a:latin typeface="Arial"/>
              </a:rPr>
              <a:t>22</a:t>
            </a:r>
          </a:p>
        </p:txBody>
      </p:sp>
      <p:sp>
        <p:nvSpPr>
          <p:cNvPr id="42" name="TextBox 41"/>
          <p:cNvSpPr txBox="1"/>
          <p:nvPr/>
        </p:nvSpPr>
        <p:spPr>
          <a:xfrm>
            <a:off x="10195560" y="2705099"/>
            <a:ext cx="3246119" cy="586740"/>
          </a:xfrm>
          <a:prstGeom prst="rect">
            <a:avLst/>
          </a:prstGeom>
          <a:noFill/>
        </p:spPr>
        <p:txBody>
          <a:bodyPr wrap="square" lIns="0" rIns="0" tIns="0" bIns="0" anchor="t">
            <a:noAutofit/>
          </a:bodyPr>
          <a:lstStyle/>
          <a:p>
            <a:pPr algn="l">
              <a:lnSpc>
                <a:spcPct val="105000"/>
              </a:lnSpc>
              <a:spcAft>
                <a:spcPts val="0"/>
              </a:spcAft>
              <a:buNone/>
            </a:pPr>
            <a:r>
              <a:rPr sz="1400" b="0" i="0">
                <a:solidFill>
                  <a:srgbClr val="5A6270"/>
                </a:solidFill>
                <a:latin typeface="Arial"/>
              </a:rPr>
              <a:t>relatórios de estudos observacionais</a:t>
            </a:r>
          </a:p>
        </p:txBody>
      </p:sp>
      <p:sp>
        <p:nvSpPr>
          <p:cNvPr id="43" name="Rounded Rectangle 42"/>
          <p:cNvSpPr/>
          <p:nvPr/>
        </p:nvSpPr>
        <p:spPr>
          <a:xfrm>
            <a:off x="13990319" y="1783080"/>
            <a:ext cx="3794759" cy="1783080"/>
          </a:xfrm>
          <a:prstGeom prst="roundRect">
            <a:avLst>
              <a:gd name="adj" fmla="val 6000"/>
            </a:avLst>
          </a:prstGeom>
          <a:solidFill>
            <a:srgbClr val="F2F4F8"/>
          </a:solidFill>
          <a:ln>
            <a:noFill/>
          </a:ln>
          <a:effectLst/>
        </p:spPr>
        <p:txBody>
          <a:bodyPr rtlCol="0" anchor="ctr"/>
          <a:lstStyle/>
          <a:p/>
        </p:txBody>
      </p:sp>
      <p:sp>
        <p:nvSpPr>
          <p:cNvPr id="44" name="TextBox 43"/>
          <p:cNvSpPr txBox="1"/>
          <p:nvPr/>
        </p:nvSpPr>
        <p:spPr>
          <a:xfrm>
            <a:off x="14264640" y="1988819"/>
            <a:ext cx="3246119" cy="670560"/>
          </a:xfrm>
          <a:prstGeom prst="rect">
            <a:avLst/>
          </a:prstGeom>
          <a:noFill/>
        </p:spPr>
        <p:txBody>
          <a:bodyPr wrap="square" lIns="0" rIns="0" tIns="0" bIns="0" anchor="t">
            <a:noAutofit/>
          </a:bodyPr>
          <a:lstStyle/>
          <a:p>
            <a:pPr algn="l">
              <a:lnSpc>
                <a:spcPct val="95000"/>
              </a:lnSpc>
              <a:spcAft>
                <a:spcPts val="0"/>
              </a:spcAft>
              <a:buNone/>
            </a:pPr>
            <a:r>
              <a:rPr sz="4400" b="1" i="0">
                <a:solidFill>
                  <a:srgbClr val="002060"/>
                </a:solidFill>
                <a:latin typeface="Arial"/>
              </a:rPr>
              <a:t>9</a:t>
            </a:r>
          </a:p>
        </p:txBody>
      </p:sp>
      <p:sp>
        <p:nvSpPr>
          <p:cNvPr id="45" name="TextBox 44"/>
          <p:cNvSpPr txBox="1"/>
          <p:nvPr/>
        </p:nvSpPr>
        <p:spPr>
          <a:xfrm>
            <a:off x="14264640" y="2705099"/>
            <a:ext cx="3246119" cy="586740"/>
          </a:xfrm>
          <a:prstGeom prst="rect">
            <a:avLst/>
          </a:prstGeom>
          <a:noFill/>
        </p:spPr>
        <p:txBody>
          <a:bodyPr wrap="square" lIns="0" rIns="0" tIns="0" bIns="0" anchor="t">
            <a:noAutofit/>
          </a:bodyPr>
          <a:lstStyle/>
          <a:p>
            <a:pPr algn="l">
              <a:lnSpc>
                <a:spcPct val="105000"/>
              </a:lnSpc>
              <a:spcAft>
                <a:spcPts val="0"/>
              </a:spcAft>
              <a:buNone/>
            </a:pPr>
            <a:r>
              <a:rPr sz="1400" b="0" i="0">
                <a:solidFill>
                  <a:srgbClr val="5A6270"/>
                </a:solidFill>
                <a:latin typeface="Arial"/>
              </a:rPr>
              <a:t>países: Turquia, Malásia, Brasil, Paquistão, China, México, EUA, Sudão e Tailândia</a:t>
            </a:r>
          </a:p>
        </p:txBody>
      </p:sp>
      <p:sp>
        <p:nvSpPr>
          <p:cNvPr id="46" name="Rounded Rectangle 45"/>
          <p:cNvSpPr/>
          <p:nvPr/>
        </p:nvSpPr>
        <p:spPr>
          <a:xfrm>
            <a:off x="9921240" y="3840480"/>
            <a:ext cx="3794759" cy="1783080"/>
          </a:xfrm>
          <a:prstGeom prst="roundRect">
            <a:avLst>
              <a:gd name="adj" fmla="val 6000"/>
            </a:avLst>
          </a:prstGeom>
          <a:solidFill>
            <a:srgbClr val="F2F4F8"/>
          </a:solidFill>
          <a:ln>
            <a:noFill/>
          </a:ln>
          <a:effectLst/>
        </p:spPr>
        <p:txBody>
          <a:bodyPr rtlCol="0" anchor="ctr"/>
          <a:lstStyle/>
          <a:p/>
        </p:txBody>
      </p:sp>
      <p:sp>
        <p:nvSpPr>
          <p:cNvPr id="47" name="TextBox 46"/>
          <p:cNvSpPr txBox="1"/>
          <p:nvPr/>
        </p:nvSpPr>
        <p:spPr>
          <a:xfrm>
            <a:off x="10195560" y="4046220"/>
            <a:ext cx="3246119" cy="609600"/>
          </a:xfrm>
          <a:prstGeom prst="rect">
            <a:avLst/>
          </a:prstGeom>
          <a:noFill/>
        </p:spPr>
        <p:txBody>
          <a:bodyPr wrap="square" lIns="0" rIns="0" tIns="0" bIns="0" anchor="t">
            <a:noAutofit/>
          </a:bodyPr>
          <a:lstStyle/>
          <a:p>
            <a:pPr algn="l">
              <a:lnSpc>
                <a:spcPct val="95000"/>
              </a:lnSpc>
              <a:spcAft>
                <a:spcPts val="0"/>
              </a:spcAft>
              <a:buNone/>
            </a:pPr>
            <a:r>
              <a:rPr sz="4000" b="1" i="0">
                <a:solidFill>
                  <a:srgbClr val="002060"/>
                </a:solidFill>
                <a:latin typeface="Arial"/>
              </a:rPr>
              <a:t>19 + 3</a:t>
            </a:r>
          </a:p>
        </p:txBody>
      </p:sp>
      <p:sp>
        <p:nvSpPr>
          <p:cNvPr id="48" name="TextBox 47"/>
          <p:cNvSpPr txBox="1"/>
          <p:nvPr/>
        </p:nvSpPr>
        <p:spPr>
          <a:xfrm>
            <a:off x="10195560" y="4701540"/>
            <a:ext cx="3246119" cy="647700"/>
          </a:xfrm>
          <a:prstGeom prst="rect">
            <a:avLst/>
          </a:prstGeom>
          <a:noFill/>
        </p:spPr>
        <p:txBody>
          <a:bodyPr wrap="square" lIns="0" rIns="0" tIns="0" bIns="0" anchor="t">
            <a:noAutofit/>
          </a:bodyPr>
          <a:lstStyle/>
          <a:p>
            <a:pPr algn="l">
              <a:lnSpc>
                <a:spcPct val="105000"/>
              </a:lnSpc>
              <a:spcAft>
                <a:spcPts val="0"/>
              </a:spcAft>
              <a:buNone/>
            </a:pPr>
            <a:r>
              <a:rPr sz="1400" b="0" i="0">
                <a:solidFill>
                  <a:srgbClr val="5A6270"/>
                </a:solidFill>
                <a:latin typeface="Arial"/>
              </a:rPr>
              <a:t>transversais + coortes prospectivas</a:t>
            </a:r>
          </a:p>
        </p:txBody>
      </p:sp>
      <p:sp>
        <p:nvSpPr>
          <p:cNvPr id="49" name="Rounded Rectangle 48"/>
          <p:cNvSpPr/>
          <p:nvPr/>
        </p:nvSpPr>
        <p:spPr>
          <a:xfrm>
            <a:off x="13990319" y="3840480"/>
            <a:ext cx="3794759" cy="1783080"/>
          </a:xfrm>
          <a:prstGeom prst="roundRect">
            <a:avLst>
              <a:gd name="adj" fmla="val 6000"/>
            </a:avLst>
          </a:prstGeom>
          <a:solidFill>
            <a:srgbClr val="F9E9E9"/>
          </a:solidFill>
          <a:ln>
            <a:noFill/>
          </a:ln>
          <a:effectLst/>
        </p:spPr>
        <p:txBody>
          <a:bodyPr rtlCol="0" anchor="ctr"/>
          <a:lstStyle/>
          <a:p/>
        </p:txBody>
      </p:sp>
      <p:sp>
        <p:nvSpPr>
          <p:cNvPr id="50" name="TextBox 49"/>
          <p:cNvSpPr txBox="1"/>
          <p:nvPr/>
        </p:nvSpPr>
        <p:spPr>
          <a:xfrm>
            <a:off x="14264640" y="4046220"/>
            <a:ext cx="3246119" cy="609600"/>
          </a:xfrm>
          <a:prstGeom prst="rect">
            <a:avLst/>
          </a:prstGeom>
          <a:noFill/>
        </p:spPr>
        <p:txBody>
          <a:bodyPr wrap="square" lIns="0" rIns="0" tIns="0" bIns="0" anchor="t">
            <a:noAutofit/>
          </a:bodyPr>
          <a:lstStyle/>
          <a:p>
            <a:pPr algn="l">
              <a:lnSpc>
                <a:spcPct val="95000"/>
              </a:lnSpc>
              <a:spcAft>
                <a:spcPts val="0"/>
              </a:spcAft>
              <a:buNone/>
            </a:pPr>
            <a:r>
              <a:rPr sz="4000" b="1" i="0">
                <a:solidFill>
                  <a:srgbClr val="8B0000"/>
                </a:solidFill>
                <a:latin typeface="Arial"/>
              </a:rPr>
              <a:t>6 | 7</a:t>
            </a:r>
          </a:p>
        </p:txBody>
      </p:sp>
      <p:sp>
        <p:nvSpPr>
          <p:cNvPr id="51" name="TextBox 50"/>
          <p:cNvSpPr txBox="1"/>
          <p:nvPr/>
        </p:nvSpPr>
        <p:spPr>
          <a:xfrm>
            <a:off x="14264640" y="4701540"/>
            <a:ext cx="3246119" cy="647700"/>
          </a:xfrm>
          <a:prstGeom prst="rect">
            <a:avLst/>
          </a:prstGeom>
          <a:noFill/>
        </p:spPr>
        <p:txBody>
          <a:bodyPr wrap="square" lIns="0" rIns="0" tIns="0" bIns="0" anchor="t">
            <a:noAutofit/>
          </a:bodyPr>
          <a:lstStyle/>
          <a:p>
            <a:pPr algn="l">
              <a:lnSpc>
                <a:spcPct val="105000"/>
              </a:lnSpc>
              <a:spcAft>
                <a:spcPts val="0"/>
              </a:spcAft>
              <a:buNone/>
            </a:pPr>
            <a:r>
              <a:rPr sz="1400" b="0" i="0">
                <a:solidFill>
                  <a:srgbClr val="5A6270"/>
                </a:solidFill>
                <a:latin typeface="Arial"/>
              </a:rPr>
              <a:t>amostras independentes: ocular (n = 756) | respiratória (n = 1.428)</a:t>
            </a:r>
          </a:p>
        </p:txBody>
      </p:sp>
      <p:sp>
        <p:nvSpPr>
          <p:cNvPr id="52" name="Rounded Rectangle 51"/>
          <p:cNvSpPr/>
          <p:nvPr/>
        </p:nvSpPr>
        <p:spPr>
          <a:xfrm>
            <a:off x="9921240" y="5897879"/>
            <a:ext cx="7863840" cy="3337560"/>
          </a:xfrm>
          <a:prstGeom prst="roundRect">
            <a:avLst>
              <a:gd name="adj" fmla="val 6000"/>
            </a:avLst>
          </a:prstGeom>
          <a:solidFill>
            <a:srgbClr val="F2F4F8"/>
          </a:solidFill>
          <a:ln>
            <a:noFill/>
          </a:ln>
          <a:effectLst/>
        </p:spPr>
        <p:txBody>
          <a:bodyPr rtlCol="0" anchor="ctr"/>
          <a:lstStyle/>
          <a:p/>
        </p:txBody>
      </p:sp>
      <p:sp>
        <p:nvSpPr>
          <p:cNvPr id="53" name="Oval 52"/>
          <p:cNvSpPr/>
          <p:nvPr/>
        </p:nvSpPr>
        <p:spPr>
          <a:xfrm>
            <a:off x="10241280" y="6217919"/>
            <a:ext cx="640080" cy="640080"/>
          </a:xfrm>
          <a:prstGeom prst="ellipse">
            <a:avLst/>
          </a:prstGeom>
          <a:solidFill>
            <a:srgbClr val="002060"/>
          </a:solidFill>
          <a:ln>
            <a:noFill/>
          </a:ln>
          <a:effectLst/>
        </p:spPr>
        <p:txBody>
          <a:bodyPr rtlCol="0" anchor="ctr" lIns="0" rIns="0" tIns="0" bIns="0"/>
          <a:lstStyle/>
          <a:p/>
        </p:txBody>
      </p:sp>
      <p:pic>
        <p:nvPicPr>
          <p:cNvPr id="54" name="icone balance" descr="balance_white.png"/>
          <p:cNvPicPr>
            <a:picLocks noChangeAspect="1"/>
          </p:cNvPicPr>
          <p:nvPr/>
        </p:nvPicPr>
        <p:blipFill>
          <a:blip r:embed="rId4"/>
          <a:stretch>
            <a:fillRect/>
          </a:stretch>
        </p:blipFill>
        <p:spPr>
          <a:xfrm>
            <a:off x="10401299" y="6377939"/>
            <a:ext cx="320040" cy="320040"/>
          </a:xfrm>
          <a:prstGeom prst="rect">
            <a:avLst/>
          </a:prstGeom>
        </p:spPr>
      </p:pic>
      <p:sp>
        <p:nvSpPr>
          <p:cNvPr id="55" name="TextBox 54"/>
          <p:cNvSpPr txBox="1"/>
          <p:nvPr/>
        </p:nvSpPr>
        <p:spPr>
          <a:xfrm>
            <a:off x="11109959" y="6217919"/>
            <a:ext cx="6355079" cy="640080"/>
          </a:xfrm>
          <a:prstGeom prst="rect">
            <a:avLst/>
          </a:prstGeom>
          <a:noFill/>
        </p:spPr>
        <p:txBody>
          <a:bodyPr wrap="square" lIns="0" rIns="0" tIns="0" bIns="0" anchor="ctr">
            <a:noAutofit/>
          </a:bodyPr>
          <a:lstStyle/>
          <a:p>
            <a:pPr algn="l">
              <a:lnSpc>
                <a:spcPct val="100000"/>
              </a:lnSpc>
              <a:spcAft>
                <a:spcPts val="0"/>
              </a:spcAft>
              <a:buNone/>
            </a:pPr>
            <a:r>
              <a:rPr sz="2000" b="1" i="0">
                <a:solidFill>
                  <a:srgbClr val="002060"/>
                </a:solidFill>
                <a:latin typeface="Arial"/>
              </a:rPr>
              <a:t>Risco de viés (JBI): resumo</a:t>
            </a:r>
          </a:p>
        </p:txBody>
      </p:sp>
      <p:sp>
        <p:nvSpPr>
          <p:cNvPr id="56" name="TextBox 55"/>
          <p:cNvSpPr txBox="1"/>
          <p:nvPr/>
        </p:nvSpPr>
        <p:spPr>
          <a:xfrm>
            <a:off x="10241280" y="7040879"/>
            <a:ext cx="7223759" cy="1874520"/>
          </a:xfrm>
          <a:prstGeom prst="rect">
            <a:avLst/>
          </a:prstGeom>
          <a:noFill/>
        </p:spPr>
        <p:txBody>
          <a:bodyPr wrap="square" lIns="0" rIns="0" tIns="0" bIns="0" anchor="t">
            <a:noAutofit/>
          </a:bodyPr>
          <a:lstStyle/>
          <a:p>
            <a:pPr algn="l" marL="274320" indent="-274320">
              <a:lnSpc>
                <a:spcPct val="100000"/>
              </a:lnSpc>
              <a:spcAft>
                <a:spcPts val="600"/>
              </a:spcAft>
              <a:buFont typeface="Arial"/>
              <a:buChar char="•"/>
            </a:pPr>
            <a:r>
              <a:rPr sz="1500" b="1" i="0">
                <a:solidFill>
                  <a:srgbClr val="1F2433"/>
                </a:solidFill>
                <a:latin typeface="Arial"/>
              </a:rPr>
              <a:t>Prevalência: </a:t>
            </a:r>
            <a:r>
              <a:rPr sz="1500" b="0" i="0">
                <a:solidFill>
                  <a:srgbClr val="1F2433"/>
                </a:solidFill>
                <a:latin typeface="Arial"/>
              </a:rPr>
              <a:t>preocupação moderada a alta (amostragem não probabilística, taxa de resposta não informada, autorrelato); só 1 estudo com amostragem aleatória.</a:t>
            </a:r>
          </a:p>
          <a:p>
            <a:pPr algn="l" marL="274320" indent="-274320">
              <a:lnSpc>
                <a:spcPct val="100000"/>
              </a:lnSpc>
              <a:spcAft>
                <a:spcPts val="600"/>
              </a:spcAft>
              <a:buFont typeface="Arial"/>
              <a:buChar char="•"/>
            </a:pPr>
            <a:r>
              <a:rPr sz="1500" b="1" i="0">
                <a:solidFill>
                  <a:srgbClr val="1F2433"/>
                </a:solidFill>
                <a:latin typeface="Arial"/>
              </a:rPr>
              <a:t>Resumo de congresso: </a:t>
            </a:r>
            <a:r>
              <a:rPr sz="1500" b="0" i="0">
                <a:solidFill>
                  <a:srgbClr val="1F2433"/>
                </a:solidFill>
                <a:latin typeface="Arial"/>
              </a:rPr>
              <a:t>alta preocupação por relato incompleto.</a:t>
            </a:r>
          </a:p>
          <a:p>
            <a:pPr algn="l" marL="274320" indent="-274320">
              <a:lnSpc>
                <a:spcPct val="100000"/>
              </a:lnSpc>
              <a:spcAft>
                <a:spcPts val="600"/>
              </a:spcAft>
              <a:buFont typeface="Arial"/>
              <a:buChar char="•"/>
            </a:pPr>
            <a:r>
              <a:rPr sz="1500" b="1" i="0">
                <a:solidFill>
                  <a:srgbClr val="1F2433"/>
                </a:solidFill>
                <a:latin typeface="Arial"/>
              </a:rPr>
              <a:t>Comparativos e objetivos: </a:t>
            </a:r>
            <a:r>
              <a:rPr sz="1500" b="0" i="0">
                <a:solidFill>
                  <a:srgbClr val="1F2433"/>
                </a:solidFill>
                <a:latin typeface="Arial"/>
              </a:rPr>
              <a:t>preocupação moderada (exposição pela ocupação, sem ajuste para confundidores).</a:t>
            </a:r>
          </a:p>
          <a:p>
            <a:pPr algn="l" marL="274320" indent="-274320">
              <a:lnSpc>
                <a:spcPct val="100000"/>
              </a:lnSpc>
              <a:spcAft>
                <a:spcPts val="600"/>
              </a:spcAft>
              <a:buFont typeface="Arial"/>
              <a:buChar char="•"/>
            </a:pPr>
            <a:r>
              <a:rPr sz="1500" b="1" i="0">
                <a:solidFill>
                  <a:srgbClr val="8B0000"/>
                </a:solidFill>
                <a:latin typeface="Arial"/>
              </a:rPr>
              <a:t>Nenhum estudo com preocupação baixa </a:t>
            </a:r>
            <a:r>
              <a:rPr sz="1500" b="0" i="0">
                <a:solidFill>
                  <a:srgbClr val="1F2433"/>
                </a:solidFill>
                <a:latin typeface="Arial"/>
              </a:rPr>
              <a:t>→ análise restrita a baixo risco não foi factível.</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35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35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350"/>
                                        <p:tgtEl>
                                          <p:spTgt spid="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350"/>
                                        <p:tgtEl>
                                          <p:spTgt spid="10"/>
                                        </p:tgtEl>
                                      </p:cBhvr>
                                    </p:animEffect>
                                  </p:childTnLst>
                                </p:cTn>
                              </p:par>
                            </p:childTnLst>
                          </p:cTn>
                        </p:par>
                        <p:par>
                          <p:cTn id="17" fill="hold">
                            <p:stCondLst>
                              <p:cond delay="350"/>
                            </p:stCondLst>
                            <p:childTnLst>
                              <p:par>
                                <p:cTn id="18" presetID="10" presetClass="entr" presetSubtype="0" fill="hold" grpId="0" nodeType="after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350"/>
                                        <p:tgtEl>
                                          <p:spTgt spid="11"/>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350"/>
                                        <p:tgtEl>
                                          <p:spTgt spid="1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350"/>
                                        <p:tgtEl>
                                          <p:spTgt spid="13"/>
                                        </p:tgtEl>
                                      </p:cBhvr>
                                    </p:animEffect>
                                  </p:childTnLst>
                                </p:cTn>
                              </p:par>
                            </p:childTnLst>
                          </p:cTn>
                        </p:par>
                        <p:par>
                          <p:cTn id="27" fill="hold">
                            <p:stCondLst>
                              <p:cond delay="700"/>
                            </p:stCondLst>
                            <p:childTnLst>
                              <p:par>
                                <p:cTn id="28" presetID="10" presetClass="entr" presetSubtype="0" fill="hold" grpId="0" nodeType="after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35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350"/>
                                        <p:tgtEl>
                                          <p:spTgt spid="15"/>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350"/>
                                        <p:tgtEl>
                                          <p:spTgt spid="1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350"/>
                                        <p:tgtEl>
                                          <p:spTgt spid="17"/>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fade">
                                      <p:cBhvr>
                                        <p:cTn id="42" dur="350"/>
                                        <p:tgtEl>
                                          <p:spTgt spid="18"/>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9"/>
                                        </p:tgtEl>
                                        <p:attrNameLst>
                                          <p:attrName>style.visibility</p:attrName>
                                        </p:attrNameLst>
                                      </p:cBhvr>
                                      <p:to>
                                        <p:strVal val="visible"/>
                                      </p:to>
                                    </p:set>
                                    <p:animEffect transition="in" filter="fade">
                                      <p:cBhvr>
                                        <p:cTn id="45" dur="350"/>
                                        <p:tgtEl>
                                          <p:spTgt spid="19"/>
                                        </p:tgtEl>
                                      </p:cBhvr>
                                    </p:animEffect>
                                  </p:childTnLst>
                                </p:cTn>
                              </p:par>
                            </p:childTnLst>
                          </p:cTn>
                        </p:par>
                        <p:par>
                          <p:cTn id="46" fill="hold">
                            <p:stCondLst>
                              <p:cond delay="1050"/>
                            </p:stCondLst>
                            <p:childTnLst>
                              <p:par>
                                <p:cTn id="47" presetID="10" presetClass="entr" presetSubtype="0" fill="hold" grpId="0" nodeType="after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350"/>
                                        <p:tgtEl>
                                          <p:spTgt spid="20"/>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fade">
                                      <p:cBhvr>
                                        <p:cTn id="52" dur="350"/>
                                        <p:tgtEl>
                                          <p:spTgt spid="21"/>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fade">
                                      <p:cBhvr>
                                        <p:cTn id="55" dur="350"/>
                                        <p:tgtEl>
                                          <p:spTgt spid="22"/>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3"/>
                                        </p:tgtEl>
                                        <p:attrNameLst>
                                          <p:attrName>style.visibility</p:attrName>
                                        </p:attrNameLst>
                                      </p:cBhvr>
                                      <p:to>
                                        <p:strVal val="visible"/>
                                      </p:to>
                                    </p:set>
                                    <p:animEffect transition="in" filter="fade">
                                      <p:cBhvr>
                                        <p:cTn id="58" dur="350"/>
                                        <p:tgtEl>
                                          <p:spTgt spid="23"/>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4"/>
                                        </p:tgtEl>
                                        <p:attrNameLst>
                                          <p:attrName>style.visibility</p:attrName>
                                        </p:attrNameLst>
                                      </p:cBhvr>
                                      <p:to>
                                        <p:strVal val="visible"/>
                                      </p:to>
                                    </p:set>
                                    <p:animEffect transition="in" filter="fade">
                                      <p:cBhvr>
                                        <p:cTn id="61" dur="350"/>
                                        <p:tgtEl>
                                          <p:spTgt spid="24"/>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5"/>
                                        </p:tgtEl>
                                        <p:attrNameLst>
                                          <p:attrName>style.visibility</p:attrName>
                                        </p:attrNameLst>
                                      </p:cBhvr>
                                      <p:to>
                                        <p:strVal val="visible"/>
                                      </p:to>
                                    </p:set>
                                    <p:animEffect transition="in" filter="fade">
                                      <p:cBhvr>
                                        <p:cTn id="64" dur="350"/>
                                        <p:tgtEl>
                                          <p:spTgt spid="25"/>
                                        </p:tgtEl>
                                      </p:cBhvr>
                                    </p:animEffect>
                                  </p:childTnLst>
                                </p:cTn>
                              </p:par>
                            </p:childTnLst>
                          </p:cTn>
                        </p:par>
                        <p:par>
                          <p:cTn id="65" fill="hold">
                            <p:stCondLst>
                              <p:cond delay="1400"/>
                            </p:stCondLst>
                            <p:childTnLst>
                              <p:par>
                                <p:cTn id="66" presetID="10" presetClass="entr" presetSubtype="0" fill="hold" grpId="0" nodeType="afterEffect">
                                  <p:stCondLst>
                                    <p:cond delay="0"/>
                                  </p:stCondLst>
                                  <p:childTnLst>
                                    <p:set>
                                      <p:cBhvr>
                                        <p:cTn id="67" dur="1" fill="hold">
                                          <p:stCondLst>
                                            <p:cond delay="0"/>
                                          </p:stCondLst>
                                        </p:cTn>
                                        <p:tgtEl>
                                          <p:spTgt spid="26"/>
                                        </p:tgtEl>
                                        <p:attrNameLst>
                                          <p:attrName>style.visibility</p:attrName>
                                        </p:attrNameLst>
                                      </p:cBhvr>
                                      <p:to>
                                        <p:strVal val="visible"/>
                                      </p:to>
                                    </p:set>
                                    <p:animEffect transition="in" filter="fade">
                                      <p:cBhvr>
                                        <p:cTn id="68" dur="350"/>
                                        <p:tgtEl>
                                          <p:spTgt spid="26"/>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7"/>
                                        </p:tgtEl>
                                        <p:attrNameLst>
                                          <p:attrName>style.visibility</p:attrName>
                                        </p:attrNameLst>
                                      </p:cBhvr>
                                      <p:to>
                                        <p:strVal val="visible"/>
                                      </p:to>
                                    </p:set>
                                    <p:animEffect transition="in" filter="fade">
                                      <p:cBhvr>
                                        <p:cTn id="71" dur="350"/>
                                        <p:tgtEl>
                                          <p:spTgt spid="27"/>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350"/>
                                        <p:tgtEl>
                                          <p:spTgt spid="28"/>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9"/>
                                        </p:tgtEl>
                                        <p:attrNameLst>
                                          <p:attrName>style.visibility</p:attrName>
                                        </p:attrNameLst>
                                      </p:cBhvr>
                                      <p:to>
                                        <p:strVal val="visible"/>
                                      </p:to>
                                    </p:set>
                                    <p:animEffect transition="in" filter="fade">
                                      <p:cBhvr>
                                        <p:cTn id="77" dur="350"/>
                                        <p:tgtEl>
                                          <p:spTgt spid="29"/>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30"/>
                                        </p:tgtEl>
                                        <p:attrNameLst>
                                          <p:attrName>style.visibility</p:attrName>
                                        </p:attrNameLst>
                                      </p:cBhvr>
                                      <p:to>
                                        <p:strVal val="visible"/>
                                      </p:to>
                                    </p:set>
                                    <p:animEffect transition="in" filter="fade">
                                      <p:cBhvr>
                                        <p:cTn id="80" dur="350"/>
                                        <p:tgtEl>
                                          <p:spTgt spid="30"/>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31"/>
                                        </p:tgtEl>
                                        <p:attrNameLst>
                                          <p:attrName>style.visibility</p:attrName>
                                        </p:attrNameLst>
                                      </p:cBhvr>
                                      <p:to>
                                        <p:strVal val="visible"/>
                                      </p:to>
                                    </p:set>
                                    <p:animEffect transition="in" filter="fade">
                                      <p:cBhvr>
                                        <p:cTn id="83" dur="350"/>
                                        <p:tgtEl>
                                          <p:spTgt spid="31"/>
                                        </p:tgtEl>
                                      </p:cBhvr>
                                    </p:animEffect>
                                  </p:childTnLst>
                                </p:cTn>
                              </p:par>
                            </p:childTnLst>
                          </p:cTn>
                        </p:par>
                        <p:par>
                          <p:cTn id="84" fill="hold">
                            <p:stCondLst>
                              <p:cond delay="1750"/>
                            </p:stCondLst>
                            <p:childTnLst>
                              <p:par>
                                <p:cTn id="85" presetID="10" presetClass="entr" presetSubtype="0" fill="hold" grpId="0" nodeType="afterEffect">
                                  <p:stCondLst>
                                    <p:cond delay="0"/>
                                  </p:stCondLst>
                                  <p:childTnLst>
                                    <p:set>
                                      <p:cBhvr>
                                        <p:cTn id="86" dur="1" fill="hold">
                                          <p:stCondLst>
                                            <p:cond delay="0"/>
                                          </p:stCondLst>
                                        </p:cTn>
                                        <p:tgtEl>
                                          <p:spTgt spid="32"/>
                                        </p:tgtEl>
                                        <p:attrNameLst>
                                          <p:attrName>style.visibility</p:attrName>
                                        </p:attrNameLst>
                                      </p:cBhvr>
                                      <p:to>
                                        <p:strVal val="visible"/>
                                      </p:to>
                                    </p:set>
                                    <p:animEffect transition="in" filter="fade">
                                      <p:cBhvr>
                                        <p:cTn id="87" dur="350"/>
                                        <p:tgtEl>
                                          <p:spTgt spid="32"/>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33"/>
                                        </p:tgtEl>
                                        <p:attrNameLst>
                                          <p:attrName>style.visibility</p:attrName>
                                        </p:attrNameLst>
                                      </p:cBhvr>
                                      <p:to>
                                        <p:strVal val="visible"/>
                                      </p:to>
                                    </p:set>
                                    <p:animEffect transition="in" filter="fade">
                                      <p:cBhvr>
                                        <p:cTn id="90" dur="350"/>
                                        <p:tgtEl>
                                          <p:spTgt spid="33"/>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34"/>
                                        </p:tgtEl>
                                        <p:attrNameLst>
                                          <p:attrName>style.visibility</p:attrName>
                                        </p:attrNameLst>
                                      </p:cBhvr>
                                      <p:to>
                                        <p:strVal val="visible"/>
                                      </p:to>
                                    </p:set>
                                    <p:animEffect transition="in" filter="fade">
                                      <p:cBhvr>
                                        <p:cTn id="93" dur="350"/>
                                        <p:tgtEl>
                                          <p:spTgt spid="34"/>
                                        </p:tgtEl>
                                      </p:cBhvr>
                                    </p:animEffect>
                                  </p:childTnLst>
                                </p:cTn>
                              </p:par>
                            </p:childTnLst>
                          </p:cTn>
                        </p:par>
                        <p:par>
                          <p:cTn id="94" fill="hold">
                            <p:stCondLst>
                              <p:cond delay="2100"/>
                            </p:stCondLst>
                            <p:childTnLst>
                              <p:par>
                                <p:cTn id="95" presetID="10" presetClass="entr" presetSubtype="0" fill="hold" grpId="0" nodeType="afterEffect">
                                  <p:stCondLst>
                                    <p:cond delay="0"/>
                                  </p:stCondLst>
                                  <p:childTnLst>
                                    <p:set>
                                      <p:cBhvr>
                                        <p:cTn id="96" dur="1" fill="hold">
                                          <p:stCondLst>
                                            <p:cond delay="0"/>
                                          </p:stCondLst>
                                        </p:cTn>
                                        <p:tgtEl>
                                          <p:spTgt spid="40"/>
                                        </p:tgtEl>
                                        <p:attrNameLst>
                                          <p:attrName>style.visibility</p:attrName>
                                        </p:attrNameLst>
                                      </p:cBhvr>
                                      <p:to>
                                        <p:strVal val="visible"/>
                                      </p:to>
                                    </p:set>
                                    <p:animEffect transition="in" filter="fade">
                                      <p:cBhvr>
                                        <p:cTn id="97" dur="350"/>
                                        <p:tgtEl>
                                          <p:spTgt spid="40"/>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41"/>
                                        </p:tgtEl>
                                        <p:attrNameLst>
                                          <p:attrName>style.visibility</p:attrName>
                                        </p:attrNameLst>
                                      </p:cBhvr>
                                      <p:to>
                                        <p:strVal val="visible"/>
                                      </p:to>
                                    </p:set>
                                    <p:animEffect transition="in" filter="fade">
                                      <p:cBhvr>
                                        <p:cTn id="100" dur="350"/>
                                        <p:tgtEl>
                                          <p:spTgt spid="41"/>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42"/>
                                        </p:tgtEl>
                                        <p:attrNameLst>
                                          <p:attrName>style.visibility</p:attrName>
                                        </p:attrNameLst>
                                      </p:cBhvr>
                                      <p:to>
                                        <p:strVal val="visible"/>
                                      </p:to>
                                    </p:set>
                                    <p:animEffect transition="in" filter="fade">
                                      <p:cBhvr>
                                        <p:cTn id="103" dur="350"/>
                                        <p:tgtEl>
                                          <p:spTgt spid="42"/>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43"/>
                                        </p:tgtEl>
                                        <p:attrNameLst>
                                          <p:attrName>style.visibility</p:attrName>
                                        </p:attrNameLst>
                                      </p:cBhvr>
                                      <p:to>
                                        <p:strVal val="visible"/>
                                      </p:to>
                                    </p:set>
                                    <p:animEffect transition="in" filter="fade">
                                      <p:cBhvr>
                                        <p:cTn id="106" dur="350"/>
                                        <p:tgtEl>
                                          <p:spTgt spid="43"/>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44"/>
                                        </p:tgtEl>
                                        <p:attrNameLst>
                                          <p:attrName>style.visibility</p:attrName>
                                        </p:attrNameLst>
                                      </p:cBhvr>
                                      <p:to>
                                        <p:strVal val="visible"/>
                                      </p:to>
                                    </p:set>
                                    <p:animEffect transition="in" filter="fade">
                                      <p:cBhvr>
                                        <p:cTn id="109" dur="350"/>
                                        <p:tgtEl>
                                          <p:spTgt spid="44"/>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45"/>
                                        </p:tgtEl>
                                        <p:attrNameLst>
                                          <p:attrName>style.visibility</p:attrName>
                                        </p:attrNameLst>
                                      </p:cBhvr>
                                      <p:to>
                                        <p:strVal val="visible"/>
                                      </p:to>
                                    </p:set>
                                    <p:animEffect transition="in" filter="fade">
                                      <p:cBhvr>
                                        <p:cTn id="112" dur="350"/>
                                        <p:tgtEl>
                                          <p:spTgt spid="45"/>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46"/>
                                        </p:tgtEl>
                                        <p:attrNameLst>
                                          <p:attrName>style.visibility</p:attrName>
                                        </p:attrNameLst>
                                      </p:cBhvr>
                                      <p:to>
                                        <p:strVal val="visible"/>
                                      </p:to>
                                    </p:set>
                                    <p:animEffect transition="in" filter="fade">
                                      <p:cBhvr>
                                        <p:cTn id="115" dur="350"/>
                                        <p:tgtEl>
                                          <p:spTgt spid="46"/>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47"/>
                                        </p:tgtEl>
                                        <p:attrNameLst>
                                          <p:attrName>style.visibility</p:attrName>
                                        </p:attrNameLst>
                                      </p:cBhvr>
                                      <p:to>
                                        <p:strVal val="visible"/>
                                      </p:to>
                                    </p:set>
                                    <p:animEffect transition="in" filter="fade">
                                      <p:cBhvr>
                                        <p:cTn id="118" dur="350"/>
                                        <p:tgtEl>
                                          <p:spTgt spid="47"/>
                                        </p:tgtEl>
                                      </p:cBhvr>
                                    </p:animEffect>
                                  </p:childTnLst>
                                </p:cTn>
                              </p:par>
                              <p:par>
                                <p:cTn id="119" presetID="10" presetClass="entr" presetSubtype="0" fill="hold" grpId="0" nodeType="withEffect">
                                  <p:stCondLst>
                                    <p:cond delay="0"/>
                                  </p:stCondLst>
                                  <p:childTnLst>
                                    <p:set>
                                      <p:cBhvr>
                                        <p:cTn id="120" dur="1" fill="hold">
                                          <p:stCondLst>
                                            <p:cond delay="0"/>
                                          </p:stCondLst>
                                        </p:cTn>
                                        <p:tgtEl>
                                          <p:spTgt spid="48"/>
                                        </p:tgtEl>
                                        <p:attrNameLst>
                                          <p:attrName>style.visibility</p:attrName>
                                        </p:attrNameLst>
                                      </p:cBhvr>
                                      <p:to>
                                        <p:strVal val="visible"/>
                                      </p:to>
                                    </p:set>
                                    <p:animEffect transition="in" filter="fade">
                                      <p:cBhvr>
                                        <p:cTn id="121" dur="350"/>
                                        <p:tgtEl>
                                          <p:spTgt spid="48"/>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49"/>
                                        </p:tgtEl>
                                        <p:attrNameLst>
                                          <p:attrName>style.visibility</p:attrName>
                                        </p:attrNameLst>
                                      </p:cBhvr>
                                      <p:to>
                                        <p:strVal val="visible"/>
                                      </p:to>
                                    </p:set>
                                    <p:animEffect transition="in" filter="fade">
                                      <p:cBhvr>
                                        <p:cTn id="124" dur="350"/>
                                        <p:tgtEl>
                                          <p:spTgt spid="49"/>
                                        </p:tgtEl>
                                      </p:cBhvr>
                                    </p:animEffect>
                                  </p:childTnLst>
                                </p:cTn>
                              </p:par>
                              <p:par>
                                <p:cTn id="125" presetID="10" presetClass="entr" presetSubtype="0" fill="hold" grpId="0" nodeType="withEffect">
                                  <p:stCondLst>
                                    <p:cond delay="0"/>
                                  </p:stCondLst>
                                  <p:childTnLst>
                                    <p:set>
                                      <p:cBhvr>
                                        <p:cTn id="126" dur="1" fill="hold">
                                          <p:stCondLst>
                                            <p:cond delay="0"/>
                                          </p:stCondLst>
                                        </p:cTn>
                                        <p:tgtEl>
                                          <p:spTgt spid="50"/>
                                        </p:tgtEl>
                                        <p:attrNameLst>
                                          <p:attrName>style.visibility</p:attrName>
                                        </p:attrNameLst>
                                      </p:cBhvr>
                                      <p:to>
                                        <p:strVal val="visible"/>
                                      </p:to>
                                    </p:set>
                                    <p:animEffect transition="in" filter="fade">
                                      <p:cBhvr>
                                        <p:cTn id="127" dur="350"/>
                                        <p:tgtEl>
                                          <p:spTgt spid="50"/>
                                        </p:tgtEl>
                                      </p:cBhvr>
                                    </p:animEffect>
                                  </p:childTnLst>
                                </p:cTn>
                              </p:par>
                              <p:par>
                                <p:cTn id="128" presetID="10" presetClass="entr" presetSubtype="0" fill="hold" grpId="0" nodeType="withEffect">
                                  <p:stCondLst>
                                    <p:cond delay="0"/>
                                  </p:stCondLst>
                                  <p:childTnLst>
                                    <p:set>
                                      <p:cBhvr>
                                        <p:cTn id="129" dur="1" fill="hold">
                                          <p:stCondLst>
                                            <p:cond delay="0"/>
                                          </p:stCondLst>
                                        </p:cTn>
                                        <p:tgtEl>
                                          <p:spTgt spid="51"/>
                                        </p:tgtEl>
                                        <p:attrNameLst>
                                          <p:attrName>style.visibility</p:attrName>
                                        </p:attrNameLst>
                                      </p:cBhvr>
                                      <p:to>
                                        <p:strVal val="visible"/>
                                      </p:to>
                                    </p:set>
                                    <p:animEffect transition="in" filter="fade">
                                      <p:cBhvr>
                                        <p:cTn id="130" dur="350"/>
                                        <p:tgtEl>
                                          <p:spTgt spid="51"/>
                                        </p:tgtEl>
                                      </p:cBhvr>
                                    </p:animEffect>
                                  </p:childTnLst>
                                </p:cTn>
                              </p:par>
                            </p:childTnLst>
                          </p:cTn>
                        </p:par>
                        <p:par>
                          <p:cTn id="131" fill="hold">
                            <p:stCondLst>
                              <p:cond delay="2450"/>
                            </p:stCondLst>
                            <p:childTnLst>
                              <p:par>
                                <p:cTn id="132" presetID="10" presetClass="entr" presetSubtype="0" fill="hold" grpId="0" nodeType="afterEffect">
                                  <p:stCondLst>
                                    <p:cond delay="0"/>
                                  </p:stCondLst>
                                  <p:childTnLst>
                                    <p:set>
                                      <p:cBhvr>
                                        <p:cTn id="133" dur="1" fill="hold">
                                          <p:stCondLst>
                                            <p:cond delay="0"/>
                                          </p:stCondLst>
                                        </p:cTn>
                                        <p:tgtEl>
                                          <p:spTgt spid="52"/>
                                        </p:tgtEl>
                                        <p:attrNameLst>
                                          <p:attrName>style.visibility</p:attrName>
                                        </p:attrNameLst>
                                      </p:cBhvr>
                                      <p:to>
                                        <p:strVal val="visible"/>
                                      </p:to>
                                    </p:set>
                                    <p:animEffect transition="in" filter="fade">
                                      <p:cBhvr>
                                        <p:cTn id="134" dur="350"/>
                                        <p:tgtEl>
                                          <p:spTgt spid="52"/>
                                        </p:tgtEl>
                                      </p:cBhvr>
                                    </p:animEffect>
                                  </p:childTnLst>
                                </p:cTn>
                              </p:par>
                              <p:par>
                                <p:cTn id="135" presetID="10" presetClass="entr" presetSubtype="0" fill="hold" grpId="0" nodeType="withEffect">
                                  <p:stCondLst>
                                    <p:cond delay="0"/>
                                  </p:stCondLst>
                                  <p:childTnLst>
                                    <p:set>
                                      <p:cBhvr>
                                        <p:cTn id="136" dur="1" fill="hold">
                                          <p:stCondLst>
                                            <p:cond delay="0"/>
                                          </p:stCondLst>
                                        </p:cTn>
                                        <p:tgtEl>
                                          <p:spTgt spid="53"/>
                                        </p:tgtEl>
                                        <p:attrNameLst>
                                          <p:attrName>style.visibility</p:attrName>
                                        </p:attrNameLst>
                                      </p:cBhvr>
                                      <p:to>
                                        <p:strVal val="visible"/>
                                      </p:to>
                                    </p:set>
                                    <p:animEffect transition="in" filter="fade">
                                      <p:cBhvr>
                                        <p:cTn id="137" dur="350"/>
                                        <p:tgtEl>
                                          <p:spTgt spid="53"/>
                                        </p:tgtEl>
                                      </p:cBhvr>
                                    </p:animEffect>
                                  </p:childTnLst>
                                </p:cTn>
                              </p:par>
                              <p:par>
                                <p:cTn id="138" presetID="10" presetClass="entr" presetSubtype="0" fill="hold" grpId="0" nodeType="withEffect">
                                  <p:stCondLst>
                                    <p:cond delay="0"/>
                                  </p:stCondLst>
                                  <p:childTnLst>
                                    <p:set>
                                      <p:cBhvr>
                                        <p:cTn id="139" dur="1" fill="hold">
                                          <p:stCondLst>
                                            <p:cond delay="0"/>
                                          </p:stCondLst>
                                        </p:cTn>
                                        <p:tgtEl>
                                          <p:spTgt spid="54"/>
                                        </p:tgtEl>
                                        <p:attrNameLst>
                                          <p:attrName>style.visibility</p:attrName>
                                        </p:attrNameLst>
                                      </p:cBhvr>
                                      <p:to>
                                        <p:strVal val="visible"/>
                                      </p:to>
                                    </p:set>
                                    <p:animEffect transition="in" filter="fade">
                                      <p:cBhvr>
                                        <p:cTn id="140" dur="350"/>
                                        <p:tgtEl>
                                          <p:spTgt spid="54"/>
                                        </p:tgtEl>
                                      </p:cBhvr>
                                    </p:animEffect>
                                  </p:childTnLst>
                                </p:cTn>
                              </p:par>
                              <p:par>
                                <p:cTn id="141" presetID="10" presetClass="entr" presetSubtype="0" fill="hold" grpId="0" nodeType="withEffect">
                                  <p:stCondLst>
                                    <p:cond delay="0"/>
                                  </p:stCondLst>
                                  <p:childTnLst>
                                    <p:set>
                                      <p:cBhvr>
                                        <p:cTn id="142" dur="1" fill="hold">
                                          <p:stCondLst>
                                            <p:cond delay="0"/>
                                          </p:stCondLst>
                                        </p:cTn>
                                        <p:tgtEl>
                                          <p:spTgt spid="55"/>
                                        </p:tgtEl>
                                        <p:attrNameLst>
                                          <p:attrName>style.visibility</p:attrName>
                                        </p:attrNameLst>
                                      </p:cBhvr>
                                      <p:to>
                                        <p:strVal val="visible"/>
                                      </p:to>
                                    </p:set>
                                    <p:animEffect transition="in" filter="fade">
                                      <p:cBhvr>
                                        <p:cTn id="143" dur="350"/>
                                        <p:tgtEl>
                                          <p:spTgt spid="55"/>
                                        </p:tgtEl>
                                      </p:cBhvr>
                                    </p:animEffect>
                                  </p:childTnLst>
                                </p:cTn>
                              </p:par>
                              <p:par>
                                <p:cTn id="144" presetID="10" presetClass="entr" presetSubtype="0" fill="hold" grpId="0" nodeType="withEffect">
                                  <p:stCondLst>
                                    <p:cond delay="0"/>
                                  </p:stCondLst>
                                  <p:childTnLst>
                                    <p:set>
                                      <p:cBhvr>
                                        <p:cTn id="145" dur="1" fill="hold">
                                          <p:stCondLst>
                                            <p:cond delay="0"/>
                                          </p:stCondLst>
                                        </p:cTn>
                                        <p:tgtEl>
                                          <p:spTgt spid="56"/>
                                        </p:tgtEl>
                                        <p:attrNameLst>
                                          <p:attrName>style.visibility</p:attrName>
                                        </p:attrNameLst>
                                      </p:cBhvr>
                                      <p:to>
                                        <p:strVal val="visible"/>
                                      </p:to>
                                    </p:set>
                                    <p:animEffect transition="in" filter="fade">
                                      <p:cBhvr>
                                        <p:cTn id="146" dur="35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2" grpId="0" animBg="1"/>
      <p:bldP spid="13" grpId="0" animBg="1"/>
      <p:bldP spid="15" grpId="0" animBg="1"/>
      <p:bldP spid="16" grpId="0" animBg="1"/>
      <p:bldP spid="17" grpId="0" animBg="1"/>
      <p:bldP spid="18" grpId="0" animBg="1"/>
      <p:bldP spid="21" grpId="0" animBg="1"/>
      <p:bldP spid="22" grpId="0" animBg="1"/>
      <p:bldP spid="23" grpId="0" animBg="1"/>
      <p:bldP spid="24" grpId="0" animBg="1"/>
      <p:bldP spid="27" grpId="0" animBg="1"/>
      <p:bldP spid="28" grpId="0" animBg="1"/>
      <p:bldP spid="29" grpId="0" animBg="1"/>
      <p:bldP spid="30" grpId="0" animBg="1"/>
      <p:bldP spid="33" grpId="0" animBg="1"/>
      <p:bldP spid="34"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5" grpId="0" animBg="1"/>
      <p:bldP spid="56" grpId="0" animBg="1"/>
    </p:bld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lano de fundo do modelo" descr="tpl_bg.png"/>
          <p:cNvPicPr>
            <a:picLocks noChangeAspect="1"/>
          </p:cNvPicPr>
          <p:nvPr/>
        </p:nvPicPr>
        <p:blipFill>
          <a:blip r:embed="rId2"/>
          <a:stretch>
            <a:fillRect/>
          </a:stretch>
        </p:blipFill>
        <p:spPr>
          <a:xfrm>
            <a:off x="20" y="1923"/>
            <a:ext cx="18287980" cy="10285077"/>
          </a:xfrm>
          <a:prstGeom prst="rect">
            <a:avLst/>
          </a:prstGeom>
        </p:spPr>
      </p:pic>
      <p:sp>
        <p:nvSpPr>
          <p:cNvPr id="3" name="Retângulo branco (modelo)"/>
          <p:cNvSpPr/>
          <p:nvPr/>
        </p:nvSpPr>
        <p:spPr>
          <a:xfrm>
            <a:off x="15888345" y="279974"/>
            <a:ext cx="2362200" cy="863025"/>
          </a:xfrm>
          <a:prstGeom prst="rect">
            <a:avLst/>
          </a:prstGeom>
          <a:solidFill>
            <a:srgbClr val="FFFFFF"/>
          </a:solidFill>
          <a:ln>
            <a:noFill/>
          </a:ln>
        </p:spPr>
        <p:txBody>
          <a:bodyPr rtlCol="0" anchor="ctr"/>
          <a:lstStyle/>
          <a:p>
            <a:pPr algn="ctr"/>
          </a:p>
        </p:txBody>
      </p:sp>
      <p:pic>
        <p:nvPicPr>
          <p:cNvPr id="4" name="Logo SEMICA" descr="image.png"/>
          <p:cNvPicPr>
            <a:picLocks noChangeAspect="1"/>
          </p:cNvPicPr>
          <p:nvPr/>
        </p:nvPicPr>
        <p:blipFill>
          <a:blip r:embed="rId3"/>
          <a:stretch>
            <a:fillRect/>
          </a:stretch>
        </p:blipFill>
        <p:spPr>
          <a:xfrm>
            <a:off x="15544800" y="279974"/>
            <a:ext cx="2512314" cy="1234862"/>
          </a:xfrm>
          <a:prstGeom prst="rect">
            <a:avLst/>
          </a:prstGeom>
        </p:spPr>
      </p:pic>
      <p:sp>
        <p:nvSpPr>
          <p:cNvPr id="5" name="Título da seção"/>
          <p:cNvSpPr txBox="1"/>
          <p:nvPr/>
        </p:nvSpPr>
        <p:spPr>
          <a:xfrm>
            <a:off x="1143000" y="558224"/>
            <a:ext cx="10058400" cy="584775"/>
          </a:xfrm>
          <a:prstGeom prst="rect">
            <a:avLst/>
          </a:prstGeom>
          <a:noFill/>
        </p:spPr>
        <p:txBody>
          <a:bodyPr wrap="square">
            <a:noAutofit/>
          </a:bodyPr>
          <a:lstStyle/>
          <a:p>
            <a:pPr algn="l">
              <a:lnSpc>
                <a:spcPct val="100000"/>
              </a:lnSpc>
              <a:spcAft>
                <a:spcPts val="0"/>
              </a:spcAft>
              <a:buNone/>
            </a:pPr>
            <a:r>
              <a:rPr sz="3200" b="0" i="0">
                <a:solidFill>
                  <a:srgbClr val="000000"/>
                </a:solidFill>
                <a:latin typeface="Arial"/>
              </a:rPr>
              <a:t>RESULTADOS</a:t>
            </a:r>
          </a:p>
        </p:txBody>
      </p:sp>
      <p:sp>
        <p:nvSpPr>
          <p:cNvPr id="6" name="Subtítulo"/>
          <p:cNvSpPr txBox="1"/>
          <p:nvPr/>
        </p:nvSpPr>
        <p:spPr>
          <a:xfrm>
            <a:off x="1143000" y="1097280"/>
            <a:ext cx="14173200" cy="502920"/>
          </a:xfrm>
          <a:prstGeom prst="rect">
            <a:avLst/>
          </a:prstGeom>
          <a:noFill/>
        </p:spPr>
        <p:txBody>
          <a:bodyPr wrap="square" lIns="0" rIns="0" tIns="0" bIns="0" anchor="t">
            <a:noAutofit/>
          </a:bodyPr>
          <a:lstStyle/>
          <a:p>
            <a:pPr algn="l">
              <a:lnSpc>
                <a:spcPct val="100000"/>
              </a:lnSpc>
              <a:spcAft>
                <a:spcPts val="0"/>
              </a:spcAft>
              <a:buNone/>
            </a:pPr>
            <a:r>
              <a:rPr sz="2400" b="1" i="0">
                <a:solidFill>
                  <a:srgbClr val="002060"/>
                </a:solidFill>
                <a:latin typeface="Arial"/>
              </a:rPr>
              <a:t>Desfecho principal · Prevalência combinada de sintoma ocular (irritação ou lacrimejamento)</a:t>
            </a:r>
          </a:p>
        </p:txBody>
      </p:sp>
      <p:pic>
        <p:nvPicPr>
          <p:cNvPr id="7" name="Figura 2 forest plot ocular" descr="fig2_forest_ocular_slide.png"/>
          <p:cNvPicPr>
            <a:picLocks noChangeAspect="1"/>
          </p:cNvPicPr>
          <p:nvPr/>
        </p:nvPicPr>
        <p:blipFill>
          <a:blip r:embed="rId4"/>
          <a:stretch>
            <a:fillRect/>
          </a:stretch>
        </p:blipFill>
        <p:spPr>
          <a:xfrm>
            <a:off x="1143000" y="1783080"/>
            <a:ext cx="11247120" cy="5577840"/>
          </a:xfrm>
          <a:prstGeom prst="rect">
            <a:avLst/>
          </a:prstGeom>
        </p:spPr>
      </p:pic>
      <p:sp>
        <p:nvSpPr>
          <p:cNvPr id="8" name="TextBox 7"/>
          <p:cNvSpPr txBox="1"/>
          <p:nvPr/>
        </p:nvSpPr>
        <p:spPr>
          <a:xfrm>
            <a:off x="1143000" y="7434071"/>
            <a:ext cx="11247120" cy="457200"/>
          </a:xfrm>
          <a:prstGeom prst="rect">
            <a:avLst/>
          </a:prstGeom>
          <a:noFill/>
        </p:spPr>
        <p:txBody>
          <a:bodyPr wrap="square" lIns="0" rIns="0" tIns="0" bIns="0" anchor="t">
            <a:noAutofit/>
          </a:bodyPr>
          <a:lstStyle/>
          <a:p>
            <a:pPr algn="l">
              <a:lnSpc>
                <a:spcPct val="100000"/>
              </a:lnSpc>
              <a:spcAft>
                <a:spcPts val="0"/>
              </a:spcAft>
              <a:buNone/>
            </a:pPr>
            <a:r>
              <a:rPr sz="1400" b="1" i="0">
                <a:solidFill>
                  <a:srgbClr val="5A6270"/>
                </a:solidFill>
                <a:latin typeface="Arial"/>
              </a:rPr>
              <a:t>Figura 2. </a:t>
            </a:r>
            <a:r>
              <a:rPr sz="1400" b="0" i="0">
                <a:solidFill>
                  <a:srgbClr val="5A6270"/>
                </a:solidFill>
                <a:latin typeface="Arial"/>
              </a:rPr>
              <a:t>Logito, Paule-Mandel e Hartung-Knapp. Quadrado = prevalência do estudo (tamanho ∝ peso); linha preta = IC95% de Wilson; losango = estimativa combinada; linha vermelha = intervalo de predição (IP).</a:t>
            </a:r>
          </a:p>
        </p:txBody>
      </p:sp>
      <p:sp>
        <p:nvSpPr>
          <p:cNvPr id="9" name="Rounded Rectangle 8"/>
          <p:cNvSpPr/>
          <p:nvPr/>
        </p:nvSpPr>
        <p:spPr>
          <a:xfrm>
            <a:off x="12664440" y="1783080"/>
            <a:ext cx="5120639" cy="3246120"/>
          </a:xfrm>
          <a:prstGeom prst="roundRect">
            <a:avLst>
              <a:gd name="adj" fmla="val 6000"/>
            </a:avLst>
          </a:prstGeom>
          <a:solidFill>
            <a:srgbClr val="F9E9E9"/>
          </a:solidFill>
          <a:ln>
            <a:noFill/>
          </a:ln>
          <a:effectLst/>
        </p:spPr>
        <p:txBody>
          <a:bodyPr rtlCol="0" anchor="ctr"/>
          <a:lstStyle/>
          <a:p/>
        </p:txBody>
      </p:sp>
      <p:sp>
        <p:nvSpPr>
          <p:cNvPr id="10" name="TextBox 9"/>
          <p:cNvSpPr txBox="1"/>
          <p:nvPr/>
        </p:nvSpPr>
        <p:spPr>
          <a:xfrm>
            <a:off x="12984480" y="1984248"/>
            <a:ext cx="4480559" cy="1143000"/>
          </a:xfrm>
          <a:prstGeom prst="rect">
            <a:avLst/>
          </a:prstGeom>
          <a:noFill/>
        </p:spPr>
        <p:txBody>
          <a:bodyPr wrap="square" lIns="0" rIns="0" tIns="0" bIns="0" anchor="t">
            <a:noAutofit/>
          </a:bodyPr>
          <a:lstStyle/>
          <a:p>
            <a:pPr algn="l">
              <a:lnSpc>
                <a:spcPct val="100000"/>
              </a:lnSpc>
              <a:spcAft>
                <a:spcPts val="0"/>
              </a:spcAft>
              <a:buNone/>
            </a:pPr>
            <a:r>
              <a:rPr sz="7200" b="1" i="0">
                <a:solidFill>
                  <a:srgbClr val="8B0000"/>
                </a:solidFill>
                <a:latin typeface="Arial"/>
              </a:rPr>
              <a:t>37,6%</a:t>
            </a:r>
          </a:p>
        </p:txBody>
      </p:sp>
      <p:sp>
        <p:nvSpPr>
          <p:cNvPr id="11" name="TextBox 10"/>
          <p:cNvSpPr txBox="1"/>
          <p:nvPr/>
        </p:nvSpPr>
        <p:spPr>
          <a:xfrm>
            <a:off x="12984480" y="3127248"/>
            <a:ext cx="4480559" cy="365760"/>
          </a:xfrm>
          <a:prstGeom prst="rect">
            <a:avLst/>
          </a:prstGeom>
          <a:noFill/>
        </p:spPr>
        <p:txBody>
          <a:bodyPr wrap="square" lIns="0" rIns="0" tIns="0" bIns="0" anchor="t">
            <a:noAutofit/>
          </a:bodyPr>
          <a:lstStyle/>
          <a:p>
            <a:pPr algn="l">
              <a:lnSpc>
                <a:spcPct val="100000"/>
              </a:lnSpc>
              <a:spcAft>
                <a:spcPts val="0"/>
              </a:spcAft>
              <a:buNone/>
            </a:pPr>
            <a:r>
              <a:rPr sz="1600" b="0" i="0">
                <a:solidFill>
                  <a:srgbClr val="5A6270"/>
                </a:solidFill>
                <a:latin typeface="Arial"/>
              </a:rPr>
              <a:t>prevalência combinada de sintoma ocular</a:t>
            </a:r>
          </a:p>
        </p:txBody>
      </p:sp>
      <p:sp>
        <p:nvSpPr>
          <p:cNvPr id="12" name="TextBox 11"/>
          <p:cNvSpPr txBox="1"/>
          <p:nvPr/>
        </p:nvSpPr>
        <p:spPr>
          <a:xfrm>
            <a:off x="12984480" y="3611880"/>
            <a:ext cx="4480559" cy="1143000"/>
          </a:xfrm>
          <a:prstGeom prst="rect">
            <a:avLst/>
          </a:prstGeom>
          <a:noFill/>
        </p:spPr>
        <p:txBody>
          <a:bodyPr wrap="square" lIns="0" rIns="0" tIns="0" bIns="0" anchor="t">
            <a:noAutofit/>
          </a:bodyPr>
          <a:lstStyle/>
          <a:p>
            <a:pPr algn="l">
              <a:lnSpc>
                <a:spcPct val="100000"/>
              </a:lnSpc>
              <a:spcAft>
                <a:spcPts val="300"/>
              </a:spcAft>
              <a:buNone/>
            </a:pPr>
            <a:r>
              <a:rPr sz="1700" b="1" i="0">
                <a:solidFill>
                  <a:srgbClr val="1F2433"/>
                </a:solidFill>
                <a:latin typeface="Arial"/>
              </a:rPr>
              <a:t>IC95% </a:t>
            </a:r>
            <a:r>
              <a:rPr sz="1700" b="0" i="0">
                <a:solidFill>
                  <a:srgbClr val="1F2433"/>
                </a:solidFill>
                <a:latin typeface="Arial"/>
              </a:rPr>
              <a:t>21,9–56,5</a:t>
            </a:r>
          </a:p>
          <a:p>
            <a:pPr algn="l">
              <a:lnSpc>
                <a:spcPct val="100000"/>
              </a:lnSpc>
              <a:spcAft>
                <a:spcPts val="300"/>
              </a:spcAft>
              <a:buNone/>
            </a:pPr>
            <a:r>
              <a:rPr sz="1700" b="1" i="0">
                <a:solidFill>
                  <a:srgbClr val="1F2433"/>
                </a:solidFill>
                <a:latin typeface="Arial"/>
              </a:rPr>
              <a:t>Intervalo de predição </a:t>
            </a:r>
            <a:r>
              <a:rPr sz="1700" b="0" i="0">
                <a:solidFill>
                  <a:srgbClr val="1F2433"/>
                </a:solidFill>
                <a:latin typeface="Arial"/>
              </a:rPr>
              <a:t>7–83%</a:t>
            </a:r>
          </a:p>
          <a:p>
            <a:pPr algn="l">
              <a:lnSpc>
                <a:spcPct val="100000"/>
              </a:lnSpc>
              <a:spcAft>
                <a:spcPts val="300"/>
              </a:spcAft>
              <a:buNone/>
            </a:pPr>
            <a:r>
              <a:rPr sz="1700" b="1" i="0">
                <a:solidFill>
                  <a:srgbClr val="1F2433"/>
                </a:solidFill>
                <a:latin typeface="Arial"/>
              </a:rPr>
              <a:t>I² = 93% · k = 6 · n = 756</a:t>
            </a:r>
          </a:p>
        </p:txBody>
      </p:sp>
      <p:sp>
        <p:nvSpPr>
          <p:cNvPr id="13" name="Rounded Rectangle 12"/>
          <p:cNvSpPr/>
          <p:nvPr/>
        </p:nvSpPr>
        <p:spPr>
          <a:xfrm>
            <a:off x="12664440" y="5303520"/>
            <a:ext cx="5120639" cy="4434840"/>
          </a:xfrm>
          <a:prstGeom prst="roundRect">
            <a:avLst>
              <a:gd name="adj" fmla="val 6000"/>
            </a:avLst>
          </a:prstGeom>
          <a:solidFill>
            <a:srgbClr val="F2F4F8"/>
          </a:solidFill>
          <a:ln>
            <a:noFill/>
          </a:ln>
          <a:effectLst/>
        </p:spPr>
        <p:txBody>
          <a:bodyPr rtlCol="0" anchor="ctr"/>
          <a:lstStyle/>
          <a:p/>
        </p:txBody>
      </p:sp>
      <p:sp>
        <p:nvSpPr>
          <p:cNvPr id="14" name="TextBox 13"/>
          <p:cNvSpPr txBox="1"/>
          <p:nvPr/>
        </p:nvSpPr>
        <p:spPr>
          <a:xfrm>
            <a:off x="12984480" y="5623559"/>
            <a:ext cx="4480559" cy="313690"/>
          </a:xfrm>
          <a:prstGeom prst="rect">
            <a:avLst/>
          </a:prstGeom>
          <a:noFill/>
        </p:spPr>
        <p:txBody>
          <a:bodyPr wrap="square" lIns="0" rIns="0" tIns="0" bIns="0" anchor="t">
            <a:noAutofit/>
          </a:bodyPr>
          <a:lstStyle/>
          <a:p>
            <a:pPr algn="l">
              <a:lnSpc>
                <a:spcPct val="100000"/>
              </a:lnSpc>
              <a:spcAft>
                <a:spcPts val="0"/>
              </a:spcAft>
              <a:buNone/>
            </a:pPr>
            <a:r>
              <a:rPr sz="1900" b="1" i="0">
                <a:solidFill>
                  <a:srgbClr val="002060"/>
                </a:solidFill>
                <a:latin typeface="Arial"/>
              </a:rPr>
              <a:t>Características do agrupamento</a:t>
            </a:r>
          </a:p>
        </p:txBody>
      </p:sp>
      <p:sp>
        <p:nvSpPr>
          <p:cNvPr id="15" name="TextBox 14"/>
          <p:cNvSpPr txBox="1"/>
          <p:nvPr/>
        </p:nvSpPr>
        <p:spPr>
          <a:xfrm>
            <a:off x="12984480" y="6120129"/>
            <a:ext cx="4480559" cy="3298190"/>
          </a:xfrm>
          <a:prstGeom prst="rect">
            <a:avLst/>
          </a:prstGeom>
          <a:noFill/>
        </p:spPr>
        <p:txBody>
          <a:bodyPr wrap="square" lIns="0" rIns="0" tIns="0" bIns="0" anchor="t">
            <a:noAutofit/>
          </a:bodyPr>
          <a:lstStyle/>
          <a:p>
            <a:pPr algn="l" marL="274320" indent="-274320">
              <a:lnSpc>
                <a:spcPct val="100000"/>
              </a:lnSpc>
              <a:spcAft>
                <a:spcPts val="1600"/>
              </a:spcAft>
              <a:buFont typeface="Arial"/>
              <a:buChar char="•"/>
            </a:pPr>
            <a:r>
              <a:rPr sz="1800" b="0" i="0">
                <a:solidFill>
                  <a:srgbClr val="1F2433"/>
                </a:solidFill>
                <a:latin typeface="Arial"/>
              </a:rPr>
              <a:t>6 inquéritos transversais: Turquia (3), Malásia (2) e Brasil (1).</a:t>
            </a:r>
          </a:p>
          <a:p>
            <a:pPr algn="l" marL="274320" indent="-274320">
              <a:lnSpc>
                <a:spcPct val="100000"/>
              </a:lnSpc>
              <a:spcAft>
                <a:spcPts val="1600"/>
              </a:spcAft>
              <a:buFont typeface="Arial"/>
              <a:buChar char="•"/>
            </a:pPr>
            <a:r>
              <a:rPr sz="1800" b="0" i="0">
                <a:solidFill>
                  <a:srgbClr val="1F2433"/>
                </a:solidFill>
                <a:latin typeface="Arial"/>
              </a:rPr>
              <a:t>Preocupação com viés moderada ou alta em todos.</a:t>
            </a:r>
          </a:p>
          <a:p>
            <a:pPr algn="l" marL="274320" indent="-274320">
              <a:lnSpc>
                <a:spcPct val="100000"/>
              </a:lnSpc>
              <a:spcAft>
                <a:spcPts val="1600"/>
              </a:spcAft>
              <a:buFont typeface="Arial"/>
              <a:buChar char="•"/>
            </a:pPr>
            <a:r>
              <a:rPr sz="1800" b="0" i="0">
                <a:solidFill>
                  <a:srgbClr val="1F2433"/>
                </a:solidFill>
                <a:latin typeface="Arial"/>
              </a:rPr>
              <a:t>Definições: lacrimejamento, irritação ocular ou escala do sistema ocular.</a:t>
            </a:r>
          </a:p>
          <a:p>
            <a:pPr algn="l" marL="274320" indent="-274320">
              <a:lnSpc>
                <a:spcPct val="100000"/>
              </a:lnSpc>
              <a:spcAft>
                <a:spcPts val="1600"/>
              </a:spcAft>
              <a:buFont typeface="Arial"/>
              <a:buChar char="•"/>
            </a:pPr>
            <a:r>
              <a:rPr sz="1800" b="1" i="0">
                <a:solidFill>
                  <a:srgbClr val="1F2433"/>
                </a:solidFill>
                <a:latin typeface="Arial"/>
              </a:rPr>
              <a:t>O maior inquérito (n = 672) </a:t>
            </a:r>
            <a:r>
              <a:rPr sz="1800" b="0" i="0">
                <a:solidFill>
                  <a:srgbClr val="1F2433"/>
                </a:solidFill>
                <a:latin typeface="Arial"/>
              </a:rPr>
              <a:t>não entrou: sem numerador e denominador ocular extraíveis.</a:t>
            </a:r>
          </a:p>
        </p:txBody>
      </p:sp>
      <p:sp>
        <p:nvSpPr>
          <p:cNvPr id="16" name="Rounded Rectangle 15"/>
          <p:cNvSpPr/>
          <p:nvPr/>
        </p:nvSpPr>
        <p:spPr>
          <a:xfrm>
            <a:off x="1143000" y="8229600"/>
            <a:ext cx="11247120" cy="1508760"/>
          </a:xfrm>
          <a:prstGeom prst="roundRect">
            <a:avLst>
              <a:gd name="adj" fmla="val 6000"/>
            </a:avLst>
          </a:prstGeom>
          <a:solidFill>
            <a:srgbClr val="E6EBF5"/>
          </a:solidFill>
          <a:ln>
            <a:noFill/>
          </a:ln>
          <a:effectLst/>
        </p:spPr>
        <p:txBody>
          <a:bodyPr rtlCol="0" anchor="ctr"/>
          <a:lstStyle/>
          <a:p/>
        </p:txBody>
      </p:sp>
      <p:sp>
        <p:nvSpPr>
          <p:cNvPr id="17" name="TextBox 16"/>
          <p:cNvSpPr txBox="1"/>
          <p:nvPr/>
        </p:nvSpPr>
        <p:spPr>
          <a:xfrm>
            <a:off x="1463040" y="8366760"/>
            <a:ext cx="10607040" cy="1234440"/>
          </a:xfrm>
          <a:prstGeom prst="rect">
            <a:avLst/>
          </a:prstGeom>
          <a:noFill/>
        </p:spPr>
        <p:txBody>
          <a:bodyPr wrap="square" lIns="0" rIns="0" tIns="0" bIns="0" anchor="ctr">
            <a:noAutofit/>
          </a:bodyPr>
          <a:lstStyle/>
          <a:p>
            <a:pPr algn="l">
              <a:lnSpc>
                <a:spcPct val="100000"/>
              </a:lnSpc>
              <a:spcAft>
                <a:spcPts val="0"/>
              </a:spcAft>
              <a:buNone/>
            </a:pPr>
            <a:r>
              <a:rPr sz="1600" b="1" i="0">
                <a:solidFill>
                  <a:srgbClr val="002060"/>
                </a:solidFill>
                <a:latin typeface="Arial"/>
              </a:rPr>
              <a:t>Como ler: </a:t>
            </a:r>
            <a:r>
              <a:rPr sz="1600" b="0" i="0">
                <a:solidFill>
                  <a:srgbClr val="1F2433"/>
                </a:solidFill>
                <a:latin typeface="Arial"/>
              </a:rPr>
              <a:t>cerca de 4 em cada 10 profissionais relataram irritação ou lacrimejamento ocular; os estudos variam de 19% (Malásia) a 56% (Turquia), e </a:t>
            </a:r>
            <a:r>
              <a:rPr sz="1600" b="1" i="0">
                <a:solidFill>
                  <a:srgbClr val="1F2433"/>
                </a:solidFill>
                <a:highlight>
                  <a:srgbClr val="FFEB99"/>
                </a:highlight>
                <a:latin typeface="Arial"/>
              </a:rPr>
              <a:t>um novo estudo poderia encontrar qualquer valor entre 7% e 83%</a:t>
            </a:r>
            <a:r>
              <a:rPr sz="1600" b="0" i="0">
                <a:solidFill>
                  <a:srgbClr val="1F2433"/>
                </a:solidFill>
                <a:latin typeface="Arial"/>
              </a:rPr>
              <a:t>. </a:t>
            </a:r>
            <a:r>
              <a:rPr sz="1600" b="0" i="0">
                <a:solidFill>
                  <a:srgbClr val="5A6270"/>
                </a:solidFill>
                <a:latin typeface="Arial"/>
              </a:rPr>
              <a:t>É a proporção que relatou o sintoma, não uma prevalência com recordatório homogêneo.</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35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350"/>
                                        <p:tgtEl>
                                          <p:spTgt spid="8"/>
                                        </p:tgtEl>
                                      </p:cBhvr>
                                    </p:animEffect>
                                  </p:childTnLst>
                                </p:cTn>
                              </p:par>
                            </p:childTnLst>
                          </p:cTn>
                        </p:par>
                        <p:par>
                          <p:cTn id="11" fill="hold">
                            <p:stCondLst>
                              <p:cond delay="350"/>
                            </p:stCondLst>
                            <p:childTnLst>
                              <p:par>
                                <p:cTn id="12" presetID="10" presetClass="entr" presetSubtype="0" fill="hold" grpId="0" nodeType="after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350"/>
                                        <p:tgtEl>
                                          <p:spTgt spid="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350"/>
                                        <p:tgtEl>
                                          <p:spTgt spid="10"/>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350"/>
                                        <p:tgtEl>
                                          <p:spTgt spid="11"/>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350"/>
                                        <p:tgtEl>
                                          <p:spTgt spid="12"/>
                                        </p:tgtEl>
                                      </p:cBhvr>
                                    </p:animEffect>
                                  </p:childTnLst>
                                </p:cTn>
                              </p:par>
                            </p:childTnLst>
                          </p:cTn>
                        </p:par>
                        <p:par>
                          <p:cTn id="24" fill="hold">
                            <p:stCondLst>
                              <p:cond delay="700"/>
                            </p:stCondLst>
                            <p:childTnLst>
                              <p:par>
                                <p:cTn id="25" presetID="10" presetClass="entr" presetSubtype="0" fill="hold" grpId="0" nodeType="after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350"/>
                                        <p:tgtEl>
                                          <p:spTgt spid="1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35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350"/>
                                        <p:tgtEl>
                                          <p:spTgt spid="15"/>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350"/>
                                        <p:tgtEl>
                                          <p:spTgt spid="1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3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lano de fundo do modelo" descr="tpl_bg.png"/>
          <p:cNvPicPr>
            <a:picLocks noChangeAspect="1"/>
          </p:cNvPicPr>
          <p:nvPr/>
        </p:nvPicPr>
        <p:blipFill>
          <a:blip r:embed="rId2"/>
          <a:stretch>
            <a:fillRect/>
          </a:stretch>
        </p:blipFill>
        <p:spPr>
          <a:xfrm>
            <a:off x="20" y="1923"/>
            <a:ext cx="18287980" cy="10285077"/>
          </a:xfrm>
          <a:prstGeom prst="rect">
            <a:avLst/>
          </a:prstGeom>
        </p:spPr>
      </p:pic>
      <p:sp>
        <p:nvSpPr>
          <p:cNvPr id="3" name="Retângulo branco (modelo)"/>
          <p:cNvSpPr/>
          <p:nvPr/>
        </p:nvSpPr>
        <p:spPr>
          <a:xfrm>
            <a:off x="15888345" y="279974"/>
            <a:ext cx="2362200" cy="863025"/>
          </a:xfrm>
          <a:prstGeom prst="rect">
            <a:avLst/>
          </a:prstGeom>
          <a:solidFill>
            <a:srgbClr val="FFFFFF"/>
          </a:solidFill>
          <a:ln>
            <a:noFill/>
          </a:ln>
        </p:spPr>
        <p:txBody>
          <a:bodyPr rtlCol="0" anchor="ctr"/>
          <a:lstStyle/>
          <a:p>
            <a:pPr algn="ctr"/>
          </a:p>
        </p:txBody>
      </p:sp>
      <p:pic>
        <p:nvPicPr>
          <p:cNvPr id="4" name="Logo SEMICA" descr="image.png"/>
          <p:cNvPicPr>
            <a:picLocks noChangeAspect="1"/>
          </p:cNvPicPr>
          <p:nvPr/>
        </p:nvPicPr>
        <p:blipFill>
          <a:blip r:embed="rId3"/>
          <a:stretch>
            <a:fillRect/>
          </a:stretch>
        </p:blipFill>
        <p:spPr>
          <a:xfrm>
            <a:off x="15544800" y="279974"/>
            <a:ext cx="2512314" cy="1234862"/>
          </a:xfrm>
          <a:prstGeom prst="rect">
            <a:avLst/>
          </a:prstGeom>
        </p:spPr>
      </p:pic>
      <p:sp>
        <p:nvSpPr>
          <p:cNvPr id="5" name="Título da seção"/>
          <p:cNvSpPr txBox="1"/>
          <p:nvPr/>
        </p:nvSpPr>
        <p:spPr>
          <a:xfrm>
            <a:off x="1143000" y="558224"/>
            <a:ext cx="10058400" cy="584775"/>
          </a:xfrm>
          <a:prstGeom prst="rect">
            <a:avLst/>
          </a:prstGeom>
          <a:noFill/>
        </p:spPr>
        <p:txBody>
          <a:bodyPr wrap="square">
            <a:noAutofit/>
          </a:bodyPr>
          <a:lstStyle/>
          <a:p>
            <a:pPr algn="l">
              <a:lnSpc>
                <a:spcPct val="100000"/>
              </a:lnSpc>
              <a:spcAft>
                <a:spcPts val="0"/>
              </a:spcAft>
              <a:buNone/>
            </a:pPr>
            <a:r>
              <a:rPr sz="3200" b="0" i="0">
                <a:solidFill>
                  <a:srgbClr val="000000"/>
                </a:solidFill>
                <a:latin typeface="Arial"/>
              </a:rPr>
              <a:t>RESULTADOS</a:t>
            </a:r>
          </a:p>
        </p:txBody>
      </p:sp>
      <p:sp>
        <p:nvSpPr>
          <p:cNvPr id="6" name="Subtítulo"/>
          <p:cNvSpPr txBox="1"/>
          <p:nvPr/>
        </p:nvSpPr>
        <p:spPr>
          <a:xfrm>
            <a:off x="1143000" y="1097280"/>
            <a:ext cx="14173200" cy="502920"/>
          </a:xfrm>
          <a:prstGeom prst="rect">
            <a:avLst/>
          </a:prstGeom>
          <a:noFill/>
        </p:spPr>
        <p:txBody>
          <a:bodyPr wrap="square" lIns="0" rIns="0" tIns="0" bIns="0" anchor="t">
            <a:noAutofit/>
          </a:bodyPr>
          <a:lstStyle/>
          <a:p>
            <a:pPr algn="l">
              <a:lnSpc>
                <a:spcPct val="100000"/>
              </a:lnSpc>
              <a:spcAft>
                <a:spcPts val="0"/>
              </a:spcAft>
              <a:buNone/>
            </a:pPr>
            <a:r>
              <a:rPr sz="2400" b="1" i="0">
                <a:solidFill>
                  <a:srgbClr val="002060"/>
                </a:solidFill>
                <a:latin typeface="Arial"/>
              </a:rPr>
              <a:t>Desfecho exploratório · Sintoma respiratório ou de vias aéreas, e robustez das estimativas</a:t>
            </a:r>
          </a:p>
        </p:txBody>
      </p:sp>
      <p:pic>
        <p:nvPicPr>
          <p:cNvPr id="7" name="Figura 3 forest plot respiratório" descr="fig3_forest_resp_slide.png"/>
          <p:cNvPicPr>
            <a:picLocks noChangeAspect="1"/>
          </p:cNvPicPr>
          <p:nvPr/>
        </p:nvPicPr>
        <p:blipFill>
          <a:blip r:embed="rId4"/>
          <a:stretch>
            <a:fillRect/>
          </a:stretch>
        </p:blipFill>
        <p:spPr>
          <a:xfrm>
            <a:off x="1143000" y="1783080"/>
            <a:ext cx="9326880" cy="5255971"/>
          </a:xfrm>
          <a:prstGeom prst="rect">
            <a:avLst/>
          </a:prstGeom>
        </p:spPr>
      </p:pic>
      <p:sp>
        <p:nvSpPr>
          <p:cNvPr id="8" name="TextBox 7"/>
          <p:cNvSpPr txBox="1"/>
          <p:nvPr/>
        </p:nvSpPr>
        <p:spPr>
          <a:xfrm>
            <a:off x="1143000" y="7112203"/>
            <a:ext cx="9326880" cy="457200"/>
          </a:xfrm>
          <a:prstGeom prst="rect">
            <a:avLst/>
          </a:prstGeom>
          <a:noFill/>
        </p:spPr>
        <p:txBody>
          <a:bodyPr wrap="square" lIns="0" rIns="0" tIns="0" bIns="0" anchor="t">
            <a:noAutofit/>
          </a:bodyPr>
          <a:lstStyle/>
          <a:p>
            <a:pPr algn="l">
              <a:lnSpc>
                <a:spcPct val="100000"/>
              </a:lnSpc>
              <a:spcAft>
                <a:spcPts val="0"/>
              </a:spcAft>
              <a:buNone/>
            </a:pPr>
            <a:r>
              <a:rPr sz="1400" b="1" i="0">
                <a:solidFill>
                  <a:srgbClr val="5A6270"/>
                </a:solidFill>
                <a:latin typeface="Arial"/>
              </a:rPr>
              <a:t>Figura 3. </a:t>
            </a:r>
            <a:r>
              <a:rPr sz="1400" b="0" i="0">
                <a:solidFill>
                  <a:srgbClr val="5A6270"/>
                </a:solidFill>
                <a:latin typeface="Arial"/>
              </a:rPr>
              <a:t>Sete amostras independentes (n = 1.428). Definições variam: tosse, ardência de garganta, irritação ou qualquer sintoma de vias aéreas superiores, escala por sistema.</a:t>
            </a:r>
          </a:p>
        </p:txBody>
      </p:sp>
      <p:sp>
        <p:nvSpPr>
          <p:cNvPr id="9" name="Rounded Rectangle 8"/>
          <p:cNvSpPr/>
          <p:nvPr/>
        </p:nvSpPr>
        <p:spPr>
          <a:xfrm>
            <a:off x="1143000" y="7863840"/>
            <a:ext cx="9326880" cy="1874520"/>
          </a:xfrm>
          <a:prstGeom prst="roundRect">
            <a:avLst>
              <a:gd name="adj" fmla="val 6000"/>
            </a:avLst>
          </a:prstGeom>
          <a:solidFill>
            <a:srgbClr val="E6EBF5"/>
          </a:solidFill>
          <a:ln>
            <a:noFill/>
          </a:ln>
          <a:effectLst/>
        </p:spPr>
        <p:txBody>
          <a:bodyPr rtlCol="0" anchor="ctr"/>
          <a:lstStyle/>
          <a:p/>
        </p:txBody>
      </p:sp>
      <p:sp>
        <p:nvSpPr>
          <p:cNvPr id="10" name="TextBox 9"/>
          <p:cNvSpPr txBox="1"/>
          <p:nvPr/>
        </p:nvSpPr>
        <p:spPr>
          <a:xfrm>
            <a:off x="1463040" y="8138159"/>
            <a:ext cx="8686800" cy="1280160"/>
          </a:xfrm>
          <a:prstGeom prst="rect">
            <a:avLst/>
          </a:prstGeom>
          <a:noFill/>
        </p:spPr>
        <p:txBody>
          <a:bodyPr wrap="square" lIns="0" rIns="0" tIns="0" bIns="0" anchor="t">
            <a:noAutofit/>
          </a:bodyPr>
          <a:lstStyle/>
          <a:p>
            <a:pPr algn="l">
              <a:lnSpc>
                <a:spcPct val="100000"/>
              </a:lnSpc>
              <a:spcAft>
                <a:spcPts val="500"/>
              </a:spcAft>
              <a:buNone/>
            </a:pPr>
            <a:r>
              <a:rPr sz="1700" b="1" i="0">
                <a:solidFill>
                  <a:srgbClr val="002060"/>
                </a:solidFill>
                <a:latin typeface="Arial"/>
              </a:rPr>
              <a:t>Subgrupo por país (sintoma ocular; exploratório)</a:t>
            </a:r>
          </a:p>
          <a:p>
            <a:pPr algn="l">
              <a:lnSpc>
                <a:spcPct val="100000"/>
              </a:lnSpc>
              <a:spcAft>
                <a:spcPts val="400"/>
              </a:spcAft>
              <a:buNone/>
            </a:pPr>
            <a:r>
              <a:rPr sz="1500" b="1" i="0">
                <a:solidFill>
                  <a:srgbClr val="8B0000"/>
                </a:solidFill>
                <a:latin typeface="Arial"/>
              </a:rPr>
              <a:t>Turquia 50,5% </a:t>
            </a:r>
            <a:r>
              <a:rPr sz="1500" b="0" i="0">
                <a:solidFill>
                  <a:srgbClr val="1F2433"/>
                </a:solidFill>
                <a:latin typeface="Arial"/>
              </a:rPr>
              <a:t>(k = 3; I² = 57%)  ·  </a:t>
            </a:r>
            <a:r>
              <a:rPr sz="1500" b="1" i="0">
                <a:solidFill>
                  <a:srgbClr val="8B0000"/>
                </a:solidFill>
                <a:latin typeface="Arial"/>
              </a:rPr>
              <a:t>Malásia 19,8% </a:t>
            </a:r>
            <a:r>
              <a:rPr sz="1500" b="0" i="0">
                <a:solidFill>
                  <a:srgbClr val="1F2433"/>
                </a:solidFill>
                <a:latin typeface="Arial"/>
              </a:rPr>
              <a:t>(k = 2; I² = 0%)  ·  </a:t>
            </a:r>
            <a:r>
              <a:rPr sz="1500" b="1" i="0">
                <a:solidFill>
                  <a:srgbClr val="1F2433"/>
                </a:solidFill>
                <a:latin typeface="Arial"/>
              </a:rPr>
              <a:t>Brasil 43,2% </a:t>
            </a:r>
            <a:r>
              <a:rPr sz="1500" b="0" i="0">
                <a:solidFill>
                  <a:srgbClr val="1F2433"/>
                </a:solidFill>
                <a:latin typeface="Arial"/>
              </a:rPr>
              <a:t>(k = 1)</a:t>
            </a:r>
          </a:p>
          <a:p>
            <a:pPr algn="l">
              <a:lnSpc>
                <a:spcPct val="100000"/>
              </a:lnSpc>
              <a:spcAft>
                <a:spcPts val="400"/>
              </a:spcAft>
              <a:buNone/>
            </a:pPr>
            <a:r>
              <a:rPr sz="1500" b="1" i="0">
                <a:solidFill>
                  <a:srgbClr val="1F2433"/>
                </a:solidFill>
                <a:latin typeface="Arial"/>
              </a:rPr>
              <a:t>Teste entre subgrupos p &lt; 0,001, mas: </a:t>
            </a:r>
            <a:r>
              <a:rPr sz="1500" b="0" i="0">
                <a:solidFill>
                  <a:srgbClr val="1F2433"/>
                </a:solidFill>
                <a:latin typeface="Arial"/>
              </a:rPr>
              <a:t>poucos estudos por país e um resumo de congresso na Malásia → gera hipótese, não prova moderação causal.</a:t>
            </a:r>
          </a:p>
        </p:txBody>
      </p:sp>
      <p:sp>
        <p:nvSpPr>
          <p:cNvPr id="11" name="Rounded Rectangle 10"/>
          <p:cNvSpPr/>
          <p:nvPr/>
        </p:nvSpPr>
        <p:spPr>
          <a:xfrm>
            <a:off x="10744200" y="1783080"/>
            <a:ext cx="7040879" cy="2148840"/>
          </a:xfrm>
          <a:prstGeom prst="roundRect">
            <a:avLst>
              <a:gd name="adj" fmla="val 6000"/>
            </a:avLst>
          </a:prstGeom>
          <a:solidFill>
            <a:srgbClr val="F9E9E9"/>
          </a:solidFill>
          <a:ln>
            <a:noFill/>
          </a:ln>
          <a:effectLst/>
        </p:spPr>
        <p:txBody>
          <a:bodyPr rtlCol="0" anchor="ctr"/>
          <a:lstStyle/>
          <a:p/>
        </p:txBody>
      </p:sp>
      <p:sp>
        <p:nvSpPr>
          <p:cNvPr id="12" name="TextBox 11"/>
          <p:cNvSpPr txBox="1"/>
          <p:nvPr/>
        </p:nvSpPr>
        <p:spPr>
          <a:xfrm>
            <a:off x="11064240" y="1965960"/>
            <a:ext cx="6400799" cy="822960"/>
          </a:xfrm>
          <a:prstGeom prst="rect">
            <a:avLst/>
          </a:prstGeom>
          <a:noFill/>
        </p:spPr>
        <p:txBody>
          <a:bodyPr wrap="square" lIns="0" rIns="0" tIns="0" bIns="0" anchor="t">
            <a:noAutofit/>
          </a:bodyPr>
          <a:lstStyle/>
          <a:p>
            <a:pPr algn="l">
              <a:lnSpc>
                <a:spcPct val="100000"/>
              </a:lnSpc>
              <a:spcAft>
                <a:spcPts val="0"/>
              </a:spcAft>
              <a:buNone/>
            </a:pPr>
            <a:r>
              <a:rPr sz="5000" b="1" i="0">
                <a:solidFill>
                  <a:srgbClr val="8B0000"/>
                </a:solidFill>
                <a:latin typeface="Arial"/>
              </a:rPr>
              <a:t>41,7%</a:t>
            </a:r>
          </a:p>
        </p:txBody>
      </p:sp>
      <p:sp>
        <p:nvSpPr>
          <p:cNvPr id="13" name="TextBox 12"/>
          <p:cNvSpPr txBox="1"/>
          <p:nvPr/>
        </p:nvSpPr>
        <p:spPr>
          <a:xfrm>
            <a:off x="11064240" y="2770632"/>
            <a:ext cx="6400799" cy="347472"/>
          </a:xfrm>
          <a:prstGeom prst="rect">
            <a:avLst/>
          </a:prstGeom>
          <a:noFill/>
        </p:spPr>
        <p:txBody>
          <a:bodyPr wrap="square" lIns="0" rIns="0" tIns="0" bIns="0" anchor="t">
            <a:noAutofit/>
          </a:bodyPr>
          <a:lstStyle/>
          <a:p>
            <a:pPr algn="l">
              <a:lnSpc>
                <a:spcPct val="100000"/>
              </a:lnSpc>
              <a:spcAft>
                <a:spcPts val="0"/>
              </a:spcAft>
              <a:buNone/>
            </a:pPr>
            <a:r>
              <a:rPr sz="1600" b="0" i="0">
                <a:solidFill>
                  <a:srgbClr val="5A6270"/>
                </a:solidFill>
                <a:latin typeface="Arial"/>
              </a:rPr>
              <a:t>prevalência combinada de sintoma respiratório</a:t>
            </a:r>
          </a:p>
        </p:txBody>
      </p:sp>
      <p:sp>
        <p:nvSpPr>
          <p:cNvPr id="14" name="TextBox 13"/>
          <p:cNvSpPr txBox="1"/>
          <p:nvPr/>
        </p:nvSpPr>
        <p:spPr>
          <a:xfrm>
            <a:off x="11064240" y="3154680"/>
            <a:ext cx="6400799" cy="548640"/>
          </a:xfrm>
          <a:prstGeom prst="rect">
            <a:avLst/>
          </a:prstGeom>
          <a:noFill/>
        </p:spPr>
        <p:txBody>
          <a:bodyPr wrap="square" lIns="0" rIns="0" tIns="0" bIns="0" anchor="t">
            <a:noAutofit/>
          </a:bodyPr>
          <a:lstStyle/>
          <a:p>
            <a:pPr algn="l">
              <a:lnSpc>
                <a:spcPct val="100000"/>
              </a:lnSpc>
              <a:spcAft>
                <a:spcPts val="200"/>
              </a:spcAft>
              <a:buNone/>
            </a:pPr>
            <a:r>
              <a:rPr sz="1500" b="1" i="0">
                <a:solidFill>
                  <a:srgbClr val="1F2433"/>
                </a:solidFill>
                <a:latin typeface="Arial"/>
              </a:rPr>
              <a:t>IC95% </a:t>
            </a:r>
            <a:r>
              <a:rPr sz="1500" b="0" i="0">
                <a:solidFill>
                  <a:srgbClr val="1F2433"/>
                </a:solidFill>
                <a:latin typeface="Arial"/>
              </a:rPr>
              <a:t>30,4–53,9  ·  </a:t>
            </a:r>
            <a:r>
              <a:rPr sz="1500" b="1" i="0">
                <a:solidFill>
                  <a:srgbClr val="1F2433"/>
                </a:solidFill>
                <a:latin typeface="Arial"/>
              </a:rPr>
              <a:t>Intervalo de predição </a:t>
            </a:r>
            <a:r>
              <a:rPr sz="1500" b="0" i="0">
                <a:solidFill>
                  <a:srgbClr val="1F2433"/>
                </a:solidFill>
                <a:latin typeface="Arial"/>
              </a:rPr>
              <a:t>15–74%</a:t>
            </a:r>
          </a:p>
          <a:p>
            <a:pPr algn="l">
              <a:lnSpc>
                <a:spcPct val="100000"/>
              </a:lnSpc>
              <a:spcAft>
                <a:spcPts val="200"/>
              </a:spcAft>
              <a:buNone/>
            </a:pPr>
            <a:r>
              <a:rPr sz="1500" b="1" i="0">
                <a:solidFill>
                  <a:srgbClr val="1F2433"/>
                </a:solidFill>
                <a:latin typeface="Arial"/>
              </a:rPr>
              <a:t>I² = 91% · k = 7 · n = 1.428</a:t>
            </a:r>
          </a:p>
        </p:txBody>
      </p:sp>
      <p:sp>
        <p:nvSpPr>
          <p:cNvPr id="15" name="TextBox 14"/>
          <p:cNvSpPr txBox="1"/>
          <p:nvPr/>
        </p:nvSpPr>
        <p:spPr>
          <a:xfrm>
            <a:off x="10744200" y="4160520"/>
            <a:ext cx="7040879" cy="365760"/>
          </a:xfrm>
          <a:prstGeom prst="rect">
            <a:avLst/>
          </a:prstGeom>
          <a:noFill/>
        </p:spPr>
        <p:txBody>
          <a:bodyPr wrap="square" lIns="0" rIns="0" tIns="0" bIns="0" anchor="t">
            <a:noAutofit/>
          </a:bodyPr>
          <a:lstStyle/>
          <a:p>
            <a:pPr algn="l">
              <a:lnSpc>
                <a:spcPct val="100000"/>
              </a:lnSpc>
              <a:spcAft>
                <a:spcPts val="0"/>
              </a:spcAft>
              <a:buNone/>
            </a:pPr>
            <a:r>
              <a:rPr sz="1600" b="1" i="0">
                <a:solidFill>
                  <a:srgbClr val="002060"/>
                </a:solidFill>
                <a:latin typeface="Arial"/>
              </a:rPr>
              <a:t>Robustez: estável entre modelos e estudos</a:t>
            </a:r>
          </a:p>
        </p:txBody>
      </p:sp>
      <p:graphicFrame>
        <p:nvGraphicFramePr>
          <p:cNvPr id="16" name="Table 15"/>
          <p:cNvGraphicFramePr>
            <a:graphicFrameLocks noGrp="1"/>
          </p:cNvGraphicFramePr>
          <p:nvPr/>
        </p:nvGraphicFramePr>
        <p:xfrm>
          <a:off x="10744200" y="4572000"/>
          <a:ext cx="7040879" cy="2816352"/>
        </p:xfrm>
        <a:graphic>
          <a:graphicData uri="http://schemas.openxmlformats.org/drawingml/2006/table">
            <a:tbl>
              <a:tblPr firstRow="0" bandRow="0"/>
              <a:tblGrid>
                <a:gridCol w="4023359"/>
                <a:gridCol w="1417320"/>
                <a:gridCol w="1600200"/>
              </a:tblGrid>
              <a:tr h="402336">
                <a:tc>
                  <a:txBody>
                    <a:bodyPr wrap="square">
                      <a:noAutofit/>
                    </a:bodyPr>
                    <a:lstStyle/>
                    <a:p>
                      <a:pPr algn="l">
                        <a:lnSpc>
                          <a:spcPct val="100000"/>
                        </a:lnSpc>
                        <a:spcAft>
                          <a:spcPts val="0"/>
                        </a:spcAft>
                        <a:buNone/>
                      </a:pPr>
                      <a:r>
                        <a:rPr sz="1400" b="1" i="0">
                          <a:solidFill>
                            <a:srgbClr val="FFFFFF"/>
                          </a:solidFill>
                          <a:latin typeface="Arial"/>
                        </a:rPr>
                        <a:t>Análise</a:t>
                      </a:r>
                    </a:p>
                  </a:txBody>
                  <a:tcPr marL="91440" marR="91440" marT="36576" marB="36576" anchor="ctr">
                    <a:lnL w="9525" cap="flat" cmpd="sng" algn="ctr">
                      <a:solidFill>
                        <a:srgbClr val="C9CFDA"/>
                      </a:solidFill>
                      <a:prstDash val="solid"/>
                      <a:round/>
                    </a:lnL>
                    <a:lnR w="9525" cap="flat" cmpd="sng" algn="ctr">
                      <a:solidFill>
                        <a:srgbClr val="C9CFDA"/>
                      </a:solidFill>
                      <a:prstDash val="solid"/>
                      <a:round/>
                    </a:lnR>
                    <a:lnT w="9525" cap="flat" cmpd="sng" algn="ctr">
                      <a:solidFill>
                        <a:srgbClr val="C9CFDA"/>
                      </a:solidFill>
                      <a:prstDash val="solid"/>
                      <a:round/>
                    </a:lnT>
                    <a:lnB w="9525" cap="flat" cmpd="sng" algn="ctr">
                      <a:solidFill>
                        <a:srgbClr val="C9CFDA"/>
                      </a:solidFill>
                      <a:prstDash val="solid"/>
                      <a:round/>
                    </a:lnB>
                    <a:solidFill>
                      <a:srgbClr val="002060"/>
                    </a:solidFill>
                  </a:tcPr>
                </a:tc>
                <a:tc>
                  <a:txBody>
                    <a:bodyPr wrap="square">
                      <a:noAutofit/>
                    </a:bodyPr>
                    <a:lstStyle/>
                    <a:p>
                      <a:pPr algn="ctr">
                        <a:lnSpc>
                          <a:spcPct val="100000"/>
                        </a:lnSpc>
                        <a:spcAft>
                          <a:spcPts val="0"/>
                        </a:spcAft>
                        <a:buNone/>
                      </a:pPr>
                      <a:r>
                        <a:rPr sz="1400" b="1" i="0">
                          <a:solidFill>
                            <a:srgbClr val="FFFFFF"/>
                          </a:solidFill>
                          <a:latin typeface="Arial"/>
                        </a:rPr>
                        <a:t>Ocular</a:t>
                      </a:r>
                    </a:p>
                  </a:txBody>
                  <a:tcPr marL="91440" marR="91440" marT="36576" marB="36576" anchor="ctr">
                    <a:lnL w="9525" cap="flat" cmpd="sng" algn="ctr">
                      <a:solidFill>
                        <a:srgbClr val="C9CFDA"/>
                      </a:solidFill>
                      <a:prstDash val="solid"/>
                      <a:round/>
                    </a:lnL>
                    <a:lnR w="9525" cap="flat" cmpd="sng" algn="ctr">
                      <a:solidFill>
                        <a:srgbClr val="C9CFDA"/>
                      </a:solidFill>
                      <a:prstDash val="solid"/>
                      <a:round/>
                    </a:lnR>
                    <a:lnT w="9525" cap="flat" cmpd="sng" algn="ctr">
                      <a:solidFill>
                        <a:srgbClr val="C9CFDA"/>
                      </a:solidFill>
                      <a:prstDash val="solid"/>
                      <a:round/>
                    </a:lnT>
                    <a:lnB w="9525" cap="flat" cmpd="sng" algn="ctr">
                      <a:solidFill>
                        <a:srgbClr val="C9CFDA"/>
                      </a:solidFill>
                      <a:prstDash val="solid"/>
                      <a:round/>
                    </a:lnB>
                    <a:solidFill>
                      <a:srgbClr val="002060"/>
                    </a:solidFill>
                  </a:tcPr>
                </a:tc>
                <a:tc>
                  <a:txBody>
                    <a:bodyPr wrap="square">
                      <a:noAutofit/>
                    </a:bodyPr>
                    <a:lstStyle/>
                    <a:p>
                      <a:pPr algn="ctr">
                        <a:lnSpc>
                          <a:spcPct val="100000"/>
                        </a:lnSpc>
                        <a:spcAft>
                          <a:spcPts val="0"/>
                        </a:spcAft>
                        <a:buNone/>
                      </a:pPr>
                      <a:r>
                        <a:rPr sz="1400" b="1" i="0">
                          <a:solidFill>
                            <a:srgbClr val="FFFFFF"/>
                          </a:solidFill>
                          <a:latin typeface="Arial"/>
                        </a:rPr>
                        <a:t>Respiratório</a:t>
                      </a:r>
                    </a:p>
                  </a:txBody>
                  <a:tcPr marL="91440" marR="91440" marT="36576" marB="36576" anchor="ctr">
                    <a:lnL w="9525" cap="flat" cmpd="sng" algn="ctr">
                      <a:solidFill>
                        <a:srgbClr val="C9CFDA"/>
                      </a:solidFill>
                      <a:prstDash val="solid"/>
                      <a:round/>
                    </a:lnL>
                    <a:lnR w="9525" cap="flat" cmpd="sng" algn="ctr">
                      <a:solidFill>
                        <a:srgbClr val="C9CFDA"/>
                      </a:solidFill>
                      <a:prstDash val="solid"/>
                      <a:round/>
                    </a:lnR>
                    <a:lnT w="9525" cap="flat" cmpd="sng" algn="ctr">
                      <a:solidFill>
                        <a:srgbClr val="C9CFDA"/>
                      </a:solidFill>
                      <a:prstDash val="solid"/>
                      <a:round/>
                    </a:lnT>
                    <a:lnB w="9525" cap="flat" cmpd="sng" algn="ctr">
                      <a:solidFill>
                        <a:srgbClr val="C9CFDA"/>
                      </a:solidFill>
                      <a:prstDash val="solid"/>
                      <a:round/>
                    </a:lnB>
                    <a:solidFill>
                      <a:srgbClr val="002060"/>
                    </a:solidFill>
                  </a:tcPr>
                </a:tc>
              </a:tr>
              <a:tr h="402336">
                <a:tc>
                  <a:txBody>
                    <a:bodyPr wrap="square">
                      <a:noAutofit/>
                    </a:bodyPr>
                    <a:lstStyle/>
                    <a:p>
                      <a:pPr algn="l">
                        <a:lnSpc>
                          <a:spcPct val="100000"/>
                        </a:lnSpc>
                        <a:spcAft>
                          <a:spcPts val="0"/>
                        </a:spcAft>
                        <a:buNone/>
                      </a:pPr>
                      <a:r>
                        <a:rPr sz="1400" b="1" i="0">
                          <a:solidFill>
                            <a:srgbClr val="1F2433"/>
                          </a:solidFill>
                          <a:latin typeface="Arial"/>
                        </a:rPr>
                        <a:t>Logito + Hartung-Knapp (principal)</a:t>
                      </a:r>
                    </a:p>
                  </a:txBody>
                  <a:tcPr marL="91440" marR="91440" marT="36576" marB="36576" anchor="ctr">
                    <a:lnL w="9525" cap="flat" cmpd="sng" algn="ctr">
                      <a:solidFill>
                        <a:srgbClr val="C9CFDA"/>
                      </a:solidFill>
                      <a:prstDash val="solid"/>
                      <a:round/>
                    </a:lnL>
                    <a:lnR w="9525" cap="flat" cmpd="sng" algn="ctr">
                      <a:solidFill>
                        <a:srgbClr val="C9CFDA"/>
                      </a:solidFill>
                      <a:prstDash val="solid"/>
                      <a:round/>
                    </a:lnR>
                    <a:lnT w="9525" cap="flat" cmpd="sng" algn="ctr">
                      <a:solidFill>
                        <a:srgbClr val="C9CFDA"/>
                      </a:solidFill>
                      <a:prstDash val="solid"/>
                      <a:round/>
                    </a:lnT>
                    <a:lnB w="9525" cap="flat" cmpd="sng" algn="ctr">
                      <a:solidFill>
                        <a:srgbClr val="C9CFDA"/>
                      </a:solidFill>
                      <a:prstDash val="solid"/>
                      <a:round/>
                    </a:lnB>
                    <a:solidFill>
                      <a:srgbClr val="FFFFFF"/>
                    </a:solidFill>
                  </a:tcPr>
                </a:tc>
                <a:tc>
                  <a:txBody>
                    <a:bodyPr wrap="square">
                      <a:noAutofit/>
                    </a:bodyPr>
                    <a:lstStyle/>
                    <a:p>
                      <a:pPr algn="ctr">
                        <a:lnSpc>
                          <a:spcPct val="100000"/>
                        </a:lnSpc>
                        <a:spcAft>
                          <a:spcPts val="0"/>
                        </a:spcAft>
                        <a:buNone/>
                      </a:pPr>
                      <a:r>
                        <a:rPr sz="1400" b="1" i="0">
                          <a:solidFill>
                            <a:srgbClr val="1F2433"/>
                          </a:solidFill>
                          <a:latin typeface="Arial"/>
                        </a:rPr>
                        <a:t>37,6%</a:t>
                      </a:r>
                    </a:p>
                  </a:txBody>
                  <a:tcPr marL="91440" marR="91440" marT="36576" marB="36576" anchor="ctr">
                    <a:lnL w="9525" cap="flat" cmpd="sng" algn="ctr">
                      <a:solidFill>
                        <a:srgbClr val="C9CFDA"/>
                      </a:solidFill>
                      <a:prstDash val="solid"/>
                      <a:round/>
                    </a:lnL>
                    <a:lnR w="9525" cap="flat" cmpd="sng" algn="ctr">
                      <a:solidFill>
                        <a:srgbClr val="C9CFDA"/>
                      </a:solidFill>
                      <a:prstDash val="solid"/>
                      <a:round/>
                    </a:lnR>
                    <a:lnT w="9525" cap="flat" cmpd="sng" algn="ctr">
                      <a:solidFill>
                        <a:srgbClr val="C9CFDA"/>
                      </a:solidFill>
                      <a:prstDash val="solid"/>
                      <a:round/>
                    </a:lnT>
                    <a:lnB w="9525" cap="flat" cmpd="sng" algn="ctr">
                      <a:solidFill>
                        <a:srgbClr val="C9CFDA"/>
                      </a:solidFill>
                      <a:prstDash val="solid"/>
                      <a:round/>
                    </a:lnB>
                    <a:solidFill>
                      <a:srgbClr val="FFFFFF"/>
                    </a:solidFill>
                  </a:tcPr>
                </a:tc>
                <a:tc>
                  <a:txBody>
                    <a:bodyPr wrap="square">
                      <a:noAutofit/>
                    </a:bodyPr>
                    <a:lstStyle/>
                    <a:p>
                      <a:pPr algn="ctr">
                        <a:lnSpc>
                          <a:spcPct val="100000"/>
                        </a:lnSpc>
                        <a:spcAft>
                          <a:spcPts val="0"/>
                        </a:spcAft>
                        <a:buNone/>
                      </a:pPr>
                      <a:r>
                        <a:rPr sz="1400" b="1" i="0">
                          <a:solidFill>
                            <a:srgbClr val="1F2433"/>
                          </a:solidFill>
                          <a:latin typeface="Arial"/>
                        </a:rPr>
                        <a:t>41,7%</a:t>
                      </a:r>
                    </a:p>
                  </a:txBody>
                  <a:tcPr marL="91440" marR="91440" marT="36576" marB="36576" anchor="ctr">
                    <a:lnL w="9525" cap="flat" cmpd="sng" algn="ctr">
                      <a:solidFill>
                        <a:srgbClr val="C9CFDA"/>
                      </a:solidFill>
                      <a:prstDash val="solid"/>
                      <a:round/>
                    </a:lnL>
                    <a:lnR w="9525" cap="flat" cmpd="sng" algn="ctr">
                      <a:solidFill>
                        <a:srgbClr val="C9CFDA"/>
                      </a:solidFill>
                      <a:prstDash val="solid"/>
                      <a:round/>
                    </a:lnR>
                    <a:lnT w="9525" cap="flat" cmpd="sng" algn="ctr">
                      <a:solidFill>
                        <a:srgbClr val="C9CFDA"/>
                      </a:solidFill>
                      <a:prstDash val="solid"/>
                      <a:round/>
                    </a:lnT>
                    <a:lnB w="9525" cap="flat" cmpd="sng" algn="ctr">
                      <a:solidFill>
                        <a:srgbClr val="C9CFDA"/>
                      </a:solidFill>
                      <a:prstDash val="solid"/>
                      <a:round/>
                    </a:lnB>
                    <a:solidFill>
                      <a:srgbClr val="FFFFFF"/>
                    </a:solidFill>
                  </a:tcPr>
                </a:tc>
              </a:tr>
              <a:tr h="402336">
                <a:tc>
                  <a:txBody>
                    <a:bodyPr wrap="square">
                      <a:noAutofit/>
                    </a:bodyPr>
                    <a:lstStyle/>
                    <a:p>
                      <a:pPr algn="l">
                        <a:lnSpc>
                          <a:spcPct val="100000"/>
                        </a:lnSpc>
                        <a:spcAft>
                          <a:spcPts val="0"/>
                        </a:spcAft>
                        <a:buNone/>
                      </a:pPr>
                      <a:r>
                        <a:rPr sz="1400" b="0" i="0">
                          <a:solidFill>
                            <a:srgbClr val="1F2433"/>
                          </a:solidFill>
                          <a:latin typeface="Arial"/>
                        </a:rPr>
                        <a:t>Freeman-Tukey (DerSimonian-Laird)</a:t>
                      </a:r>
                    </a:p>
                  </a:txBody>
                  <a:tcPr marL="91440" marR="91440" marT="36576" marB="36576" anchor="ctr">
                    <a:lnL w="9525" cap="flat" cmpd="sng" algn="ctr">
                      <a:solidFill>
                        <a:srgbClr val="C9CFDA"/>
                      </a:solidFill>
                      <a:prstDash val="solid"/>
                      <a:round/>
                    </a:lnL>
                    <a:lnR w="9525" cap="flat" cmpd="sng" algn="ctr">
                      <a:solidFill>
                        <a:srgbClr val="C9CFDA"/>
                      </a:solidFill>
                      <a:prstDash val="solid"/>
                      <a:round/>
                    </a:lnR>
                    <a:lnT w="9525" cap="flat" cmpd="sng" algn="ctr">
                      <a:solidFill>
                        <a:srgbClr val="C9CFDA"/>
                      </a:solidFill>
                      <a:prstDash val="solid"/>
                      <a:round/>
                    </a:lnT>
                    <a:lnB w="9525" cap="flat" cmpd="sng" algn="ctr">
                      <a:solidFill>
                        <a:srgbClr val="C9CFDA"/>
                      </a:solidFill>
                      <a:prstDash val="solid"/>
                      <a:round/>
                    </a:lnB>
                    <a:solidFill>
                      <a:srgbClr val="F2F4F8"/>
                    </a:solidFill>
                  </a:tcPr>
                </a:tc>
                <a:tc>
                  <a:txBody>
                    <a:bodyPr wrap="square">
                      <a:noAutofit/>
                    </a:bodyPr>
                    <a:lstStyle/>
                    <a:p>
                      <a:pPr algn="ctr">
                        <a:lnSpc>
                          <a:spcPct val="100000"/>
                        </a:lnSpc>
                        <a:spcAft>
                          <a:spcPts val="0"/>
                        </a:spcAft>
                        <a:buNone/>
                      </a:pPr>
                      <a:r>
                        <a:rPr sz="1400" b="0" i="0">
                          <a:solidFill>
                            <a:srgbClr val="1F2433"/>
                          </a:solidFill>
                          <a:latin typeface="Arial"/>
                        </a:rPr>
                        <a:t>38,1%</a:t>
                      </a:r>
                    </a:p>
                  </a:txBody>
                  <a:tcPr marL="91440" marR="91440" marT="36576" marB="36576" anchor="ctr">
                    <a:lnL w="9525" cap="flat" cmpd="sng" algn="ctr">
                      <a:solidFill>
                        <a:srgbClr val="C9CFDA"/>
                      </a:solidFill>
                      <a:prstDash val="solid"/>
                      <a:round/>
                    </a:lnL>
                    <a:lnR w="9525" cap="flat" cmpd="sng" algn="ctr">
                      <a:solidFill>
                        <a:srgbClr val="C9CFDA"/>
                      </a:solidFill>
                      <a:prstDash val="solid"/>
                      <a:round/>
                    </a:lnR>
                    <a:lnT w="9525" cap="flat" cmpd="sng" algn="ctr">
                      <a:solidFill>
                        <a:srgbClr val="C9CFDA"/>
                      </a:solidFill>
                      <a:prstDash val="solid"/>
                      <a:round/>
                    </a:lnT>
                    <a:lnB w="9525" cap="flat" cmpd="sng" algn="ctr">
                      <a:solidFill>
                        <a:srgbClr val="C9CFDA"/>
                      </a:solidFill>
                      <a:prstDash val="solid"/>
                      <a:round/>
                    </a:lnB>
                    <a:solidFill>
                      <a:srgbClr val="F2F4F8"/>
                    </a:solidFill>
                  </a:tcPr>
                </a:tc>
                <a:tc>
                  <a:txBody>
                    <a:bodyPr wrap="square">
                      <a:noAutofit/>
                    </a:bodyPr>
                    <a:lstStyle/>
                    <a:p>
                      <a:pPr algn="ctr">
                        <a:lnSpc>
                          <a:spcPct val="100000"/>
                        </a:lnSpc>
                        <a:spcAft>
                          <a:spcPts val="0"/>
                        </a:spcAft>
                        <a:buNone/>
                      </a:pPr>
                      <a:r>
                        <a:rPr sz="1400" b="0" i="0">
                          <a:solidFill>
                            <a:srgbClr val="1F2433"/>
                          </a:solidFill>
                          <a:latin typeface="Arial"/>
                        </a:rPr>
                        <a:t>41,7%</a:t>
                      </a:r>
                    </a:p>
                  </a:txBody>
                  <a:tcPr marL="91440" marR="91440" marT="36576" marB="36576" anchor="ctr">
                    <a:lnL w="9525" cap="flat" cmpd="sng" algn="ctr">
                      <a:solidFill>
                        <a:srgbClr val="C9CFDA"/>
                      </a:solidFill>
                      <a:prstDash val="solid"/>
                      <a:round/>
                    </a:lnL>
                    <a:lnR w="9525" cap="flat" cmpd="sng" algn="ctr">
                      <a:solidFill>
                        <a:srgbClr val="C9CFDA"/>
                      </a:solidFill>
                      <a:prstDash val="solid"/>
                      <a:round/>
                    </a:lnR>
                    <a:lnT w="9525" cap="flat" cmpd="sng" algn="ctr">
                      <a:solidFill>
                        <a:srgbClr val="C9CFDA"/>
                      </a:solidFill>
                      <a:prstDash val="solid"/>
                      <a:round/>
                    </a:lnT>
                    <a:lnB w="9525" cap="flat" cmpd="sng" algn="ctr">
                      <a:solidFill>
                        <a:srgbClr val="C9CFDA"/>
                      </a:solidFill>
                      <a:prstDash val="solid"/>
                      <a:round/>
                    </a:lnB>
                    <a:solidFill>
                      <a:srgbClr val="F2F4F8"/>
                    </a:solidFill>
                  </a:tcPr>
                </a:tc>
              </a:tr>
              <a:tr h="402336">
                <a:tc>
                  <a:txBody>
                    <a:bodyPr wrap="square">
                      <a:noAutofit/>
                    </a:bodyPr>
                    <a:lstStyle/>
                    <a:p>
                      <a:pPr algn="l">
                        <a:lnSpc>
                          <a:spcPct val="100000"/>
                        </a:lnSpc>
                        <a:spcAft>
                          <a:spcPts val="0"/>
                        </a:spcAft>
                        <a:buNone/>
                      </a:pPr>
                      <a:r>
                        <a:rPr sz="1400" b="0" i="0">
                          <a:solidFill>
                            <a:srgbClr val="1F2433"/>
                          </a:solidFill>
                          <a:latin typeface="Arial"/>
                        </a:rPr>
                        <a:t>GLMM logístico (intercepto aleatório)</a:t>
                      </a:r>
                    </a:p>
                  </a:txBody>
                  <a:tcPr marL="91440" marR="91440" marT="36576" marB="36576" anchor="ctr">
                    <a:lnL w="9525" cap="flat" cmpd="sng" algn="ctr">
                      <a:solidFill>
                        <a:srgbClr val="C9CFDA"/>
                      </a:solidFill>
                      <a:prstDash val="solid"/>
                      <a:round/>
                    </a:lnL>
                    <a:lnR w="9525" cap="flat" cmpd="sng" algn="ctr">
                      <a:solidFill>
                        <a:srgbClr val="C9CFDA"/>
                      </a:solidFill>
                      <a:prstDash val="solid"/>
                      <a:round/>
                    </a:lnR>
                    <a:lnT w="9525" cap="flat" cmpd="sng" algn="ctr">
                      <a:solidFill>
                        <a:srgbClr val="C9CFDA"/>
                      </a:solidFill>
                      <a:prstDash val="solid"/>
                      <a:round/>
                    </a:lnT>
                    <a:lnB w="9525" cap="flat" cmpd="sng" algn="ctr">
                      <a:solidFill>
                        <a:srgbClr val="C9CFDA"/>
                      </a:solidFill>
                      <a:prstDash val="solid"/>
                      <a:round/>
                    </a:lnB>
                    <a:solidFill>
                      <a:srgbClr val="FFFFFF"/>
                    </a:solidFill>
                  </a:tcPr>
                </a:tc>
                <a:tc>
                  <a:txBody>
                    <a:bodyPr wrap="square">
                      <a:noAutofit/>
                    </a:bodyPr>
                    <a:lstStyle/>
                    <a:p>
                      <a:pPr algn="ctr">
                        <a:lnSpc>
                          <a:spcPct val="100000"/>
                        </a:lnSpc>
                        <a:spcAft>
                          <a:spcPts val="0"/>
                        </a:spcAft>
                        <a:buNone/>
                      </a:pPr>
                      <a:r>
                        <a:rPr sz="1400" b="0" i="0">
                          <a:solidFill>
                            <a:srgbClr val="1F2433"/>
                          </a:solidFill>
                          <a:latin typeface="Arial"/>
                        </a:rPr>
                        <a:t>37,5%</a:t>
                      </a:r>
                    </a:p>
                  </a:txBody>
                  <a:tcPr marL="91440" marR="91440" marT="36576" marB="36576" anchor="ctr">
                    <a:lnL w="9525" cap="flat" cmpd="sng" algn="ctr">
                      <a:solidFill>
                        <a:srgbClr val="C9CFDA"/>
                      </a:solidFill>
                      <a:prstDash val="solid"/>
                      <a:round/>
                    </a:lnL>
                    <a:lnR w="9525" cap="flat" cmpd="sng" algn="ctr">
                      <a:solidFill>
                        <a:srgbClr val="C9CFDA"/>
                      </a:solidFill>
                      <a:prstDash val="solid"/>
                      <a:round/>
                    </a:lnR>
                    <a:lnT w="9525" cap="flat" cmpd="sng" algn="ctr">
                      <a:solidFill>
                        <a:srgbClr val="C9CFDA"/>
                      </a:solidFill>
                      <a:prstDash val="solid"/>
                      <a:round/>
                    </a:lnT>
                    <a:lnB w="9525" cap="flat" cmpd="sng" algn="ctr">
                      <a:solidFill>
                        <a:srgbClr val="C9CFDA"/>
                      </a:solidFill>
                      <a:prstDash val="solid"/>
                      <a:round/>
                    </a:lnB>
                    <a:solidFill>
                      <a:srgbClr val="FFFFFF"/>
                    </a:solidFill>
                  </a:tcPr>
                </a:tc>
                <a:tc>
                  <a:txBody>
                    <a:bodyPr wrap="square">
                      <a:noAutofit/>
                    </a:bodyPr>
                    <a:lstStyle/>
                    <a:p>
                      <a:pPr algn="ctr">
                        <a:lnSpc>
                          <a:spcPct val="100000"/>
                        </a:lnSpc>
                        <a:spcAft>
                          <a:spcPts val="0"/>
                        </a:spcAft>
                        <a:buNone/>
                      </a:pPr>
                      <a:r>
                        <a:rPr sz="1400" b="0" i="0">
                          <a:solidFill>
                            <a:srgbClr val="1F2433"/>
                          </a:solidFill>
                          <a:latin typeface="Arial"/>
                        </a:rPr>
                        <a:t>42,0%</a:t>
                      </a:r>
                    </a:p>
                  </a:txBody>
                  <a:tcPr marL="91440" marR="91440" marT="36576" marB="36576" anchor="ctr">
                    <a:lnL w="9525" cap="flat" cmpd="sng" algn="ctr">
                      <a:solidFill>
                        <a:srgbClr val="C9CFDA"/>
                      </a:solidFill>
                      <a:prstDash val="solid"/>
                      <a:round/>
                    </a:lnL>
                    <a:lnR w="9525" cap="flat" cmpd="sng" algn="ctr">
                      <a:solidFill>
                        <a:srgbClr val="C9CFDA"/>
                      </a:solidFill>
                      <a:prstDash val="solid"/>
                      <a:round/>
                    </a:lnR>
                    <a:lnT w="9525" cap="flat" cmpd="sng" algn="ctr">
                      <a:solidFill>
                        <a:srgbClr val="C9CFDA"/>
                      </a:solidFill>
                      <a:prstDash val="solid"/>
                      <a:round/>
                    </a:lnT>
                    <a:lnB w="9525" cap="flat" cmpd="sng" algn="ctr">
                      <a:solidFill>
                        <a:srgbClr val="C9CFDA"/>
                      </a:solidFill>
                      <a:prstDash val="solid"/>
                      <a:round/>
                    </a:lnB>
                    <a:solidFill>
                      <a:srgbClr val="FFFFFF"/>
                    </a:solidFill>
                  </a:tcPr>
                </a:tc>
              </a:tr>
              <a:tr h="402336">
                <a:tc>
                  <a:txBody>
                    <a:bodyPr wrap="square">
                      <a:noAutofit/>
                    </a:bodyPr>
                    <a:lstStyle/>
                    <a:p>
                      <a:pPr algn="l">
                        <a:lnSpc>
                          <a:spcPct val="100000"/>
                        </a:lnSpc>
                        <a:spcAft>
                          <a:spcPts val="0"/>
                        </a:spcAft>
                        <a:buNone/>
                      </a:pPr>
                      <a:r>
                        <a:rPr sz="1400" b="0" i="0">
                          <a:solidFill>
                            <a:srgbClr val="1F2433"/>
                          </a:solidFill>
                          <a:latin typeface="Arial"/>
                        </a:rPr>
                        <a:t>Leave-one-out (faixa)</a:t>
                      </a:r>
                    </a:p>
                  </a:txBody>
                  <a:tcPr marL="91440" marR="91440" marT="36576" marB="36576" anchor="ctr">
                    <a:lnL w="9525" cap="flat" cmpd="sng" algn="ctr">
                      <a:solidFill>
                        <a:srgbClr val="C9CFDA"/>
                      </a:solidFill>
                      <a:prstDash val="solid"/>
                      <a:round/>
                    </a:lnL>
                    <a:lnR w="9525" cap="flat" cmpd="sng" algn="ctr">
                      <a:solidFill>
                        <a:srgbClr val="C9CFDA"/>
                      </a:solidFill>
                      <a:prstDash val="solid"/>
                      <a:round/>
                    </a:lnR>
                    <a:lnT w="9525" cap="flat" cmpd="sng" algn="ctr">
                      <a:solidFill>
                        <a:srgbClr val="C9CFDA"/>
                      </a:solidFill>
                      <a:prstDash val="solid"/>
                      <a:round/>
                    </a:lnT>
                    <a:lnB w="9525" cap="flat" cmpd="sng" algn="ctr">
                      <a:solidFill>
                        <a:srgbClr val="C9CFDA"/>
                      </a:solidFill>
                      <a:prstDash val="solid"/>
                      <a:round/>
                    </a:lnB>
                    <a:solidFill>
                      <a:srgbClr val="F2F4F8"/>
                    </a:solidFill>
                  </a:tcPr>
                </a:tc>
                <a:tc>
                  <a:txBody>
                    <a:bodyPr wrap="square">
                      <a:noAutofit/>
                    </a:bodyPr>
                    <a:lstStyle/>
                    <a:p>
                      <a:pPr algn="ctr">
                        <a:lnSpc>
                          <a:spcPct val="100000"/>
                        </a:lnSpc>
                        <a:spcAft>
                          <a:spcPts val="0"/>
                        </a:spcAft>
                        <a:buNone/>
                      </a:pPr>
                      <a:r>
                        <a:rPr sz="1400" b="0" i="0">
                          <a:solidFill>
                            <a:srgbClr val="1F2433"/>
                          </a:solidFill>
                          <a:latin typeface="Arial"/>
                        </a:rPr>
                        <a:t>34,3–42,1%</a:t>
                      </a:r>
                    </a:p>
                  </a:txBody>
                  <a:tcPr marL="91440" marR="91440" marT="36576" marB="36576" anchor="ctr">
                    <a:lnL w="9525" cap="flat" cmpd="sng" algn="ctr">
                      <a:solidFill>
                        <a:srgbClr val="C9CFDA"/>
                      </a:solidFill>
                      <a:prstDash val="solid"/>
                      <a:round/>
                    </a:lnL>
                    <a:lnR w="9525" cap="flat" cmpd="sng" algn="ctr">
                      <a:solidFill>
                        <a:srgbClr val="C9CFDA"/>
                      </a:solidFill>
                      <a:prstDash val="solid"/>
                      <a:round/>
                    </a:lnR>
                    <a:lnT w="9525" cap="flat" cmpd="sng" algn="ctr">
                      <a:solidFill>
                        <a:srgbClr val="C9CFDA"/>
                      </a:solidFill>
                      <a:prstDash val="solid"/>
                      <a:round/>
                    </a:lnT>
                    <a:lnB w="9525" cap="flat" cmpd="sng" algn="ctr">
                      <a:solidFill>
                        <a:srgbClr val="C9CFDA"/>
                      </a:solidFill>
                      <a:prstDash val="solid"/>
                      <a:round/>
                    </a:lnB>
                    <a:solidFill>
                      <a:srgbClr val="F2F4F8"/>
                    </a:solidFill>
                  </a:tcPr>
                </a:tc>
                <a:tc>
                  <a:txBody>
                    <a:bodyPr wrap="square">
                      <a:noAutofit/>
                    </a:bodyPr>
                    <a:lstStyle/>
                    <a:p>
                      <a:pPr algn="ctr">
                        <a:lnSpc>
                          <a:spcPct val="100000"/>
                        </a:lnSpc>
                        <a:spcAft>
                          <a:spcPts val="0"/>
                        </a:spcAft>
                        <a:buNone/>
                      </a:pPr>
                      <a:r>
                        <a:rPr sz="1400" b="0" i="0">
                          <a:solidFill>
                            <a:srgbClr val="1F2433"/>
                          </a:solidFill>
                          <a:latin typeface="Arial"/>
                        </a:rPr>
                        <a:t>38,9–45,5%</a:t>
                      </a:r>
                    </a:p>
                  </a:txBody>
                  <a:tcPr marL="91440" marR="91440" marT="36576" marB="36576" anchor="ctr">
                    <a:lnL w="9525" cap="flat" cmpd="sng" algn="ctr">
                      <a:solidFill>
                        <a:srgbClr val="C9CFDA"/>
                      </a:solidFill>
                      <a:prstDash val="solid"/>
                      <a:round/>
                    </a:lnL>
                    <a:lnR w="9525" cap="flat" cmpd="sng" algn="ctr">
                      <a:solidFill>
                        <a:srgbClr val="C9CFDA"/>
                      </a:solidFill>
                      <a:prstDash val="solid"/>
                      <a:round/>
                    </a:lnR>
                    <a:lnT w="9525" cap="flat" cmpd="sng" algn="ctr">
                      <a:solidFill>
                        <a:srgbClr val="C9CFDA"/>
                      </a:solidFill>
                      <a:prstDash val="solid"/>
                      <a:round/>
                    </a:lnT>
                    <a:lnB w="9525" cap="flat" cmpd="sng" algn="ctr">
                      <a:solidFill>
                        <a:srgbClr val="C9CFDA"/>
                      </a:solidFill>
                      <a:prstDash val="solid"/>
                      <a:round/>
                    </a:lnB>
                    <a:solidFill>
                      <a:srgbClr val="F2F4F8"/>
                    </a:solidFill>
                  </a:tcPr>
                </a:tc>
              </a:tr>
              <a:tr h="402336">
                <a:tc>
                  <a:txBody>
                    <a:bodyPr wrap="square">
                      <a:noAutofit/>
                    </a:bodyPr>
                    <a:lstStyle/>
                    <a:p>
                      <a:pPr algn="l">
                        <a:lnSpc>
                          <a:spcPct val="100000"/>
                        </a:lnSpc>
                        <a:spcAft>
                          <a:spcPts val="0"/>
                        </a:spcAft>
                        <a:buNone/>
                      </a:pPr>
                      <a:r>
                        <a:rPr sz="1400" b="0" i="0">
                          <a:solidFill>
                            <a:srgbClr val="1F2433"/>
                          </a:solidFill>
                          <a:latin typeface="Arial"/>
                        </a:rPr>
                        <a:t>Sem o resumo de congresso</a:t>
                      </a:r>
                    </a:p>
                  </a:txBody>
                  <a:tcPr marL="91440" marR="91440" marT="36576" marB="36576" anchor="ctr">
                    <a:lnL w="9525" cap="flat" cmpd="sng" algn="ctr">
                      <a:solidFill>
                        <a:srgbClr val="C9CFDA"/>
                      </a:solidFill>
                      <a:prstDash val="solid"/>
                      <a:round/>
                    </a:lnL>
                    <a:lnR w="9525" cap="flat" cmpd="sng" algn="ctr">
                      <a:solidFill>
                        <a:srgbClr val="C9CFDA"/>
                      </a:solidFill>
                      <a:prstDash val="solid"/>
                      <a:round/>
                    </a:lnR>
                    <a:lnT w="9525" cap="flat" cmpd="sng" algn="ctr">
                      <a:solidFill>
                        <a:srgbClr val="C9CFDA"/>
                      </a:solidFill>
                      <a:prstDash val="solid"/>
                      <a:round/>
                    </a:lnT>
                    <a:lnB w="9525" cap="flat" cmpd="sng" algn="ctr">
                      <a:solidFill>
                        <a:srgbClr val="C9CFDA"/>
                      </a:solidFill>
                      <a:prstDash val="solid"/>
                      <a:round/>
                    </a:lnB>
                    <a:solidFill>
                      <a:srgbClr val="FFFFFF"/>
                    </a:solidFill>
                  </a:tcPr>
                </a:tc>
                <a:tc>
                  <a:txBody>
                    <a:bodyPr wrap="square">
                      <a:noAutofit/>
                    </a:bodyPr>
                    <a:lstStyle/>
                    <a:p>
                      <a:pPr algn="ctr">
                        <a:lnSpc>
                          <a:spcPct val="100000"/>
                        </a:lnSpc>
                        <a:spcAft>
                          <a:spcPts val="0"/>
                        </a:spcAft>
                        <a:buNone/>
                      </a:pPr>
                      <a:r>
                        <a:rPr sz="1400" b="0" i="0">
                          <a:solidFill>
                            <a:srgbClr val="1F2433"/>
                          </a:solidFill>
                          <a:latin typeface="Arial"/>
                        </a:rPr>
                        <a:t>42,1%</a:t>
                      </a:r>
                    </a:p>
                  </a:txBody>
                  <a:tcPr marL="91440" marR="91440" marT="36576" marB="36576" anchor="ctr">
                    <a:lnL w="9525" cap="flat" cmpd="sng" algn="ctr">
                      <a:solidFill>
                        <a:srgbClr val="C9CFDA"/>
                      </a:solidFill>
                      <a:prstDash val="solid"/>
                      <a:round/>
                    </a:lnL>
                    <a:lnR w="9525" cap="flat" cmpd="sng" algn="ctr">
                      <a:solidFill>
                        <a:srgbClr val="C9CFDA"/>
                      </a:solidFill>
                      <a:prstDash val="solid"/>
                      <a:round/>
                    </a:lnR>
                    <a:lnT w="9525" cap="flat" cmpd="sng" algn="ctr">
                      <a:solidFill>
                        <a:srgbClr val="C9CFDA"/>
                      </a:solidFill>
                      <a:prstDash val="solid"/>
                      <a:round/>
                    </a:lnT>
                    <a:lnB w="9525" cap="flat" cmpd="sng" algn="ctr">
                      <a:solidFill>
                        <a:srgbClr val="C9CFDA"/>
                      </a:solidFill>
                      <a:prstDash val="solid"/>
                      <a:round/>
                    </a:lnB>
                    <a:solidFill>
                      <a:srgbClr val="FFFFFF"/>
                    </a:solidFill>
                  </a:tcPr>
                </a:tc>
                <a:tc>
                  <a:txBody>
                    <a:bodyPr wrap="square">
                      <a:noAutofit/>
                    </a:bodyPr>
                    <a:lstStyle/>
                    <a:p>
                      <a:pPr algn="ctr">
                        <a:lnSpc>
                          <a:spcPct val="100000"/>
                        </a:lnSpc>
                        <a:spcAft>
                          <a:spcPts val="0"/>
                        </a:spcAft>
                        <a:buNone/>
                      </a:pPr>
                      <a:r>
                        <a:rPr sz="1400" b="0" i="0">
                          <a:solidFill>
                            <a:srgbClr val="1F2433"/>
                          </a:solidFill>
                          <a:latin typeface="Arial"/>
                        </a:rPr>
                        <a:t>42,4%</a:t>
                      </a:r>
                    </a:p>
                  </a:txBody>
                  <a:tcPr marL="91440" marR="91440" marT="36576" marB="36576" anchor="ctr">
                    <a:lnL w="9525" cap="flat" cmpd="sng" algn="ctr">
                      <a:solidFill>
                        <a:srgbClr val="C9CFDA"/>
                      </a:solidFill>
                      <a:prstDash val="solid"/>
                      <a:round/>
                    </a:lnL>
                    <a:lnR w="9525" cap="flat" cmpd="sng" algn="ctr">
                      <a:solidFill>
                        <a:srgbClr val="C9CFDA"/>
                      </a:solidFill>
                      <a:prstDash val="solid"/>
                      <a:round/>
                    </a:lnR>
                    <a:lnT w="9525" cap="flat" cmpd="sng" algn="ctr">
                      <a:solidFill>
                        <a:srgbClr val="C9CFDA"/>
                      </a:solidFill>
                      <a:prstDash val="solid"/>
                      <a:round/>
                    </a:lnT>
                    <a:lnB w="9525" cap="flat" cmpd="sng" algn="ctr">
                      <a:solidFill>
                        <a:srgbClr val="C9CFDA"/>
                      </a:solidFill>
                      <a:prstDash val="solid"/>
                      <a:round/>
                    </a:lnB>
                    <a:solidFill>
                      <a:srgbClr val="FFFFFF"/>
                    </a:solidFill>
                  </a:tcPr>
                </a:tc>
              </a:tr>
              <a:tr h="402336">
                <a:tc>
                  <a:txBody>
                    <a:bodyPr wrap="square">
                      <a:noAutofit/>
                    </a:bodyPr>
                    <a:lstStyle/>
                    <a:p>
                      <a:pPr algn="l">
                        <a:lnSpc>
                          <a:spcPct val="100000"/>
                        </a:lnSpc>
                        <a:spcAft>
                          <a:spcPts val="0"/>
                        </a:spcAft>
                        <a:buNone/>
                      </a:pPr>
                      <a:r>
                        <a:rPr sz="1400" b="0" i="0">
                          <a:solidFill>
                            <a:srgbClr val="1F2433"/>
                          </a:solidFill>
                          <a:latin typeface="Arial"/>
                        </a:rPr>
                        <a:t>Só definições específicas</a:t>
                      </a:r>
                    </a:p>
                  </a:txBody>
                  <a:tcPr marL="91440" marR="91440" marT="36576" marB="36576" anchor="ctr">
                    <a:lnL w="9525" cap="flat" cmpd="sng" algn="ctr">
                      <a:solidFill>
                        <a:srgbClr val="C9CFDA"/>
                      </a:solidFill>
                      <a:prstDash val="solid"/>
                      <a:round/>
                    </a:lnL>
                    <a:lnR w="9525" cap="flat" cmpd="sng" algn="ctr">
                      <a:solidFill>
                        <a:srgbClr val="C9CFDA"/>
                      </a:solidFill>
                      <a:prstDash val="solid"/>
                      <a:round/>
                    </a:lnR>
                    <a:lnT w="9525" cap="flat" cmpd="sng" algn="ctr">
                      <a:solidFill>
                        <a:srgbClr val="C9CFDA"/>
                      </a:solidFill>
                      <a:prstDash val="solid"/>
                      <a:round/>
                    </a:lnT>
                    <a:lnB w="9525" cap="flat" cmpd="sng" algn="ctr">
                      <a:solidFill>
                        <a:srgbClr val="C9CFDA"/>
                      </a:solidFill>
                      <a:prstDash val="solid"/>
                      <a:round/>
                    </a:lnB>
                    <a:solidFill>
                      <a:srgbClr val="F2F4F8"/>
                    </a:solidFill>
                  </a:tcPr>
                </a:tc>
                <a:tc>
                  <a:txBody>
                    <a:bodyPr wrap="square">
                      <a:noAutofit/>
                    </a:bodyPr>
                    <a:lstStyle/>
                    <a:p>
                      <a:pPr algn="ctr">
                        <a:lnSpc>
                          <a:spcPct val="100000"/>
                        </a:lnSpc>
                        <a:spcAft>
                          <a:spcPts val="0"/>
                        </a:spcAft>
                        <a:buNone/>
                      </a:pPr>
                      <a:r>
                        <a:rPr sz="1400" b="0" i="0">
                          <a:solidFill>
                            <a:srgbClr val="1F2433"/>
                          </a:solidFill>
                          <a:latin typeface="Arial"/>
                        </a:rPr>
                        <a:t>36,5% (I² 94%)</a:t>
                      </a:r>
                    </a:p>
                  </a:txBody>
                  <a:tcPr marL="91440" marR="91440" marT="36576" marB="36576" anchor="ctr">
                    <a:lnL w="9525" cap="flat" cmpd="sng" algn="ctr">
                      <a:solidFill>
                        <a:srgbClr val="C9CFDA"/>
                      </a:solidFill>
                      <a:prstDash val="solid"/>
                      <a:round/>
                    </a:lnL>
                    <a:lnR w="9525" cap="flat" cmpd="sng" algn="ctr">
                      <a:solidFill>
                        <a:srgbClr val="C9CFDA"/>
                      </a:solidFill>
                      <a:prstDash val="solid"/>
                      <a:round/>
                    </a:lnR>
                    <a:lnT w="9525" cap="flat" cmpd="sng" algn="ctr">
                      <a:solidFill>
                        <a:srgbClr val="C9CFDA"/>
                      </a:solidFill>
                      <a:prstDash val="solid"/>
                      <a:round/>
                    </a:lnT>
                    <a:lnB w="9525" cap="flat" cmpd="sng" algn="ctr">
                      <a:solidFill>
                        <a:srgbClr val="C9CFDA"/>
                      </a:solidFill>
                      <a:prstDash val="solid"/>
                      <a:round/>
                    </a:lnB>
                    <a:solidFill>
                      <a:srgbClr val="F2F4F8"/>
                    </a:solidFill>
                  </a:tcPr>
                </a:tc>
                <a:tc>
                  <a:txBody>
                    <a:bodyPr wrap="square">
                      <a:noAutofit/>
                    </a:bodyPr>
                    <a:lstStyle/>
                    <a:p>
                      <a:pPr algn="ctr">
                        <a:lnSpc>
                          <a:spcPct val="100000"/>
                        </a:lnSpc>
                        <a:spcAft>
                          <a:spcPts val="0"/>
                        </a:spcAft>
                        <a:buNone/>
                      </a:pPr>
                      <a:r>
                        <a:rPr sz="1400" b="0" i="0">
                          <a:solidFill>
                            <a:srgbClr val="1F2433"/>
                          </a:solidFill>
                          <a:latin typeface="Arial"/>
                        </a:rPr>
                        <a:t>35,8% (I² 61%)</a:t>
                      </a:r>
                    </a:p>
                  </a:txBody>
                  <a:tcPr marL="91440" marR="91440" marT="36576" marB="36576" anchor="ctr">
                    <a:lnL w="9525" cap="flat" cmpd="sng" algn="ctr">
                      <a:solidFill>
                        <a:srgbClr val="C9CFDA"/>
                      </a:solidFill>
                      <a:prstDash val="solid"/>
                      <a:round/>
                    </a:lnL>
                    <a:lnR w="9525" cap="flat" cmpd="sng" algn="ctr">
                      <a:solidFill>
                        <a:srgbClr val="C9CFDA"/>
                      </a:solidFill>
                      <a:prstDash val="solid"/>
                      <a:round/>
                    </a:lnR>
                    <a:lnT w="9525" cap="flat" cmpd="sng" algn="ctr">
                      <a:solidFill>
                        <a:srgbClr val="C9CFDA"/>
                      </a:solidFill>
                      <a:prstDash val="solid"/>
                      <a:round/>
                    </a:lnT>
                    <a:lnB w="9525" cap="flat" cmpd="sng" algn="ctr">
                      <a:solidFill>
                        <a:srgbClr val="C9CFDA"/>
                      </a:solidFill>
                      <a:prstDash val="solid"/>
                      <a:round/>
                    </a:lnB>
                    <a:solidFill>
                      <a:srgbClr val="F2F4F8"/>
                    </a:solidFill>
                  </a:tcPr>
                </a:tc>
              </a:tr>
            </a:tbl>
          </a:graphicData>
        </a:graphic>
      </p:graphicFrame>
      <p:sp>
        <p:nvSpPr>
          <p:cNvPr id="17" name="Rounded Rectangle 16"/>
          <p:cNvSpPr/>
          <p:nvPr/>
        </p:nvSpPr>
        <p:spPr>
          <a:xfrm>
            <a:off x="10744200" y="7863840"/>
            <a:ext cx="7040879" cy="1874520"/>
          </a:xfrm>
          <a:prstGeom prst="roundRect">
            <a:avLst>
              <a:gd name="adj" fmla="val 6000"/>
            </a:avLst>
          </a:prstGeom>
          <a:solidFill>
            <a:srgbClr val="FBF5E3"/>
          </a:solidFill>
          <a:ln>
            <a:noFill/>
          </a:ln>
          <a:effectLst/>
        </p:spPr>
        <p:txBody>
          <a:bodyPr rtlCol="0" anchor="ctr"/>
          <a:lstStyle/>
          <a:p/>
        </p:txBody>
      </p:sp>
      <p:sp>
        <p:nvSpPr>
          <p:cNvPr id="18" name="TextBox 17"/>
          <p:cNvSpPr txBox="1"/>
          <p:nvPr/>
        </p:nvSpPr>
        <p:spPr>
          <a:xfrm>
            <a:off x="11064240" y="8138159"/>
            <a:ext cx="6400799" cy="1280160"/>
          </a:xfrm>
          <a:prstGeom prst="rect">
            <a:avLst/>
          </a:prstGeom>
          <a:noFill/>
        </p:spPr>
        <p:txBody>
          <a:bodyPr wrap="square" lIns="0" rIns="0" tIns="0" bIns="0" anchor="t">
            <a:noAutofit/>
          </a:bodyPr>
          <a:lstStyle/>
          <a:p>
            <a:pPr algn="l">
              <a:lnSpc>
                <a:spcPct val="100000"/>
              </a:lnSpc>
              <a:spcAft>
                <a:spcPts val="500"/>
              </a:spcAft>
              <a:buNone/>
            </a:pPr>
            <a:r>
              <a:rPr sz="1700" b="1" i="0">
                <a:solidFill>
                  <a:srgbClr val="002060"/>
                </a:solidFill>
                <a:latin typeface="Arial"/>
              </a:rPr>
              <a:t>O que a sensibilidade ensina</a:t>
            </a:r>
          </a:p>
          <a:p>
            <a:pPr algn="l" marL="274320" indent="-274320">
              <a:lnSpc>
                <a:spcPct val="100000"/>
              </a:lnSpc>
              <a:spcAft>
                <a:spcPts val="400"/>
              </a:spcAft>
              <a:buClr>
                <a:srgbClr val="C8A951"/>
              </a:buClr>
              <a:buFont typeface="Arial"/>
              <a:buChar char="•"/>
            </a:pPr>
            <a:r>
              <a:rPr sz="1500" b="0" i="0">
                <a:solidFill>
                  <a:srgbClr val="1F2433"/>
                </a:solidFill>
                <a:latin typeface="Arial"/>
              </a:rPr>
              <a:t>Definições específicas: </a:t>
            </a:r>
            <a:r>
              <a:rPr sz="1500" b="1" i="0">
                <a:solidFill>
                  <a:srgbClr val="1F2433"/>
                </a:solidFill>
                <a:highlight>
                  <a:srgbClr val="FFEB99"/>
                </a:highlight>
                <a:latin typeface="Arial"/>
              </a:rPr>
              <a:t>I² respiratório 91% → 61%</a:t>
            </a:r>
            <a:r>
              <a:rPr sz="1500" b="0" i="0">
                <a:solidFill>
                  <a:srgbClr val="1F2433"/>
                </a:solidFill>
                <a:latin typeface="Arial"/>
              </a:rPr>
              <a:t> (a definição explica parte da heterogeneidade).</a:t>
            </a:r>
          </a:p>
          <a:p>
            <a:pPr algn="l" marL="274320" indent="-274320">
              <a:lnSpc>
                <a:spcPct val="100000"/>
              </a:lnSpc>
              <a:spcAft>
                <a:spcPts val="400"/>
              </a:spcAft>
              <a:buClr>
                <a:srgbClr val="C8A951"/>
              </a:buClr>
              <a:buFont typeface="Arial"/>
              <a:buChar char="•"/>
            </a:pPr>
            <a:r>
              <a:rPr sz="1500" b="0" i="0">
                <a:solidFill>
                  <a:srgbClr val="1F2433"/>
                </a:solidFill>
                <a:latin typeface="Arial"/>
              </a:rPr>
              <a:t>Ocular: I² segue alto sem o resumo (89%) ou sem Bieniek (94%): </a:t>
            </a:r>
            <a:r>
              <a:rPr sz="1500" b="1" i="0">
                <a:solidFill>
                  <a:srgbClr val="1F2433"/>
                </a:solidFill>
                <a:latin typeface="Arial"/>
              </a:rPr>
              <a:t>não depende de um único estudo.</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lano de fundo do modelo" descr="tpl_bg.png"/>
          <p:cNvPicPr>
            <a:picLocks noChangeAspect="1"/>
          </p:cNvPicPr>
          <p:nvPr/>
        </p:nvPicPr>
        <p:blipFill>
          <a:blip r:embed="rId2"/>
          <a:stretch>
            <a:fillRect/>
          </a:stretch>
        </p:blipFill>
        <p:spPr>
          <a:xfrm>
            <a:off x="20" y="1923"/>
            <a:ext cx="18287980" cy="10285077"/>
          </a:xfrm>
          <a:prstGeom prst="rect">
            <a:avLst/>
          </a:prstGeom>
        </p:spPr>
      </p:pic>
      <p:sp>
        <p:nvSpPr>
          <p:cNvPr id="3" name="Retângulo branco (modelo)"/>
          <p:cNvSpPr/>
          <p:nvPr/>
        </p:nvSpPr>
        <p:spPr>
          <a:xfrm>
            <a:off x="15888345" y="279974"/>
            <a:ext cx="2362200" cy="863025"/>
          </a:xfrm>
          <a:prstGeom prst="rect">
            <a:avLst/>
          </a:prstGeom>
          <a:solidFill>
            <a:srgbClr val="FFFFFF"/>
          </a:solidFill>
          <a:ln>
            <a:noFill/>
          </a:ln>
        </p:spPr>
        <p:txBody>
          <a:bodyPr rtlCol="0" anchor="ctr"/>
          <a:lstStyle/>
          <a:p>
            <a:pPr algn="ctr"/>
          </a:p>
        </p:txBody>
      </p:sp>
      <p:pic>
        <p:nvPicPr>
          <p:cNvPr id="4" name="Logo SEMICA" descr="image.png"/>
          <p:cNvPicPr>
            <a:picLocks noChangeAspect="1"/>
          </p:cNvPicPr>
          <p:nvPr/>
        </p:nvPicPr>
        <p:blipFill>
          <a:blip r:embed="rId3"/>
          <a:stretch>
            <a:fillRect/>
          </a:stretch>
        </p:blipFill>
        <p:spPr>
          <a:xfrm>
            <a:off x="15544800" y="279974"/>
            <a:ext cx="2512314" cy="1234862"/>
          </a:xfrm>
          <a:prstGeom prst="rect">
            <a:avLst/>
          </a:prstGeom>
        </p:spPr>
      </p:pic>
      <p:sp>
        <p:nvSpPr>
          <p:cNvPr id="5" name="Título da seção"/>
          <p:cNvSpPr txBox="1"/>
          <p:nvPr/>
        </p:nvSpPr>
        <p:spPr>
          <a:xfrm>
            <a:off x="1143000" y="558224"/>
            <a:ext cx="10058400" cy="584775"/>
          </a:xfrm>
          <a:prstGeom prst="rect">
            <a:avLst/>
          </a:prstGeom>
          <a:noFill/>
        </p:spPr>
        <p:txBody>
          <a:bodyPr wrap="square">
            <a:noAutofit/>
          </a:bodyPr>
          <a:lstStyle/>
          <a:p>
            <a:pPr algn="l">
              <a:lnSpc>
                <a:spcPct val="100000"/>
              </a:lnSpc>
              <a:spcAft>
                <a:spcPts val="0"/>
              </a:spcAft>
              <a:buNone/>
            </a:pPr>
            <a:r>
              <a:rPr sz="3200" b="0" i="0">
                <a:solidFill>
                  <a:srgbClr val="000000"/>
                </a:solidFill>
                <a:latin typeface="Arial"/>
              </a:rPr>
              <a:t>RESULTADOS</a:t>
            </a:r>
          </a:p>
        </p:txBody>
      </p:sp>
      <p:sp>
        <p:nvSpPr>
          <p:cNvPr id="6" name="Subtítulo"/>
          <p:cNvSpPr txBox="1"/>
          <p:nvPr/>
        </p:nvSpPr>
        <p:spPr>
          <a:xfrm>
            <a:off x="1143000" y="1097280"/>
            <a:ext cx="14173200" cy="502920"/>
          </a:xfrm>
          <a:prstGeom prst="rect">
            <a:avLst/>
          </a:prstGeom>
          <a:noFill/>
        </p:spPr>
        <p:txBody>
          <a:bodyPr wrap="square" lIns="0" rIns="0" tIns="0" bIns="0" anchor="t">
            <a:noAutofit/>
          </a:bodyPr>
          <a:lstStyle/>
          <a:p>
            <a:pPr algn="l">
              <a:lnSpc>
                <a:spcPct val="100000"/>
              </a:lnSpc>
              <a:spcAft>
                <a:spcPts val="0"/>
              </a:spcAft>
              <a:buNone/>
            </a:pPr>
            <a:r>
              <a:rPr sz="2400" b="1" i="0">
                <a:solidFill>
                  <a:srgbClr val="002060"/>
                </a:solidFill>
                <a:latin typeface="Arial"/>
              </a:rPr>
              <a:t>Desfechos objetivos e biomarcadores: sinais além do incômodo agudo (1 estudo por desfecho)</a:t>
            </a:r>
          </a:p>
        </p:txBody>
      </p:sp>
      <p:sp>
        <p:nvSpPr>
          <p:cNvPr id="7" name="Rounded Rectangle 6"/>
          <p:cNvSpPr/>
          <p:nvPr/>
        </p:nvSpPr>
        <p:spPr>
          <a:xfrm>
            <a:off x="1143000" y="1783080"/>
            <a:ext cx="8183879" cy="2743200"/>
          </a:xfrm>
          <a:prstGeom prst="roundRect">
            <a:avLst>
              <a:gd name="adj" fmla="val 6000"/>
            </a:avLst>
          </a:prstGeom>
          <a:solidFill>
            <a:srgbClr val="F2F4F8"/>
          </a:solidFill>
          <a:ln>
            <a:noFill/>
          </a:ln>
          <a:effectLst/>
        </p:spPr>
        <p:txBody>
          <a:bodyPr rtlCol="0" anchor="ctr"/>
          <a:lstStyle/>
          <a:p/>
        </p:txBody>
      </p:sp>
      <p:sp>
        <p:nvSpPr>
          <p:cNvPr id="8" name="Oval 7"/>
          <p:cNvSpPr/>
          <p:nvPr/>
        </p:nvSpPr>
        <p:spPr>
          <a:xfrm>
            <a:off x="1463040" y="2103120"/>
            <a:ext cx="731520" cy="731520"/>
          </a:xfrm>
          <a:prstGeom prst="ellipse">
            <a:avLst/>
          </a:prstGeom>
          <a:solidFill>
            <a:srgbClr val="002060"/>
          </a:solidFill>
          <a:ln>
            <a:noFill/>
          </a:ln>
          <a:effectLst/>
        </p:spPr>
        <p:txBody>
          <a:bodyPr rtlCol="0" anchor="ctr" lIns="0" rIns="0" tIns="0" bIns="0"/>
          <a:lstStyle/>
          <a:p/>
        </p:txBody>
      </p:sp>
      <p:pic>
        <p:nvPicPr>
          <p:cNvPr id="9" name="icone lungs" descr="lungs_white.png"/>
          <p:cNvPicPr>
            <a:picLocks noChangeAspect="1"/>
          </p:cNvPicPr>
          <p:nvPr/>
        </p:nvPicPr>
        <p:blipFill>
          <a:blip r:embed="rId4"/>
          <a:stretch>
            <a:fillRect/>
          </a:stretch>
        </p:blipFill>
        <p:spPr>
          <a:xfrm>
            <a:off x="1645920" y="2285999"/>
            <a:ext cx="365760" cy="365760"/>
          </a:xfrm>
          <a:prstGeom prst="rect">
            <a:avLst/>
          </a:prstGeom>
        </p:spPr>
      </p:pic>
      <p:sp>
        <p:nvSpPr>
          <p:cNvPr id="10" name="TextBox 9"/>
          <p:cNvSpPr txBox="1"/>
          <p:nvPr/>
        </p:nvSpPr>
        <p:spPr>
          <a:xfrm>
            <a:off x="2423160" y="2029967"/>
            <a:ext cx="6583680" cy="411480"/>
          </a:xfrm>
          <a:prstGeom prst="rect">
            <a:avLst/>
          </a:prstGeom>
          <a:noFill/>
        </p:spPr>
        <p:txBody>
          <a:bodyPr wrap="square" lIns="0" rIns="0" tIns="0" bIns="0" anchor="t">
            <a:noAutofit/>
          </a:bodyPr>
          <a:lstStyle/>
          <a:p>
            <a:pPr algn="l">
              <a:lnSpc>
                <a:spcPct val="100000"/>
              </a:lnSpc>
              <a:spcAft>
                <a:spcPts val="0"/>
              </a:spcAft>
              <a:buNone/>
            </a:pPr>
            <a:r>
              <a:rPr sz="1800" b="1" i="0">
                <a:solidFill>
                  <a:srgbClr val="002060"/>
                </a:solidFill>
                <a:latin typeface="Arial"/>
              </a:rPr>
              <a:t>Função pulmonar (espirometria)</a:t>
            </a:r>
          </a:p>
        </p:txBody>
      </p:sp>
      <p:sp>
        <p:nvSpPr>
          <p:cNvPr id="11" name="TextBox 10"/>
          <p:cNvSpPr txBox="1"/>
          <p:nvPr/>
        </p:nvSpPr>
        <p:spPr>
          <a:xfrm>
            <a:off x="2423160" y="2468879"/>
            <a:ext cx="6583680" cy="365760"/>
          </a:xfrm>
          <a:prstGeom prst="rect">
            <a:avLst/>
          </a:prstGeom>
          <a:noFill/>
        </p:spPr>
        <p:txBody>
          <a:bodyPr wrap="square" lIns="0" rIns="0" tIns="0" bIns="0" anchor="t">
            <a:noAutofit/>
          </a:bodyPr>
          <a:lstStyle/>
          <a:p>
            <a:pPr algn="l">
              <a:lnSpc>
                <a:spcPct val="100000"/>
              </a:lnSpc>
              <a:spcAft>
                <a:spcPts val="0"/>
              </a:spcAft>
              <a:buNone/>
            </a:pPr>
            <a:r>
              <a:rPr sz="1400" b="0" i="0">
                <a:solidFill>
                  <a:srgbClr val="5A6270"/>
                </a:solidFill>
                <a:latin typeface="Arial"/>
              </a:rPr>
              <a:t>Ibrahim et al., 2025 · Sudão · 92 expostos vs 92 não expostos pareados</a:t>
            </a:r>
          </a:p>
        </p:txBody>
      </p:sp>
      <p:sp>
        <p:nvSpPr>
          <p:cNvPr id="12" name="TextBox 11"/>
          <p:cNvSpPr txBox="1"/>
          <p:nvPr/>
        </p:nvSpPr>
        <p:spPr>
          <a:xfrm>
            <a:off x="1463040" y="3017520"/>
            <a:ext cx="7543800" cy="1188719"/>
          </a:xfrm>
          <a:prstGeom prst="rect">
            <a:avLst/>
          </a:prstGeom>
          <a:noFill/>
        </p:spPr>
        <p:txBody>
          <a:bodyPr wrap="square" lIns="0" rIns="0" tIns="0" bIns="0" anchor="t">
            <a:noAutofit/>
          </a:bodyPr>
          <a:lstStyle/>
          <a:p>
            <a:pPr algn="l" marL="274320" indent="-274320">
              <a:lnSpc>
                <a:spcPct val="100000"/>
              </a:lnSpc>
              <a:spcAft>
                <a:spcPts val="500"/>
              </a:spcAft>
              <a:buClr>
                <a:srgbClr val="002060"/>
              </a:buClr>
              <a:buFont typeface="Arial"/>
              <a:buChar char="•"/>
            </a:pPr>
            <a:r>
              <a:rPr sz="1700" b="0" i="0">
                <a:solidFill>
                  <a:srgbClr val="1F2433"/>
                </a:solidFill>
                <a:latin typeface="Arial"/>
              </a:rPr>
              <a:t>VEF1 </a:t>
            </a:r>
            <a:r>
              <a:rPr sz="1700" b="1" i="0">
                <a:solidFill>
                  <a:srgbClr val="1F2433"/>
                </a:solidFill>
                <a:latin typeface="Arial"/>
              </a:rPr>
              <a:t>2,78 vs 3,14 L</a:t>
            </a:r>
            <a:r>
              <a:rPr sz="1700" b="0" i="0">
                <a:solidFill>
                  <a:srgbClr val="1F2433"/>
                </a:solidFill>
                <a:latin typeface="Arial"/>
              </a:rPr>
              <a:t> · CVF </a:t>
            </a:r>
            <a:r>
              <a:rPr sz="1700" b="1" i="0">
                <a:solidFill>
                  <a:srgbClr val="1F2433"/>
                </a:solidFill>
                <a:latin typeface="Arial"/>
              </a:rPr>
              <a:t>3,02 vs 3,45 L</a:t>
            </a:r>
            <a:r>
              <a:rPr sz="1700" b="0" i="0">
                <a:solidFill>
                  <a:srgbClr val="1F2433"/>
                </a:solidFill>
                <a:latin typeface="Arial"/>
              </a:rPr>
              <a:t> · PFE </a:t>
            </a:r>
            <a:r>
              <a:rPr sz="1700" b="1" i="0">
                <a:solidFill>
                  <a:srgbClr val="1F2433"/>
                </a:solidFill>
                <a:latin typeface="Arial"/>
              </a:rPr>
              <a:t>327,5 vs 483,5 L/min</a:t>
            </a:r>
          </a:p>
          <a:p>
            <a:pPr algn="l" marL="274320" indent="-274320">
              <a:lnSpc>
                <a:spcPct val="100000"/>
              </a:lnSpc>
              <a:spcAft>
                <a:spcPts val="500"/>
              </a:spcAft>
              <a:buClr>
                <a:srgbClr val="002060"/>
              </a:buClr>
              <a:buFont typeface="Arial"/>
              <a:buChar char="•"/>
            </a:pPr>
            <a:r>
              <a:rPr sz="1700" b="0" i="0">
                <a:solidFill>
                  <a:srgbClr val="1F2433"/>
                </a:solidFill>
                <a:latin typeface="Arial"/>
              </a:rPr>
              <a:t>p = 0,001; gradiente: mais tempo em centro cirúrgico → valores menores.</a:t>
            </a:r>
          </a:p>
          <a:p>
            <a:pPr algn="l" marL="274320" indent="-274320">
              <a:lnSpc>
                <a:spcPct val="100000"/>
              </a:lnSpc>
              <a:spcAft>
                <a:spcPts val="500"/>
              </a:spcAft>
              <a:buClr>
                <a:srgbClr val="002060"/>
              </a:buClr>
              <a:buFont typeface="Arial"/>
              <a:buChar char="•"/>
            </a:pPr>
            <a:r>
              <a:rPr sz="1700" b="1" i="0">
                <a:solidFill>
                  <a:srgbClr val="8B0000"/>
                </a:solidFill>
                <a:latin typeface="Arial"/>
              </a:rPr>
              <a:t>Cautela: </a:t>
            </a:r>
            <a:r>
              <a:rPr sz="1700" b="0" i="0">
                <a:solidFill>
                  <a:srgbClr val="1F2433"/>
                </a:solidFill>
                <a:latin typeface="Arial"/>
              </a:rPr>
              <a:t>VEF1/CVF ≈ 91% nos dois grupos; PFE depende do esforço.</a:t>
            </a:r>
          </a:p>
        </p:txBody>
      </p:sp>
      <p:sp>
        <p:nvSpPr>
          <p:cNvPr id="13" name="Rounded Rectangle 12"/>
          <p:cNvSpPr/>
          <p:nvPr/>
        </p:nvSpPr>
        <p:spPr>
          <a:xfrm>
            <a:off x="9601200" y="1783080"/>
            <a:ext cx="8183879" cy="2743200"/>
          </a:xfrm>
          <a:prstGeom prst="roundRect">
            <a:avLst>
              <a:gd name="adj" fmla="val 6000"/>
            </a:avLst>
          </a:prstGeom>
          <a:solidFill>
            <a:srgbClr val="F2F4F8"/>
          </a:solidFill>
          <a:ln>
            <a:noFill/>
          </a:ln>
          <a:effectLst/>
        </p:spPr>
        <p:txBody>
          <a:bodyPr rtlCol="0" anchor="ctr"/>
          <a:lstStyle/>
          <a:p/>
        </p:txBody>
      </p:sp>
      <p:sp>
        <p:nvSpPr>
          <p:cNvPr id="14" name="Oval 13"/>
          <p:cNvSpPr/>
          <p:nvPr/>
        </p:nvSpPr>
        <p:spPr>
          <a:xfrm>
            <a:off x="9921240" y="2103120"/>
            <a:ext cx="731520" cy="731520"/>
          </a:xfrm>
          <a:prstGeom prst="ellipse">
            <a:avLst/>
          </a:prstGeom>
          <a:solidFill>
            <a:srgbClr val="002060"/>
          </a:solidFill>
          <a:ln>
            <a:noFill/>
          </a:ln>
          <a:effectLst/>
        </p:spPr>
        <p:txBody>
          <a:bodyPr rtlCol="0" anchor="ctr" lIns="0" rIns="0" tIns="0" bIns="0"/>
          <a:lstStyle/>
          <a:p/>
        </p:txBody>
      </p:sp>
      <p:pic>
        <p:nvPicPr>
          <p:cNvPr id="15" name="icone vial" descr="vial_white.png"/>
          <p:cNvPicPr>
            <a:picLocks noChangeAspect="1"/>
          </p:cNvPicPr>
          <p:nvPr/>
        </p:nvPicPr>
        <p:blipFill>
          <a:blip r:embed="rId5"/>
          <a:stretch>
            <a:fillRect/>
          </a:stretch>
        </p:blipFill>
        <p:spPr>
          <a:xfrm>
            <a:off x="10104120" y="2285999"/>
            <a:ext cx="365760" cy="365760"/>
          </a:xfrm>
          <a:prstGeom prst="rect">
            <a:avLst/>
          </a:prstGeom>
        </p:spPr>
      </p:pic>
      <p:sp>
        <p:nvSpPr>
          <p:cNvPr id="16" name="TextBox 15"/>
          <p:cNvSpPr txBox="1"/>
          <p:nvPr/>
        </p:nvSpPr>
        <p:spPr>
          <a:xfrm>
            <a:off x="10881360" y="2029967"/>
            <a:ext cx="6583680" cy="411480"/>
          </a:xfrm>
          <a:prstGeom prst="rect">
            <a:avLst/>
          </a:prstGeom>
          <a:noFill/>
        </p:spPr>
        <p:txBody>
          <a:bodyPr wrap="square" lIns="0" rIns="0" tIns="0" bIns="0" anchor="t">
            <a:noAutofit/>
          </a:bodyPr>
          <a:lstStyle/>
          <a:p>
            <a:pPr algn="l">
              <a:lnSpc>
                <a:spcPct val="100000"/>
              </a:lnSpc>
              <a:spcAft>
                <a:spcPts val="0"/>
              </a:spcAft>
              <a:buNone/>
            </a:pPr>
            <a:r>
              <a:rPr sz="1800" b="1" i="0">
                <a:solidFill>
                  <a:srgbClr val="002060"/>
                </a:solidFill>
                <a:latin typeface="Arial"/>
              </a:rPr>
              <a:t>Biomarcadores urinários</a:t>
            </a:r>
          </a:p>
        </p:txBody>
      </p:sp>
      <p:sp>
        <p:nvSpPr>
          <p:cNvPr id="17" name="TextBox 16"/>
          <p:cNvSpPr txBox="1"/>
          <p:nvPr/>
        </p:nvSpPr>
        <p:spPr>
          <a:xfrm>
            <a:off x="10881360" y="2468879"/>
            <a:ext cx="6583680" cy="365760"/>
          </a:xfrm>
          <a:prstGeom prst="rect">
            <a:avLst/>
          </a:prstGeom>
          <a:noFill/>
        </p:spPr>
        <p:txBody>
          <a:bodyPr wrap="square" lIns="0" rIns="0" tIns="0" bIns="0" anchor="t">
            <a:noAutofit/>
          </a:bodyPr>
          <a:lstStyle/>
          <a:p>
            <a:pPr algn="l">
              <a:lnSpc>
                <a:spcPct val="100000"/>
              </a:lnSpc>
              <a:spcAft>
                <a:spcPts val="0"/>
              </a:spcAft>
              <a:buNone/>
            </a:pPr>
            <a:r>
              <a:rPr sz="1400" b="0" i="0">
                <a:solidFill>
                  <a:srgbClr val="5A6270"/>
                </a:solidFill>
                <a:latin typeface="Arial"/>
              </a:rPr>
              <a:t>Canicoba, 2025 · Brasil · 52 vs 49 (metabólitos); 52 vs 52 (oxidativo)</a:t>
            </a:r>
          </a:p>
        </p:txBody>
      </p:sp>
      <p:sp>
        <p:nvSpPr>
          <p:cNvPr id="18" name="TextBox 17"/>
          <p:cNvSpPr txBox="1"/>
          <p:nvPr/>
        </p:nvSpPr>
        <p:spPr>
          <a:xfrm>
            <a:off x="9921240" y="3017520"/>
            <a:ext cx="7543800" cy="1188719"/>
          </a:xfrm>
          <a:prstGeom prst="rect">
            <a:avLst/>
          </a:prstGeom>
          <a:noFill/>
        </p:spPr>
        <p:txBody>
          <a:bodyPr wrap="square" lIns="0" rIns="0" tIns="0" bIns="0" anchor="t">
            <a:noAutofit/>
          </a:bodyPr>
          <a:lstStyle/>
          <a:p>
            <a:pPr algn="l" marL="274320" indent="-274320">
              <a:lnSpc>
                <a:spcPct val="100000"/>
              </a:lnSpc>
              <a:spcAft>
                <a:spcPts val="500"/>
              </a:spcAft>
              <a:buClr>
                <a:srgbClr val="002060"/>
              </a:buClr>
              <a:buFont typeface="Arial"/>
              <a:buChar char="•"/>
            </a:pPr>
            <a:r>
              <a:rPr sz="1700" b="0" i="0">
                <a:solidFill>
                  <a:srgbClr val="1F2433"/>
                </a:solidFill>
                <a:latin typeface="Arial"/>
              </a:rPr>
              <a:t>Ác. t,t-mucônico (benzeno): </a:t>
            </a:r>
            <a:r>
              <a:rPr sz="1700" b="1" i="0">
                <a:solidFill>
                  <a:srgbClr val="1F2433"/>
                </a:solidFill>
                <a:latin typeface="Arial"/>
              </a:rPr>
              <a:t>202,9 vs 46,1 µg/L</a:t>
            </a:r>
          </a:p>
          <a:p>
            <a:pPr algn="l" marL="274320" indent="-274320">
              <a:lnSpc>
                <a:spcPct val="100000"/>
              </a:lnSpc>
              <a:spcAft>
                <a:spcPts val="500"/>
              </a:spcAft>
              <a:buClr>
                <a:srgbClr val="002060"/>
              </a:buClr>
              <a:buFont typeface="Arial"/>
              <a:buChar char="•"/>
            </a:pPr>
            <a:r>
              <a:rPr sz="1700" b="0" i="0">
                <a:solidFill>
                  <a:srgbClr val="1F2433"/>
                </a:solidFill>
                <a:latin typeface="Arial"/>
              </a:rPr>
              <a:t>Ác. metil-hipúrico (xileno): </a:t>
            </a:r>
            <a:r>
              <a:rPr sz="1700" b="1" i="0">
                <a:solidFill>
                  <a:srgbClr val="1F2433"/>
                </a:solidFill>
                <a:latin typeface="Arial"/>
              </a:rPr>
              <a:t>468,2 vs 184,4 µg/L</a:t>
            </a:r>
          </a:p>
          <a:p>
            <a:pPr algn="l" marL="274320" indent="-274320">
              <a:lnSpc>
                <a:spcPct val="100000"/>
              </a:lnSpc>
              <a:spcAft>
                <a:spcPts val="500"/>
              </a:spcAft>
              <a:buClr>
                <a:srgbClr val="002060"/>
              </a:buClr>
              <a:buFont typeface="Arial"/>
              <a:buChar char="•"/>
            </a:pPr>
            <a:r>
              <a:rPr sz="1700" b="0" i="0">
                <a:solidFill>
                  <a:srgbClr val="1F2433"/>
                </a:solidFill>
                <a:latin typeface="Arial"/>
              </a:rPr>
              <a:t>Malondialdeído: </a:t>
            </a:r>
            <a:r>
              <a:rPr sz="1700" b="1" i="0">
                <a:solidFill>
                  <a:srgbClr val="1F2433"/>
                </a:solidFill>
                <a:latin typeface="Arial"/>
              </a:rPr>
              <a:t>9,33 vs 3,22 nmol/mg</a:t>
            </a:r>
            <a:r>
              <a:rPr sz="1700" b="0" i="0">
                <a:solidFill>
                  <a:srgbClr val="1F2433"/>
                </a:solidFill>
                <a:latin typeface="Arial"/>
              </a:rPr>
              <a:t>; todos p &lt; 0,001</a:t>
            </a:r>
          </a:p>
          <a:p>
            <a:pPr algn="l" marL="274320" indent="-274320">
              <a:lnSpc>
                <a:spcPct val="100000"/>
              </a:lnSpc>
              <a:spcAft>
                <a:spcPts val="500"/>
              </a:spcAft>
              <a:buClr>
                <a:srgbClr val="002060"/>
              </a:buClr>
              <a:buFont typeface="Arial"/>
              <a:buChar char="•"/>
            </a:pPr>
            <a:r>
              <a:rPr sz="1700" b="1" i="0">
                <a:solidFill>
                  <a:srgbClr val="8B0000"/>
                </a:solidFill>
                <a:latin typeface="Arial"/>
              </a:rPr>
              <a:t>Cautela: </a:t>
            </a:r>
            <a:r>
              <a:rPr sz="1700" b="0" i="0">
                <a:solidFill>
                  <a:srgbClr val="1F2433"/>
                </a:solidFill>
                <a:latin typeface="Arial"/>
              </a:rPr>
              <a:t>sem IC95%; t,t-mucônico inespecífico (dieta, tabagismo).</a:t>
            </a:r>
          </a:p>
        </p:txBody>
      </p:sp>
      <p:sp>
        <p:nvSpPr>
          <p:cNvPr id="19" name="Rounded Rectangle 18"/>
          <p:cNvSpPr/>
          <p:nvPr/>
        </p:nvSpPr>
        <p:spPr>
          <a:xfrm>
            <a:off x="1143000" y="4800600"/>
            <a:ext cx="8183879" cy="2743200"/>
          </a:xfrm>
          <a:prstGeom prst="roundRect">
            <a:avLst>
              <a:gd name="adj" fmla="val 6000"/>
            </a:avLst>
          </a:prstGeom>
          <a:solidFill>
            <a:srgbClr val="F2F4F8"/>
          </a:solidFill>
          <a:ln>
            <a:noFill/>
          </a:ln>
          <a:effectLst/>
        </p:spPr>
        <p:txBody>
          <a:bodyPr rtlCol="0" anchor="ctr"/>
          <a:lstStyle/>
          <a:p/>
        </p:txBody>
      </p:sp>
      <p:sp>
        <p:nvSpPr>
          <p:cNvPr id="20" name="Oval 19"/>
          <p:cNvSpPr/>
          <p:nvPr/>
        </p:nvSpPr>
        <p:spPr>
          <a:xfrm>
            <a:off x="1463040" y="5120640"/>
            <a:ext cx="731520" cy="731520"/>
          </a:xfrm>
          <a:prstGeom prst="ellipse">
            <a:avLst/>
          </a:prstGeom>
          <a:solidFill>
            <a:srgbClr val="002060"/>
          </a:solidFill>
          <a:ln>
            <a:noFill/>
          </a:ln>
          <a:effectLst/>
        </p:spPr>
        <p:txBody>
          <a:bodyPr rtlCol="0" anchor="ctr" lIns="0" rIns="0" tIns="0" bIns="0"/>
          <a:lstStyle/>
          <a:p/>
        </p:txBody>
      </p:sp>
      <p:pic>
        <p:nvPicPr>
          <p:cNvPr id="21" name="icone biotech" descr="biotech_white.png"/>
          <p:cNvPicPr>
            <a:picLocks noChangeAspect="1"/>
          </p:cNvPicPr>
          <p:nvPr/>
        </p:nvPicPr>
        <p:blipFill>
          <a:blip r:embed="rId6"/>
          <a:stretch>
            <a:fillRect/>
          </a:stretch>
        </p:blipFill>
        <p:spPr>
          <a:xfrm>
            <a:off x="1591056" y="5248656"/>
            <a:ext cx="475488" cy="475488"/>
          </a:xfrm>
          <a:prstGeom prst="rect">
            <a:avLst/>
          </a:prstGeom>
        </p:spPr>
      </p:pic>
      <p:sp>
        <p:nvSpPr>
          <p:cNvPr id="22" name="TextBox 21"/>
          <p:cNvSpPr txBox="1"/>
          <p:nvPr/>
        </p:nvSpPr>
        <p:spPr>
          <a:xfrm>
            <a:off x="2423160" y="5047488"/>
            <a:ext cx="6583680" cy="411480"/>
          </a:xfrm>
          <a:prstGeom prst="rect">
            <a:avLst/>
          </a:prstGeom>
          <a:noFill/>
        </p:spPr>
        <p:txBody>
          <a:bodyPr wrap="square" lIns="0" rIns="0" tIns="0" bIns="0" anchor="t">
            <a:noAutofit/>
          </a:bodyPr>
          <a:lstStyle/>
          <a:p>
            <a:pPr algn="l">
              <a:lnSpc>
                <a:spcPct val="100000"/>
              </a:lnSpc>
              <a:spcAft>
                <a:spcPts val="0"/>
              </a:spcAft>
              <a:buNone/>
            </a:pPr>
            <a:r>
              <a:rPr sz="1800" b="1" i="0">
                <a:solidFill>
                  <a:srgbClr val="002060"/>
                </a:solidFill>
                <a:latin typeface="Arial"/>
              </a:rPr>
              <a:t>Mucosa nasal (biópsia)</a:t>
            </a:r>
          </a:p>
        </p:txBody>
      </p:sp>
      <p:sp>
        <p:nvSpPr>
          <p:cNvPr id="23" name="TextBox 22"/>
          <p:cNvSpPr txBox="1"/>
          <p:nvPr/>
        </p:nvSpPr>
        <p:spPr>
          <a:xfrm>
            <a:off x="2423160" y="5486400"/>
            <a:ext cx="6583680" cy="365760"/>
          </a:xfrm>
          <a:prstGeom prst="rect">
            <a:avLst/>
          </a:prstGeom>
          <a:noFill/>
        </p:spPr>
        <p:txBody>
          <a:bodyPr wrap="square" lIns="0" rIns="0" tIns="0" bIns="0" anchor="t">
            <a:noAutofit/>
          </a:bodyPr>
          <a:lstStyle/>
          <a:p>
            <a:pPr algn="l">
              <a:lnSpc>
                <a:spcPct val="100000"/>
              </a:lnSpc>
              <a:spcAft>
                <a:spcPts val="0"/>
              </a:spcAft>
              <a:buNone/>
            </a:pPr>
            <a:r>
              <a:rPr sz="1400" b="0" i="0">
                <a:solidFill>
                  <a:srgbClr val="5A6270"/>
                </a:solidFill>
                <a:latin typeface="Arial"/>
              </a:rPr>
              <a:t>Navarro et al., 2016 · México · coorte de 4 anos · 23 vs 20 residentes</a:t>
            </a:r>
          </a:p>
        </p:txBody>
      </p:sp>
      <p:sp>
        <p:nvSpPr>
          <p:cNvPr id="24" name="TextBox 23"/>
          <p:cNvSpPr txBox="1"/>
          <p:nvPr/>
        </p:nvSpPr>
        <p:spPr>
          <a:xfrm>
            <a:off x="1463040" y="6035040"/>
            <a:ext cx="7543800" cy="1188719"/>
          </a:xfrm>
          <a:prstGeom prst="rect">
            <a:avLst/>
          </a:prstGeom>
          <a:noFill/>
        </p:spPr>
        <p:txBody>
          <a:bodyPr wrap="square" lIns="0" rIns="0" tIns="0" bIns="0" anchor="t">
            <a:noAutofit/>
          </a:bodyPr>
          <a:lstStyle/>
          <a:p>
            <a:pPr algn="l" marL="274320" indent="-274320">
              <a:lnSpc>
                <a:spcPct val="100000"/>
              </a:lnSpc>
              <a:spcAft>
                <a:spcPts val="500"/>
              </a:spcAft>
              <a:buClr>
                <a:srgbClr val="002060"/>
              </a:buClr>
              <a:buFont typeface="Arial"/>
              <a:buChar char="•"/>
            </a:pPr>
            <a:r>
              <a:rPr sz="1700" b="0" i="0">
                <a:solidFill>
                  <a:srgbClr val="1F2433"/>
                </a:solidFill>
                <a:latin typeface="Arial"/>
              </a:rPr>
              <a:t>Metaplasia ou hiperplasia: </a:t>
            </a:r>
            <a:r>
              <a:rPr sz="1700" b="1" i="0">
                <a:solidFill>
                  <a:srgbClr val="1F2433"/>
                </a:solidFill>
                <a:latin typeface="Arial"/>
              </a:rPr>
              <a:t>70% (16/23) vs 5% (1/20)</a:t>
            </a:r>
          </a:p>
          <a:p>
            <a:pPr algn="l" marL="274320" indent="-274320">
              <a:lnSpc>
                <a:spcPct val="100000"/>
              </a:lnSpc>
              <a:spcAft>
                <a:spcPts val="500"/>
              </a:spcAft>
              <a:buClr>
                <a:srgbClr val="002060"/>
              </a:buClr>
              <a:buFont typeface="Arial"/>
              <a:buChar char="•"/>
            </a:pPr>
            <a:r>
              <a:rPr sz="1700" b="1" i="0">
                <a:solidFill>
                  <a:srgbClr val="8B0000"/>
                </a:solidFill>
                <a:latin typeface="Arial"/>
              </a:rPr>
              <a:t>RR 13,9 (IC95% 2,0–95,8)</a:t>
            </a:r>
            <a:r>
              <a:rPr sz="1700" b="0" i="0">
                <a:solidFill>
                  <a:srgbClr val="1F2433"/>
                </a:solidFill>
                <a:latin typeface="Arial"/>
              </a:rPr>
              <a:t>: 1 evento no grupo não exposto → IC amplo</a:t>
            </a:r>
          </a:p>
          <a:p>
            <a:pPr algn="l" marL="274320" indent="-274320">
              <a:lnSpc>
                <a:spcPct val="100000"/>
              </a:lnSpc>
              <a:spcAft>
                <a:spcPts val="500"/>
              </a:spcAft>
              <a:buClr>
                <a:srgbClr val="002060"/>
              </a:buClr>
              <a:buFont typeface="Arial"/>
              <a:buChar char="•"/>
            </a:pPr>
            <a:r>
              <a:rPr sz="1700" b="1" i="0">
                <a:solidFill>
                  <a:srgbClr val="8B0000"/>
                </a:solidFill>
                <a:latin typeface="Arial"/>
              </a:rPr>
              <a:t>Cautela: </a:t>
            </a:r>
            <a:r>
              <a:rPr sz="1700" b="0" i="0">
                <a:solidFill>
                  <a:srgbClr val="1F2433"/>
                </a:solidFill>
                <a:latin typeface="Arial"/>
              </a:rPr>
              <a:t>resposta inespecífica a irritantes; exposição por proxy.</a:t>
            </a:r>
          </a:p>
        </p:txBody>
      </p:sp>
      <p:sp>
        <p:nvSpPr>
          <p:cNvPr id="25" name="Rounded Rectangle 24"/>
          <p:cNvSpPr/>
          <p:nvPr/>
        </p:nvSpPr>
        <p:spPr>
          <a:xfrm>
            <a:off x="9601200" y="4800600"/>
            <a:ext cx="8183879" cy="2743200"/>
          </a:xfrm>
          <a:prstGeom prst="roundRect">
            <a:avLst>
              <a:gd name="adj" fmla="val 6000"/>
            </a:avLst>
          </a:prstGeom>
          <a:solidFill>
            <a:srgbClr val="F2F4F8"/>
          </a:solidFill>
          <a:ln>
            <a:noFill/>
          </a:ln>
          <a:effectLst/>
        </p:spPr>
        <p:txBody>
          <a:bodyPr rtlCol="0" anchor="ctr"/>
          <a:lstStyle/>
          <a:p/>
        </p:txBody>
      </p:sp>
      <p:sp>
        <p:nvSpPr>
          <p:cNvPr id="26" name="Oval 25"/>
          <p:cNvSpPr/>
          <p:nvPr/>
        </p:nvSpPr>
        <p:spPr>
          <a:xfrm>
            <a:off x="9921240" y="5120640"/>
            <a:ext cx="731520" cy="731520"/>
          </a:xfrm>
          <a:prstGeom prst="ellipse">
            <a:avLst/>
          </a:prstGeom>
          <a:solidFill>
            <a:srgbClr val="002060"/>
          </a:solidFill>
          <a:ln>
            <a:noFill/>
          </a:ln>
          <a:effectLst/>
        </p:spPr>
        <p:txBody>
          <a:bodyPr rtlCol="0" anchor="ctr" lIns="0" rIns="0" tIns="0" bIns="0"/>
          <a:lstStyle/>
          <a:p/>
        </p:txBody>
      </p:sp>
      <p:pic>
        <p:nvPicPr>
          <p:cNvPr id="27" name="icone virus" descr="virus_white.png"/>
          <p:cNvPicPr>
            <a:picLocks noChangeAspect="1"/>
          </p:cNvPicPr>
          <p:nvPr/>
        </p:nvPicPr>
        <p:blipFill>
          <a:blip r:embed="rId7"/>
          <a:stretch>
            <a:fillRect/>
          </a:stretch>
        </p:blipFill>
        <p:spPr>
          <a:xfrm>
            <a:off x="10104120" y="5303520"/>
            <a:ext cx="365760" cy="365760"/>
          </a:xfrm>
          <a:prstGeom prst="rect">
            <a:avLst/>
          </a:prstGeom>
        </p:spPr>
      </p:pic>
      <p:sp>
        <p:nvSpPr>
          <p:cNvPr id="28" name="TextBox 27"/>
          <p:cNvSpPr txBox="1"/>
          <p:nvPr/>
        </p:nvSpPr>
        <p:spPr>
          <a:xfrm>
            <a:off x="10881360" y="5047488"/>
            <a:ext cx="6583680" cy="411480"/>
          </a:xfrm>
          <a:prstGeom prst="rect">
            <a:avLst/>
          </a:prstGeom>
          <a:noFill/>
        </p:spPr>
        <p:txBody>
          <a:bodyPr wrap="square" lIns="0" rIns="0" tIns="0" bIns="0" anchor="t">
            <a:noAutofit/>
          </a:bodyPr>
          <a:lstStyle/>
          <a:p>
            <a:pPr algn="l">
              <a:lnSpc>
                <a:spcPct val="100000"/>
              </a:lnSpc>
              <a:spcAft>
                <a:spcPts val="0"/>
              </a:spcAft>
              <a:buNone/>
            </a:pPr>
            <a:r>
              <a:rPr sz="1800" b="1" i="0">
                <a:solidFill>
                  <a:srgbClr val="002060"/>
                </a:solidFill>
                <a:latin typeface="Arial"/>
              </a:rPr>
              <a:t>HPV-DNA na mucosa nasal</a:t>
            </a:r>
          </a:p>
        </p:txBody>
      </p:sp>
      <p:sp>
        <p:nvSpPr>
          <p:cNvPr id="29" name="TextBox 28"/>
          <p:cNvSpPr txBox="1"/>
          <p:nvPr/>
        </p:nvSpPr>
        <p:spPr>
          <a:xfrm>
            <a:off x="10881360" y="5486400"/>
            <a:ext cx="6583680" cy="365760"/>
          </a:xfrm>
          <a:prstGeom prst="rect">
            <a:avLst/>
          </a:prstGeom>
          <a:noFill/>
        </p:spPr>
        <p:txBody>
          <a:bodyPr wrap="square" lIns="0" rIns="0" tIns="0" bIns="0" anchor="t">
            <a:noAutofit/>
          </a:bodyPr>
          <a:lstStyle/>
          <a:p>
            <a:pPr algn="l">
              <a:lnSpc>
                <a:spcPct val="100000"/>
              </a:lnSpc>
              <a:spcAft>
                <a:spcPts val="0"/>
              </a:spcAft>
              <a:buNone/>
            </a:pPr>
            <a:r>
              <a:rPr sz="1400" b="0" i="0">
                <a:solidFill>
                  <a:srgbClr val="5A6270"/>
                </a:solidFill>
                <a:latin typeface="Arial"/>
              </a:rPr>
              <a:t>Hu et al., 2021 · China · 469 com eletrocirurgia vs 231 sem</a:t>
            </a:r>
          </a:p>
        </p:txBody>
      </p:sp>
      <p:sp>
        <p:nvSpPr>
          <p:cNvPr id="30" name="TextBox 29"/>
          <p:cNvSpPr txBox="1"/>
          <p:nvPr/>
        </p:nvSpPr>
        <p:spPr>
          <a:xfrm>
            <a:off x="9921240" y="6035040"/>
            <a:ext cx="7543800" cy="1188719"/>
          </a:xfrm>
          <a:prstGeom prst="rect">
            <a:avLst/>
          </a:prstGeom>
          <a:noFill/>
        </p:spPr>
        <p:txBody>
          <a:bodyPr wrap="square" lIns="0" rIns="0" tIns="0" bIns="0" anchor="t">
            <a:noAutofit/>
          </a:bodyPr>
          <a:lstStyle/>
          <a:p>
            <a:pPr algn="l" marL="274320" indent="-274320">
              <a:lnSpc>
                <a:spcPct val="100000"/>
              </a:lnSpc>
              <a:spcAft>
                <a:spcPts val="500"/>
              </a:spcAft>
              <a:buClr>
                <a:srgbClr val="002060"/>
              </a:buClr>
              <a:buFont typeface="Arial"/>
              <a:buChar char="•"/>
            </a:pPr>
            <a:r>
              <a:rPr sz="1700" b="1" i="0">
                <a:solidFill>
                  <a:srgbClr val="1F2433"/>
                </a:solidFill>
                <a:latin typeface="Arial"/>
              </a:rPr>
              <a:t>8,96% vs 1,73%</a:t>
            </a:r>
            <a:r>
              <a:rPr sz="1700" b="0" i="0">
                <a:solidFill>
                  <a:srgbClr val="1F2433"/>
                </a:solidFill>
                <a:latin typeface="Arial"/>
              </a:rPr>
              <a:t> (42/469 com eletrocirurgia vs 4/231 sem)</a:t>
            </a:r>
          </a:p>
          <a:p>
            <a:pPr algn="l" marL="274320" indent="-274320">
              <a:lnSpc>
                <a:spcPct val="100000"/>
              </a:lnSpc>
              <a:spcAft>
                <a:spcPts val="500"/>
              </a:spcAft>
              <a:buClr>
                <a:srgbClr val="002060"/>
              </a:buClr>
              <a:buFont typeface="Arial"/>
              <a:buChar char="•"/>
            </a:pPr>
            <a:r>
              <a:rPr sz="1700" b="1" i="0">
                <a:solidFill>
                  <a:srgbClr val="8B0000"/>
                </a:solidFill>
                <a:latin typeface="Arial"/>
              </a:rPr>
              <a:t>RR 5,2 (IC95% 1,9–14,2)</a:t>
            </a:r>
            <a:r>
              <a:rPr sz="1700" b="0" i="0">
                <a:solidFill>
                  <a:srgbClr val="1F2433"/>
                </a:solidFill>
                <a:latin typeface="Arial"/>
              </a:rPr>
              <a:t> · maior com mais tempo de eletrocirurgia</a:t>
            </a:r>
          </a:p>
          <a:p>
            <a:pPr algn="l" marL="274320" indent="-274320">
              <a:lnSpc>
                <a:spcPct val="100000"/>
              </a:lnSpc>
              <a:spcAft>
                <a:spcPts val="500"/>
              </a:spcAft>
              <a:buClr>
                <a:srgbClr val="002060"/>
              </a:buClr>
              <a:buFont typeface="Arial"/>
              <a:buChar char="•"/>
            </a:pPr>
            <a:r>
              <a:rPr sz="1700" b="1" i="0">
                <a:solidFill>
                  <a:srgbClr val="8B0000"/>
                </a:solidFill>
                <a:latin typeface="Arial"/>
              </a:rPr>
              <a:t>Cautela: </a:t>
            </a:r>
            <a:r>
              <a:rPr sz="1700" b="0" i="0">
                <a:solidFill>
                  <a:srgbClr val="1F2433"/>
                </a:solidFill>
                <a:latin typeface="Arial"/>
              </a:rPr>
              <a:t>DNA ≠ infecção ou doença; achado da N95 (0/196) sem ajuste.</a:t>
            </a:r>
          </a:p>
        </p:txBody>
      </p:sp>
      <p:sp>
        <p:nvSpPr>
          <p:cNvPr id="31" name="Rounded Rectangle 30"/>
          <p:cNvSpPr/>
          <p:nvPr/>
        </p:nvSpPr>
        <p:spPr>
          <a:xfrm>
            <a:off x="1143000" y="7818120"/>
            <a:ext cx="16642080" cy="1920239"/>
          </a:xfrm>
          <a:prstGeom prst="roundRect">
            <a:avLst>
              <a:gd name="adj" fmla="val 6000"/>
            </a:avLst>
          </a:prstGeom>
          <a:solidFill>
            <a:srgbClr val="002060"/>
          </a:solidFill>
          <a:ln>
            <a:noFill/>
          </a:ln>
          <a:effectLst/>
        </p:spPr>
        <p:txBody>
          <a:bodyPr rtlCol="0" anchor="ctr"/>
          <a:lstStyle/>
          <a:p/>
        </p:txBody>
      </p:sp>
      <p:sp>
        <p:nvSpPr>
          <p:cNvPr id="32" name="TextBox 31"/>
          <p:cNvSpPr txBox="1"/>
          <p:nvPr/>
        </p:nvSpPr>
        <p:spPr>
          <a:xfrm>
            <a:off x="1463040" y="8138160"/>
            <a:ext cx="5059679" cy="411480"/>
          </a:xfrm>
          <a:prstGeom prst="rect">
            <a:avLst/>
          </a:prstGeom>
          <a:noFill/>
        </p:spPr>
        <p:txBody>
          <a:bodyPr wrap="square" lIns="0" rIns="0" tIns="0" bIns="0" anchor="t">
            <a:noAutofit/>
          </a:bodyPr>
          <a:lstStyle/>
          <a:p>
            <a:pPr algn="l">
              <a:lnSpc>
                <a:spcPct val="100000"/>
              </a:lnSpc>
              <a:spcAft>
                <a:spcPts val="0"/>
              </a:spcAft>
              <a:buNone/>
            </a:pPr>
            <a:r>
              <a:rPr sz="2000" b="1" i="0">
                <a:solidFill>
                  <a:srgbClr val="C8A951"/>
                </a:solidFill>
                <a:latin typeface="Arial"/>
              </a:rPr>
              <a:t>●○○○  Certeza MUITO BAIXA</a:t>
            </a:r>
          </a:p>
        </p:txBody>
      </p:sp>
      <p:sp>
        <p:nvSpPr>
          <p:cNvPr id="33" name="TextBox 32"/>
          <p:cNvSpPr txBox="1"/>
          <p:nvPr/>
        </p:nvSpPr>
        <p:spPr>
          <a:xfrm>
            <a:off x="1463040" y="8641080"/>
            <a:ext cx="5059679" cy="777239"/>
          </a:xfrm>
          <a:prstGeom prst="rect">
            <a:avLst/>
          </a:prstGeom>
          <a:noFill/>
        </p:spPr>
        <p:txBody>
          <a:bodyPr wrap="square" lIns="0" rIns="0" tIns="0" bIns="0" anchor="t">
            <a:noAutofit/>
          </a:bodyPr>
          <a:lstStyle/>
          <a:p>
            <a:pPr algn="l">
              <a:lnSpc>
                <a:spcPct val="100000"/>
              </a:lnSpc>
              <a:spcAft>
                <a:spcPts val="0"/>
              </a:spcAft>
              <a:buNone/>
            </a:pPr>
            <a:r>
              <a:rPr sz="1600" b="0" i="0">
                <a:solidFill>
                  <a:srgbClr val="FFFFFF"/>
                </a:solidFill>
                <a:latin typeface="Arial"/>
              </a:rPr>
              <a:t>em todos os desfechos (GRADE); comparações não combinadas (desenhos e desfechos heterogêneos).</a:t>
            </a:r>
          </a:p>
        </p:txBody>
      </p:sp>
      <p:sp>
        <p:nvSpPr>
          <p:cNvPr id="34" name="TextBox 33"/>
          <p:cNvSpPr txBox="1"/>
          <p:nvPr/>
        </p:nvSpPr>
        <p:spPr>
          <a:xfrm>
            <a:off x="6934199" y="8138160"/>
            <a:ext cx="5059679" cy="411480"/>
          </a:xfrm>
          <a:prstGeom prst="rect">
            <a:avLst/>
          </a:prstGeom>
          <a:noFill/>
        </p:spPr>
        <p:txBody>
          <a:bodyPr wrap="square" lIns="0" rIns="0" tIns="0" bIns="0" anchor="t">
            <a:noAutofit/>
          </a:bodyPr>
          <a:lstStyle/>
          <a:p>
            <a:pPr algn="l">
              <a:lnSpc>
                <a:spcPct val="100000"/>
              </a:lnSpc>
              <a:spcAft>
                <a:spcPts val="0"/>
              </a:spcAft>
              <a:buNone/>
            </a:pPr>
            <a:r>
              <a:rPr sz="2000" b="1" i="0">
                <a:solidFill>
                  <a:srgbClr val="C8A951"/>
                </a:solidFill>
                <a:latin typeface="Arial"/>
              </a:rPr>
              <a:t>0 estudos elegíveis: câncer ou DPOC</a:t>
            </a:r>
          </a:p>
        </p:txBody>
      </p:sp>
      <p:sp>
        <p:nvSpPr>
          <p:cNvPr id="35" name="TextBox 34"/>
          <p:cNvSpPr txBox="1"/>
          <p:nvPr/>
        </p:nvSpPr>
        <p:spPr>
          <a:xfrm>
            <a:off x="6934199" y="8641080"/>
            <a:ext cx="5059679" cy="777239"/>
          </a:xfrm>
          <a:prstGeom prst="rect">
            <a:avLst/>
          </a:prstGeom>
          <a:noFill/>
        </p:spPr>
        <p:txBody>
          <a:bodyPr wrap="square" lIns="0" rIns="0" tIns="0" bIns="0" anchor="t">
            <a:noAutofit/>
          </a:bodyPr>
          <a:lstStyle/>
          <a:p>
            <a:pPr algn="l">
              <a:lnSpc>
                <a:spcPct val="100000"/>
              </a:lnSpc>
              <a:spcAft>
                <a:spcPts val="0"/>
              </a:spcAft>
              <a:buNone/>
            </a:pPr>
            <a:r>
              <a:rPr sz="1600" b="0" i="0">
                <a:solidFill>
                  <a:srgbClr val="FFFFFF"/>
                </a:solidFill>
                <a:latin typeface="Arial"/>
              </a:rPr>
              <a:t>vazio de evidência:</a:t>
            </a:r>
          </a:p>
          <a:p>
            <a:pPr algn="l">
              <a:lnSpc>
                <a:spcPct val="100000"/>
              </a:lnSpc>
              <a:spcAft>
                <a:spcPts val="0"/>
              </a:spcAft>
              <a:buNone/>
            </a:pPr>
            <a:r>
              <a:rPr sz="1600" b="0" i="0">
                <a:solidFill>
                  <a:srgbClr val="FFFFFF"/>
                </a:solidFill>
                <a:latin typeface="Arial"/>
              </a:rPr>
              <a:t>ausência de estudos ≠ ausência de risco.</a:t>
            </a:r>
          </a:p>
        </p:txBody>
      </p:sp>
      <p:sp>
        <p:nvSpPr>
          <p:cNvPr id="36" name="TextBox 35"/>
          <p:cNvSpPr txBox="1"/>
          <p:nvPr/>
        </p:nvSpPr>
        <p:spPr>
          <a:xfrm>
            <a:off x="12405359" y="8138160"/>
            <a:ext cx="5059679" cy="411480"/>
          </a:xfrm>
          <a:prstGeom prst="rect">
            <a:avLst/>
          </a:prstGeom>
          <a:noFill/>
        </p:spPr>
        <p:txBody>
          <a:bodyPr wrap="square" lIns="0" rIns="0" tIns="0" bIns="0" anchor="t">
            <a:noAutofit/>
          </a:bodyPr>
          <a:lstStyle/>
          <a:p>
            <a:pPr algn="l">
              <a:lnSpc>
                <a:spcPct val="100000"/>
              </a:lnSpc>
              <a:spcAft>
                <a:spcPts val="0"/>
              </a:spcAft>
              <a:buNone/>
            </a:pPr>
            <a:r>
              <a:rPr sz="2000" b="1" i="0">
                <a:solidFill>
                  <a:srgbClr val="C8A951"/>
                </a:solidFill>
                <a:latin typeface="Arial"/>
              </a:rPr>
              <a:t>Direção consistente, mas…</a:t>
            </a:r>
          </a:p>
        </p:txBody>
      </p:sp>
      <p:sp>
        <p:nvSpPr>
          <p:cNvPr id="37" name="TextBox 36"/>
          <p:cNvSpPr txBox="1"/>
          <p:nvPr/>
        </p:nvSpPr>
        <p:spPr>
          <a:xfrm>
            <a:off x="12405359" y="8641080"/>
            <a:ext cx="5059679" cy="777239"/>
          </a:xfrm>
          <a:prstGeom prst="rect">
            <a:avLst/>
          </a:prstGeom>
          <a:noFill/>
        </p:spPr>
        <p:txBody>
          <a:bodyPr wrap="square" lIns="0" rIns="0" tIns="0" bIns="0" anchor="t">
            <a:noAutofit/>
          </a:bodyPr>
          <a:lstStyle/>
          <a:p>
            <a:pPr algn="l">
              <a:lnSpc>
                <a:spcPct val="100000"/>
              </a:lnSpc>
              <a:spcAft>
                <a:spcPts val="0"/>
              </a:spcAft>
              <a:buNone/>
            </a:pPr>
            <a:r>
              <a:rPr sz="1600" b="0" i="0">
                <a:solidFill>
                  <a:srgbClr val="FFFFFF"/>
                </a:solidFill>
                <a:latin typeface="Arial"/>
              </a:rPr>
              <a:t>coexposições (gases anestésicos, radiação), 1 estudo por desfecho e IC amplos: marcadores, não doença crônica atribuível.</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35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35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350"/>
                                        <p:tgtEl>
                                          <p:spTgt spid="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350"/>
                                        <p:tgtEl>
                                          <p:spTgt spid="1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35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350"/>
                                        <p:tgtEl>
                                          <p:spTgt spid="12"/>
                                        </p:tgtEl>
                                      </p:cBhvr>
                                    </p:animEffect>
                                  </p:childTnLst>
                                </p:cTn>
                              </p:par>
                            </p:childTnLst>
                          </p:cTn>
                        </p:par>
                        <p:par>
                          <p:cTn id="23" fill="hold">
                            <p:stCondLst>
                              <p:cond delay="350"/>
                            </p:stCondLst>
                            <p:childTnLst>
                              <p:par>
                                <p:cTn id="24" presetID="10" presetClass="entr" presetSubtype="0" fill="hold" grpId="0" nodeType="after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350"/>
                                        <p:tgtEl>
                                          <p:spTgt spid="13"/>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350"/>
                                        <p:tgtEl>
                                          <p:spTgt spid="14"/>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350"/>
                                        <p:tgtEl>
                                          <p:spTgt spid="15"/>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350"/>
                                        <p:tgtEl>
                                          <p:spTgt spid="16"/>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350"/>
                                        <p:tgtEl>
                                          <p:spTgt spid="17"/>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350"/>
                                        <p:tgtEl>
                                          <p:spTgt spid="18"/>
                                        </p:tgtEl>
                                      </p:cBhvr>
                                    </p:animEffect>
                                  </p:childTnLst>
                                </p:cTn>
                              </p:par>
                            </p:childTnLst>
                          </p:cTn>
                        </p:par>
                        <p:par>
                          <p:cTn id="42" fill="hold">
                            <p:stCondLst>
                              <p:cond delay="700"/>
                            </p:stCondLst>
                            <p:childTnLst>
                              <p:par>
                                <p:cTn id="43" presetID="10" presetClass="entr" presetSubtype="0" fill="hold" grpId="0" nodeType="afterEffect">
                                  <p:stCondLst>
                                    <p:cond delay="0"/>
                                  </p:stCondLst>
                                  <p:childTnLst>
                                    <p:set>
                                      <p:cBhvr>
                                        <p:cTn id="44" dur="1" fill="hold">
                                          <p:stCondLst>
                                            <p:cond delay="0"/>
                                          </p:stCondLst>
                                        </p:cTn>
                                        <p:tgtEl>
                                          <p:spTgt spid="19"/>
                                        </p:tgtEl>
                                        <p:attrNameLst>
                                          <p:attrName>style.visibility</p:attrName>
                                        </p:attrNameLst>
                                      </p:cBhvr>
                                      <p:to>
                                        <p:strVal val="visible"/>
                                      </p:to>
                                    </p:set>
                                    <p:animEffect transition="in" filter="fade">
                                      <p:cBhvr>
                                        <p:cTn id="45" dur="350"/>
                                        <p:tgtEl>
                                          <p:spTgt spid="19"/>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0"/>
                                        </p:tgtEl>
                                        <p:attrNameLst>
                                          <p:attrName>style.visibility</p:attrName>
                                        </p:attrNameLst>
                                      </p:cBhvr>
                                      <p:to>
                                        <p:strVal val="visible"/>
                                      </p:to>
                                    </p:set>
                                    <p:animEffect transition="in" filter="fade">
                                      <p:cBhvr>
                                        <p:cTn id="48" dur="350"/>
                                        <p:tgtEl>
                                          <p:spTgt spid="20"/>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1"/>
                                        </p:tgtEl>
                                        <p:attrNameLst>
                                          <p:attrName>style.visibility</p:attrName>
                                        </p:attrNameLst>
                                      </p:cBhvr>
                                      <p:to>
                                        <p:strVal val="visible"/>
                                      </p:to>
                                    </p:set>
                                    <p:animEffect transition="in" filter="fade">
                                      <p:cBhvr>
                                        <p:cTn id="51" dur="350"/>
                                        <p:tgtEl>
                                          <p:spTgt spid="21"/>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2"/>
                                        </p:tgtEl>
                                        <p:attrNameLst>
                                          <p:attrName>style.visibility</p:attrName>
                                        </p:attrNameLst>
                                      </p:cBhvr>
                                      <p:to>
                                        <p:strVal val="visible"/>
                                      </p:to>
                                    </p:set>
                                    <p:animEffect transition="in" filter="fade">
                                      <p:cBhvr>
                                        <p:cTn id="54" dur="350"/>
                                        <p:tgtEl>
                                          <p:spTgt spid="22"/>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3"/>
                                        </p:tgtEl>
                                        <p:attrNameLst>
                                          <p:attrName>style.visibility</p:attrName>
                                        </p:attrNameLst>
                                      </p:cBhvr>
                                      <p:to>
                                        <p:strVal val="visible"/>
                                      </p:to>
                                    </p:set>
                                    <p:animEffect transition="in" filter="fade">
                                      <p:cBhvr>
                                        <p:cTn id="57" dur="350"/>
                                        <p:tgtEl>
                                          <p:spTgt spid="23"/>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4"/>
                                        </p:tgtEl>
                                        <p:attrNameLst>
                                          <p:attrName>style.visibility</p:attrName>
                                        </p:attrNameLst>
                                      </p:cBhvr>
                                      <p:to>
                                        <p:strVal val="visible"/>
                                      </p:to>
                                    </p:set>
                                    <p:animEffect transition="in" filter="fade">
                                      <p:cBhvr>
                                        <p:cTn id="60" dur="350"/>
                                        <p:tgtEl>
                                          <p:spTgt spid="24"/>
                                        </p:tgtEl>
                                      </p:cBhvr>
                                    </p:animEffect>
                                  </p:childTnLst>
                                </p:cTn>
                              </p:par>
                            </p:childTnLst>
                          </p:cTn>
                        </p:par>
                        <p:par>
                          <p:cTn id="61" fill="hold">
                            <p:stCondLst>
                              <p:cond delay="1050"/>
                            </p:stCondLst>
                            <p:childTnLst>
                              <p:par>
                                <p:cTn id="62" presetID="10" presetClass="entr" presetSubtype="0" fill="hold" grpId="0" nodeType="afterEffect">
                                  <p:stCondLst>
                                    <p:cond delay="0"/>
                                  </p:stCondLst>
                                  <p:childTnLst>
                                    <p:set>
                                      <p:cBhvr>
                                        <p:cTn id="63" dur="1" fill="hold">
                                          <p:stCondLst>
                                            <p:cond delay="0"/>
                                          </p:stCondLst>
                                        </p:cTn>
                                        <p:tgtEl>
                                          <p:spTgt spid="25"/>
                                        </p:tgtEl>
                                        <p:attrNameLst>
                                          <p:attrName>style.visibility</p:attrName>
                                        </p:attrNameLst>
                                      </p:cBhvr>
                                      <p:to>
                                        <p:strVal val="visible"/>
                                      </p:to>
                                    </p:set>
                                    <p:animEffect transition="in" filter="fade">
                                      <p:cBhvr>
                                        <p:cTn id="64" dur="350"/>
                                        <p:tgtEl>
                                          <p:spTgt spid="25"/>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fade">
                                      <p:cBhvr>
                                        <p:cTn id="67" dur="350"/>
                                        <p:tgtEl>
                                          <p:spTgt spid="26"/>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7"/>
                                        </p:tgtEl>
                                        <p:attrNameLst>
                                          <p:attrName>style.visibility</p:attrName>
                                        </p:attrNameLst>
                                      </p:cBhvr>
                                      <p:to>
                                        <p:strVal val="visible"/>
                                      </p:to>
                                    </p:set>
                                    <p:animEffect transition="in" filter="fade">
                                      <p:cBhvr>
                                        <p:cTn id="70" dur="350"/>
                                        <p:tgtEl>
                                          <p:spTgt spid="27"/>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8"/>
                                        </p:tgtEl>
                                        <p:attrNameLst>
                                          <p:attrName>style.visibility</p:attrName>
                                        </p:attrNameLst>
                                      </p:cBhvr>
                                      <p:to>
                                        <p:strVal val="visible"/>
                                      </p:to>
                                    </p:set>
                                    <p:animEffect transition="in" filter="fade">
                                      <p:cBhvr>
                                        <p:cTn id="73" dur="350"/>
                                        <p:tgtEl>
                                          <p:spTgt spid="28"/>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9"/>
                                        </p:tgtEl>
                                        <p:attrNameLst>
                                          <p:attrName>style.visibility</p:attrName>
                                        </p:attrNameLst>
                                      </p:cBhvr>
                                      <p:to>
                                        <p:strVal val="visible"/>
                                      </p:to>
                                    </p:set>
                                    <p:animEffect transition="in" filter="fade">
                                      <p:cBhvr>
                                        <p:cTn id="76" dur="350"/>
                                        <p:tgtEl>
                                          <p:spTgt spid="29"/>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30"/>
                                        </p:tgtEl>
                                        <p:attrNameLst>
                                          <p:attrName>style.visibility</p:attrName>
                                        </p:attrNameLst>
                                      </p:cBhvr>
                                      <p:to>
                                        <p:strVal val="visible"/>
                                      </p:to>
                                    </p:set>
                                    <p:animEffect transition="in" filter="fade">
                                      <p:cBhvr>
                                        <p:cTn id="79" dur="350"/>
                                        <p:tgtEl>
                                          <p:spTgt spid="30"/>
                                        </p:tgtEl>
                                      </p:cBhvr>
                                    </p:animEffect>
                                  </p:childTnLst>
                                </p:cTn>
                              </p:par>
                            </p:childTnLst>
                          </p:cTn>
                        </p:par>
                        <p:par>
                          <p:cTn id="80" fill="hold">
                            <p:stCondLst>
                              <p:cond delay="1400"/>
                            </p:stCondLst>
                            <p:childTnLst>
                              <p:par>
                                <p:cTn id="81" presetID="10" presetClass="entr" presetSubtype="0" fill="hold" grpId="0" nodeType="afterEffect">
                                  <p:stCondLst>
                                    <p:cond delay="0"/>
                                  </p:stCondLst>
                                  <p:childTnLst>
                                    <p:set>
                                      <p:cBhvr>
                                        <p:cTn id="82" dur="1" fill="hold">
                                          <p:stCondLst>
                                            <p:cond delay="0"/>
                                          </p:stCondLst>
                                        </p:cTn>
                                        <p:tgtEl>
                                          <p:spTgt spid="31"/>
                                        </p:tgtEl>
                                        <p:attrNameLst>
                                          <p:attrName>style.visibility</p:attrName>
                                        </p:attrNameLst>
                                      </p:cBhvr>
                                      <p:to>
                                        <p:strVal val="visible"/>
                                      </p:to>
                                    </p:set>
                                    <p:animEffect transition="in" filter="fade">
                                      <p:cBhvr>
                                        <p:cTn id="83" dur="350"/>
                                        <p:tgtEl>
                                          <p:spTgt spid="31"/>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32"/>
                                        </p:tgtEl>
                                        <p:attrNameLst>
                                          <p:attrName>style.visibility</p:attrName>
                                        </p:attrNameLst>
                                      </p:cBhvr>
                                      <p:to>
                                        <p:strVal val="visible"/>
                                      </p:to>
                                    </p:set>
                                    <p:animEffect transition="in" filter="fade">
                                      <p:cBhvr>
                                        <p:cTn id="86" dur="350"/>
                                        <p:tgtEl>
                                          <p:spTgt spid="32"/>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33"/>
                                        </p:tgtEl>
                                        <p:attrNameLst>
                                          <p:attrName>style.visibility</p:attrName>
                                        </p:attrNameLst>
                                      </p:cBhvr>
                                      <p:to>
                                        <p:strVal val="visible"/>
                                      </p:to>
                                    </p:set>
                                    <p:animEffect transition="in" filter="fade">
                                      <p:cBhvr>
                                        <p:cTn id="89" dur="350"/>
                                        <p:tgtEl>
                                          <p:spTgt spid="33"/>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34"/>
                                        </p:tgtEl>
                                        <p:attrNameLst>
                                          <p:attrName>style.visibility</p:attrName>
                                        </p:attrNameLst>
                                      </p:cBhvr>
                                      <p:to>
                                        <p:strVal val="visible"/>
                                      </p:to>
                                    </p:set>
                                    <p:animEffect transition="in" filter="fade">
                                      <p:cBhvr>
                                        <p:cTn id="92" dur="350"/>
                                        <p:tgtEl>
                                          <p:spTgt spid="34"/>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35"/>
                                        </p:tgtEl>
                                        <p:attrNameLst>
                                          <p:attrName>style.visibility</p:attrName>
                                        </p:attrNameLst>
                                      </p:cBhvr>
                                      <p:to>
                                        <p:strVal val="visible"/>
                                      </p:to>
                                    </p:set>
                                    <p:animEffect transition="in" filter="fade">
                                      <p:cBhvr>
                                        <p:cTn id="95" dur="350"/>
                                        <p:tgtEl>
                                          <p:spTgt spid="35"/>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36"/>
                                        </p:tgtEl>
                                        <p:attrNameLst>
                                          <p:attrName>style.visibility</p:attrName>
                                        </p:attrNameLst>
                                      </p:cBhvr>
                                      <p:to>
                                        <p:strVal val="visible"/>
                                      </p:to>
                                    </p:set>
                                    <p:animEffect transition="in" filter="fade">
                                      <p:cBhvr>
                                        <p:cTn id="98" dur="350"/>
                                        <p:tgtEl>
                                          <p:spTgt spid="36"/>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37"/>
                                        </p:tgtEl>
                                        <p:attrNameLst>
                                          <p:attrName>style.visibility</p:attrName>
                                        </p:attrNameLst>
                                      </p:cBhvr>
                                      <p:to>
                                        <p:strVal val="visible"/>
                                      </p:to>
                                    </p:set>
                                    <p:animEffect transition="in" filter="fade">
                                      <p:cBhvr>
                                        <p:cTn id="101" dur="35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animBg="1"/>
      <p:bldP spid="11" grpId="0" animBg="1"/>
      <p:bldP spid="12" grpId="0" animBg="1"/>
      <p:bldP spid="13" grpId="0" animBg="1"/>
      <p:bldP spid="14" grpId="0" animBg="1"/>
      <p:bldP spid="16" grpId="0" animBg="1"/>
      <p:bldP spid="17" grpId="0" animBg="1"/>
      <p:bldP spid="18" grpId="0" animBg="1"/>
      <p:bldP spid="19" grpId="0" animBg="1"/>
      <p:bldP spid="20" grpId="0" animBg="1"/>
      <p:bldP spid="22" grpId="0" animBg="1"/>
      <p:bldP spid="23" grpId="0" animBg="1"/>
      <p:bldP spid="24" grpId="0" animBg="1"/>
      <p:bldP spid="25" grpId="0" animBg="1"/>
      <p:bldP spid="26"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lano de fundo do modelo" descr="tpl_bg.png"/>
          <p:cNvPicPr>
            <a:picLocks noChangeAspect="1"/>
          </p:cNvPicPr>
          <p:nvPr/>
        </p:nvPicPr>
        <p:blipFill>
          <a:blip r:embed="rId2"/>
          <a:stretch>
            <a:fillRect/>
          </a:stretch>
        </p:blipFill>
        <p:spPr>
          <a:xfrm>
            <a:off x="20" y="1923"/>
            <a:ext cx="18287980" cy="10285077"/>
          </a:xfrm>
          <a:prstGeom prst="rect">
            <a:avLst/>
          </a:prstGeom>
        </p:spPr>
      </p:pic>
      <p:sp>
        <p:nvSpPr>
          <p:cNvPr id="3" name="Retângulo branco (modelo)"/>
          <p:cNvSpPr/>
          <p:nvPr/>
        </p:nvSpPr>
        <p:spPr>
          <a:xfrm>
            <a:off x="15888345" y="279974"/>
            <a:ext cx="2362200" cy="863025"/>
          </a:xfrm>
          <a:prstGeom prst="rect">
            <a:avLst/>
          </a:prstGeom>
          <a:solidFill>
            <a:srgbClr val="FFFFFF"/>
          </a:solidFill>
          <a:ln>
            <a:noFill/>
          </a:ln>
        </p:spPr>
        <p:txBody>
          <a:bodyPr rtlCol="0" anchor="ctr"/>
          <a:lstStyle/>
          <a:p>
            <a:pPr algn="ctr"/>
          </a:p>
        </p:txBody>
      </p:sp>
      <p:pic>
        <p:nvPicPr>
          <p:cNvPr id="4" name="Logo SEMICA" descr="image.png"/>
          <p:cNvPicPr>
            <a:picLocks noChangeAspect="1"/>
          </p:cNvPicPr>
          <p:nvPr/>
        </p:nvPicPr>
        <p:blipFill>
          <a:blip r:embed="rId3"/>
          <a:stretch>
            <a:fillRect/>
          </a:stretch>
        </p:blipFill>
        <p:spPr>
          <a:xfrm>
            <a:off x="15544800" y="279974"/>
            <a:ext cx="2512314" cy="1234862"/>
          </a:xfrm>
          <a:prstGeom prst="rect">
            <a:avLst/>
          </a:prstGeom>
        </p:spPr>
      </p:pic>
      <p:sp>
        <p:nvSpPr>
          <p:cNvPr id="5" name="Título da seção"/>
          <p:cNvSpPr txBox="1"/>
          <p:nvPr/>
        </p:nvSpPr>
        <p:spPr>
          <a:xfrm>
            <a:off x="1143000" y="558224"/>
            <a:ext cx="10058400" cy="584775"/>
          </a:xfrm>
          <a:prstGeom prst="rect">
            <a:avLst/>
          </a:prstGeom>
          <a:noFill/>
        </p:spPr>
        <p:txBody>
          <a:bodyPr wrap="square">
            <a:noAutofit/>
          </a:bodyPr>
          <a:lstStyle/>
          <a:p>
            <a:pPr algn="l">
              <a:lnSpc>
                <a:spcPct val="100000"/>
              </a:lnSpc>
              <a:spcAft>
                <a:spcPts val="0"/>
              </a:spcAft>
              <a:buNone/>
            </a:pPr>
            <a:r>
              <a:rPr sz="3200" b="0" i="0">
                <a:solidFill>
                  <a:srgbClr val="000000"/>
                </a:solidFill>
                <a:latin typeface="Arial"/>
              </a:rPr>
              <a:t>DISCUSSÃO</a:t>
            </a:r>
          </a:p>
        </p:txBody>
      </p:sp>
      <p:sp>
        <p:nvSpPr>
          <p:cNvPr id="6" name="Subtítulo"/>
          <p:cNvSpPr txBox="1"/>
          <p:nvPr/>
        </p:nvSpPr>
        <p:spPr>
          <a:xfrm>
            <a:off x="1143000" y="1097280"/>
            <a:ext cx="14173200" cy="502920"/>
          </a:xfrm>
          <a:prstGeom prst="rect">
            <a:avLst/>
          </a:prstGeom>
          <a:noFill/>
        </p:spPr>
        <p:txBody>
          <a:bodyPr wrap="square" lIns="0" rIns="0" tIns="0" bIns="0" anchor="t">
            <a:noAutofit/>
          </a:bodyPr>
          <a:lstStyle/>
          <a:p>
            <a:pPr algn="l">
              <a:lnSpc>
                <a:spcPct val="100000"/>
              </a:lnSpc>
              <a:spcAft>
                <a:spcPts val="0"/>
              </a:spcAft>
              <a:buNone/>
            </a:pPr>
            <a:r>
              <a:rPr sz="2400" b="1" i="0">
                <a:solidFill>
                  <a:srgbClr val="002060"/>
                </a:solidFill>
                <a:latin typeface="Arial"/>
              </a:rPr>
              <a:t>O que os achados significam e como interpretá-los com cautela</a:t>
            </a:r>
          </a:p>
        </p:txBody>
      </p:sp>
      <p:sp>
        <p:nvSpPr>
          <p:cNvPr id="7" name="Rounded Rectangle 6"/>
          <p:cNvSpPr/>
          <p:nvPr/>
        </p:nvSpPr>
        <p:spPr>
          <a:xfrm>
            <a:off x="1143000" y="1783080"/>
            <a:ext cx="5364480" cy="5760720"/>
          </a:xfrm>
          <a:prstGeom prst="roundRect">
            <a:avLst>
              <a:gd name="adj" fmla="val 6000"/>
            </a:avLst>
          </a:prstGeom>
          <a:solidFill>
            <a:srgbClr val="F2F4F8"/>
          </a:solidFill>
          <a:ln>
            <a:noFill/>
          </a:ln>
          <a:effectLst/>
        </p:spPr>
        <p:txBody>
          <a:bodyPr rtlCol="0" anchor="ctr"/>
          <a:lstStyle/>
          <a:p/>
        </p:txBody>
      </p:sp>
      <p:sp>
        <p:nvSpPr>
          <p:cNvPr id="8" name="Oval 7"/>
          <p:cNvSpPr/>
          <p:nvPr/>
        </p:nvSpPr>
        <p:spPr>
          <a:xfrm>
            <a:off x="1463040" y="2103120"/>
            <a:ext cx="731520" cy="731520"/>
          </a:xfrm>
          <a:prstGeom prst="ellipse">
            <a:avLst/>
          </a:prstGeom>
          <a:solidFill>
            <a:srgbClr val="002060"/>
          </a:solidFill>
          <a:ln>
            <a:noFill/>
          </a:ln>
          <a:effectLst/>
        </p:spPr>
        <p:txBody>
          <a:bodyPr rtlCol="0" anchor="ctr" lIns="0" rIns="0" tIns="0" bIns="0"/>
          <a:lstStyle/>
          <a:p/>
        </p:txBody>
      </p:sp>
      <p:pic>
        <p:nvPicPr>
          <p:cNvPr id="9" name="icone chart" descr="chart_white.png"/>
          <p:cNvPicPr>
            <a:picLocks noChangeAspect="1"/>
          </p:cNvPicPr>
          <p:nvPr/>
        </p:nvPicPr>
        <p:blipFill>
          <a:blip r:embed="rId4"/>
          <a:stretch>
            <a:fillRect/>
          </a:stretch>
        </p:blipFill>
        <p:spPr>
          <a:xfrm>
            <a:off x="1645920" y="2285999"/>
            <a:ext cx="365760" cy="365760"/>
          </a:xfrm>
          <a:prstGeom prst="rect">
            <a:avLst/>
          </a:prstGeom>
        </p:spPr>
      </p:pic>
      <p:sp>
        <p:nvSpPr>
          <p:cNvPr id="10" name="TextBox 9"/>
          <p:cNvSpPr txBox="1"/>
          <p:nvPr/>
        </p:nvSpPr>
        <p:spPr>
          <a:xfrm>
            <a:off x="2423160" y="2103120"/>
            <a:ext cx="3764279" cy="731520"/>
          </a:xfrm>
          <a:prstGeom prst="rect">
            <a:avLst/>
          </a:prstGeom>
          <a:noFill/>
        </p:spPr>
        <p:txBody>
          <a:bodyPr wrap="square" lIns="0" rIns="0" tIns="0" bIns="0" anchor="ctr">
            <a:noAutofit/>
          </a:bodyPr>
          <a:lstStyle/>
          <a:p>
            <a:pPr algn="l">
              <a:lnSpc>
                <a:spcPct val="100000"/>
              </a:lnSpc>
              <a:spcAft>
                <a:spcPts val="0"/>
              </a:spcAft>
              <a:buNone/>
            </a:pPr>
            <a:r>
              <a:rPr sz="1900" b="1" i="0">
                <a:solidFill>
                  <a:srgbClr val="002060"/>
                </a:solidFill>
                <a:latin typeface="Arial"/>
              </a:rPr>
              <a:t>Carga de sintomas</a:t>
            </a:r>
          </a:p>
        </p:txBody>
      </p:sp>
      <p:sp>
        <p:nvSpPr>
          <p:cNvPr id="11" name="TextBox 10"/>
          <p:cNvSpPr txBox="1"/>
          <p:nvPr/>
        </p:nvSpPr>
        <p:spPr>
          <a:xfrm>
            <a:off x="1463040" y="3017520"/>
            <a:ext cx="4724399" cy="4206240"/>
          </a:xfrm>
          <a:prstGeom prst="rect">
            <a:avLst/>
          </a:prstGeom>
          <a:noFill/>
        </p:spPr>
        <p:txBody>
          <a:bodyPr wrap="square" lIns="0" rIns="0" tIns="0" bIns="0" anchor="t">
            <a:noAutofit/>
          </a:bodyPr>
          <a:lstStyle/>
          <a:p>
            <a:pPr algn="l" marL="274320" indent="-274320">
              <a:lnSpc>
                <a:spcPct val="100000"/>
              </a:lnSpc>
              <a:spcAft>
                <a:spcPts val="1000"/>
              </a:spcAft>
              <a:buFont typeface="Arial"/>
              <a:buChar char="•"/>
            </a:pPr>
            <a:r>
              <a:rPr sz="1700" b="1" i="0">
                <a:solidFill>
                  <a:srgbClr val="1F2433"/>
                </a:solidFill>
                <a:latin typeface="Arial"/>
              </a:rPr>
              <a:t>Sintomas frequentes: </a:t>
            </a:r>
            <a:r>
              <a:rPr sz="1700" b="0" i="0">
                <a:solidFill>
                  <a:srgbClr val="1F2433"/>
                </a:solidFill>
                <a:latin typeface="Arial"/>
              </a:rPr>
              <a:t>ocular 37,6%, respiratório 41,7%, qualquer sintoma entre 55,6% e 73,2%.</a:t>
            </a:r>
          </a:p>
          <a:p>
            <a:pPr algn="l" marL="274320" indent="-274320">
              <a:lnSpc>
                <a:spcPct val="100000"/>
              </a:lnSpc>
              <a:spcAft>
                <a:spcPts val="1000"/>
              </a:spcAft>
              <a:buFont typeface="Arial"/>
              <a:buChar char="•"/>
            </a:pPr>
            <a:r>
              <a:rPr sz="1700" b="1" i="0">
                <a:solidFill>
                  <a:srgbClr val="1F2433"/>
                </a:solidFill>
                <a:latin typeface="Arial"/>
              </a:rPr>
              <a:t>Coerente com a literatura prévia</a:t>
            </a:r>
            <a:r>
              <a:rPr sz="1700" b="0" i="0">
                <a:solidFill>
                  <a:srgbClr val="1F2433"/>
                </a:solidFill>
                <a:latin typeface="Arial"/>
              </a:rPr>
              <a:t>, sem síntese quantitativa (Mowbray et al., 2013; Dixon; Dasgupta; Vasdev, 2023).</a:t>
            </a:r>
          </a:p>
          <a:p>
            <a:pPr algn="l" marL="274320" indent="-274320">
              <a:lnSpc>
                <a:spcPct val="100000"/>
              </a:lnSpc>
              <a:spcAft>
                <a:spcPts val="1000"/>
              </a:spcAft>
              <a:buFont typeface="Arial"/>
              <a:buChar char="•"/>
            </a:pPr>
            <a:r>
              <a:rPr sz="1700" b="1" i="0">
                <a:solidFill>
                  <a:srgbClr val="1F2433"/>
                </a:solidFill>
                <a:latin typeface="Arial"/>
              </a:rPr>
              <a:t>Contribuição: </a:t>
            </a:r>
            <a:r>
              <a:rPr sz="1700" b="0" i="0">
                <a:solidFill>
                  <a:srgbClr val="1F2433"/>
                </a:solidFill>
                <a:latin typeface="Arial"/>
              </a:rPr>
              <a:t>estimativa combinada com intervalo de predição, subgrupo por país e GRADE, para uma literatura antes descritiva.</a:t>
            </a:r>
          </a:p>
        </p:txBody>
      </p:sp>
      <p:sp>
        <p:nvSpPr>
          <p:cNvPr id="12" name="Faixa zebrada chave"/>
          <p:cNvSpPr/>
          <p:nvPr/>
        </p:nvSpPr>
        <p:spPr>
          <a:xfrm>
            <a:off x="1463040" y="6172200"/>
            <a:ext cx="4724399" cy="1051560"/>
          </a:xfrm>
          <a:prstGeom prst="roundRect">
            <a:avLst>
              <a:gd name="adj" fmla="val 6000"/>
            </a:avLst>
          </a:prstGeom>
          <a:solidFill>
            <a:srgbClr val="FFFFFF"/>
          </a:solidFill>
          <a:ln w="12700">
            <a:solidFill>
              <a:srgbClr val="C9CFDA"/>
            </a:solidFill>
          </a:ln>
          <a:effectLst/>
        </p:spPr>
        <p:txBody>
          <a:bodyPr rtlCol="0" anchor="ctr"/>
          <a:lstStyle/>
          <a:p/>
        </p:txBody>
      </p:sp>
      <p:sp>
        <p:nvSpPr>
          <p:cNvPr id="13" name="TextBox 12"/>
          <p:cNvSpPr txBox="1"/>
          <p:nvPr/>
        </p:nvSpPr>
        <p:spPr>
          <a:xfrm>
            <a:off x="1463040" y="6281928"/>
            <a:ext cx="4724399" cy="502920"/>
          </a:xfrm>
          <a:prstGeom prst="rect">
            <a:avLst/>
          </a:prstGeom>
          <a:noFill/>
        </p:spPr>
        <p:txBody>
          <a:bodyPr wrap="square" lIns="0" rIns="0" tIns="0" bIns="0" anchor="t">
            <a:noAutofit/>
          </a:bodyPr>
          <a:lstStyle/>
          <a:p>
            <a:pPr algn="ctr">
              <a:lnSpc>
                <a:spcPct val="100000"/>
              </a:lnSpc>
              <a:spcAft>
                <a:spcPts val="0"/>
              </a:spcAft>
              <a:buNone/>
            </a:pPr>
            <a:r>
              <a:rPr sz="2800" b="1" i="0">
                <a:solidFill>
                  <a:srgbClr val="8B0000"/>
                </a:solidFill>
                <a:latin typeface="Arial"/>
              </a:rPr>
              <a:t>37,6% | 41,7%</a:t>
            </a:r>
          </a:p>
        </p:txBody>
      </p:sp>
      <p:sp>
        <p:nvSpPr>
          <p:cNvPr id="14" name="TextBox 13"/>
          <p:cNvSpPr txBox="1"/>
          <p:nvPr/>
        </p:nvSpPr>
        <p:spPr>
          <a:xfrm>
            <a:off x="1600200" y="6793992"/>
            <a:ext cx="4450080" cy="320040"/>
          </a:xfrm>
          <a:prstGeom prst="rect">
            <a:avLst/>
          </a:prstGeom>
          <a:noFill/>
        </p:spPr>
        <p:txBody>
          <a:bodyPr wrap="square" lIns="0" rIns="0" tIns="0" bIns="0" anchor="t">
            <a:noAutofit/>
          </a:bodyPr>
          <a:lstStyle/>
          <a:p>
            <a:pPr algn="ctr">
              <a:lnSpc>
                <a:spcPct val="100000"/>
              </a:lnSpc>
              <a:spcAft>
                <a:spcPts val="0"/>
              </a:spcAft>
              <a:buNone/>
            </a:pPr>
            <a:r>
              <a:rPr sz="1400" b="0" i="0">
                <a:solidFill>
                  <a:srgbClr val="5A6270"/>
                </a:solidFill>
                <a:latin typeface="Arial"/>
              </a:rPr>
              <a:t>prevalência ocular | respiratória</a:t>
            </a:r>
          </a:p>
        </p:txBody>
      </p:sp>
      <p:sp>
        <p:nvSpPr>
          <p:cNvPr id="15" name="Rounded Rectangle 14"/>
          <p:cNvSpPr/>
          <p:nvPr/>
        </p:nvSpPr>
        <p:spPr>
          <a:xfrm>
            <a:off x="6781799" y="1783080"/>
            <a:ext cx="5364480" cy="5760720"/>
          </a:xfrm>
          <a:prstGeom prst="roundRect">
            <a:avLst>
              <a:gd name="adj" fmla="val 6000"/>
            </a:avLst>
          </a:prstGeom>
          <a:solidFill>
            <a:srgbClr val="F2F4F8"/>
          </a:solidFill>
          <a:ln>
            <a:noFill/>
          </a:ln>
          <a:effectLst/>
        </p:spPr>
        <p:txBody>
          <a:bodyPr rtlCol="0" anchor="ctr"/>
          <a:lstStyle/>
          <a:p/>
        </p:txBody>
      </p:sp>
      <p:sp>
        <p:nvSpPr>
          <p:cNvPr id="16" name="Oval 15"/>
          <p:cNvSpPr/>
          <p:nvPr/>
        </p:nvSpPr>
        <p:spPr>
          <a:xfrm>
            <a:off x="7101839" y="2103120"/>
            <a:ext cx="731520" cy="731520"/>
          </a:xfrm>
          <a:prstGeom prst="ellipse">
            <a:avLst/>
          </a:prstGeom>
          <a:solidFill>
            <a:srgbClr val="002060"/>
          </a:solidFill>
          <a:ln>
            <a:noFill/>
          </a:ln>
          <a:effectLst/>
        </p:spPr>
        <p:txBody>
          <a:bodyPr rtlCol="0" anchor="ctr" lIns="0" rIns="0" tIns="0" bIns="0"/>
          <a:lstStyle/>
          <a:p/>
        </p:txBody>
      </p:sp>
      <p:pic>
        <p:nvPicPr>
          <p:cNvPr id="17" name="icone spiral" descr="spiral_white.png"/>
          <p:cNvPicPr>
            <a:picLocks noChangeAspect="1"/>
          </p:cNvPicPr>
          <p:nvPr/>
        </p:nvPicPr>
        <p:blipFill>
          <a:blip r:embed="rId5"/>
          <a:stretch>
            <a:fillRect/>
          </a:stretch>
        </p:blipFill>
        <p:spPr>
          <a:xfrm>
            <a:off x="7284719" y="2285999"/>
            <a:ext cx="365760" cy="365760"/>
          </a:xfrm>
          <a:prstGeom prst="rect">
            <a:avLst/>
          </a:prstGeom>
        </p:spPr>
      </p:pic>
      <p:sp>
        <p:nvSpPr>
          <p:cNvPr id="18" name="TextBox 17"/>
          <p:cNvSpPr txBox="1"/>
          <p:nvPr/>
        </p:nvSpPr>
        <p:spPr>
          <a:xfrm>
            <a:off x="8061960" y="2103120"/>
            <a:ext cx="3764279" cy="731520"/>
          </a:xfrm>
          <a:prstGeom prst="rect">
            <a:avLst/>
          </a:prstGeom>
          <a:noFill/>
        </p:spPr>
        <p:txBody>
          <a:bodyPr wrap="square" lIns="0" rIns="0" tIns="0" bIns="0" anchor="ctr">
            <a:noAutofit/>
          </a:bodyPr>
          <a:lstStyle/>
          <a:p>
            <a:pPr algn="l">
              <a:lnSpc>
                <a:spcPct val="100000"/>
              </a:lnSpc>
              <a:spcAft>
                <a:spcPts val="0"/>
              </a:spcAft>
              <a:buNone/>
            </a:pPr>
            <a:r>
              <a:rPr sz="1900" b="1" i="0">
                <a:solidFill>
                  <a:srgbClr val="002060"/>
                </a:solidFill>
                <a:latin typeface="Arial"/>
              </a:rPr>
              <a:t>Heterogeneidade esperada</a:t>
            </a:r>
          </a:p>
        </p:txBody>
      </p:sp>
      <p:sp>
        <p:nvSpPr>
          <p:cNvPr id="19" name="TextBox 18"/>
          <p:cNvSpPr txBox="1"/>
          <p:nvPr/>
        </p:nvSpPr>
        <p:spPr>
          <a:xfrm>
            <a:off x="7101839" y="3017520"/>
            <a:ext cx="4724399" cy="4206240"/>
          </a:xfrm>
          <a:prstGeom prst="rect">
            <a:avLst/>
          </a:prstGeom>
          <a:noFill/>
        </p:spPr>
        <p:txBody>
          <a:bodyPr wrap="square" lIns="0" rIns="0" tIns="0" bIns="0" anchor="t">
            <a:noAutofit/>
          </a:bodyPr>
          <a:lstStyle/>
          <a:p>
            <a:pPr algn="l" marL="274320" indent="-274320">
              <a:lnSpc>
                <a:spcPct val="100000"/>
              </a:lnSpc>
              <a:spcAft>
                <a:spcPts val="1000"/>
              </a:spcAft>
              <a:buFont typeface="Arial"/>
              <a:buChar char="•"/>
            </a:pPr>
            <a:r>
              <a:rPr sz="1700" b="1" i="0">
                <a:solidFill>
                  <a:srgbClr val="1F2433"/>
                </a:solidFill>
                <a:latin typeface="Arial"/>
              </a:rPr>
              <a:t>I² &gt; 90% é típico </a:t>
            </a:r>
            <a:r>
              <a:rPr sz="1700" b="0" i="0">
                <a:solidFill>
                  <a:srgbClr val="1F2433"/>
                </a:solidFill>
                <a:latin typeface="Arial"/>
              </a:rPr>
              <a:t>em prevalência → ler pelo intervalo de predição.</a:t>
            </a:r>
          </a:p>
          <a:p>
            <a:pPr algn="l" marL="274320" indent="-274320">
              <a:lnSpc>
                <a:spcPct val="100000"/>
              </a:lnSpc>
              <a:spcAft>
                <a:spcPts val="1000"/>
              </a:spcAft>
              <a:buFont typeface="Arial"/>
              <a:buChar char="•"/>
            </a:pPr>
            <a:r>
              <a:rPr sz="1700" b="1" i="0">
                <a:solidFill>
                  <a:srgbClr val="1F2433"/>
                </a:solidFill>
                <a:latin typeface="Arial"/>
              </a:rPr>
              <a:t>Fontes plausíveis: </a:t>
            </a:r>
            <a:r>
              <a:rPr sz="1700" b="0" i="0">
                <a:solidFill>
                  <a:srgbClr val="1F2433"/>
                </a:solidFill>
                <a:latin typeface="Arial"/>
              </a:rPr>
              <a:t>definição do sintoma e recordatório, composição profissional, tempo de exposição, exaustão e EPI.</a:t>
            </a:r>
          </a:p>
          <a:p>
            <a:pPr algn="l" marL="274320" indent="-274320">
              <a:lnSpc>
                <a:spcPct val="100000"/>
              </a:lnSpc>
              <a:spcAft>
                <a:spcPts val="1000"/>
              </a:spcAft>
              <a:buFont typeface="Arial"/>
              <a:buChar char="•"/>
            </a:pPr>
            <a:r>
              <a:rPr sz="1700" b="1" i="0">
                <a:solidFill>
                  <a:srgbClr val="1F2433"/>
                </a:solidFill>
                <a:latin typeface="Arial"/>
              </a:rPr>
              <a:t>País reduziu o I² </a:t>
            </a:r>
            <a:r>
              <a:rPr sz="1700" b="0" i="0">
                <a:solidFill>
                  <a:srgbClr val="1F2433"/>
                </a:solidFill>
                <a:latin typeface="Arial"/>
              </a:rPr>
              <a:t>intragrupo (Turquia 57%, Malásia 0%), mas com 2–3 estudos por estrato é hipótese.</a:t>
            </a:r>
          </a:p>
        </p:txBody>
      </p:sp>
      <p:sp>
        <p:nvSpPr>
          <p:cNvPr id="20" name="Faixa zebrada chave"/>
          <p:cNvSpPr/>
          <p:nvPr/>
        </p:nvSpPr>
        <p:spPr>
          <a:xfrm>
            <a:off x="7101839" y="6172200"/>
            <a:ext cx="4724399" cy="1051560"/>
          </a:xfrm>
          <a:prstGeom prst="roundRect">
            <a:avLst>
              <a:gd name="adj" fmla="val 6000"/>
            </a:avLst>
          </a:prstGeom>
          <a:solidFill>
            <a:srgbClr val="FFFFFF"/>
          </a:solidFill>
          <a:ln w="12700">
            <a:solidFill>
              <a:srgbClr val="C9CFDA"/>
            </a:solidFill>
          </a:ln>
          <a:effectLst/>
        </p:spPr>
        <p:txBody>
          <a:bodyPr rtlCol="0" anchor="ctr"/>
          <a:lstStyle/>
          <a:p/>
        </p:txBody>
      </p:sp>
      <p:sp>
        <p:nvSpPr>
          <p:cNvPr id="21" name="TextBox 20"/>
          <p:cNvSpPr txBox="1"/>
          <p:nvPr/>
        </p:nvSpPr>
        <p:spPr>
          <a:xfrm>
            <a:off x="7101839" y="6281928"/>
            <a:ext cx="4724399" cy="502920"/>
          </a:xfrm>
          <a:prstGeom prst="rect">
            <a:avLst/>
          </a:prstGeom>
          <a:noFill/>
        </p:spPr>
        <p:txBody>
          <a:bodyPr wrap="square" lIns="0" rIns="0" tIns="0" bIns="0" anchor="t">
            <a:noAutofit/>
          </a:bodyPr>
          <a:lstStyle/>
          <a:p>
            <a:pPr algn="ctr">
              <a:lnSpc>
                <a:spcPct val="100000"/>
              </a:lnSpc>
              <a:spcAft>
                <a:spcPts val="0"/>
              </a:spcAft>
              <a:buNone/>
            </a:pPr>
            <a:r>
              <a:rPr sz="2800" b="1" i="0">
                <a:solidFill>
                  <a:srgbClr val="8B0000"/>
                </a:solidFill>
                <a:latin typeface="Arial"/>
              </a:rPr>
              <a:t>IP 7–83%</a:t>
            </a:r>
          </a:p>
        </p:txBody>
      </p:sp>
      <p:sp>
        <p:nvSpPr>
          <p:cNvPr id="22" name="TextBox 21"/>
          <p:cNvSpPr txBox="1"/>
          <p:nvPr/>
        </p:nvSpPr>
        <p:spPr>
          <a:xfrm>
            <a:off x="7238999" y="6793992"/>
            <a:ext cx="4450080" cy="320040"/>
          </a:xfrm>
          <a:prstGeom prst="rect">
            <a:avLst/>
          </a:prstGeom>
          <a:noFill/>
        </p:spPr>
        <p:txBody>
          <a:bodyPr wrap="square" lIns="0" rIns="0" tIns="0" bIns="0" anchor="t">
            <a:noAutofit/>
          </a:bodyPr>
          <a:lstStyle/>
          <a:p>
            <a:pPr algn="ctr">
              <a:lnSpc>
                <a:spcPct val="100000"/>
              </a:lnSpc>
              <a:spcAft>
                <a:spcPts val="0"/>
              </a:spcAft>
              <a:buNone/>
            </a:pPr>
            <a:r>
              <a:rPr sz="1400" b="0" i="0">
                <a:solidFill>
                  <a:srgbClr val="5A6270"/>
                </a:solidFill>
                <a:latin typeface="Arial"/>
              </a:rPr>
              <a:t>faixa esperada para um novo estudo (ocular)</a:t>
            </a:r>
          </a:p>
        </p:txBody>
      </p:sp>
      <p:sp>
        <p:nvSpPr>
          <p:cNvPr id="23" name="Rounded Rectangle 22"/>
          <p:cNvSpPr/>
          <p:nvPr/>
        </p:nvSpPr>
        <p:spPr>
          <a:xfrm>
            <a:off x="12420599" y="1783080"/>
            <a:ext cx="5364480" cy="5760720"/>
          </a:xfrm>
          <a:prstGeom prst="roundRect">
            <a:avLst>
              <a:gd name="adj" fmla="val 6000"/>
            </a:avLst>
          </a:prstGeom>
          <a:solidFill>
            <a:srgbClr val="F2F4F8"/>
          </a:solidFill>
          <a:ln>
            <a:noFill/>
          </a:ln>
          <a:effectLst/>
        </p:spPr>
        <p:txBody>
          <a:bodyPr rtlCol="0" anchor="ctr"/>
          <a:lstStyle/>
          <a:p/>
        </p:txBody>
      </p:sp>
      <p:sp>
        <p:nvSpPr>
          <p:cNvPr id="24" name="Oval 23"/>
          <p:cNvSpPr/>
          <p:nvPr/>
        </p:nvSpPr>
        <p:spPr>
          <a:xfrm>
            <a:off x="12740639" y="2103120"/>
            <a:ext cx="731520" cy="731520"/>
          </a:xfrm>
          <a:prstGeom prst="ellipse">
            <a:avLst/>
          </a:prstGeom>
          <a:solidFill>
            <a:srgbClr val="002060"/>
          </a:solidFill>
          <a:ln>
            <a:noFill/>
          </a:ln>
          <a:effectLst/>
        </p:spPr>
        <p:txBody>
          <a:bodyPr rtlCol="0" anchor="ctr" lIns="0" rIns="0" tIns="0" bIns="0"/>
          <a:lstStyle/>
          <a:p/>
        </p:txBody>
      </p:sp>
      <p:pic>
        <p:nvPicPr>
          <p:cNvPr id="25" name="icone biotech" descr="biotech_white.png"/>
          <p:cNvPicPr>
            <a:picLocks noChangeAspect="1"/>
          </p:cNvPicPr>
          <p:nvPr/>
        </p:nvPicPr>
        <p:blipFill>
          <a:blip r:embed="rId6"/>
          <a:stretch>
            <a:fillRect/>
          </a:stretch>
        </p:blipFill>
        <p:spPr>
          <a:xfrm>
            <a:off x="12868656" y="2231135"/>
            <a:ext cx="475488" cy="475488"/>
          </a:xfrm>
          <a:prstGeom prst="rect">
            <a:avLst/>
          </a:prstGeom>
        </p:spPr>
      </p:pic>
      <p:sp>
        <p:nvSpPr>
          <p:cNvPr id="26" name="TextBox 25"/>
          <p:cNvSpPr txBox="1"/>
          <p:nvPr/>
        </p:nvSpPr>
        <p:spPr>
          <a:xfrm>
            <a:off x="13700760" y="2103120"/>
            <a:ext cx="3764279" cy="731520"/>
          </a:xfrm>
          <a:prstGeom prst="rect">
            <a:avLst/>
          </a:prstGeom>
          <a:noFill/>
        </p:spPr>
        <p:txBody>
          <a:bodyPr wrap="square" lIns="0" rIns="0" tIns="0" bIns="0" anchor="ctr">
            <a:noAutofit/>
          </a:bodyPr>
          <a:lstStyle/>
          <a:p>
            <a:pPr algn="l">
              <a:lnSpc>
                <a:spcPct val="100000"/>
              </a:lnSpc>
              <a:spcAft>
                <a:spcPts val="0"/>
              </a:spcAft>
              <a:buNone/>
            </a:pPr>
            <a:r>
              <a:rPr sz="1900" b="1" i="0">
                <a:solidFill>
                  <a:srgbClr val="002060"/>
                </a:solidFill>
                <a:latin typeface="Arial"/>
              </a:rPr>
              <a:t>Sinais além do incômodo agudo</a:t>
            </a:r>
          </a:p>
        </p:txBody>
      </p:sp>
      <p:sp>
        <p:nvSpPr>
          <p:cNvPr id="27" name="TextBox 26"/>
          <p:cNvSpPr txBox="1"/>
          <p:nvPr/>
        </p:nvSpPr>
        <p:spPr>
          <a:xfrm>
            <a:off x="12740639" y="3017520"/>
            <a:ext cx="4724399" cy="4206240"/>
          </a:xfrm>
          <a:prstGeom prst="rect">
            <a:avLst/>
          </a:prstGeom>
          <a:noFill/>
        </p:spPr>
        <p:txBody>
          <a:bodyPr wrap="square" lIns="0" rIns="0" tIns="0" bIns="0" anchor="t">
            <a:noAutofit/>
          </a:bodyPr>
          <a:lstStyle/>
          <a:p>
            <a:pPr algn="l" marL="274320" indent="-274320">
              <a:lnSpc>
                <a:spcPct val="100000"/>
              </a:lnSpc>
              <a:spcAft>
                <a:spcPts val="1000"/>
              </a:spcAft>
              <a:buFont typeface="Arial"/>
              <a:buChar char="•"/>
            </a:pPr>
            <a:r>
              <a:rPr sz="1700" b="1" i="0">
                <a:solidFill>
                  <a:srgbClr val="1F2433"/>
                </a:solidFill>
                <a:latin typeface="Arial"/>
              </a:rPr>
              <a:t>A favor da causalidade: </a:t>
            </a:r>
            <a:r>
              <a:rPr sz="1700" b="0" i="0">
                <a:solidFill>
                  <a:srgbClr val="1F2433"/>
                </a:solidFill>
                <a:latin typeface="Arial"/>
              </a:rPr>
              <a:t>gradiente com o tempo de exposição, temporalidade (coorte) e plausibilidade biológica.</a:t>
            </a:r>
          </a:p>
          <a:p>
            <a:pPr algn="l" marL="274320" indent="-274320">
              <a:lnSpc>
                <a:spcPct val="100000"/>
              </a:lnSpc>
              <a:spcAft>
                <a:spcPts val="1000"/>
              </a:spcAft>
              <a:buFont typeface="Arial"/>
              <a:buChar char="•"/>
            </a:pPr>
            <a:r>
              <a:rPr sz="1700" b="1" i="0">
                <a:solidFill>
                  <a:srgbClr val="1F2433"/>
                </a:solidFill>
                <a:latin typeface="Arial"/>
              </a:rPr>
              <a:t>Contra: </a:t>
            </a:r>
            <a:r>
              <a:rPr sz="1700" b="0" i="0">
                <a:solidFill>
                  <a:srgbClr val="1F2433"/>
                </a:solidFill>
                <a:latin typeface="Arial"/>
              </a:rPr>
              <a:t>um estudo por desfecho, intervalos amplos, coexposições (gases anestésicos, radiação).</a:t>
            </a:r>
          </a:p>
          <a:p>
            <a:pPr algn="l" marL="274320" indent="-274320">
              <a:lnSpc>
                <a:spcPct val="100000"/>
              </a:lnSpc>
              <a:spcAft>
                <a:spcPts val="1000"/>
              </a:spcAft>
              <a:buFont typeface="Arial"/>
              <a:buChar char="•"/>
            </a:pPr>
            <a:r>
              <a:rPr sz="1700" b="1" i="0">
                <a:solidFill>
                  <a:srgbClr val="1F2433"/>
                </a:solidFill>
                <a:latin typeface="Arial"/>
              </a:rPr>
              <a:t>Metabólitos: </a:t>
            </a:r>
            <a:r>
              <a:rPr sz="1700" b="0" i="0">
                <a:solidFill>
                  <a:srgbClr val="1F2433"/>
                </a:solidFill>
                <a:latin typeface="Arial"/>
              </a:rPr>
              <a:t>exposição recente · </a:t>
            </a:r>
            <a:r>
              <a:rPr sz="1700" b="1" i="0">
                <a:solidFill>
                  <a:srgbClr val="1F2433"/>
                </a:solidFill>
                <a:latin typeface="Arial"/>
              </a:rPr>
              <a:t>metaplasia: </a:t>
            </a:r>
            <a:r>
              <a:rPr sz="1700" b="0" i="0">
                <a:solidFill>
                  <a:srgbClr val="1F2433"/>
                </a:solidFill>
                <a:latin typeface="Arial"/>
              </a:rPr>
              <a:t>resposta inespecífica · </a:t>
            </a:r>
            <a:r>
              <a:rPr sz="1700" b="1" i="0">
                <a:solidFill>
                  <a:srgbClr val="1F2433"/>
                </a:solidFill>
                <a:latin typeface="Arial"/>
              </a:rPr>
              <a:t>DNA de HPV: </a:t>
            </a:r>
            <a:r>
              <a:rPr sz="1700" b="0" i="0">
                <a:solidFill>
                  <a:srgbClr val="1F2433"/>
                </a:solidFill>
                <a:latin typeface="Arial"/>
              </a:rPr>
              <a:t>detecção, não infecção.</a:t>
            </a:r>
          </a:p>
        </p:txBody>
      </p:sp>
      <p:sp>
        <p:nvSpPr>
          <p:cNvPr id="28" name="Faixa zebrada chave"/>
          <p:cNvSpPr/>
          <p:nvPr/>
        </p:nvSpPr>
        <p:spPr>
          <a:xfrm>
            <a:off x="12740639" y="6172200"/>
            <a:ext cx="4724399" cy="1051560"/>
          </a:xfrm>
          <a:prstGeom prst="roundRect">
            <a:avLst>
              <a:gd name="adj" fmla="val 6000"/>
            </a:avLst>
          </a:prstGeom>
          <a:solidFill>
            <a:srgbClr val="FFFFFF"/>
          </a:solidFill>
          <a:ln w="12700">
            <a:solidFill>
              <a:srgbClr val="C9CFDA"/>
            </a:solidFill>
          </a:ln>
          <a:effectLst/>
        </p:spPr>
        <p:txBody>
          <a:bodyPr rtlCol="0" anchor="ctr"/>
          <a:lstStyle/>
          <a:p/>
        </p:txBody>
      </p:sp>
      <p:sp>
        <p:nvSpPr>
          <p:cNvPr id="29" name="TextBox 28"/>
          <p:cNvSpPr txBox="1"/>
          <p:nvPr/>
        </p:nvSpPr>
        <p:spPr>
          <a:xfrm>
            <a:off x="12740639" y="6281928"/>
            <a:ext cx="4724399" cy="502920"/>
          </a:xfrm>
          <a:prstGeom prst="rect">
            <a:avLst/>
          </a:prstGeom>
          <a:noFill/>
        </p:spPr>
        <p:txBody>
          <a:bodyPr wrap="square" lIns="0" rIns="0" tIns="0" bIns="0" anchor="t">
            <a:noAutofit/>
          </a:bodyPr>
          <a:lstStyle/>
          <a:p>
            <a:pPr algn="ctr">
              <a:lnSpc>
                <a:spcPct val="100000"/>
              </a:lnSpc>
              <a:spcAft>
                <a:spcPts val="0"/>
              </a:spcAft>
              <a:buNone/>
            </a:pPr>
            <a:r>
              <a:rPr sz="2800" b="1" i="0">
                <a:solidFill>
                  <a:srgbClr val="8B0000"/>
                </a:solidFill>
                <a:latin typeface="Arial"/>
              </a:rPr>
              <a:t>RR 13,9 | RR 5,2</a:t>
            </a:r>
          </a:p>
        </p:txBody>
      </p:sp>
      <p:sp>
        <p:nvSpPr>
          <p:cNvPr id="30" name="TextBox 29"/>
          <p:cNvSpPr txBox="1"/>
          <p:nvPr/>
        </p:nvSpPr>
        <p:spPr>
          <a:xfrm>
            <a:off x="12877799" y="6793992"/>
            <a:ext cx="4450080" cy="320040"/>
          </a:xfrm>
          <a:prstGeom prst="rect">
            <a:avLst/>
          </a:prstGeom>
          <a:noFill/>
        </p:spPr>
        <p:txBody>
          <a:bodyPr wrap="square" lIns="0" rIns="0" tIns="0" bIns="0" anchor="t">
            <a:noAutofit/>
          </a:bodyPr>
          <a:lstStyle/>
          <a:p>
            <a:pPr algn="ctr">
              <a:lnSpc>
                <a:spcPct val="100000"/>
              </a:lnSpc>
              <a:spcAft>
                <a:spcPts val="0"/>
              </a:spcAft>
              <a:buNone/>
            </a:pPr>
            <a:r>
              <a:rPr sz="1400" b="0" i="0">
                <a:solidFill>
                  <a:srgbClr val="5A6270"/>
                </a:solidFill>
                <a:latin typeface="Arial"/>
              </a:rPr>
              <a:t>metaplasia nasal | DNA de HPV (1 estudo cada)</a:t>
            </a:r>
          </a:p>
        </p:txBody>
      </p:sp>
      <p:sp>
        <p:nvSpPr>
          <p:cNvPr id="31" name="Rounded Rectangle 30"/>
          <p:cNvSpPr/>
          <p:nvPr/>
        </p:nvSpPr>
        <p:spPr>
          <a:xfrm>
            <a:off x="1143000" y="7818120"/>
            <a:ext cx="16642080" cy="1920240"/>
          </a:xfrm>
          <a:prstGeom prst="roundRect">
            <a:avLst>
              <a:gd name="adj" fmla="val 6000"/>
            </a:avLst>
          </a:prstGeom>
          <a:solidFill>
            <a:srgbClr val="002060"/>
          </a:solidFill>
          <a:ln>
            <a:noFill/>
          </a:ln>
          <a:effectLst/>
        </p:spPr>
        <p:txBody>
          <a:bodyPr rtlCol="0" anchor="ctr"/>
          <a:lstStyle/>
          <a:p/>
        </p:txBody>
      </p:sp>
      <p:pic>
        <p:nvPicPr>
          <p:cNvPr id="32" name="icone question" descr="question_gold.png"/>
          <p:cNvPicPr>
            <a:picLocks noChangeAspect="1"/>
          </p:cNvPicPr>
          <p:nvPr/>
        </p:nvPicPr>
        <p:blipFill>
          <a:blip r:embed="rId7"/>
          <a:stretch>
            <a:fillRect/>
          </a:stretch>
        </p:blipFill>
        <p:spPr>
          <a:xfrm>
            <a:off x="1508760" y="8389620"/>
            <a:ext cx="777240" cy="777240"/>
          </a:xfrm>
          <a:prstGeom prst="rect">
            <a:avLst/>
          </a:prstGeom>
        </p:spPr>
      </p:pic>
      <p:sp>
        <p:nvSpPr>
          <p:cNvPr id="33" name="TextBox 32"/>
          <p:cNvSpPr txBox="1"/>
          <p:nvPr/>
        </p:nvSpPr>
        <p:spPr>
          <a:xfrm>
            <a:off x="2560320" y="8138160"/>
            <a:ext cx="14904720" cy="1280160"/>
          </a:xfrm>
          <a:prstGeom prst="rect">
            <a:avLst/>
          </a:prstGeom>
          <a:noFill/>
        </p:spPr>
        <p:txBody>
          <a:bodyPr wrap="square" lIns="0" rIns="0" tIns="0" bIns="0" anchor="ctr">
            <a:noAutofit/>
          </a:bodyPr>
          <a:lstStyle/>
          <a:p>
            <a:pPr algn="l">
              <a:lnSpc>
                <a:spcPct val="100000"/>
              </a:lnSpc>
              <a:spcAft>
                <a:spcPts val="0"/>
              </a:spcAft>
              <a:buNone/>
            </a:pPr>
            <a:r>
              <a:rPr sz="1800" b="1" i="0">
                <a:solidFill>
                  <a:srgbClr val="C8A951"/>
                </a:solidFill>
                <a:latin typeface="Arial"/>
              </a:rPr>
              <a:t>O achado talvez mais relevante é o que não foi encontrado. </a:t>
            </a:r>
            <a:r>
              <a:rPr sz="1800" b="0" i="0">
                <a:solidFill>
                  <a:srgbClr val="FFFFFF"/>
                </a:solidFill>
                <a:latin typeface="Arial"/>
              </a:rPr>
              <a:t>Nenhum estudo elegível estimou câncer ou DPOC atribuíveis à fumaça. Relatos de caso de papilomatose laríngea e carcinoma orofaríngeo por HPV em cirurgiões (Hallmo; Naess, 1991; Rioux et al., 2013) reforçam a plausibilidade, mas não estimam risco. A controvérsia (Hurst; Stewart, 2024) se resolve com estudos longitudinais ainda por realizar.</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lano de fundo do modelo" descr="tpl_bg.png"/>
          <p:cNvPicPr>
            <a:picLocks noChangeAspect="1"/>
          </p:cNvPicPr>
          <p:nvPr/>
        </p:nvPicPr>
        <p:blipFill>
          <a:blip r:embed="rId2"/>
          <a:stretch>
            <a:fillRect/>
          </a:stretch>
        </p:blipFill>
        <p:spPr>
          <a:xfrm>
            <a:off x="20" y="1923"/>
            <a:ext cx="18287980" cy="10285077"/>
          </a:xfrm>
          <a:prstGeom prst="rect">
            <a:avLst/>
          </a:prstGeom>
        </p:spPr>
      </p:pic>
      <p:sp>
        <p:nvSpPr>
          <p:cNvPr id="3" name="Retângulo branco (modelo)"/>
          <p:cNvSpPr/>
          <p:nvPr/>
        </p:nvSpPr>
        <p:spPr>
          <a:xfrm>
            <a:off x="15888345" y="279974"/>
            <a:ext cx="2362200" cy="863025"/>
          </a:xfrm>
          <a:prstGeom prst="rect">
            <a:avLst/>
          </a:prstGeom>
          <a:solidFill>
            <a:srgbClr val="FFFFFF"/>
          </a:solidFill>
          <a:ln>
            <a:noFill/>
          </a:ln>
        </p:spPr>
        <p:txBody>
          <a:bodyPr rtlCol="0" anchor="ctr"/>
          <a:lstStyle/>
          <a:p>
            <a:pPr algn="ctr"/>
          </a:p>
        </p:txBody>
      </p:sp>
      <p:pic>
        <p:nvPicPr>
          <p:cNvPr id="4" name="Logo SEMICA" descr="image.png"/>
          <p:cNvPicPr>
            <a:picLocks noChangeAspect="1"/>
          </p:cNvPicPr>
          <p:nvPr/>
        </p:nvPicPr>
        <p:blipFill>
          <a:blip r:embed="rId3"/>
          <a:stretch>
            <a:fillRect/>
          </a:stretch>
        </p:blipFill>
        <p:spPr>
          <a:xfrm>
            <a:off x="15544800" y="279974"/>
            <a:ext cx="2512314" cy="1234862"/>
          </a:xfrm>
          <a:prstGeom prst="rect">
            <a:avLst/>
          </a:prstGeom>
        </p:spPr>
      </p:pic>
      <p:sp>
        <p:nvSpPr>
          <p:cNvPr id="5" name="Título da seção"/>
          <p:cNvSpPr txBox="1"/>
          <p:nvPr/>
        </p:nvSpPr>
        <p:spPr>
          <a:xfrm>
            <a:off x="1143000" y="558224"/>
            <a:ext cx="10058400" cy="584775"/>
          </a:xfrm>
          <a:prstGeom prst="rect">
            <a:avLst/>
          </a:prstGeom>
          <a:noFill/>
        </p:spPr>
        <p:txBody>
          <a:bodyPr wrap="square">
            <a:noAutofit/>
          </a:bodyPr>
          <a:lstStyle/>
          <a:p>
            <a:pPr algn="l">
              <a:lnSpc>
                <a:spcPct val="100000"/>
              </a:lnSpc>
              <a:spcAft>
                <a:spcPts val="0"/>
              </a:spcAft>
              <a:buNone/>
            </a:pPr>
            <a:r>
              <a:rPr sz="3200" b="0" i="0">
                <a:solidFill>
                  <a:srgbClr val="000000"/>
                </a:solidFill>
                <a:latin typeface="Arial"/>
              </a:rPr>
              <a:t>DISCUSSÃO</a:t>
            </a:r>
          </a:p>
        </p:txBody>
      </p:sp>
      <p:sp>
        <p:nvSpPr>
          <p:cNvPr id="6" name="Subtítulo"/>
          <p:cNvSpPr txBox="1"/>
          <p:nvPr/>
        </p:nvSpPr>
        <p:spPr>
          <a:xfrm>
            <a:off x="1143000" y="1097280"/>
            <a:ext cx="14173200" cy="502920"/>
          </a:xfrm>
          <a:prstGeom prst="rect">
            <a:avLst/>
          </a:prstGeom>
          <a:noFill/>
        </p:spPr>
        <p:txBody>
          <a:bodyPr wrap="square" lIns="0" rIns="0" tIns="0" bIns="0" anchor="t">
            <a:noAutofit/>
          </a:bodyPr>
          <a:lstStyle/>
          <a:p>
            <a:pPr algn="l">
              <a:lnSpc>
                <a:spcPct val="100000"/>
              </a:lnSpc>
              <a:spcAft>
                <a:spcPts val="0"/>
              </a:spcAft>
              <a:buNone/>
            </a:pPr>
            <a:r>
              <a:rPr sz="2400" b="1" i="0">
                <a:solidFill>
                  <a:srgbClr val="002060"/>
                </a:solidFill>
                <a:latin typeface="Arial"/>
              </a:rPr>
              <a:t>Pontos fortes e limitações</a:t>
            </a:r>
          </a:p>
        </p:txBody>
      </p:sp>
      <p:sp>
        <p:nvSpPr>
          <p:cNvPr id="7" name="Rounded Rectangle 6"/>
          <p:cNvSpPr/>
          <p:nvPr/>
        </p:nvSpPr>
        <p:spPr>
          <a:xfrm>
            <a:off x="1143000" y="1783080"/>
            <a:ext cx="6766560" cy="6217920"/>
          </a:xfrm>
          <a:prstGeom prst="roundRect">
            <a:avLst>
              <a:gd name="adj" fmla="val 6000"/>
            </a:avLst>
          </a:prstGeom>
          <a:solidFill>
            <a:srgbClr val="E7F3E8"/>
          </a:solidFill>
          <a:ln>
            <a:noFill/>
          </a:ln>
          <a:effectLst/>
        </p:spPr>
        <p:txBody>
          <a:bodyPr rtlCol="0" anchor="ctr"/>
          <a:lstStyle/>
          <a:p/>
        </p:txBody>
      </p:sp>
      <p:sp>
        <p:nvSpPr>
          <p:cNvPr id="8" name="Oval 7"/>
          <p:cNvSpPr/>
          <p:nvPr/>
        </p:nvSpPr>
        <p:spPr>
          <a:xfrm>
            <a:off x="1463040" y="2103120"/>
            <a:ext cx="731520" cy="731520"/>
          </a:xfrm>
          <a:prstGeom prst="ellipse">
            <a:avLst/>
          </a:prstGeom>
          <a:solidFill>
            <a:srgbClr val="2E7D32"/>
          </a:solidFill>
          <a:ln>
            <a:noFill/>
          </a:ln>
          <a:effectLst/>
        </p:spPr>
        <p:txBody>
          <a:bodyPr rtlCol="0" anchor="ctr" lIns="0" rIns="0" tIns="0" bIns="0"/>
          <a:lstStyle/>
          <a:p/>
        </p:txBody>
      </p:sp>
      <p:pic>
        <p:nvPicPr>
          <p:cNvPr id="9" name="icone thumbsup" descr="thumbsup_white.png"/>
          <p:cNvPicPr>
            <a:picLocks noChangeAspect="1"/>
          </p:cNvPicPr>
          <p:nvPr/>
        </p:nvPicPr>
        <p:blipFill>
          <a:blip r:embed="rId4"/>
          <a:stretch>
            <a:fillRect/>
          </a:stretch>
        </p:blipFill>
        <p:spPr>
          <a:xfrm>
            <a:off x="1645920" y="2285999"/>
            <a:ext cx="365760" cy="365760"/>
          </a:xfrm>
          <a:prstGeom prst="rect">
            <a:avLst/>
          </a:prstGeom>
        </p:spPr>
      </p:pic>
      <p:sp>
        <p:nvSpPr>
          <p:cNvPr id="10" name="TextBox 9"/>
          <p:cNvSpPr txBox="1"/>
          <p:nvPr/>
        </p:nvSpPr>
        <p:spPr>
          <a:xfrm>
            <a:off x="2423160" y="2103120"/>
            <a:ext cx="5166360" cy="731520"/>
          </a:xfrm>
          <a:prstGeom prst="rect">
            <a:avLst/>
          </a:prstGeom>
          <a:noFill/>
        </p:spPr>
        <p:txBody>
          <a:bodyPr wrap="square" lIns="0" rIns="0" tIns="0" bIns="0" anchor="ctr">
            <a:noAutofit/>
          </a:bodyPr>
          <a:lstStyle/>
          <a:p>
            <a:pPr algn="l">
              <a:lnSpc>
                <a:spcPct val="100000"/>
              </a:lnSpc>
              <a:spcAft>
                <a:spcPts val="0"/>
              </a:spcAft>
              <a:buNone/>
            </a:pPr>
            <a:r>
              <a:rPr sz="2200" b="1" i="0">
                <a:solidFill>
                  <a:srgbClr val="002060"/>
                </a:solidFill>
                <a:latin typeface="Arial"/>
              </a:rPr>
              <a:t>Pontos fortes</a:t>
            </a:r>
          </a:p>
        </p:txBody>
      </p:sp>
      <p:sp>
        <p:nvSpPr>
          <p:cNvPr id="11" name="TextBox 10"/>
          <p:cNvSpPr txBox="1"/>
          <p:nvPr/>
        </p:nvSpPr>
        <p:spPr>
          <a:xfrm>
            <a:off x="1463040" y="3017520"/>
            <a:ext cx="6126480" cy="4663440"/>
          </a:xfrm>
          <a:prstGeom prst="rect">
            <a:avLst/>
          </a:prstGeom>
          <a:noFill/>
        </p:spPr>
        <p:txBody>
          <a:bodyPr wrap="square" lIns="0" rIns="0" tIns="0" bIns="0" anchor="t">
            <a:noAutofit/>
          </a:bodyPr>
          <a:lstStyle/>
          <a:p>
            <a:pPr algn="l" marL="274320" indent="-274320">
              <a:lnSpc>
                <a:spcPct val="100000"/>
              </a:lnSpc>
              <a:spcAft>
                <a:spcPts val="1800"/>
              </a:spcAft>
              <a:buFont typeface="Arial"/>
              <a:buChar char="•"/>
            </a:pPr>
            <a:r>
              <a:rPr sz="1800" b="1" i="0">
                <a:solidFill>
                  <a:srgbClr val="1F2433"/>
                </a:solidFill>
                <a:latin typeface="Arial"/>
              </a:rPr>
              <a:t>Busca abrangente: </a:t>
            </a:r>
            <a:r>
              <a:rPr sz="1800" b="0" i="0">
                <a:solidFill>
                  <a:srgbClr val="1F2433"/>
                </a:solidFill>
                <a:latin typeface="Arial"/>
              </a:rPr>
              <a:t>7 bases, literatura cinzenta e citação, sem filtro de idioma na busca.</a:t>
            </a:r>
          </a:p>
          <a:p>
            <a:pPr algn="l" marL="274320" indent="-274320">
              <a:lnSpc>
                <a:spcPct val="100000"/>
              </a:lnSpc>
              <a:spcAft>
                <a:spcPts val="1800"/>
              </a:spcAft>
              <a:buFont typeface="Arial"/>
              <a:buChar char="•"/>
            </a:pPr>
            <a:r>
              <a:rPr sz="1800" b="1" i="0">
                <a:solidFill>
                  <a:srgbClr val="1F2433"/>
                </a:solidFill>
                <a:latin typeface="Arial"/>
              </a:rPr>
              <a:t>Protocolo registrado </a:t>
            </a:r>
            <a:r>
              <a:rPr sz="1800" b="0" i="0">
                <a:solidFill>
                  <a:srgbClr val="1F2433"/>
                </a:solidFill>
                <a:latin typeface="Arial"/>
              </a:rPr>
              <a:t>(PROSPERO) e relato PRISMA 2020 (27 itens).</a:t>
            </a:r>
          </a:p>
          <a:p>
            <a:pPr algn="l" marL="274320" indent="-274320">
              <a:lnSpc>
                <a:spcPct val="100000"/>
              </a:lnSpc>
              <a:spcAft>
                <a:spcPts val="1800"/>
              </a:spcAft>
              <a:buFont typeface="Arial"/>
              <a:buChar char="•"/>
            </a:pPr>
            <a:r>
              <a:rPr sz="1800" b="1" i="0">
                <a:solidFill>
                  <a:srgbClr val="1F2433"/>
                </a:solidFill>
                <a:latin typeface="Arial"/>
              </a:rPr>
              <a:t>Risco de viés padronizado </a:t>
            </a:r>
            <a:r>
              <a:rPr sz="1800" b="0" i="0">
                <a:solidFill>
                  <a:srgbClr val="1F2433"/>
                </a:solidFill>
                <a:latin typeface="Arial"/>
              </a:rPr>
              <a:t>com ferramentas JBI.</a:t>
            </a:r>
          </a:p>
          <a:p>
            <a:pPr algn="l" marL="274320" indent="-274320">
              <a:lnSpc>
                <a:spcPct val="100000"/>
              </a:lnSpc>
              <a:spcAft>
                <a:spcPts val="1800"/>
              </a:spcAft>
              <a:buFont typeface="Arial"/>
              <a:buChar char="•"/>
            </a:pPr>
            <a:r>
              <a:rPr sz="1800" b="1" i="0">
                <a:solidFill>
                  <a:srgbClr val="1F2433"/>
                </a:solidFill>
                <a:latin typeface="Arial"/>
              </a:rPr>
              <a:t>Síntese robusta: </a:t>
            </a:r>
            <a:r>
              <a:rPr sz="1800" b="0" i="0">
                <a:solidFill>
                  <a:srgbClr val="1F2433"/>
                </a:solidFill>
                <a:latin typeface="Arial"/>
              </a:rPr>
              <a:t>intervalo de predição, 3 modelos concordantes, leave-one-out, Baujat.</a:t>
            </a:r>
          </a:p>
          <a:p>
            <a:pPr algn="l" marL="274320" indent="-274320">
              <a:lnSpc>
                <a:spcPct val="100000"/>
              </a:lnSpc>
              <a:spcAft>
                <a:spcPts val="1800"/>
              </a:spcAft>
              <a:buFont typeface="Arial"/>
              <a:buChar char="•"/>
            </a:pPr>
            <a:r>
              <a:rPr sz="1800" b="1" i="0">
                <a:solidFill>
                  <a:srgbClr val="1F2433"/>
                </a:solidFill>
                <a:latin typeface="Arial"/>
              </a:rPr>
              <a:t>Certeza por desfecho </a:t>
            </a:r>
            <a:r>
              <a:rPr sz="1800" b="0" i="0">
                <a:solidFill>
                  <a:srgbClr val="1F2433"/>
                </a:solidFill>
                <a:latin typeface="Arial"/>
              </a:rPr>
              <a:t>(GRADE), justificada por domínio.</a:t>
            </a:r>
          </a:p>
          <a:p>
            <a:pPr algn="l" marL="274320" indent="-274320">
              <a:lnSpc>
                <a:spcPct val="100000"/>
              </a:lnSpc>
              <a:spcAft>
                <a:spcPts val="1800"/>
              </a:spcAft>
              <a:buFont typeface="Arial"/>
              <a:buChar char="•"/>
            </a:pPr>
            <a:r>
              <a:rPr sz="1800" b="1" i="0">
                <a:solidFill>
                  <a:srgbClr val="1F2433"/>
                </a:solidFill>
                <a:latin typeface="Arial"/>
              </a:rPr>
              <a:t>Sobreposição amostral e uso de IA </a:t>
            </a:r>
            <a:r>
              <a:rPr sz="1800" b="0" i="0">
                <a:solidFill>
                  <a:srgbClr val="1F2433"/>
                </a:solidFill>
                <a:latin typeface="Arial"/>
              </a:rPr>
              <a:t>declarados.</a:t>
            </a:r>
          </a:p>
          <a:p>
            <a:pPr algn="l" marL="274320" indent="-274320">
              <a:lnSpc>
                <a:spcPct val="100000"/>
              </a:lnSpc>
              <a:spcAft>
                <a:spcPts val="1800"/>
              </a:spcAft>
              <a:buFont typeface="Arial"/>
              <a:buChar char="•"/>
            </a:pPr>
            <a:r>
              <a:rPr sz="1800" b="1" i="0">
                <a:solidFill>
                  <a:srgbClr val="1F2433"/>
                </a:solidFill>
                <a:latin typeface="Arial"/>
              </a:rPr>
              <a:t>Reprodutível: </a:t>
            </a:r>
            <a:r>
              <a:rPr sz="1800" b="0" i="0">
                <a:solidFill>
                  <a:srgbClr val="1F2433"/>
                </a:solidFill>
                <a:latin typeface="Arial"/>
              </a:rPr>
              <a:t>código, planilhas e figuras no OSF.</a:t>
            </a:r>
          </a:p>
        </p:txBody>
      </p:sp>
      <p:sp>
        <p:nvSpPr>
          <p:cNvPr id="12" name="Rounded Rectangle 11"/>
          <p:cNvSpPr/>
          <p:nvPr/>
        </p:nvSpPr>
        <p:spPr>
          <a:xfrm>
            <a:off x="8183880" y="1783080"/>
            <a:ext cx="9601199" cy="6217920"/>
          </a:xfrm>
          <a:prstGeom prst="roundRect">
            <a:avLst>
              <a:gd name="adj" fmla="val 6000"/>
            </a:avLst>
          </a:prstGeom>
          <a:solidFill>
            <a:srgbClr val="F9E9E9"/>
          </a:solidFill>
          <a:ln>
            <a:noFill/>
          </a:ln>
          <a:effectLst/>
        </p:spPr>
        <p:txBody>
          <a:bodyPr rtlCol="0" anchor="ctr"/>
          <a:lstStyle/>
          <a:p/>
        </p:txBody>
      </p:sp>
      <p:sp>
        <p:nvSpPr>
          <p:cNvPr id="13" name="Oval 12"/>
          <p:cNvSpPr/>
          <p:nvPr/>
        </p:nvSpPr>
        <p:spPr>
          <a:xfrm>
            <a:off x="8503920" y="2103120"/>
            <a:ext cx="731520" cy="731520"/>
          </a:xfrm>
          <a:prstGeom prst="ellipse">
            <a:avLst/>
          </a:prstGeom>
          <a:solidFill>
            <a:srgbClr val="8B0000"/>
          </a:solidFill>
          <a:ln>
            <a:noFill/>
          </a:ln>
          <a:effectLst/>
        </p:spPr>
        <p:txBody>
          <a:bodyPr rtlCol="0" anchor="ctr" lIns="0" rIns="0" tIns="0" bIns="0"/>
          <a:lstStyle/>
          <a:p/>
        </p:txBody>
      </p:sp>
      <p:pic>
        <p:nvPicPr>
          <p:cNvPr id="14" name="icone warning" descr="warning_white.png"/>
          <p:cNvPicPr>
            <a:picLocks noChangeAspect="1"/>
          </p:cNvPicPr>
          <p:nvPr/>
        </p:nvPicPr>
        <p:blipFill>
          <a:blip r:embed="rId5"/>
          <a:stretch>
            <a:fillRect/>
          </a:stretch>
        </p:blipFill>
        <p:spPr>
          <a:xfrm>
            <a:off x="8686800" y="2285999"/>
            <a:ext cx="365760" cy="365760"/>
          </a:xfrm>
          <a:prstGeom prst="rect">
            <a:avLst/>
          </a:prstGeom>
        </p:spPr>
      </p:pic>
      <p:sp>
        <p:nvSpPr>
          <p:cNvPr id="15" name="TextBox 14"/>
          <p:cNvSpPr txBox="1"/>
          <p:nvPr/>
        </p:nvSpPr>
        <p:spPr>
          <a:xfrm>
            <a:off x="9464040" y="2103120"/>
            <a:ext cx="8000999" cy="731520"/>
          </a:xfrm>
          <a:prstGeom prst="rect">
            <a:avLst/>
          </a:prstGeom>
          <a:noFill/>
        </p:spPr>
        <p:txBody>
          <a:bodyPr wrap="square" lIns="0" rIns="0" tIns="0" bIns="0" anchor="ctr">
            <a:noAutofit/>
          </a:bodyPr>
          <a:lstStyle/>
          <a:p>
            <a:pPr algn="l">
              <a:lnSpc>
                <a:spcPct val="100000"/>
              </a:lnSpc>
              <a:spcAft>
                <a:spcPts val="0"/>
              </a:spcAft>
              <a:buNone/>
            </a:pPr>
            <a:r>
              <a:rPr sz="2200" b="1" i="0">
                <a:solidFill>
                  <a:srgbClr val="002060"/>
                </a:solidFill>
                <a:latin typeface="Arial"/>
              </a:rPr>
              <a:t>Limitações (declaradas no manuscrito)</a:t>
            </a:r>
          </a:p>
        </p:txBody>
      </p:sp>
      <p:sp>
        <p:nvSpPr>
          <p:cNvPr id="16" name="TextBox 15"/>
          <p:cNvSpPr txBox="1"/>
          <p:nvPr/>
        </p:nvSpPr>
        <p:spPr>
          <a:xfrm>
            <a:off x="8503920" y="3017520"/>
            <a:ext cx="8961119" cy="4663440"/>
          </a:xfrm>
          <a:prstGeom prst="rect">
            <a:avLst/>
          </a:prstGeom>
          <a:noFill/>
        </p:spPr>
        <p:txBody>
          <a:bodyPr wrap="square" lIns="0" rIns="0" tIns="0" bIns="0" anchor="t">
            <a:noAutofit/>
          </a:bodyPr>
          <a:lstStyle/>
          <a:p>
            <a:pPr algn="l" marL="274320" indent="-274320">
              <a:lnSpc>
                <a:spcPct val="100000"/>
              </a:lnSpc>
              <a:spcAft>
                <a:spcPts val="1400"/>
              </a:spcAft>
              <a:buFont typeface="Arial"/>
              <a:buChar char="•"/>
            </a:pPr>
            <a:r>
              <a:rPr sz="1800" b="1" i="0">
                <a:solidFill>
                  <a:srgbClr val="1F2433"/>
                </a:solidFill>
                <a:latin typeface="Arial"/>
              </a:rPr>
              <a:t>Transversais, exposição por proxy e autorrelato; </a:t>
            </a:r>
            <a:r>
              <a:rPr sz="1800" b="0" i="0">
                <a:solidFill>
                  <a:srgbClr val="1F2433"/>
                </a:solidFill>
                <a:latin typeface="Arial"/>
              </a:rPr>
              <a:t>viés de atribuição (o respondente sabe que o tema é fumaça).</a:t>
            </a:r>
          </a:p>
          <a:p>
            <a:pPr algn="l" marL="274320" indent="-274320">
              <a:lnSpc>
                <a:spcPct val="100000"/>
              </a:lnSpc>
              <a:spcAft>
                <a:spcPts val="1400"/>
              </a:spcAft>
              <a:buFont typeface="Arial"/>
              <a:buChar char="•"/>
            </a:pPr>
            <a:r>
              <a:rPr sz="1800" b="1" i="0">
                <a:solidFill>
                  <a:srgbClr val="1F2433"/>
                </a:solidFill>
                <a:latin typeface="Arial"/>
              </a:rPr>
              <a:t>Sem grupo não exposto nos agrupamentos </a:t>
            </a:r>
            <a:r>
              <a:rPr sz="1800" b="0" i="0">
                <a:solidFill>
                  <a:srgbClr val="1F2433"/>
                </a:solidFill>
                <a:latin typeface="Arial"/>
              </a:rPr>
              <a:t>→ não se estima o excesso atribuível.</a:t>
            </a:r>
          </a:p>
          <a:p>
            <a:pPr algn="l" marL="274320" indent="-274320">
              <a:lnSpc>
                <a:spcPct val="100000"/>
              </a:lnSpc>
              <a:spcAft>
                <a:spcPts val="1400"/>
              </a:spcAft>
              <a:buFont typeface="Arial"/>
              <a:buChar char="•"/>
            </a:pPr>
            <a:r>
              <a:rPr sz="1800" b="1" i="0">
                <a:solidFill>
                  <a:srgbClr val="1F2433"/>
                </a:solidFill>
                <a:latin typeface="Arial"/>
              </a:rPr>
              <a:t>Efeito do trabalhador sadio: </a:t>
            </a:r>
            <a:r>
              <a:rPr sz="1800" b="0" i="0">
                <a:solidFill>
                  <a:srgbClr val="1F2433"/>
                </a:solidFill>
                <a:latin typeface="Arial"/>
              </a:rPr>
              <a:t>quem adoece sai do centro cirúrgico → subestima.</a:t>
            </a:r>
          </a:p>
          <a:p>
            <a:pPr algn="l" marL="274320" indent="-274320">
              <a:lnSpc>
                <a:spcPct val="100000"/>
              </a:lnSpc>
              <a:spcAft>
                <a:spcPts val="1400"/>
              </a:spcAft>
              <a:buFont typeface="Arial"/>
              <a:buChar char="•"/>
            </a:pPr>
            <a:r>
              <a:rPr sz="1800" b="1" i="0">
                <a:solidFill>
                  <a:srgbClr val="1F2433"/>
                </a:solidFill>
                <a:latin typeface="Arial"/>
              </a:rPr>
              <a:t>Heterogeneidade alta; </a:t>
            </a:r>
            <a:r>
              <a:rPr sz="1800" b="0" i="0">
                <a:solidFill>
                  <a:srgbClr val="1F2433"/>
                </a:solidFill>
                <a:latin typeface="Arial"/>
              </a:rPr>
              <a:t>subgrupo exploratório; maior inquérito fora do ocular.</a:t>
            </a:r>
          </a:p>
          <a:p>
            <a:pPr algn="l" marL="274320" indent="-274320">
              <a:lnSpc>
                <a:spcPct val="100000"/>
              </a:lnSpc>
              <a:spcAft>
                <a:spcPts val="1400"/>
              </a:spcAft>
              <a:buFont typeface="Arial"/>
              <a:buChar char="•"/>
            </a:pPr>
            <a:r>
              <a:rPr sz="1800" b="1" i="0">
                <a:solidFill>
                  <a:srgbClr val="1F2433"/>
                </a:solidFill>
                <a:latin typeface="Arial"/>
              </a:rPr>
              <a:t>Sobreposição amostral </a:t>
            </a:r>
            <a:r>
              <a:rPr sz="1800" b="0" i="0">
                <a:solidFill>
                  <a:srgbClr val="1F2433"/>
                </a:solidFill>
                <a:latin typeface="Arial"/>
              </a:rPr>
              <a:t>tratada; 1 resumo de congresso na síntese.</a:t>
            </a:r>
          </a:p>
          <a:p>
            <a:pPr algn="l" marL="274320" indent="-274320">
              <a:lnSpc>
                <a:spcPct val="100000"/>
              </a:lnSpc>
              <a:spcAft>
                <a:spcPts val="1400"/>
              </a:spcAft>
              <a:buFont typeface="Arial"/>
              <a:buChar char="•"/>
            </a:pPr>
            <a:r>
              <a:rPr sz="1800" b="1" i="0">
                <a:solidFill>
                  <a:srgbClr val="1F2433"/>
                </a:solidFill>
                <a:latin typeface="Arial"/>
              </a:rPr>
              <a:t>Revisor único </a:t>
            </a:r>
            <a:r>
              <a:rPr sz="1800" b="0" i="0">
                <a:solidFill>
                  <a:srgbClr val="1F2433"/>
                </a:solidFill>
                <a:latin typeface="Arial"/>
              </a:rPr>
              <a:t>na triagem, extração, JBI e GRADE; 6 relatórios não recuperados.</a:t>
            </a:r>
          </a:p>
          <a:p>
            <a:pPr algn="l" marL="274320" indent="-274320">
              <a:lnSpc>
                <a:spcPct val="100000"/>
              </a:lnSpc>
              <a:spcAft>
                <a:spcPts val="1400"/>
              </a:spcAft>
              <a:buFont typeface="Arial"/>
              <a:buChar char="•"/>
            </a:pPr>
            <a:r>
              <a:rPr sz="1800" b="1" i="0">
                <a:solidFill>
                  <a:srgbClr val="1F2433"/>
                </a:solidFill>
                <a:latin typeface="Arial"/>
              </a:rPr>
              <a:t>Instrumentos sem validação relatada; </a:t>
            </a:r>
            <a:r>
              <a:rPr sz="1800" b="0" i="0">
                <a:solidFill>
                  <a:srgbClr val="1F2433"/>
                </a:solidFill>
                <a:latin typeface="Arial"/>
              </a:rPr>
              <a:t>recordatório e resposta pouco informados.</a:t>
            </a:r>
          </a:p>
          <a:p>
            <a:pPr algn="l" marL="274320" indent="-274320">
              <a:lnSpc>
                <a:spcPct val="100000"/>
              </a:lnSpc>
              <a:spcAft>
                <a:spcPts val="1400"/>
              </a:spcAft>
              <a:buFont typeface="Arial"/>
              <a:buChar char="•"/>
            </a:pPr>
            <a:r>
              <a:rPr sz="1800" b="1" i="0">
                <a:solidFill>
                  <a:srgbClr val="1F2433"/>
                </a:solidFill>
                <a:latin typeface="Arial"/>
              </a:rPr>
              <a:t>Elegibilidade só em português, inglês e espanhol; </a:t>
            </a:r>
            <a:r>
              <a:rPr sz="1800" b="0" i="0">
                <a:solidFill>
                  <a:srgbClr val="1F2433"/>
                </a:solidFill>
                <a:latin typeface="Arial"/>
              </a:rPr>
              <a:t>periódicos pouco indexados.</a:t>
            </a:r>
          </a:p>
          <a:p>
            <a:pPr algn="l" marL="274320" indent="-274320">
              <a:lnSpc>
                <a:spcPct val="100000"/>
              </a:lnSpc>
              <a:spcAft>
                <a:spcPts val="1400"/>
              </a:spcAft>
              <a:buFont typeface="Arial"/>
              <a:buChar char="•"/>
            </a:pPr>
            <a:r>
              <a:rPr sz="1800" b="1" i="0">
                <a:solidFill>
                  <a:srgbClr val="8B0000"/>
                </a:solidFill>
                <a:latin typeface="Arial"/>
              </a:rPr>
              <a:t>A metanálise estima prevalência em expostos, não risco causal.</a:t>
            </a:r>
          </a:p>
        </p:txBody>
      </p:sp>
      <p:sp>
        <p:nvSpPr>
          <p:cNvPr id="17" name="Rounded Rectangle 16"/>
          <p:cNvSpPr/>
          <p:nvPr/>
        </p:nvSpPr>
        <p:spPr>
          <a:xfrm>
            <a:off x="1143000" y="8275320"/>
            <a:ext cx="16642080" cy="1463040"/>
          </a:xfrm>
          <a:prstGeom prst="roundRect">
            <a:avLst>
              <a:gd name="adj" fmla="val 6000"/>
            </a:avLst>
          </a:prstGeom>
          <a:solidFill>
            <a:srgbClr val="002060"/>
          </a:solidFill>
          <a:ln>
            <a:noFill/>
          </a:ln>
          <a:effectLst/>
        </p:spPr>
        <p:txBody>
          <a:bodyPr rtlCol="0" anchor="ctr"/>
          <a:lstStyle/>
          <a:p/>
        </p:txBody>
      </p:sp>
      <p:pic>
        <p:nvPicPr>
          <p:cNvPr id="18" name="icone balance" descr="balance_gold.png"/>
          <p:cNvPicPr>
            <a:picLocks noChangeAspect="1"/>
          </p:cNvPicPr>
          <p:nvPr/>
        </p:nvPicPr>
        <p:blipFill>
          <a:blip r:embed="rId6"/>
          <a:stretch>
            <a:fillRect/>
          </a:stretch>
        </p:blipFill>
        <p:spPr>
          <a:xfrm>
            <a:off x="1508760" y="8686800"/>
            <a:ext cx="640080" cy="640080"/>
          </a:xfrm>
          <a:prstGeom prst="rect">
            <a:avLst/>
          </a:prstGeom>
        </p:spPr>
      </p:pic>
      <p:sp>
        <p:nvSpPr>
          <p:cNvPr id="19" name="TextBox 18"/>
          <p:cNvSpPr txBox="1"/>
          <p:nvPr/>
        </p:nvSpPr>
        <p:spPr>
          <a:xfrm>
            <a:off x="2423160" y="8458200"/>
            <a:ext cx="15041880" cy="1097280"/>
          </a:xfrm>
          <a:prstGeom prst="rect">
            <a:avLst/>
          </a:prstGeom>
          <a:noFill/>
        </p:spPr>
        <p:txBody>
          <a:bodyPr wrap="square" lIns="0" rIns="0" tIns="0" bIns="0" anchor="ctr">
            <a:noAutofit/>
          </a:bodyPr>
          <a:lstStyle/>
          <a:p>
            <a:pPr algn="l">
              <a:lnSpc>
                <a:spcPct val="100000"/>
              </a:lnSpc>
              <a:spcAft>
                <a:spcPts val="0"/>
              </a:spcAft>
              <a:buNone/>
            </a:pPr>
            <a:r>
              <a:rPr sz="1800" b="1" i="0">
                <a:solidFill>
                  <a:srgbClr val="C8A951"/>
                </a:solidFill>
                <a:latin typeface="Arial"/>
              </a:rPr>
              <a:t>Limitações declaradas e testadas por sensibilidade quando possível: </a:t>
            </a:r>
            <a:r>
              <a:rPr sz="1800" b="0" i="0">
                <a:solidFill>
                  <a:srgbClr val="FFFFFF"/>
                </a:solidFill>
                <a:latin typeface="Arial"/>
              </a:rPr>
              <a:t>não invalidam a síntese; delimitam o que a evidência permite afirmar.</a:t>
            </a:r>
          </a:p>
        </p:txBody>
      </p:sp>
    </p:spTree>
  </p:cSld>
  <p:clrMapOvr>
    <a:masterClrMapping/>
  </p:clrMapOvr>
  <p:transition spd="med">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lano de fundo do modelo" descr="tpl_bg.png"/>
          <p:cNvPicPr>
            <a:picLocks noChangeAspect="1"/>
          </p:cNvPicPr>
          <p:nvPr/>
        </p:nvPicPr>
        <p:blipFill>
          <a:blip r:embed="rId2"/>
          <a:stretch>
            <a:fillRect/>
          </a:stretch>
        </p:blipFill>
        <p:spPr>
          <a:xfrm>
            <a:off x="20" y="1923"/>
            <a:ext cx="18287980" cy="10285077"/>
          </a:xfrm>
          <a:prstGeom prst="rect">
            <a:avLst/>
          </a:prstGeom>
        </p:spPr>
      </p:pic>
      <p:sp>
        <p:nvSpPr>
          <p:cNvPr id="3" name="Retângulo branco (modelo)"/>
          <p:cNvSpPr/>
          <p:nvPr/>
        </p:nvSpPr>
        <p:spPr>
          <a:xfrm>
            <a:off x="15888345" y="279974"/>
            <a:ext cx="2362200" cy="863025"/>
          </a:xfrm>
          <a:prstGeom prst="rect">
            <a:avLst/>
          </a:prstGeom>
          <a:solidFill>
            <a:srgbClr val="FFFFFF"/>
          </a:solidFill>
          <a:ln>
            <a:noFill/>
          </a:ln>
        </p:spPr>
        <p:txBody>
          <a:bodyPr rtlCol="0" anchor="ctr"/>
          <a:lstStyle/>
          <a:p>
            <a:pPr algn="ctr"/>
          </a:p>
        </p:txBody>
      </p:sp>
      <p:pic>
        <p:nvPicPr>
          <p:cNvPr id="4" name="Logo SEMICA" descr="image.png"/>
          <p:cNvPicPr>
            <a:picLocks noChangeAspect="1"/>
          </p:cNvPicPr>
          <p:nvPr/>
        </p:nvPicPr>
        <p:blipFill>
          <a:blip r:embed="rId3"/>
          <a:stretch>
            <a:fillRect/>
          </a:stretch>
        </p:blipFill>
        <p:spPr>
          <a:xfrm>
            <a:off x="15544800" y="279974"/>
            <a:ext cx="2512314" cy="1234862"/>
          </a:xfrm>
          <a:prstGeom prst="rect">
            <a:avLst/>
          </a:prstGeom>
        </p:spPr>
      </p:pic>
      <p:sp>
        <p:nvSpPr>
          <p:cNvPr id="5" name="Título da seção"/>
          <p:cNvSpPr txBox="1"/>
          <p:nvPr/>
        </p:nvSpPr>
        <p:spPr>
          <a:xfrm>
            <a:off x="1143000" y="558224"/>
            <a:ext cx="10058400" cy="584775"/>
          </a:xfrm>
          <a:prstGeom prst="rect">
            <a:avLst/>
          </a:prstGeom>
          <a:noFill/>
        </p:spPr>
        <p:txBody>
          <a:bodyPr wrap="square">
            <a:noAutofit/>
          </a:bodyPr>
          <a:lstStyle/>
          <a:p>
            <a:pPr algn="l">
              <a:lnSpc>
                <a:spcPct val="100000"/>
              </a:lnSpc>
              <a:spcAft>
                <a:spcPts val="0"/>
              </a:spcAft>
              <a:buNone/>
            </a:pPr>
            <a:r>
              <a:rPr sz="3200" b="0" i="0">
                <a:solidFill>
                  <a:srgbClr val="000000"/>
                </a:solidFill>
                <a:latin typeface="Arial"/>
              </a:rPr>
              <a:t>CONCLUSÃO</a:t>
            </a:r>
          </a:p>
        </p:txBody>
      </p:sp>
      <p:sp>
        <p:nvSpPr>
          <p:cNvPr id="6" name="Subtítulo"/>
          <p:cNvSpPr txBox="1"/>
          <p:nvPr/>
        </p:nvSpPr>
        <p:spPr>
          <a:xfrm>
            <a:off x="1143000" y="1097280"/>
            <a:ext cx="14173200" cy="502920"/>
          </a:xfrm>
          <a:prstGeom prst="rect">
            <a:avLst/>
          </a:prstGeom>
          <a:noFill/>
        </p:spPr>
        <p:txBody>
          <a:bodyPr wrap="square" lIns="0" rIns="0" tIns="0" bIns="0" anchor="t">
            <a:noAutofit/>
          </a:bodyPr>
          <a:lstStyle/>
          <a:p>
            <a:pPr algn="l">
              <a:lnSpc>
                <a:spcPct val="100000"/>
              </a:lnSpc>
              <a:spcAft>
                <a:spcPts val="0"/>
              </a:spcAft>
              <a:buNone/>
            </a:pPr>
            <a:r>
              <a:rPr sz="2400" b="1" i="0">
                <a:solidFill>
                  <a:srgbClr val="002060"/>
                </a:solidFill>
                <a:latin typeface="Arial"/>
              </a:rPr>
              <a:t>Síntese da mensagem da revisão</a:t>
            </a:r>
          </a:p>
        </p:txBody>
      </p:sp>
      <p:pic>
        <p:nvPicPr>
          <p:cNvPr id="7" name="Foto exaustão e N95" descr="exaustao_n95.png"/>
          <p:cNvPicPr>
            <a:picLocks noChangeAspect="1"/>
          </p:cNvPicPr>
          <p:nvPr/>
        </p:nvPicPr>
        <p:blipFill>
          <a:blip r:embed="rId4"/>
          <a:stretch>
            <a:fillRect/>
          </a:stretch>
        </p:blipFill>
        <p:spPr>
          <a:xfrm>
            <a:off x="1143000" y="1783080"/>
            <a:ext cx="6949440" cy="3888377"/>
          </a:xfrm>
          <a:prstGeom prst="rect">
            <a:avLst/>
          </a:prstGeom>
        </p:spPr>
      </p:pic>
      <p:sp>
        <p:nvSpPr>
          <p:cNvPr id="8" name="TextBox 7"/>
          <p:cNvSpPr txBox="1"/>
          <p:nvPr/>
        </p:nvSpPr>
        <p:spPr>
          <a:xfrm>
            <a:off x="1143000" y="5744609"/>
            <a:ext cx="6949440" cy="320040"/>
          </a:xfrm>
          <a:prstGeom prst="rect">
            <a:avLst/>
          </a:prstGeom>
          <a:noFill/>
        </p:spPr>
        <p:txBody>
          <a:bodyPr wrap="square" lIns="0" rIns="0" tIns="0" bIns="0" anchor="t">
            <a:noAutofit/>
          </a:bodyPr>
          <a:lstStyle/>
          <a:p>
            <a:pPr algn="l">
              <a:lnSpc>
                <a:spcPct val="100000"/>
              </a:lnSpc>
              <a:spcAft>
                <a:spcPts val="0"/>
              </a:spcAft>
              <a:buNone/>
            </a:pPr>
            <a:r>
              <a:rPr sz="1400" b="0" i="0">
                <a:solidFill>
                  <a:srgbClr val="5A6270"/>
                </a:solidFill>
                <a:latin typeface="Arial"/>
              </a:rPr>
              <a:t>Imagem ilustrativa (gerada por IA): exaustão local na fonte e respirador N95.</a:t>
            </a:r>
          </a:p>
        </p:txBody>
      </p:sp>
      <p:sp>
        <p:nvSpPr>
          <p:cNvPr id="9" name="Rounded Rectangle 8"/>
          <p:cNvSpPr/>
          <p:nvPr/>
        </p:nvSpPr>
        <p:spPr>
          <a:xfrm>
            <a:off x="1143000" y="6174377"/>
            <a:ext cx="6949440" cy="1918062"/>
          </a:xfrm>
          <a:prstGeom prst="roundRect">
            <a:avLst>
              <a:gd name="adj" fmla="val 6000"/>
            </a:avLst>
          </a:prstGeom>
          <a:solidFill>
            <a:srgbClr val="E6EBF5"/>
          </a:solidFill>
          <a:ln>
            <a:noFill/>
          </a:ln>
          <a:effectLst/>
        </p:spPr>
        <p:txBody>
          <a:bodyPr rtlCol="0" anchor="ctr"/>
          <a:lstStyle/>
          <a:p/>
        </p:txBody>
      </p:sp>
      <p:sp>
        <p:nvSpPr>
          <p:cNvPr id="10" name="TextBox 9"/>
          <p:cNvSpPr txBox="1"/>
          <p:nvPr/>
        </p:nvSpPr>
        <p:spPr>
          <a:xfrm>
            <a:off x="1463040" y="6448697"/>
            <a:ext cx="6309359" cy="411480"/>
          </a:xfrm>
          <a:prstGeom prst="rect">
            <a:avLst/>
          </a:prstGeom>
          <a:noFill/>
        </p:spPr>
        <p:txBody>
          <a:bodyPr wrap="square" lIns="0" rIns="0" tIns="0" bIns="0" anchor="t">
            <a:noAutofit/>
          </a:bodyPr>
          <a:lstStyle/>
          <a:p>
            <a:pPr algn="l">
              <a:lnSpc>
                <a:spcPct val="100000"/>
              </a:lnSpc>
              <a:spcAft>
                <a:spcPts val="0"/>
              </a:spcAft>
              <a:buNone/>
            </a:pPr>
            <a:r>
              <a:rPr sz="1900" b="1" i="0">
                <a:solidFill>
                  <a:srgbClr val="002060"/>
                </a:solidFill>
                <a:latin typeface="Arial"/>
              </a:rPr>
              <a:t>Proteção recomendada (NIOSH, 1996)</a:t>
            </a:r>
          </a:p>
        </p:txBody>
      </p:sp>
      <p:sp>
        <p:nvSpPr>
          <p:cNvPr id="11" name="TextBox 10"/>
          <p:cNvSpPr txBox="1"/>
          <p:nvPr/>
        </p:nvSpPr>
        <p:spPr>
          <a:xfrm>
            <a:off x="1463040" y="6905897"/>
            <a:ext cx="6309359" cy="866502"/>
          </a:xfrm>
          <a:prstGeom prst="rect">
            <a:avLst/>
          </a:prstGeom>
          <a:noFill/>
        </p:spPr>
        <p:txBody>
          <a:bodyPr wrap="square" lIns="0" rIns="0" tIns="0" bIns="0" anchor="t">
            <a:noAutofit/>
          </a:bodyPr>
          <a:lstStyle/>
          <a:p>
            <a:pPr algn="l" marL="274320" indent="-274320">
              <a:lnSpc>
                <a:spcPct val="100000"/>
              </a:lnSpc>
              <a:spcAft>
                <a:spcPts val="300"/>
              </a:spcAft>
              <a:buClr>
                <a:srgbClr val="002060"/>
              </a:buClr>
              <a:buFont typeface="Arial"/>
              <a:buChar char="•"/>
            </a:pPr>
            <a:r>
              <a:rPr sz="1700" b="1" i="0">
                <a:solidFill>
                  <a:srgbClr val="1F2433"/>
                </a:solidFill>
                <a:latin typeface="Arial"/>
              </a:rPr>
              <a:t>Evacuação local na fonte </a:t>
            </a:r>
            <a:r>
              <a:rPr sz="1700" b="0" i="0">
                <a:solidFill>
                  <a:srgbClr val="1F2433"/>
                </a:solidFill>
                <a:latin typeface="Arial"/>
              </a:rPr>
              <a:t>(medida principal);</a:t>
            </a:r>
          </a:p>
          <a:p>
            <a:pPr algn="l" marL="274320" indent="-274320">
              <a:lnSpc>
                <a:spcPct val="100000"/>
              </a:lnSpc>
              <a:spcAft>
                <a:spcPts val="300"/>
              </a:spcAft>
              <a:buClr>
                <a:srgbClr val="002060"/>
              </a:buClr>
              <a:buFont typeface="Arial"/>
              <a:buChar char="•"/>
            </a:pPr>
            <a:r>
              <a:rPr sz="1700" b="1" i="0">
                <a:solidFill>
                  <a:srgbClr val="1F2433"/>
                </a:solidFill>
                <a:latin typeface="Arial"/>
              </a:rPr>
              <a:t>Respiradores N95/PFF2 </a:t>
            </a:r>
            <a:r>
              <a:rPr sz="1700" b="0" i="0">
                <a:solidFill>
                  <a:srgbClr val="1F2433"/>
                </a:solidFill>
                <a:latin typeface="Arial"/>
              </a:rPr>
              <a:t>(não substituem a exaustão);</a:t>
            </a:r>
          </a:p>
          <a:p>
            <a:pPr algn="l" marL="274320" indent="-274320">
              <a:lnSpc>
                <a:spcPct val="100000"/>
              </a:lnSpc>
              <a:spcAft>
                <a:spcPts val="300"/>
              </a:spcAft>
              <a:buClr>
                <a:srgbClr val="002060"/>
              </a:buClr>
              <a:buFont typeface="Arial"/>
              <a:buChar char="•"/>
            </a:pPr>
            <a:r>
              <a:rPr sz="1700" b="1" i="0">
                <a:solidFill>
                  <a:srgbClr val="1F2433"/>
                </a:solidFill>
                <a:latin typeface="Arial"/>
              </a:rPr>
              <a:t>Educação da equipe. </a:t>
            </a:r>
            <a:r>
              <a:rPr sz="1700" b="0" i="0">
                <a:solidFill>
                  <a:srgbClr val="1F2433"/>
                </a:solidFill>
                <a:latin typeface="Arial"/>
              </a:rPr>
              <a:t>Efetividade das medidas não avaliada.</a:t>
            </a:r>
          </a:p>
        </p:txBody>
      </p:sp>
      <p:sp>
        <p:nvSpPr>
          <p:cNvPr id="12" name="Rounded Rectangle 11"/>
          <p:cNvSpPr/>
          <p:nvPr/>
        </p:nvSpPr>
        <p:spPr>
          <a:xfrm>
            <a:off x="8549640" y="1783080"/>
            <a:ext cx="9235440" cy="1921328"/>
          </a:xfrm>
          <a:prstGeom prst="roundRect">
            <a:avLst>
              <a:gd name="adj" fmla="val 6000"/>
            </a:avLst>
          </a:prstGeom>
          <a:solidFill>
            <a:srgbClr val="E7F3E8"/>
          </a:solidFill>
          <a:ln>
            <a:noFill/>
          </a:ln>
          <a:effectLst/>
        </p:spPr>
        <p:txBody>
          <a:bodyPr rtlCol="0" anchor="ctr"/>
          <a:lstStyle/>
          <a:p/>
        </p:txBody>
      </p:sp>
      <p:sp>
        <p:nvSpPr>
          <p:cNvPr id="13" name="Oval 12"/>
          <p:cNvSpPr/>
          <p:nvPr/>
        </p:nvSpPr>
        <p:spPr>
          <a:xfrm>
            <a:off x="8869680" y="2377984"/>
            <a:ext cx="731520" cy="731520"/>
          </a:xfrm>
          <a:prstGeom prst="ellipse">
            <a:avLst/>
          </a:prstGeom>
          <a:solidFill>
            <a:srgbClr val="2E7D32"/>
          </a:solidFill>
          <a:ln>
            <a:noFill/>
          </a:ln>
          <a:effectLst/>
        </p:spPr>
        <p:txBody>
          <a:bodyPr rtlCol="0" anchor="ctr" lIns="0" rIns="0" tIns="0" bIns="0"/>
          <a:lstStyle/>
          <a:p/>
        </p:txBody>
      </p:sp>
      <p:pic>
        <p:nvPicPr>
          <p:cNvPr id="14" name="icone check" descr="check_white.png"/>
          <p:cNvPicPr>
            <a:picLocks noChangeAspect="1"/>
          </p:cNvPicPr>
          <p:nvPr/>
        </p:nvPicPr>
        <p:blipFill>
          <a:blip r:embed="rId5"/>
          <a:stretch>
            <a:fillRect/>
          </a:stretch>
        </p:blipFill>
        <p:spPr>
          <a:xfrm>
            <a:off x="9052560" y="2560864"/>
            <a:ext cx="365760" cy="365760"/>
          </a:xfrm>
          <a:prstGeom prst="rect">
            <a:avLst/>
          </a:prstGeom>
        </p:spPr>
      </p:pic>
      <p:sp>
        <p:nvSpPr>
          <p:cNvPr id="15" name="TextBox 14"/>
          <p:cNvSpPr txBox="1"/>
          <p:nvPr/>
        </p:nvSpPr>
        <p:spPr>
          <a:xfrm>
            <a:off x="9829800" y="2011679"/>
            <a:ext cx="7635240" cy="1464128"/>
          </a:xfrm>
          <a:prstGeom prst="rect">
            <a:avLst/>
          </a:prstGeom>
          <a:noFill/>
        </p:spPr>
        <p:txBody>
          <a:bodyPr wrap="square" lIns="0" rIns="0" tIns="0" bIns="0" anchor="ctr">
            <a:noAutofit/>
          </a:bodyPr>
          <a:lstStyle/>
          <a:p>
            <a:pPr algn="l">
              <a:lnSpc>
                <a:spcPct val="102000"/>
              </a:lnSpc>
              <a:spcAft>
                <a:spcPts val="600"/>
              </a:spcAft>
              <a:buNone/>
            </a:pPr>
            <a:r>
              <a:rPr sz="1900" b="1" i="0">
                <a:solidFill>
                  <a:srgbClr val="2E7D32"/>
                </a:solidFill>
                <a:latin typeface="Arial"/>
              </a:rPr>
              <a:t>O que se sabe</a:t>
            </a:r>
          </a:p>
          <a:p>
            <a:pPr algn="l">
              <a:lnSpc>
                <a:spcPct val="102000"/>
              </a:lnSpc>
              <a:spcAft>
                <a:spcPts val="0"/>
              </a:spcAft>
              <a:buNone/>
            </a:pPr>
            <a:r>
              <a:rPr sz="1700" b="0" i="0">
                <a:solidFill>
                  <a:srgbClr val="1F2433"/>
                </a:solidFill>
                <a:latin typeface="Arial"/>
              </a:rPr>
              <a:t>Sintomas oculares (37,6%; IP 7–83%) e respiratórios (41,7%; IP 15–74%) são </a:t>
            </a:r>
            <a:r>
              <a:rPr sz="1700" b="1" i="0">
                <a:solidFill>
                  <a:srgbClr val="1F2433"/>
                </a:solidFill>
                <a:latin typeface="Arial"/>
              </a:rPr>
              <a:t>frequentes</a:t>
            </a:r>
            <a:r>
              <a:rPr sz="1700" b="0" i="0">
                <a:solidFill>
                  <a:srgbClr val="1F2433"/>
                </a:solidFill>
                <a:latin typeface="Arial"/>
              </a:rPr>
              <a:t>, com ampla variação entre contextos; desfechos objetivos sinalizam alterações além do incômodo agudo.</a:t>
            </a:r>
          </a:p>
        </p:txBody>
      </p:sp>
      <p:sp>
        <p:nvSpPr>
          <p:cNvPr id="16" name="Rounded Rectangle 15"/>
          <p:cNvSpPr/>
          <p:nvPr/>
        </p:nvSpPr>
        <p:spPr>
          <a:xfrm>
            <a:off x="8549640" y="3978728"/>
            <a:ext cx="9235440" cy="1921328"/>
          </a:xfrm>
          <a:prstGeom prst="roundRect">
            <a:avLst>
              <a:gd name="adj" fmla="val 6000"/>
            </a:avLst>
          </a:prstGeom>
          <a:solidFill>
            <a:srgbClr val="FBF5E3"/>
          </a:solidFill>
          <a:ln>
            <a:noFill/>
          </a:ln>
          <a:effectLst/>
        </p:spPr>
        <p:txBody>
          <a:bodyPr rtlCol="0" anchor="ctr"/>
          <a:lstStyle/>
          <a:p/>
        </p:txBody>
      </p:sp>
      <p:sp>
        <p:nvSpPr>
          <p:cNvPr id="17" name="Oval 16"/>
          <p:cNvSpPr/>
          <p:nvPr/>
        </p:nvSpPr>
        <p:spPr>
          <a:xfrm>
            <a:off x="8869680" y="4573632"/>
            <a:ext cx="731520" cy="731520"/>
          </a:xfrm>
          <a:prstGeom prst="ellipse">
            <a:avLst/>
          </a:prstGeom>
          <a:solidFill>
            <a:srgbClr val="E08A1E"/>
          </a:solidFill>
          <a:ln>
            <a:noFill/>
          </a:ln>
          <a:effectLst/>
        </p:spPr>
        <p:txBody>
          <a:bodyPr rtlCol="0" anchor="ctr" lIns="0" rIns="0" tIns="0" bIns="0"/>
          <a:lstStyle/>
          <a:p/>
        </p:txBody>
      </p:sp>
      <p:pic>
        <p:nvPicPr>
          <p:cNvPr id="18" name="icone question" descr="question_white.png"/>
          <p:cNvPicPr>
            <a:picLocks noChangeAspect="1"/>
          </p:cNvPicPr>
          <p:nvPr/>
        </p:nvPicPr>
        <p:blipFill>
          <a:blip r:embed="rId6"/>
          <a:stretch>
            <a:fillRect/>
          </a:stretch>
        </p:blipFill>
        <p:spPr>
          <a:xfrm>
            <a:off x="9052560" y="4756512"/>
            <a:ext cx="365760" cy="365760"/>
          </a:xfrm>
          <a:prstGeom prst="rect">
            <a:avLst/>
          </a:prstGeom>
        </p:spPr>
      </p:pic>
      <p:sp>
        <p:nvSpPr>
          <p:cNvPr id="19" name="TextBox 18"/>
          <p:cNvSpPr txBox="1"/>
          <p:nvPr/>
        </p:nvSpPr>
        <p:spPr>
          <a:xfrm>
            <a:off x="9829800" y="4207328"/>
            <a:ext cx="7635240" cy="1464128"/>
          </a:xfrm>
          <a:prstGeom prst="rect">
            <a:avLst/>
          </a:prstGeom>
          <a:noFill/>
        </p:spPr>
        <p:txBody>
          <a:bodyPr wrap="square" lIns="0" rIns="0" tIns="0" bIns="0" anchor="ctr">
            <a:noAutofit/>
          </a:bodyPr>
          <a:lstStyle/>
          <a:p>
            <a:pPr algn="l">
              <a:lnSpc>
                <a:spcPct val="102000"/>
              </a:lnSpc>
              <a:spcAft>
                <a:spcPts val="600"/>
              </a:spcAft>
              <a:buNone/>
            </a:pPr>
            <a:r>
              <a:rPr sz="1900" b="1" i="0">
                <a:solidFill>
                  <a:srgbClr val="8A6D1F"/>
                </a:solidFill>
                <a:latin typeface="Arial"/>
              </a:rPr>
              <a:t>O que não se sabe</a:t>
            </a:r>
          </a:p>
          <a:p>
            <a:pPr algn="l">
              <a:lnSpc>
                <a:spcPct val="102000"/>
              </a:lnSpc>
              <a:spcAft>
                <a:spcPts val="0"/>
              </a:spcAft>
              <a:buNone/>
            </a:pPr>
            <a:r>
              <a:rPr sz="1700" b="0" i="0">
                <a:solidFill>
                  <a:srgbClr val="1F2433"/>
                </a:solidFill>
                <a:latin typeface="Arial"/>
              </a:rPr>
              <a:t>Entre os estudos elegíveis, </a:t>
            </a:r>
            <a:r>
              <a:rPr sz="1700" b="1" i="0">
                <a:solidFill>
                  <a:srgbClr val="1F2433"/>
                </a:solidFill>
                <a:latin typeface="Arial"/>
              </a:rPr>
              <a:t>não há evidência direta de câncer ou DPOC atribuíveis à fumaça</a:t>
            </a:r>
            <a:r>
              <a:rPr sz="1700" b="0" i="0">
                <a:solidFill>
                  <a:srgbClr val="1F2433"/>
                </a:solidFill>
                <a:latin typeface="Arial"/>
              </a:rPr>
              <a:t>; certeza muito baixa; a exposição múltipla limita a atribuição causal.</a:t>
            </a:r>
          </a:p>
        </p:txBody>
      </p:sp>
      <p:sp>
        <p:nvSpPr>
          <p:cNvPr id="20" name="Rounded Rectangle 19"/>
          <p:cNvSpPr/>
          <p:nvPr/>
        </p:nvSpPr>
        <p:spPr>
          <a:xfrm>
            <a:off x="8549640" y="6174377"/>
            <a:ext cx="9235440" cy="1918062"/>
          </a:xfrm>
          <a:prstGeom prst="roundRect">
            <a:avLst>
              <a:gd name="adj" fmla="val 6000"/>
            </a:avLst>
          </a:prstGeom>
          <a:solidFill>
            <a:srgbClr val="E6EBF5"/>
          </a:solidFill>
          <a:ln>
            <a:noFill/>
          </a:ln>
          <a:effectLst/>
        </p:spPr>
        <p:txBody>
          <a:bodyPr rtlCol="0" anchor="ctr"/>
          <a:lstStyle/>
          <a:p/>
        </p:txBody>
      </p:sp>
      <p:sp>
        <p:nvSpPr>
          <p:cNvPr id="21" name="Oval 20"/>
          <p:cNvSpPr/>
          <p:nvPr/>
        </p:nvSpPr>
        <p:spPr>
          <a:xfrm>
            <a:off x="8869680" y="6494417"/>
            <a:ext cx="731520" cy="731520"/>
          </a:xfrm>
          <a:prstGeom prst="ellipse">
            <a:avLst/>
          </a:prstGeom>
          <a:solidFill>
            <a:srgbClr val="002060"/>
          </a:solidFill>
          <a:ln>
            <a:noFill/>
          </a:ln>
          <a:effectLst/>
        </p:spPr>
        <p:txBody>
          <a:bodyPr rtlCol="0" anchor="ctr" lIns="0" rIns="0" tIns="0" bIns="0"/>
          <a:lstStyle/>
          <a:p/>
        </p:txBody>
      </p:sp>
      <p:pic>
        <p:nvPicPr>
          <p:cNvPr id="22" name="icone shield" descr="shield_white.png"/>
          <p:cNvPicPr>
            <a:picLocks noChangeAspect="1"/>
          </p:cNvPicPr>
          <p:nvPr/>
        </p:nvPicPr>
        <p:blipFill>
          <a:blip r:embed="rId7"/>
          <a:stretch>
            <a:fillRect/>
          </a:stretch>
        </p:blipFill>
        <p:spPr>
          <a:xfrm>
            <a:off x="9052560" y="6677297"/>
            <a:ext cx="365760" cy="365760"/>
          </a:xfrm>
          <a:prstGeom prst="rect">
            <a:avLst/>
          </a:prstGeom>
        </p:spPr>
      </p:pic>
      <p:sp>
        <p:nvSpPr>
          <p:cNvPr id="23" name="TextBox 22"/>
          <p:cNvSpPr txBox="1"/>
          <p:nvPr/>
        </p:nvSpPr>
        <p:spPr>
          <a:xfrm>
            <a:off x="9829800" y="6448697"/>
            <a:ext cx="7635240" cy="411480"/>
          </a:xfrm>
          <a:prstGeom prst="rect">
            <a:avLst/>
          </a:prstGeom>
          <a:noFill/>
        </p:spPr>
        <p:txBody>
          <a:bodyPr wrap="square" lIns="0" rIns="0" tIns="0" bIns="0" anchor="t">
            <a:noAutofit/>
          </a:bodyPr>
          <a:lstStyle/>
          <a:p>
            <a:pPr algn="l">
              <a:lnSpc>
                <a:spcPct val="100000"/>
              </a:lnSpc>
              <a:spcAft>
                <a:spcPts val="0"/>
              </a:spcAft>
              <a:buNone/>
            </a:pPr>
            <a:r>
              <a:rPr sz="1900" b="1" i="0">
                <a:solidFill>
                  <a:srgbClr val="002060"/>
                </a:solidFill>
                <a:latin typeface="Arial"/>
              </a:rPr>
              <a:t>Implicação</a:t>
            </a:r>
          </a:p>
        </p:txBody>
      </p:sp>
      <p:sp>
        <p:nvSpPr>
          <p:cNvPr id="24" name="TextBox 23"/>
          <p:cNvSpPr txBox="1"/>
          <p:nvPr/>
        </p:nvSpPr>
        <p:spPr>
          <a:xfrm>
            <a:off x="9829800" y="6905897"/>
            <a:ext cx="7635240" cy="866502"/>
          </a:xfrm>
          <a:prstGeom prst="rect">
            <a:avLst/>
          </a:prstGeom>
          <a:noFill/>
        </p:spPr>
        <p:txBody>
          <a:bodyPr wrap="square" lIns="0" rIns="0" tIns="0" bIns="0" anchor="t">
            <a:noAutofit/>
          </a:bodyPr>
          <a:lstStyle/>
          <a:p>
            <a:pPr algn="l">
              <a:lnSpc>
                <a:spcPct val="102000"/>
              </a:lnSpc>
              <a:spcAft>
                <a:spcPts val="0"/>
              </a:spcAft>
              <a:buNone/>
            </a:pPr>
            <a:r>
              <a:rPr sz="1700" b="0" i="0">
                <a:solidFill>
                  <a:srgbClr val="1F2433"/>
                </a:solidFill>
                <a:latin typeface="Arial"/>
              </a:rPr>
              <a:t>A proteção da equipe </a:t>
            </a:r>
            <a:r>
              <a:rPr sz="1700" b="1" i="0">
                <a:solidFill>
                  <a:srgbClr val="1F2433"/>
                </a:solidFill>
                <a:latin typeface="Arial"/>
              </a:rPr>
              <a:t>parece justificada</a:t>
            </a:r>
            <a:r>
              <a:rPr sz="1700" b="0" i="0">
                <a:solidFill>
                  <a:srgbClr val="1F2433"/>
                </a:solidFill>
                <a:latin typeface="Arial"/>
              </a:rPr>
              <a:t> pela carga sintomática e pelo princípio da precaução; o risco de longo prazo depende de estudos longitudinais.</a:t>
            </a:r>
          </a:p>
        </p:txBody>
      </p:sp>
      <p:sp>
        <p:nvSpPr>
          <p:cNvPr id="25" name="Rounded Rectangle 24"/>
          <p:cNvSpPr/>
          <p:nvPr/>
        </p:nvSpPr>
        <p:spPr>
          <a:xfrm>
            <a:off x="1143000" y="8366760"/>
            <a:ext cx="16642080" cy="1371600"/>
          </a:xfrm>
          <a:prstGeom prst="roundRect">
            <a:avLst>
              <a:gd name="adj" fmla="val 6000"/>
            </a:avLst>
          </a:prstGeom>
          <a:solidFill>
            <a:srgbClr val="002060"/>
          </a:solidFill>
          <a:ln>
            <a:noFill/>
          </a:ln>
          <a:effectLst/>
        </p:spPr>
        <p:txBody>
          <a:bodyPr rtlCol="0" anchor="ctr"/>
          <a:lstStyle/>
          <a:p/>
        </p:txBody>
      </p:sp>
      <p:sp>
        <p:nvSpPr>
          <p:cNvPr id="26" name="TextBox 25"/>
          <p:cNvSpPr txBox="1"/>
          <p:nvPr/>
        </p:nvSpPr>
        <p:spPr>
          <a:xfrm>
            <a:off x="1554480" y="8549640"/>
            <a:ext cx="15819120" cy="1005840"/>
          </a:xfrm>
          <a:prstGeom prst="rect">
            <a:avLst/>
          </a:prstGeom>
          <a:noFill/>
        </p:spPr>
        <p:txBody>
          <a:bodyPr wrap="square" lIns="0" rIns="0" tIns="0" bIns="0" anchor="ctr">
            <a:noAutofit/>
          </a:bodyPr>
          <a:lstStyle/>
          <a:p>
            <a:pPr algn="l">
              <a:lnSpc>
                <a:spcPct val="100000"/>
              </a:lnSpc>
              <a:spcAft>
                <a:spcPts val="0"/>
              </a:spcAft>
              <a:buNone/>
            </a:pPr>
            <a:r>
              <a:rPr sz="1800" b="1" i="0">
                <a:solidFill>
                  <a:srgbClr val="C8A951"/>
                </a:solidFill>
                <a:latin typeface="Arial"/>
              </a:rPr>
              <a:t>Mensagem final: </a:t>
            </a:r>
            <a:r>
              <a:rPr sz="1800" b="0" i="0">
                <a:solidFill>
                  <a:srgbClr val="FFFFFF"/>
                </a:solidFill>
                <a:latin typeface="Arial"/>
              </a:rPr>
              <a:t>na equipe exposta, sintomas oculares e respiratórios são frequentes e estudos isolados sugerem alterações além do incômodo agudo; proteger a equipe hoje é prudente, e medir o risco crônico é tarefa dos próximos estudos.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35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35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350"/>
                                        <p:tgtEl>
                                          <p:spTgt spid="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350"/>
                                        <p:tgtEl>
                                          <p:spTgt spid="1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350"/>
                                        <p:tgtEl>
                                          <p:spTgt spid="11"/>
                                        </p:tgtEl>
                                      </p:cBhvr>
                                    </p:animEffect>
                                  </p:childTnLst>
                                </p:cTn>
                              </p:par>
                            </p:childTnLst>
                          </p:cTn>
                        </p:par>
                        <p:par>
                          <p:cTn id="20" fill="hold">
                            <p:stCondLst>
                              <p:cond delay="350"/>
                            </p:stCondLst>
                            <p:childTnLst>
                              <p:par>
                                <p:cTn id="21" presetID="10" presetClass="entr" presetSubtype="0" fill="hold" grpId="0" nodeType="after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350"/>
                                        <p:tgtEl>
                                          <p:spTgt spid="1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350"/>
                                        <p:tgtEl>
                                          <p:spTgt spid="13"/>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350"/>
                                        <p:tgtEl>
                                          <p:spTgt spid="14"/>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350"/>
                                        <p:tgtEl>
                                          <p:spTgt spid="15"/>
                                        </p:tgtEl>
                                      </p:cBhvr>
                                    </p:animEffect>
                                  </p:childTnLst>
                                </p:cTn>
                              </p:par>
                            </p:childTnLst>
                          </p:cTn>
                        </p:par>
                        <p:par>
                          <p:cTn id="33" fill="hold">
                            <p:stCondLst>
                              <p:cond delay="700"/>
                            </p:stCondLst>
                            <p:childTnLst>
                              <p:par>
                                <p:cTn id="34" presetID="10" presetClass="entr" presetSubtype="0" fill="hold" grpId="0" nodeType="after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350"/>
                                        <p:tgtEl>
                                          <p:spTgt spid="1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350"/>
                                        <p:tgtEl>
                                          <p:spTgt spid="17"/>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fade">
                                      <p:cBhvr>
                                        <p:cTn id="42" dur="350"/>
                                        <p:tgtEl>
                                          <p:spTgt spid="18"/>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9"/>
                                        </p:tgtEl>
                                        <p:attrNameLst>
                                          <p:attrName>style.visibility</p:attrName>
                                        </p:attrNameLst>
                                      </p:cBhvr>
                                      <p:to>
                                        <p:strVal val="visible"/>
                                      </p:to>
                                    </p:set>
                                    <p:animEffect transition="in" filter="fade">
                                      <p:cBhvr>
                                        <p:cTn id="45" dur="350"/>
                                        <p:tgtEl>
                                          <p:spTgt spid="19"/>
                                        </p:tgtEl>
                                      </p:cBhvr>
                                    </p:animEffect>
                                  </p:childTnLst>
                                </p:cTn>
                              </p:par>
                            </p:childTnLst>
                          </p:cTn>
                        </p:par>
                        <p:par>
                          <p:cTn id="46" fill="hold">
                            <p:stCondLst>
                              <p:cond delay="1050"/>
                            </p:stCondLst>
                            <p:childTnLst>
                              <p:par>
                                <p:cTn id="47" presetID="10" presetClass="entr" presetSubtype="0" fill="hold" grpId="0" nodeType="after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350"/>
                                        <p:tgtEl>
                                          <p:spTgt spid="20"/>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fade">
                                      <p:cBhvr>
                                        <p:cTn id="52" dur="350"/>
                                        <p:tgtEl>
                                          <p:spTgt spid="21"/>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fade">
                                      <p:cBhvr>
                                        <p:cTn id="55" dur="350"/>
                                        <p:tgtEl>
                                          <p:spTgt spid="22"/>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3"/>
                                        </p:tgtEl>
                                        <p:attrNameLst>
                                          <p:attrName>style.visibility</p:attrName>
                                        </p:attrNameLst>
                                      </p:cBhvr>
                                      <p:to>
                                        <p:strVal val="visible"/>
                                      </p:to>
                                    </p:set>
                                    <p:animEffect transition="in" filter="fade">
                                      <p:cBhvr>
                                        <p:cTn id="58" dur="350"/>
                                        <p:tgtEl>
                                          <p:spTgt spid="23"/>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4"/>
                                        </p:tgtEl>
                                        <p:attrNameLst>
                                          <p:attrName>style.visibility</p:attrName>
                                        </p:attrNameLst>
                                      </p:cBhvr>
                                      <p:to>
                                        <p:strVal val="visible"/>
                                      </p:to>
                                    </p:set>
                                    <p:animEffect transition="in" filter="fade">
                                      <p:cBhvr>
                                        <p:cTn id="61" dur="350"/>
                                        <p:tgtEl>
                                          <p:spTgt spid="24"/>
                                        </p:tgtEl>
                                      </p:cBhvr>
                                    </p:animEffect>
                                  </p:childTnLst>
                                </p:cTn>
                              </p:par>
                            </p:childTnLst>
                          </p:cTn>
                        </p:par>
                        <p:par>
                          <p:cTn id="62" fill="hold">
                            <p:stCondLst>
                              <p:cond delay="1400"/>
                            </p:stCondLst>
                            <p:childTnLst>
                              <p:par>
                                <p:cTn id="63" presetID="10" presetClass="entr" presetSubtype="0" fill="hold" grpId="0" nodeType="afterEffect">
                                  <p:stCondLst>
                                    <p:cond delay="0"/>
                                  </p:stCondLst>
                                  <p:childTnLst>
                                    <p:set>
                                      <p:cBhvr>
                                        <p:cTn id="64" dur="1" fill="hold">
                                          <p:stCondLst>
                                            <p:cond delay="0"/>
                                          </p:stCondLst>
                                        </p:cTn>
                                        <p:tgtEl>
                                          <p:spTgt spid="25"/>
                                        </p:tgtEl>
                                        <p:attrNameLst>
                                          <p:attrName>style.visibility</p:attrName>
                                        </p:attrNameLst>
                                      </p:cBhvr>
                                      <p:to>
                                        <p:strVal val="visible"/>
                                      </p:to>
                                    </p:set>
                                    <p:animEffect transition="in" filter="fade">
                                      <p:cBhvr>
                                        <p:cTn id="65" dur="350"/>
                                        <p:tgtEl>
                                          <p:spTgt spid="25"/>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6"/>
                                        </p:tgtEl>
                                        <p:attrNameLst>
                                          <p:attrName>style.visibility</p:attrName>
                                        </p:attrNameLst>
                                      </p:cBhvr>
                                      <p:to>
                                        <p:strVal val="visible"/>
                                      </p:to>
                                    </p:set>
                                    <p:animEffect transition="in" filter="fade">
                                      <p:cBhvr>
                                        <p:cTn id="68" dur="35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5" grpId="0" animBg="1"/>
      <p:bldP spid="16" grpId="0" animBg="1"/>
      <p:bldP spid="17" grpId="0" animBg="1"/>
      <p:bldP spid="19" grpId="0" animBg="1"/>
      <p:bldP spid="20" grpId="0" animBg="1"/>
      <p:bldP spid="21" grpId="0" animBg="1"/>
      <p:bldP spid="23" grpId="0" animBg="1"/>
      <p:bldP spid="24" grpId="0" animBg="1"/>
      <p:bldP spid="25" grpId="0" animBg="1"/>
      <p:bldP spid="26" grpId="0" animBg="1"/>
    </p:bldLst>
  </p:timing>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lano de fundo do modelo" descr="tpl_bg.png"/>
          <p:cNvPicPr>
            <a:picLocks noChangeAspect="1"/>
          </p:cNvPicPr>
          <p:nvPr/>
        </p:nvPicPr>
        <p:blipFill>
          <a:blip r:embed="rId2"/>
          <a:stretch>
            <a:fillRect/>
          </a:stretch>
        </p:blipFill>
        <p:spPr>
          <a:xfrm>
            <a:off x="20" y="1923"/>
            <a:ext cx="18287980" cy="10285077"/>
          </a:xfrm>
          <a:prstGeom prst="rect">
            <a:avLst/>
          </a:prstGeom>
        </p:spPr>
      </p:pic>
      <p:sp>
        <p:nvSpPr>
          <p:cNvPr id="3" name="Retângulo branco (modelo)"/>
          <p:cNvSpPr/>
          <p:nvPr/>
        </p:nvSpPr>
        <p:spPr>
          <a:xfrm>
            <a:off x="15888345" y="279974"/>
            <a:ext cx="2362200" cy="863025"/>
          </a:xfrm>
          <a:prstGeom prst="rect">
            <a:avLst/>
          </a:prstGeom>
          <a:solidFill>
            <a:srgbClr val="FFFFFF"/>
          </a:solidFill>
          <a:ln>
            <a:noFill/>
          </a:ln>
        </p:spPr>
        <p:txBody>
          <a:bodyPr rtlCol="0" anchor="ctr"/>
          <a:lstStyle/>
          <a:p>
            <a:pPr algn="ctr"/>
          </a:p>
        </p:txBody>
      </p:sp>
      <p:pic>
        <p:nvPicPr>
          <p:cNvPr id="4" name="Logo SEMICA" descr="image.png"/>
          <p:cNvPicPr>
            <a:picLocks noChangeAspect="1"/>
          </p:cNvPicPr>
          <p:nvPr/>
        </p:nvPicPr>
        <p:blipFill>
          <a:blip r:embed="rId3"/>
          <a:stretch>
            <a:fillRect/>
          </a:stretch>
        </p:blipFill>
        <p:spPr>
          <a:xfrm>
            <a:off x="15544800" y="279974"/>
            <a:ext cx="2512314" cy="1234862"/>
          </a:xfrm>
          <a:prstGeom prst="rect">
            <a:avLst/>
          </a:prstGeom>
        </p:spPr>
      </p:pic>
      <p:sp>
        <p:nvSpPr>
          <p:cNvPr id="5" name="Título da seção"/>
          <p:cNvSpPr txBox="1"/>
          <p:nvPr/>
        </p:nvSpPr>
        <p:spPr>
          <a:xfrm>
            <a:off x="1143000" y="558224"/>
            <a:ext cx="10058400" cy="584775"/>
          </a:xfrm>
          <a:prstGeom prst="rect">
            <a:avLst/>
          </a:prstGeom>
          <a:noFill/>
        </p:spPr>
        <p:txBody>
          <a:bodyPr wrap="square">
            <a:noAutofit/>
          </a:bodyPr>
          <a:lstStyle/>
          <a:p>
            <a:pPr algn="l">
              <a:lnSpc>
                <a:spcPct val="100000"/>
              </a:lnSpc>
              <a:spcAft>
                <a:spcPts val="0"/>
              </a:spcAft>
              <a:buNone/>
            </a:pPr>
            <a:r>
              <a:rPr sz="3200" b="0" i="0">
                <a:solidFill>
                  <a:srgbClr val="000000"/>
                </a:solidFill>
                <a:latin typeface="Arial"/>
              </a:rPr>
              <a:t>PERSPECTIVAS FUTURAS</a:t>
            </a:r>
          </a:p>
        </p:txBody>
      </p:sp>
      <p:sp>
        <p:nvSpPr>
          <p:cNvPr id="6" name="Subtítulo"/>
          <p:cNvSpPr txBox="1"/>
          <p:nvPr/>
        </p:nvSpPr>
        <p:spPr>
          <a:xfrm>
            <a:off x="1143000" y="1097280"/>
            <a:ext cx="14173200" cy="502920"/>
          </a:xfrm>
          <a:prstGeom prst="rect">
            <a:avLst/>
          </a:prstGeom>
          <a:noFill/>
        </p:spPr>
        <p:txBody>
          <a:bodyPr wrap="square" lIns="0" rIns="0" tIns="0" bIns="0" anchor="t">
            <a:noAutofit/>
          </a:bodyPr>
          <a:lstStyle/>
          <a:p>
            <a:pPr algn="l">
              <a:lnSpc>
                <a:spcPct val="100000"/>
              </a:lnSpc>
              <a:spcAft>
                <a:spcPts val="0"/>
              </a:spcAft>
              <a:buNone/>
            </a:pPr>
            <a:r>
              <a:rPr sz="2400" b="1" i="0">
                <a:solidFill>
                  <a:srgbClr val="002060"/>
                </a:solidFill>
                <a:latin typeface="Arial"/>
              </a:rPr>
              <a:t>Agenda de pesquisa e próximos passos deste trabalho</a:t>
            </a:r>
          </a:p>
        </p:txBody>
      </p:sp>
      <p:sp>
        <p:nvSpPr>
          <p:cNvPr id="7" name="Rounded Rectangle 6"/>
          <p:cNvSpPr/>
          <p:nvPr/>
        </p:nvSpPr>
        <p:spPr>
          <a:xfrm>
            <a:off x="1143000" y="1783080"/>
            <a:ext cx="10058400" cy="7955280"/>
          </a:xfrm>
          <a:prstGeom prst="roundRect">
            <a:avLst>
              <a:gd name="adj" fmla="val 6000"/>
            </a:avLst>
          </a:prstGeom>
          <a:solidFill>
            <a:srgbClr val="F2F4F8"/>
          </a:solidFill>
          <a:ln>
            <a:noFill/>
          </a:ln>
          <a:effectLst/>
        </p:spPr>
        <p:txBody>
          <a:bodyPr rtlCol="0" anchor="ctr"/>
          <a:lstStyle/>
          <a:p/>
        </p:txBody>
      </p:sp>
      <p:sp>
        <p:nvSpPr>
          <p:cNvPr id="8" name="TextBox 7"/>
          <p:cNvSpPr txBox="1"/>
          <p:nvPr/>
        </p:nvSpPr>
        <p:spPr>
          <a:xfrm>
            <a:off x="1463040" y="2057400"/>
            <a:ext cx="9418320" cy="457200"/>
          </a:xfrm>
          <a:prstGeom prst="rect">
            <a:avLst/>
          </a:prstGeom>
          <a:noFill/>
        </p:spPr>
        <p:txBody>
          <a:bodyPr wrap="square" lIns="0" rIns="0" tIns="0" bIns="0" anchor="t">
            <a:noAutofit/>
          </a:bodyPr>
          <a:lstStyle/>
          <a:p>
            <a:pPr algn="l">
              <a:lnSpc>
                <a:spcPct val="100000"/>
              </a:lnSpc>
              <a:spcAft>
                <a:spcPts val="0"/>
              </a:spcAft>
              <a:buNone/>
            </a:pPr>
            <a:r>
              <a:rPr sz="2200" b="1" i="0">
                <a:solidFill>
                  <a:srgbClr val="002060"/>
                </a:solidFill>
                <a:latin typeface="Arial"/>
              </a:rPr>
              <a:t>Para o campo: o que falta para responder ao risco crônico</a:t>
            </a:r>
          </a:p>
        </p:txBody>
      </p:sp>
      <p:sp>
        <p:nvSpPr>
          <p:cNvPr id="9" name="Oval 8"/>
          <p:cNvSpPr/>
          <p:nvPr/>
        </p:nvSpPr>
        <p:spPr>
          <a:xfrm>
            <a:off x="1463039" y="2766060"/>
            <a:ext cx="777240" cy="777240"/>
          </a:xfrm>
          <a:prstGeom prst="ellipse">
            <a:avLst/>
          </a:prstGeom>
          <a:solidFill>
            <a:srgbClr val="002060"/>
          </a:solidFill>
          <a:ln>
            <a:noFill/>
          </a:ln>
          <a:effectLst/>
        </p:spPr>
        <p:txBody>
          <a:bodyPr rtlCol="0" anchor="ctr" lIns="0" rIns="0" tIns="0" bIns="0"/>
          <a:lstStyle/>
          <a:p/>
        </p:txBody>
      </p:sp>
      <p:pic>
        <p:nvPicPr>
          <p:cNvPr id="10" name="icone hourglass" descr="hourglass_white.png"/>
          <p:cNvPicPr>
            <a:picLocks noChangeAspect="1"/>
          </p:cNvPicPr>
          <p:nvPr/>
        </p:nvPicPr>
        <p:blipFill>
          <a:blip r:embed="rId4"/>
          <a:stretch>
            <a:fillRect/>
          </a:stretch>
        </p:blipFill>
        <p:spPr>
          <a:xfrm>
            <a:off x="1657350" y="2960370"/>
            <a:ext cx="388620" cy="388620"/>
          </a:xfrm>
          <a:prstGeom prst="rect">
            <a:avLst/>
          </a:prstGeom>
        </p:spPr>
      </p:pic>
      <p:sp>
        <p:nvSpPr>
          <p:cNvPr id="11" name="TextBox 10"/>
          <p:cNvSpPr txBox="1"/>
          <p:nvPr/>
        </p:nvSpPr>
        <p:spPr>
          <a:xfrm>
            <a:off x="2514600" y="2743200"/>
            <a:ext cx="8366760" cy="411480"/>
          </a:xfrm>
          <a:prstGeom prst="rect">
            <a:avLst/>
          </a:prstGeom>
          <a:noFill/>
        </p:spPr>
        <p:txBody>
          <a:bodyPr wrap="square" lIns="0" rIns="0" tIns="0" bIns="0" anchor="t">
            <a:noAutofit/>
          </a:bodyPr>
          <a:lstStyle/>
          <a:p>
            <a:pPr algn="l">
              <a:lnSpc>
                <a:spcPct val="100000"/>
              </a:lnSpc>
              <a:spcAft>
                <a:spcPts val="0"/>
              </a:spcAft>
              <a:buNone/>
            </a:pPr>
            <a:r>
              <a:rPr sz="1900" b="1" i="0">
                <a:solidFill>
                  <a:srgbClr val="002060"/>
                </a:solidFill>
                <a:latin typeface="Arial"/>
              </a:rPr>
              <a:t>Estudos longitudinais</a:t>
            </a:r>
          </a:p>
        </p:txBody>
      </p:sp>
      <p:sp>
        <p:nvSpPr>
          <p:cNvPr id="12" name="TextBox 11"/>
          <p:cNvSpPr txBox="1"/>
          <p:nvPr/>
        </p:nvSpPr>
        <p:spPr>
          <a:xfrm>
            <a:off x="2514600" y="3172968"/>
            <a:ext cx="8366760" cy="658368"/>
          </a:xfrm>
          <a:prstGeom prst="rect">
            <a:avLst/>
          </a:prstGeom>
          <a:noFill/>
        </p:spPr>
        <p:txBody>
          <a:bodyPr wrap="square" lIns="0" rIns="0" tIns="0" bIns="0" anchor="t">
            <a:noAutofit/>
          </a:bodyPr>
          <a:lstStyle/>
          <a:p>
            <a:pPr algn="l">
              <a:lnSpc>
                <a:spcPct val="105000"/>
              </a:lnSpc>
              <a:spcAft>
                <a:spcPts val="0"/>
              </a:spcAft>
              <a:buNone/>
            </a:pPr>
            <a:r>
              <a:rPr sz="1800" b="0" i="0">
                <a:solidFill>
                  <a:srgbClr val="1F2433"/>
                </a:solidFill>
                <a:latin typeface="Arial"/>
              </a:rPr>
              <a:t>Coortes com </a:t>
            </a:r>
            <a:r>
              <a:rPr sz="1800" b="1" i="0">
                <a:solidFill>
                  <a:srgbClr val="1F2433"/>
                </a:solidFill>
                <a:latin typeface="Arial"/>
              </a:rPr>
              <a:t>aferição objetiva da exposição</a:t>
            </a:r>
            <a:r>
              <a:rPr sz="1800" b="0" i="0">
                <a:solidFill>
                  <a:srgbClr val="1F2433"/>
                </a:solidFill>
                <a:latin typeface="Arial"/>
              </a:rPr>
              <a:t> (PM2,5, COV, tempo de dispositivo) e controle de coexposições e tabagismo.</a:t>
            </a:r>
          </a:p>
        </p:txBody>
      </p:sp>
      <p:sp>
        <p:nvSpPr>
          <p:cNvPr id="13" name="Oval 12"/>
          <p:cNvSpPr/>
          <p:nvPr/>
        </p:nvSpPr>
        <p:spPr>
          <a:xfrm>
            <a:off x="1463039" y="4604004"/>
            <a:ext cx="777240" cy="777240"/>
          </a:xfrm>
          <a:prstGeom prst="ellipse">
            <a:avLst/>
          </a:prstGeom>
          <a:solidFill>
            <a:srgbClr val="002060"/>
          </a:solidFill>
          <a:ln>
            <a:noFill/>
          </a:ln>
          <a:effectLst/>
        </p:spPr>
        <p:txBody>
          <a:bodyPr rtlCol="0" anchor="ctr" lIns="0" rIns="0" tIns="0" bIns="0"/>
          <a:lstStyle/>
          <a:p/>
        </p:txBody>
      </p:sp>
      <p:pic>
        <p:nvPicPr>
          <p:cNvPr id="14" name="icone list" descr="list_white.png"/>
          <p:cNvPicPr>
            <a:picLocks noChangeAspect="1"/>
          </p:cNvPicPr>
          <p:nvPr/>
        </p:nvPicPr>
        <p:blipFill>
          <a:blip r:embed="rId5"/>
          <a:stretch>
            <a:fillRect/>
          </a:stretch>
        </p:blipFill>
        <p:spPr>
          <a:xfrm>
            <a:off x="1657350" y="4798314"/>
            <a:ext cx="388620" cy="388620"/>
          </a:xfrm>
          <a:prstGeom prst="rect">
            <a:avLst/>
          </a:prstGeom>
        </p:spPr>
      </p:pic>
      <p:sp>
        <p:nvSpPr>
          <p:cNvPr id="15" name="TextBox 14"/>
          <p:cNvSpPr txBox="1"/>
          <p:nvPr/>
        </p:nvSpPr>
        <p:spPr>
          <a:xfrm>
            <a:off x="2514600" y="4581144"/>
            <a:ext cx="8366760" cy="411480"/>
          </a:xfrm>
          <a:prstGeom prst="rect">
            <a:avLst/>
          </a:prstGeom>
          <a:noFill/>
        </p:spPr>
        <p:txBody>
          <a:bodyPr wrap="square" lIns="0" rIns="0" tIns="0" bIns="0" anchor="t">
            <a:noAutofit/>
          </a:bodyPr>
          <a:lstStyle/>
          <a:p>
            <a:pPr algn="l">
              <a:lnSpc>
                <a:spcPct val="100000"/>
              </a:lnSpc>
              <a:spcAft>
                <a:spcPts val="0"/>
              </a:spcAft>
              <a:buNone/>
            </a:pPr>
            <a:r>
              <a:rPr sz="1900" b="1" i="0">
                <a:solidFill>
                  <a:srgbClr val="002060"/>
                </a:solidFill>
                <a:latin typeface="Arial"/>
              </a:rPr>
              <a:t>Definições padronizadas</a:t>
            </a:r>
          </a:p>
        </p:txBody>
      </p:sp>
      <p:sp>
        <p:nvSpPr>
          <p:cNvPr id="16" name="TextBox 15"/>
          <p:cNvSpPr txBox="1"/>
          <p:nvPr/>
        </p:nvSpPr>
        <p:spPr>
          <a:xfrm>
            <a:off x="2514600" y="5010912"/>
            <a:ext cx="8366760" cy="658368"/>
          </a:xfrm>
          <a:prstGeom prst="rect">
            <a:avLst/>
          </a:prstGeom>
          <a:noFill/>
        </p:spPr>
        <p:txBody>
          <a:bodyPr wrap="square" lIns="0" rIns="0" tIns="0" bIns="0" anchor="t">
            <a:noAutofit/>
          </a:bodyPr>
          <a:lstStyle/>
          <a:p>
            <a:pPr algn="l">
              <a:lnSpc>
                <a:spcPct val="105000"/>
              </a:lnSpc>
              <a:spcAft>
                <a:spcPts val="0"/>
              </a:spcAft>
              <a:buNone/>
            </a:pPr>
            <a:r>
              <a:rPr sz="1800" b="0" i="0">
                <a:solidFill>
                  <a:srgbClr val="1F2433"/>
                </a:solidFill>
                <a:latin typeface="Arial"/>
              </a:rPr>
              <a:t>Sintoma-índice, recordatório e </a:t>
            </a:r>
            <a:r>
              <a:rPr sz="1800" b="1" i="0">
                <a:solidFill>
                  <a:srgbClr val="1F2433"/>
                </a:solidFill>
                <a:latin typeface="Arial"/>
              </a:rPr>
              <a:t>instrumentos validados</a:t>
            </a:r>
            <a:r>
              <a:rPr sz="1800" b="0" i="0">
                <a:solidFill>
                  <a:srgbClr val="1F2433"/>
                </a:solidFill>
                <a:latin typeface="Arial"/>
              </a:rPr>
              <a:t>, com taxa de resposta relatada.</a:t>
            </a:r>
          </a:p>
        </p:txBody>
      </p:sp>
      <p:sp>
        <p:nvSpPr>
          <p:cNvPr id="17" name="Oval 16"/>
          <p:cNvSpPr/>
          <p:nvPr/>
        </p:nvSpPr>
        <p:spPr>
          <a:xfrm>
            <a:off x="1463039" y="6441948"/>
            <a:ext cx="777240" cy="777240"/>
          </a:xfrm>
          <a:prstGeom prst="ellipse">
            <a:avLst/>
          </a:prstGeom>
          <a:solidFill>
            <a:srgbClr val="002060"/>
          </a:solidFill>
          <a:ln>
            <a:noFill/>
          </a:ln>
          <a:effectLst/>
        </p:spPr>
        <p:txBody>
          <a:bodyPr rtlCol="0" anchor="ctr" lIns="0" rIns="0" tIns="0" bIns="0"/>
          <a:lstStyle/>
          <a:p/>
        </p:txBody>
      </p:sp>
      <p:pic>
        <p:nvPicPr>
          <p:cNvPr id="18" name="icone lungs" descr="lungs_white.png"/>
          <p:cNvPicPr>
            <a:picLocks noChangeAspect="1"/>
          </p:cNvPicPr>
          <p:nvPr/>
        </p:nvPicPr>
        <p:blipFill>
          <a:blip r:embed="rId6"/>
          <a:stretch>
            <a:fillRect/>
          </a:stretch>
        </p:blipFill>
        <p:spPr>
          <a:xfrm>
            <a:off x="1657350" y="6636258"/>
            <a:ext cx="388620" cy="388620"/>
          </a:xfrm>
          <a:prstGeom prst="rect">
            <a:avLst/>
          </a:prstGeom>
        </p:spPr>
      </p:pic>
      <p:sp>
        <p:nvSpPr>
          <p:cNvPr id="19" name="TextBox 18"/>
          <p:cNvSpPr txBox="1"/>
          <p:nvPr/>
        </p:nvSpPr>
        <p:spPr>
          <a:xfrm>
            <a:off x="2514600" y="6419088"/>
            <a:ext cx="8366760" cy="411480"/>
          </a:xfrm>
          <a:prstGeom prst="rect">
            <a:avLst/>
          </a:prstGeom>
          <a:noFill/>
        </p:spPr>
        <p:txBody>
          <a:bodyPr wrap="square" lIns="0" rIns="0" tIns="0" bIns="0" anchor="t">
            <a:noAutofit/>
          </a:bodyPr>
          <a:lstStyle/>
          <a:p>
            <a:pPr algn="l">
              <a:lnSpc>
                <a:spcPct val="100000"/>
              </a:lnSpc>
              <a:spcAft>
                <a:spcPts val="0"/>
              </a:spcAft>
              <a:buNone/>
            </a:pPr>
            <a:r>
              <a:rPr sz="1900" b="1" i="0">
                <a:solidFill>
                  <a:srgbClr val="002060"/>
                </a:solidFill>
                <a:latin typeface="Arial"/>
              </a:rPr>
              <a:t>Desfechos crônicos</a:t>
            </a:r>
          </a:p>
        </p:txBody>
      </p:sp>
      <p:sp>
        <p:nvSpPr>
          <p:cNvPr id="20" name="TextBox 19"/>
          <p:cNvSpPr txBox="1"/>
          <p:nvPr/>
        </p:nvSpPr>
        <p:spPr>
          <a:xfrm>
            <a:off x="2514600" y="6848856"/>
            <a:ext cx="8366760" cy="658368"/>
          </a:xfrm>
          <a:prstGeom prst="rect">
            <a:avLst/>
          </a:prstGeom>
          <a:noFill/>
        </p:spPr>
        <p:txBody>
          <a:bodyPr wrap="square" lIns="0" rIns="0" tIns="0" bIns="0" anchor="t">
            <a:noAutofit/>
          </a:bodyPr>
          <a:lstStyle/>
          <a:p>
            <a:pPr algn="l">
              <a:lnSpc>
                <a:spcPct val="105000"/>
              </a:lnSpc>
              <a:spcAft>
                <a:spcPts val="0"/>
              </a:spcAft>
              <a:buNone/>
            </a:pPr>
            <a:r>
              <a:rPr sz="1800" b="0" i="0">
                <a:solidFill>
                  <a:srgbClr val="1F2433"/>
                </a:solidFill>
                <a:latin typeface="Arial"/>
              </a:rPr>
              <a:t>Incidência de </a:t>
            </a:r>
            <a:r>
              <a:rPr sz="1800" b="1" i="0">
                <a:solidFill>
                  <a:srgbClr val="1F2433"/>
                </a:solidFill>
                <a:latin typeface="Arial"/>
              </a:rPr>
              <a:t>câncer e DPOC</a:t>
            </a:r>
            <a:r>
              <a:rPr sz="1800" b="0" i="0">
                <a:solidFill>
                  <a:srgbClr val="1F2433"/>
                </a:solidFill>
                <a:latin typeface="Arial"/>
              </a:rPr>
              <a:t>; seguimento de mucosa nasal, HPV e função pulmonar.</a:t>
            </a:r>
          </a:p>
        </p:txBody>
      </p:sp>
      <p:sp>
        <p:nvSpPr>
          <p:cNvPr id="21" name="Oval 20"/>
          <p:cNvSpPr/>
          <p:nvPr/>
        </p:nvSpPr>
        <p:spPr>
          <a:xfrm>
            <a:off x="1463039" y="8279892"/>
            <a:ext cx="777240" cy="777240"/>
          </a:xfrm>
          <a:prstGeom prst="ellipse">
            <a:avLst/>
          </a:prstGeom>
          <a:solidFill>
            <a:srgbClr val="002060"/>
          </a:solidFill>
          <a:ln>
            <a:noFill/>
          </a:ln>
          <a:effectLst/>
        </p:spPr>
        <p:txBody>
          <a:bodyPr rtlCol="0" anchor="ctr" lIns="0" rIns="0" tIns="0" bIns="0"/>
          <a:lstStyle/>
          <a:p/>
        </p:txBody>
      </p:sp>
      <p:pic>
        <p:nvPicPr>
          <p:cNvPr id="22" name="icone fan" descr="fan_white.png"/>
          <p:cNvPicPr>
            <a:picLocks noChangeAspect="1"/>
          </p:cNvPicPr>
          <p:nvPr/>
        </p:nvPicPr>
        <p:blipFill>
          <a:blip r:embed="rId7"/>
          <a:stretch>
            <a:fillRect/>
          </a:stretch>
        </p:blipFill>
        <p:spPr>
          <a:xfrm>
            <a:off x="1657350" y="8474202"/>
            <a:ext cx="388620" cy="388620"/>
          </a:xfrm>
          <a:prstGeom prst="rect">
            <a:avLst/>
          </a:prstGeom>
        </p:spPr>
      </p:pic>
      <p:sp>
        <p:nvSpPr>
          <p:cNvPr id="23" name="TextBox 22"/>
          <p:cNvSpPr txBox="1"/>
          <p:nvPr/>
        </p:nvSpPr>
        <p:spPr>
          <a:xfrm>
            <a:off x="2514600" y="8257032"/>
            <a:ext cx="8366760" cy="411480"/>
          </a:xfrm>
          <a:prstGeom prst="rect">
            <a:avLst/>
          </a:prstGeom>
          <a:noFill/>
        </p:spPr>
        <p:txBody>
          <a:bodyPr wrap="square" lIns="0" rIns="0" tIns="0" bIns="0" anchor="t">
            <a:noAutofit/>
          </a:bodyPr>
          <a:lstStyle/>
          <a:p>
            <a:pPr algn="l">
              <a:lnSpc>
                <a:spcPct val="100000"/>
              </a:lnSpc>
              <a:spcAft>
                <a:spcPts val="0"/>
              </a:spcAft>
              <a:buNone/>
            </a:pPr>
            <a:r>
              <a:rPr sz="1900" b="1" i="0">
                <a:solidFill>
                  <a:srgbClr val="002060"/>
                </a:solidFill>
                <a:latin typeface="Arial"/>
              </a:rPr>
              <a:t>Efetividade das medidas</a:t>
            </a:r>
          </a:p>
        </p:txBody>
      </p:sp>
      <p:sp>
        <p:nvSpPr>
          <p:cNvPr id="24" name="TextBox 23"/>
          <p:cNvSpPr txBox="1"/>
          <p:nvPr/>
        </p:nvSpPr>
        <p:spPr>
          <a:xfrm>
            <a:off x="2514600" y="8686800"/>
            <a:ext cx="8366760" cy="658368"/>
          </a:xfrm>
          <a:prstGeom prst="rect">
            <a:avLst/>
          </a:prstGeom>
          <a:noFill/>
        </p:spPr>
        <p:txBody>
          <a:bodyPr wrap="square" lIns="0" rIns="0" tIns="0" bIns="0" anchor="t">
            <a:noAutofit/>
          </a:bodyPr>
          <a:lstStyle/>
          <a:p>
            <a:pPr algn="l">
              <a:lnSpc>
                <a:spcPct val="105000"/>
              </a:lnSpc>
              <a:spcAft>
                <a:spcPts val="0"/>
              </a:spcAft>
              <a:buNone/>
            </a:pPr>
            <a:r>
              <a:rPr sz="1800" b="0" i="0">
                <a:solidFill>
                  <a:srgbClr val="1F2433"/>
                </a:solidFill>
                <a:latin typeface="Arial"/>
              </a:rPr>
              <a:t>Intervenção com </a:t>
            </a:r>
            <a:r>
              <a:rPr sz="1800" b="1" i="0">
                <a:solidFill>
                  <a:srgbClr val="1F2433"/>
                </a:solidFill>
                <a:latin typeface="Arial"/>
              </a:rPr>
              <a:t>exaustão local, N95/PFF2 e educação</a:t>
            </a:r>
            <a:r>
              <a:rPr sz="1800" b="0" i="0">
                <a:solidFill>
                  <a:srgbClr val="1F2433"/>
                </a:solidFill>
                <a:latin typeface="Arial"/>
              </a:rPr>
              <a:t>, medindo a exposição antes e depois.</a:t>
            </a:r>
          </a:p>
        </p:txBody>
      </p:sp>
      <p:sp>
        <p:nvSpPr>
          <p:cNvPr id="25" name="Rounded Rectangle 24"/>
          <p:cNvSpPr/>
          <p:nvPr/>
        </p:nvSpPr>
        <p:spPr>
          <a:xfrm>
            <a:off x="11475720" y="1783080"/>
            <a:ext cx="6309359" cy="7955280"/>
          </a:xfrm>
          <a:prstGeom prst="roundRect">
            <a:avLst>
              <a:gd name="adj" fmla="val 6000"/>
            </a:avLst>
          </a:prstGeom>
          <a:solidFill>
            <a:srgbClr val="FBF5E3"/>
          </a:solidFill>
          <a:ln>
            <a:noFill/>
          </a:ln>
          <a:effectLst/>
        </p:spPr>
        <p:txBody>
          <a:bodyPr rtlCol="0" anchor="ctr"/>
          <a:lstStyle/>
          <a:p/>
        </p:txBody>
      </p:sp>
      <p:sp>
        <p:nvSpPr>
          <p:cNvPr id="26" name="TextBox 25"/>
          <p:cNvSpPr txBox="1"/>
          <p:nvPr/>
        </p:nvSpPr>
        <p:spPr>
          <a:xfrm>
            <a:off x="11795760" y="2057400"/>
            <a:ext cx="5669279" cy="457200"/>
          </a:xfrm>
          <a:prstGeom prst="rect">
            <a:avLst/>
          </a:prstGeom>
          <a:noFill/>
        </p:spPr>
        <p:txBody>
          <a:bodyPr wrap="square" lIns="0" rIns="0" tIns="0" bIns="0" anchor="t">
            <a:noAutofit/>
          </a:bodyPr>
          <a:lstStyle/>
          <a:p>
            <a:pPr algn="l">
              <a:lnSpc>
                <a:spcPct val="100000"/>
              </a:lnSpc>
              <a:spcAft>
                <a:spcPts val="0"/>
              </a:spcAft>
              <a:buNone/>
            </a:pPr>
            <a:r>
              <a:rPr sz="2200" b="1" i="0">
                <a:solidFill>
                  <a:srgbClr val="002060"/>
                </a:solidFill>
                <a:latin typeface="Arial"/>
              </a:rPr>
              <a:t>Para este trabalho</a:t>
            </a:r>
          </a:p>
        </p:txBody>
      </p:sp>
      <p:pic>
        <p:nvPicPr>
          <p:cNvPr id="27" name="icone upload" descr="upload_navy.png"/>
          <p:cNvPicPr>
            <a:picLocks noChangeAspect="1"/>
          </p:cNvPicPr>
          <p:nvPr/>
        </p:nvPicPr>
        <p:blipFill>
          <a:blip r:embed="rId8"/>
          <a:stretch>
            <a:fillRect/>
          </a:stretch>
        </p:blipFill>
        <p:spPr>
          <a:xfrm>
            <a:off x="11795760" y="2798064"/>
            <a:ext cx="502920" cy="502920"/>
          </a:xfrm>
          <a:prstGeom prst="rect">
            <a:avLst/>
          </a:prstGeom>
        </p:spPr>
      </p:pic>
      <p:sp>
        <p:nvSpPr>
          <p:cNvPr id="28" name="TextBox 27"/>
          <p:cNvSpPr txBox="1"/>
          <p:nvPr/>
        </p:nvSpPr>
        <p:spPr>
          <a:xfrm>
            <a:off x="12527280" y="2743200"/>
            <a:ext cx="4937759" cy="694944"/>
          </a:xfrm>
          <a:prstGeom prst="rect">
            <a:avLst/>
          </a:prstGeom>
          <a:noFill/>
        </p:spPr>
        <p:txBody>
          <a:bodyPr wrap="square" lIns="0" rIns="0" tIns="0" bIns="0" anchor="t">
            <a:noAutofit/>
          </a:bodyPr>
          <a:lstStyle/>
          <a:p>
            <a:pPr algn="l">
              <a:lnSpc>
                <a:spcPct val="105000"/>
              </a:lnSpc>
              <a:spcAft>
                <a:spcPts val="0"/>
              </a:spcAft>
              <a:buNone/>
            </a:pPr>
            <a:r>
              <a:rPr sz="1800" b="1" i="0">
                <a:solidFill>
                  <a:srgbClr val="1F2433"/>
                </a:solidFill>
                <a:latin typeface="Arial"/>
              </a:rPr>
              <a:t>Submissão </a:t>
            </a:r>
            <a:r>
              <a:rPr sz="1800" b="0" i="0">
                <a:solidFill>
                  <a:srgbClr val="1F2433"/>
                </a:solidFill>
                <a:latin typeface="Arial"/>
              </a:rPr>
              <a:t>do manuscrito para publicação em periódico indexado.</a:t>
            </a:r>
          </a:p>
        </p:txBody>
      </p:sp>
      <p:pic>
        <p:nvPicPr>
          <p:cNvPr id="29" name="icone calendar" descr="calendar_navy.png"/>
          <p:cNvPicPr>
            <a:picLocks noChangeAspect="1"/>
          </p:cNvPicPr>
          <p:nvPr/>
        </p:nvPicPr>
        <p:blipFill>
          <a:blip r:embed="rId9"/>
          <a:stretch>
            <a:fillRect/>
          </a:stretch>
        </p:blipFill>
        <p:spPr>
          <a:xfrm>
            <a:off x="11795760" y="4281678"/>
            <a:ext cx="502920" cy="502920"/>
          </a:xfrm>
          <a:prstGeom prst="rect">
            <a:avLst/>
          </a:prstGeom>
        </p:spPr>
      </p:pic>
      <p:sp>
        <p:nvSpPr>
          <p:cNvPr id="30" name="TextBox 29"/>
          <p:cNvSpPr txBox="1"/>
          <p:nvPr/>
        </p:nvSpPr>
        <p:spPr>
          <a:xfrm>
            <a:off x="12527280" y="4226814"/>
            <a:ext cx="4937759" cy="694944"/>
          </a:xfrm>
          <a:prstGeom prst="rect">
            <a:avLst/>
          </a:prstGeom>
          <a:noFill/>
        </p:spPr>
        <p:txBody>
          <a:bodyPr wrap="square" lIns="0" rIns="0" tIns="0" bIns="0" anchor="t">
            <a:noAutofit/>
          </a:bodyPr>
          <a:lstStyle/>
          <a:p>
            <a:pPr algn="l">
              <a:lnSpc>
                <a:spcPct val="105000"/>
              </a:lnSpc>
              <a:spcAft>
                <a:spcPts val="0"/>
              </a:spcAft>
              <a:buNone/>
            </a:pPr>
            <a:r>
              <a:rPr sz="1800" b="1" i="0">
                <a:solidFill>
                  <a:srgbClr val="1F2433"/>
                </a:solidFill>
                <a:latin typeface="Arial"/>
              </a:rPr>
              <a:t>Atualização da busca </a:t>
            </a:r>
            <a:r>
              <a:rPr sz="1800" b="0" i="0">
                <a:solidFill>
                  <a:srgbClr val="1F2433"/>
                </a:solidFill>
                <a:latin typeface="Arial"/>
              </a:rPr>
              <a:t>e vigilância dos 6 relatórios não recuperados.</a:t>
            </a:r>
          </a:p>
        </p:txBody>
      </p:sp>
      <p:pic>
        <p:nvPicPr>
          <p:cNvPr id="31" name="icone people" descr="people_navy.png"/>
          <p:cNvPicPr>
            <a:picLocks noChangeAspect="1"/>
          </p:cNvPicPr>
          <p:nvPr/>
        </p:nvPicPr>
        <p:blipFill>
          <a:blip r:embed="rId10"/>
          <a:stretch>
            <a:fillRect/>
          </a:stretch>
        </p:blipFill>
        <p:spPr>
          <a:xfrm>
            <a:off x="11795760" y="5765292"/>
            <a:ext cx="502920" cy="502920"/>
          </a:xfrm>
          <a:prstGeom prst="rect">
            <a:avLst/>
          </a:prstGeom>
        </p:spPr>
      </p:pic>
      <p:sp>
        <p:nvSpPr>
          <p:cNvPr id="32" name="TextBox 31"/>
          <p:cNvSpPr txBox="1"/>
          <p:nvPr/>
        </p:nvSpPr>
        <p:spPr>
          <a:xfrm>
            <a:off x="12527280" y="5710428"/>
            <a:ext cx="4937759" cy="694944"/>
          </a:xfrm>
          <a:prstGeom prst="rect">
            <a:avLst/>
          </a:prstGeom>
          <a:noFill/>
        </p:spPr>
        <p:txBody>
          <a:bodyPr wrap="square" lIns="0" rIns="0" tIns="0" bIns="0" anchor="t">
            <a:noAutofit/>
          </a:bodyPr>
          <a:lstStyle/>
          <a:p>
            <a:pPr algn="l">
              <a:lnSpc>
                <a:spcPct val="105000"/>
              </a:lnSpc>
              <a:spcAft>
                <a:spcPts val="0"/>
              </a:spcAft>
              <a:buNone/>
            </a:pPr>
            <a:r>
              <a:rPr sz="1800" b="1" i="0">
                <a:solidFill>
                  <a:srgbClr val="1F2433"/>
                </a:solidFill>
                <a:latin typeface="Arial"/>
              </a:rPr>
              <a:t>Duplicata: </a:t>
            </a:r>
            <a:r>
              <a:rPr sz="1800" b="0" i="0">
                <a:solidFill>
                  <a:srgbClr val="1F2433"/>
                </a:solidFill>
                <a:latin typeface="Arial"/>
              </a:rPr>
              <a:t>triagem e extração com segundo revisor independente.</a:t>
            </a:r>
          </a:p>
        </p:txBody>
      </p:sp>
      <p:pic>
        <p:nvPicPr>
          <p:cNvPr id="33" name="icone hospital" descr="hospital_navy.png"/>
          <p:cNvPicPr>
            <a:picLocks noChangeAspect="1"/>
          </p:cNvPicPr>
          <p:nvPr/>
        </p:nvPicPr>
        <p:blipFill>
          <a:blip r:embed="rId11"/>
          <a:stretch>
            <a:fillRect/>
          </a:stretch>
        </p:blipFill>
        <p:spPr>
          <a:xfrm>
            <a:off x="11795760" y="7248905"/>
            <a:ext cx="502920" cy="502920"/>
          </a:xfrm>
          <a:prstGeom prst="rect">
            <a:avLst/>
          </a:prstGeom>
        </p:spPr>
      </p:pic>
      <p:sp>
        <p:nvSpPr>
          <p:cNvPr id="34" name="TextBox 33"/>
          <p:cNvSpPr txBox="1"/>
          <p:nvPr/>
        </p:nvSpPr>
        <p:spPr>
          <a:xfrm>
            <a:off x="12527280" y="7194042"/>
            <a:ext cx="4937759" cy="694944"/>
          </a:xfrm>
          <a:prstGeom prst="rect">
            <a:avLst/>
          </a:prstGeom>
          <a:noFill/>
        </p:spPr>
        <p:txBody>
          <a:bodyPr wrap="square" lIns="0" rIns="0" tIns="0" bIns="0" anchor="t">
            <a:noAutofit/>
          </a:bodyPr>
          <a:lstStyle/>
          <a:p>
            <a:pPr algn="l">
              <a:lnSpc>
                <a:spcPct val="105000"/>
              </a:lnSpc>
              <a:spcAft>
                <a:spcPts val="0"/>
              </a:spcAft>
              <a:buNone/>
            </a:pPr>
            <a:r>
              <a:rPr sz="1800" b="1" i="0">
                <a:solidFill>
                  <a:srgbClr val="1F2433"/>
                </a:solidFill>
                <a:latin typeface="Arial"/>
              </a:rPr>
              <a:t>Devolutiva institucional: </a:t>
            </a:r>
            <a:r>
              <a:rPr sz="1800" b="0" i="0">
                <a:solidFill>
                  <a:srgbClr val="1F2433"/>
                </a:solidFill>
                <a:latin typeface="Arial"/>
              </a:rPr>
              <a:t>protocolo de proteção no centro cirúrgico.</a:t>
            </a:r>
          </a:p>
        </p:txBody>
      </p:sp>
      <p:pic>
        <p:nvPicPr>
          <p:cNvPr id="35" name="icone graduation" descr="graduation_navy.png"/>
          <p:cNvPicPr>
            <a:picLocks noChangeAspect="1"/>
          </p:cNvPicPr>
          <p:nvPr/>
        </p:nvPicPr>
        <p:blipFill>
          <a:blip r:embed="rId12"/>
          <a:stretch>
            <a:fillRect/>
          </a:stretch>
        </p:blipFill>
        <p:spPr>
          <a:xfrm>
            <a:off x="11795760" y="8732520"/>
            <a:ext cx="502920" cy="502920"/>
          </a:xfrm>
          <a:prstGeom prst="rect">
            <a:avLst/>
          </a:prstGeom>
        </p:spPr>
      </p:pic>
      <p:sp>
        <p:nvSpPr>
          <p:cNvPr id="36" name="TextBox 35"/>
          <p:cNvSpPr txBox="1"/>
          <p:nvPr/>
        </p:nvSpPr>
        <p:spPr>
          <a:xfrm>
            <a:off x="12527280" y="8677656"/>
            <a:ext cx="4937759" cy="694944"/>
          </a:xfrm>
          <a:prstGeom prst="rect">
            <a:avLst/>
          </a:prstGeom>
          <a:noFill/>
        </p:spPr>
        <p:txBody>
          <a:bodyPr wrap="square" lIns="0" rIns="0" tIns="0" bIns="0" anchor="t">
            <a:noAutofit/>
          </a:bodyPr>
          <a:lstStyle/>
          <a:p>
            <a:pPr algn="l">
              <a:lnSpc>
                <a:spcPct val="105000"/>
              </a:lnSpc>
              <a:spcAft>
                <a:spcPts val="0"/>
              </a:spcAft>
              <a:buNone/>
            </a:pPr>
            <a:r>
              <a:rPr sz="1800" b="1" i="0">
                <a:solidFill>
                  <a:srgbClr val="1F2433"/>
                </a:solidFill>
                <a:latin typeface="Arial"/>
              </a:rPr>
              <a:t>Formação </a:t>
            </a:r>
            <a:r>
              <a:rPr sz="1800" b="0" i="0">
                <a:solidFill>
                  <a:srgbClr val="1F2433"/>
                </a:solidFill>
                <a:latin typeface="Arial"/>
              </a:rPr>
              <a:t>em síntese de evidências, do protocolo ao GRADE.</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lano de fundo do modelo" descr="tpl_bg.png"/>
          <p:cNvPicPr>
            <a:picLocks noChangeAspect="1"/>
          </p:cNvPicPr>
          <p:nvPr/>
        </p:nvPicPr>
        <p:blipFill>
          <a:blip r:embed="rId2"/>
          <a:stretch>
            <a:fillRect/>
          </a:stretch>
        </p:blipFill>
        <p:spPr>
          <a:xfrm>
            <a:off x="20" y="1923"/>
            <a:ext cx="18287980" cy="10285077"/>
          </a:xfrm>
          <a:prstGeom prst="rect">
            <a:avLst/>
          </a:prstGeom>
        </p:spPr>
      </p:pic>
      <p:sp>
        <p:nvSpPr>
          <p:cNvPr id="3" name="Retângulo branco (modelo)"/>
          <p:cNvSpPr/>
          <p:nvPr/>
        </p:nvSpPr>
        <p:spPr>
          <a:xfrm>
            <a:off x="15888345" y="279974"/>
            <a:ext cx="2362200" cy="863025"/>
          </a:xfrm>
          <a:prstGeom prst="rect">
            <a:avLst/>
          </a:prstGeom>
          <a:solidFill>
            <a:srgbClr val="FFFFFF"/>
          </a:solidFill>
          <a:ln>
            <a:noFill/>
          </a:ln>
        </p:spPr>
        <p:txBody>
          <a:bodyPr rtlCol="0" anchor="ctr"/>
          <a:lstStyle/>
          <a:p>
            <a:pPr algn="ctr"/>
          </a:p>
        </p:txBody>
      </p:sp>
      <p:pic>
        <p:nvPicPr>
          <p:cNvPr id="4" name="Logo SEMICA" descr="image.png"/>
          <p:cNvPicPr>
            <a:picLocks noChangeAspect="1"/>
          </p:cNvPicPr>
          <p:nvPr/>
        </p:nvPicPr>
        <p:blipFill>
          <a:blip r:embed="rId3"/>
          <a:stretch>
            <a:fillRect/>
          </a:stretch>
        </p:blipFill>
        <p:spPr>
          <a:xfrm>
            <a:off x="15544800" y="279974"/>
            <a:ext cx="2512314" cy="1234862"/>
          </a:xfrm>
          <a:prstGeom prst="rect">
            <a:avLst/>
          </a:prstGeom>
        </p:spPr>
      </p:pic>
      <p:sp>
        <p:nvSpPr>
          <p:cNvPr id="5" name="Título da seção"/>
          <p:cNvSpPr txBox="1"/>
          <p:nvPr/>
        </p:nvSpPr>
        <p:spPr>
          <a:xfrm>
            <a:off x="1143000" y="558224"/>
            <a:ext cx="10058400" cy="584775"/>
          </a:xfrm>
          <a:prstGeom prst="rect">
            <a:avLst/>
          </a:prstGeom>
          <a:noFill/>
        </p:spPr>
        <p:txBody>
          <a:bodyPr wrap="square">
            <a:noAutofit/>
          </a:bodyPr>
          <a:lstStyle/>
          <a:p>
            <a:pPr algn="l">
              <a:lnSpc>
                <a:spcPct val="100000"/>
              </a:lnSpc>
              <a:spcAft>
                <a:spcPts val="0"/>
              </a:spcAft>
              <a:buNone/>
            </a:pPr>
            <a:r>
              <a:rPr sz="3200" b="0" i="0">
                <a:solidFill>
                  <a:srgbClr val="000000"/>
                </a:solidFill>
                <a:latin typeface="Arial"/>
              </a:rPr>
              <a:t>REFERÊNCIAS BIBLIOGRÁFICAS</a:t>
            </a:r>
          </a:p>
        </p:txBody>
      </p:sp>
      <p:sp>
        <p:nvSpPr>
          <p:cNvPr id="6" name="Subtítulo"/>
          <p:cNvSpPr txBox="1"/>
          <p:nvPr/>
        </p:nvSpPr>
        <p:spPr>
          <a:xfrm>
            <a:off x="1143000" y="1097280"/>
            <a:ext cx="14173200" cy="502920"/>
          </a:xfrm>
          <a:prstGeom prst="rect">
            <a:avLst/>
          </a:prstGeom>
          <a:noFill/>
        </p:spPr>
        <p:txBody>
          <a:bodyPr wrap="square" lIns="0" rIns="0" tIns="0" bIns="0" anchor="t">
            <a:noAutofit/>
          </a:bodyPr>
          <a:lstStyle/>
          <a:p>
            <a:pPr algn="l">
              <a:lnSpc>
                <a:spcPct val="100000"/>
              </a:lnSpc>
              <a:spcAft>
                <a:spcPts val="0"/>
              </a:spcAft>
              <a:buNone/>
            </a:pPr>
            <a:r>
              <a:rPr sz="2400" b="1" i="0">
                <a:solidFill>
                  <a:srgbClr val="002060"/>
                </a:solidFill>
                <a:latin typeface="Arial"/>
              </a:rPr>
              <a:t>Principais referências metodológicas e dos estudos incluídos (lista completa no manuscrito)</a:t>
            </a:r>
          </a:p>
        </p:txBody>
      </p:sp>
      <p:sp>
        <p:nvSpPr>
          <p:cNvPr id="7" name="TextBox 6"/>
          <p:cNvSpPr txBox="1"/>
          <p:nvPr/>
        </p:nvSpPr>
        <p:spPr>
          <a:xfrm>
            <a:off x="1143000" y="1783080"/>
            <a:ext cx="8046719" cy="5486400"/>
          </a:xfrm>
          <a:prstGeom prst="rect">
            <a:avLst/>
          </a:prstGeom>
          <a:noFill/>
        </p:spPr>
        <p:txBody>
          <a:bodyPr wrap="square" lIns="0" rIns="0" tIns="0" bIns="0" anchor="t">
            <a:noAutofit/>
          </a:bodyPr>
          <a:lstStyle/>
          <a:p>
            <a:pPr algn="l">
              <a:lnSpc>
                <a:spcPct val="100000"/>
              </a:lnSpc>
              <a:spcAft>
                <a:spcPts val="800"/>
              </a:spcAft>
              <a:buNone/>
            </a:pPr>
            <a:r>
              <a:rPr sz="1500" b="0" i="0">
                <a:solidFill>
                  <a:srgbClr val="1F2433"/>
                </a:solidFill>
                <a:latin typeface="Arial"/>
              </a:rPr>
              <a:t>AROMATARIS, E.; MUNN, Z. (Ed.). </a:t>
            </a:r>
            <a:r>
              <a:rPr sz="1500" b="1" i="0">
                <a:solidFill>
                  <a:srgbClr val="1F2433"/>
                </a:solidFill>
                <a:latin typeface="Arial"/>
              </a:rPr>
              <a:t>JBI Manual for Evidence Synthesis</a:t>
            </a:r>
            <a:r>
              <a:rPr sz="1500" b="0" i="0">
                <a:solidFill>
                  <a:srgbClr val="1F2433"/>
                </a:solidFill>
                <a:latin typeface="Arial"/>
              </a:rPr>
              <a:t>. Adelaide: JBI, 2020.</a:t>
            </a:r>
          </a:p>
          <a:p>
            <a:pPr algn="l">
              <a:lnSpc>
                <a:spcPct val="100000"/>
              </a:lnSpc>
              <a:spcAft>
                <a:spcPts val="800"/>
              </a:spcAft>
              <a:buNone/>
            </a:pPr>
            <a:r>
              <a:rPr sz="1500" b="0" i="0">
                <a:solidFill>
                  <a:srgbClr val="1F2433"/>
                </a:solidFill>
                <a:latin typeface="Arial"/>
              </a:rPr>
              <a:t>BARKER, T. H. et al. Conducting proportional meta-analysis in different types of systematic reviews: a guide for synthesisers of evidence. </a:t>
            </a:r>
            <a:r>
              <a:rPr sz="1500" b="1" i="0">
                <a:solidFill>
                  <a:srgbClr val="1F2433"/>
                </a:solidFill>
                <a:latin typeface="Arial"/>
              </a:rPr>
              <a:t>BMC Med Res Methodol</a:t>
            </a:r>
            <a:r>
              <a:rPr sz="1500" b="0" i="0">
                <a:solidFill>
                  <a:srgbClr val="1F2433"/>
                </a:solidFill>
                <a:latin typeface="Arial"/>
              </a:rPr>
              <a:t>, v. 21, p. 189, 2021.</a:t>
            </a:r>
          </a:p>
          <a:p>
            <a:pPr algn="l">
              <a:lnSpc>
                <a:spcPct val="100000"/>
              </a:lnSpc>
              <a:spcAft>
                <a:spcPts val="800"/>
              </a:spcAft>
              <a:buNone/>
            </a:pPr>
            <a:r>
              <a:rPr sz="1500" b="0" i="0">
                <a:solidFill>
                  <a:srgbClr val="1F2433"/>
                </a:solidFill>
                <a:latin typeface="Arial"/>
              </a:rPr>
              <a:t>BENAIM, E. H.; JASPERS, I. Surgical smoke and its components, effects, and mitigation: a contemporary review. </a:t>
            </a:r>
            <a:r>
              <a:rPr sz="1500" b="1" i="0">
                <a:solidFill>
                  <a:srgbClr val="1F2433"/>
                </a:solidFill>
                <a:latin typeface="Arial"/>
              </a:rPr>
              <a:t>Toxicol Sci</a:t>
            </a:r>
            <a:r>
              <a:rPr sz="1500" b="0" i="0">
                <a:solidFill>
                  <a:srgbClr val="1F2433"/>
                </a:solidFill>
                <a:latin typeface="Arial"/>
              </a:rPr>
              <a:t>, v. 198, n. 2, p. 157-168, 2024.</a:t>
            </a:r>
          </a:p>
          <a:p>
            <a:pPr algn="l">
              <a:lnSpc>
                <a:spcPct val="100000"/>
              </a:lnSpc>
              <a:spcAft>
                <a:spcPts val="800"/>
              </a:spcAft>
              <a:buNone/>
            </a:pPr>
            <a:r>
              <a:rPr sz="1500" b="0" i="0">
                <a:solidFill>
                  <a:srgbClr val="1F2433"/>
                </a:solidFill>
                <a:latin typeface="Arial"/>
              </a:rPr>
              <a:t>BIENIEK, A. A. et al. Risco ocupacional: sinais e sintomas relacionados à exposição à fumaça cirúrgica. </a:t>
            </a:r>
            <a:r>
              <a:rPr sz="1500" b="1" i="0">
                <a:solidFill>
                  <a:srgbClr val="1F2433"/>
                </a:solidFill>
                <a:latin typeface="Arial"/>
              </a:rPr>
              <a:t>Rev SOBECC</a:t>
            </a:r>
            <a:r>
              <a:rPr sz="1500" b="0" i="0">
                <a:solidFill>
                  <a:srgbClr val="1F2433"/>
                </a:solidFill>
                <a:latin typeface="Arial"/>
              </a:rPr>
              <a:t>, v. 27, 2022.</a:t>
            </a:r>
          </a:p>
          <a:p>
            <a:pPr algn="l">
              <a:lnSpc>
                <a:spcPct val="100000"/>
              </a:lnSpc>
              <a:spcAft>
                <a:spcPts val="800"/>
              </a:spcAft>
              <a:buNone/>
            </a:pPr>
            <a:r>
              <a:rPr sz="1500" b="0" i="0">
                <a:solidFill>
                  <a:srgbClr val="1F2433"/>
                </a:solidFill>
                <a:latin typeface="Arial"/>
              </a:rPr>
              <a:t>BRASIL. Ministério da Saúde. </a:t>
            </a:r>
            <a:r>
              <a:rPr sz="1500" b="1" i="0">
                <a:solidFill>
                  <a:srgbClr val="1F2433"/>
                </a:solidFill>
                <a:latin typeface="Arial"/>
              </a:rPr>
              <a:t>Diretrizes metodológicas: Sistema GRADE</a:t>
            </a:r>
            <a:r>
              <a:rPr sz="1500" b="0" i="0">
                <a:solidFill>
                  <a:srgbClr val="1F2433"/>
                </a:solidFill>
                <a:latin typeface="Arial"/>
              </a:rPr>
              <a:t>. Brasília: Ministério da Saúde, 2014.</a:t>
            </a:r>
          </a:p>
          <a:p>
            <a:pPr algn="l">
              <a:lnSpc>
                <a:spcPct val="100000"/>
              </a:lnSpc>
              <a:spcAft>
                <a:spcPts val="800"/>
              </a:spcAft>
              <a:buNone/>
            </a:pPr>
            <a:r>
              <a:rPr sz="1500" b="0" i="0">
                <a:solidFill>
                  <a:srgbClr val="1F2433"/>
                </a:solidFill>
                <a:latin typeface="Arial"/>
              </a:rPr>
              <a:t>CANICOBA, A. R. B. </a:t>
            </a:r>
            <a:r>
              <a:rPr sz="1500" b="1" i="0">
                <a:solidFill>
                  <a:srgbClr val="1F2433"/>
                </a:solidFill>
                <a:latin typeface="Arial"/>
              </a:rPr>
              <a:t>Impacto da exposição ocupacional à fumaça cirúrgica sobre os marcadores biológicos de profissionais de saúde da sala operatória</a:t>
            </a:r>
            <a:r>
              <a:rPr sz="1500" b="0" i="0">
                <a:solidFill>
                  <a:srgbClr val="1F2433"/>
                </a:solidFill>
                <a:latin typeface="Arial"/>
              </a:rPr>
              <a:t>. Tese (Doutorado). EEUSP, 2025.</a:t>
            </a:r>
          </a:p>
          <a:p>
            <a:pPr algn="l">
              <a:lnSpc>
                <a:spcPct val="100000"/>
              </a:lnSpc>
              <a:spcAft>
                <a:spcPts val="800"/>
              </a:spcAft>
              <a:buNone/>
            </a:pPr>
            <a:r>
              <a:rPr sz="1500" b="0" i="0">
                <a:solidFill>
                  <a:srgbClr val="1F2433"/>
                </a:solidFill>
                <a:latin typeface="Arial"/>
              </a:rPr>
              <a:t>DIXON, K.; DASGUPTA, P.; VASDEV, N. A systematic review of the harmful effects of surgical smoke inhalation on operating room personnel. </a:t>
            </a:r>
            <a:r>
              <a:rPr sz="1500" b="1" i="0">
                <a:solidFill>
                  <a:srgbClr val="1F2433"/>
                </a:solidFill>
                <a:latin typeface="Arial"/>
              </a:rPr>
              <a:t>Health Sci Rev</a:t>
            </a:r>
            <a:r>
              <a:rPr sz="1500" b="0" i="0">
                <a:solidFill>
                  <a:srgbClr val="1F2433"/>
                </a:solidFill>
                <a:latin typeface="Arial"/>
              </a:rPr>
              <a:t>, v. 6, 100077, 2023.</a:t>
            </a:r>
          </a:p>
          <a:p>
            <a:pPr algn="l">
              <a:lnSpc>
                <a:spcPct val="100000"/>
              </a:lnSpc>
              <a:spcAft>
                <a:spcPts val="800"/>
              </a:spcAft>
              <a:buNone/>
            </a:pPr>
            <a:r>
              <a:rPr sz="1500" b="0" i="0">
                <a:solidFill>
                  <a:srgbClr val="1F2433"/>
                </a:solidFill>
                <a:latin typeface="Arial"/>
              </a:rPr>
              <a:t>HU, X. et al. Prevalence of HPV infections in surgical smoke exposed gynecologists. </a:t>
            </a:r>
            <a:r>
              <a:rPr sz="1500" b="1" i="0">
                <a:solidFill>
                  <a:srgbClr val="1F2433"/>
                </a:solidFill>
                <a:latin typeface="Arial"/>
              </a:rPr>
              <a:t>Int Arch Occup Environ Health</a:t>
            </a:r>
            <a:r>
              <a:rPr sz="1500" b="0" i="0">
                <a:solidFill>
                  <a:srgbClr val="1F2433"/>
                </a:solidFill>
                <a:latin typeface="Arial"/>
              </a:rPr>
              <a:t>, v. 94, n. 1, p. 107-115, 2021.</a:t>
            </a:r>
          </a:p>
          <a:p>
            <a:pPr algn="l">
              <a:lnSpc>
                <a:spcPct val="100000"/>
              </a:lnSpc>
              <a:spcAft>
                <a:spcPts val="800"/>
              </a:spcAft>
              <a:buNone/>
            </a:pPr>
            <a:r>
              <a:rPr sz="1500" b="0" i="0">
                <a:solidFill>
                  <a:srgbClr val="1F2433"/>
                </a:solidFill>
                <a:latin typeface="Arial"/>
              </a:rPr>
              <a:t>HURST, R. D.; STEWART, C. L. Hazards of surgical smoke from electrocautery: a critical review of the data. </a:t>
            </a:r>
            <a:r>
              <a:rPr sz="1500" b="1" i="0">
                <a:solidFill>
                  <a:srgbClr val="1F2433"/>
                </a:solidFill>
                <a:latin typeface="Arial"/>
              </a:rPr>
              <a:t>Am J Surg</a:t>
            </a:r>
            <a:r>
              <a:rPr sz="1500" b="0" i="0">
                <a:solidFill>
                  <a:srgbClr val="1F2433"/>
                </a:solidFill>
                <a:latin typeface="Arial"/>
              </a:rPr>
              <a:t>, v. 233, p. 29-36, 2024.</a:t>
            </a:r>
          </a:p>
        </p:txBody>
      </p:sp>
      <p:sp>
        <p:nvSpPr>
          <p:cNvPr id="8" name="TextBox 7"/>
          <p:cNvSpPr txBox="1"/>
          <p:nvPr/>
        </p:nvSpPr>
        <p:spPr>
          <a:xfrm>
            <a:off x="9738359" y="1783080"/>
            <a:ext cx="8046719" cy="5486400"/>
          </a:xfrm>
          <a:prstGeom prst="rect">
            <a:avLst/>
          </a:prstGeom>
          <a:noFill/>
        </p:spPr>
        <p:txBody>
          <a:bodyPr wrap="square" lIns="0" rIns="0" tIns="0" bIns="0" anchor="t">
            <a:noAutofit/>
          </a:bodyPr>
          <a:lstStyle/>
          <a:p>
            <a:pPr algn="l">
              <a:lnSpc>
                <a:spcPct val="100000"/>
              </a:lnSpc>
              <a:spcAft>
                <a:spcPts val="800"/>
              </a:spcAft>
              <a:buNone/>
            </a:pPr>
            <a:r>
              <a:rPr sz="1500" b="0" i="0">
                <a:solidFill>
                  <a:srgbClr val="1F2433"/>
                </a:solidFill>
                <a:latin typeface="Arial"/>
              </a:rPr>
              <a:t>IBRAHIM, J. B. et al. Evaluation of spirometric lung function among healthcare professionals working in operating theatres: a comparative cross-sectional study. </a:t>
            </a:r>
            <a:r>
              <a:rPr sz="1500" b="1" i="0">
                <a:solidFill>
                  <a:srgbClr val="1F2433"/>
                </a:solidFill>
                <a:latin typeface="Arial"/>
              </a:rPr>
              <a:t>Afr J Thorac Crit Care Med</a:t>
            </a:r>
            <a:r>
              <a:rPr sz="1500" b="0" i="0">
                <a:solidFill>
                  <a:srgbClr val="1F2433"/>
                </a:solidFill>
                <a:latin typeface="Arial"/>
              </a:rPr>
              <a:t>, v. 31, n. 2, e2639, 2025.</a:t>
            </a:r>
          </a:p>
          <a:p>
            <a:pPr algn="l">
              <a:lnSpc>
                <a:spcPct val="100000"/>
              </a:lnSpc>
              <a:spcAft>
                <a:spcPts val="800"/>
              </a:spcAft>
              <a:buNone/>
            </a:pPr>
            <a:r>
              <a:rPr sz="1500" b="0" i="0">
                <a:solidFill>
                  <a:srgbClr val="1F2433"/>
                </a:solidFill>
                <a:latin typeface="Arial"/>
              </a:rPr>
              <a:t>İLÇE, A.; YUZDEN, G. E.; VAN GIERSBERGEN, M. Y. The examination of problems experienced by nurses and doctors associated with exposure to surgical smoke and the necessary precautions. </a:t>
            </a:r>
            <a:r>
              <a:rPr sz="1500" b="1" i="0">
                <a:solidFill>
                  <a:srgbClr val="1F2433"/>
                </a:solidFill>
                <a:latin typeface="Arial"/>
              </a:rPr>
              <a:t>J Clin Nurs</a:t>
            </a:r>
            <a:r>
              <a:rPr sz="1500" b="0" i="0">
                <a:solidFill>
                  <a:srgbClr val="1F2433"/>
                </a:solidFill>
                <a:latin typeface="Arial"/>
              </a:rPr>
              <a:t>, v. 26, n. 11-12, p. 1555-1561, 2017.</a:t>
            </a:r>
          </a:p>
          <a:p>
            <a:pPr algn="l">
              <a:lnSpc>
                <a:spcPct val="100000"/>
              </a:lnSpc>
              <a:spcAft>
                <a:spcPts val="800"/>
              </a:spcAft>
              <a:buNone/>
            </a:pPr>
            <a:r>
              <a:rPr sz="1500" b="0" i="0">
                <a:solidFill>
                  <a:srgbClr val="1F2433"/>
                </a:solidFill>
                <a:latin typeface="Arial"/>
              </a:rPr>
              <a:t>INTHOUT, J.; IOANNIDIS, J. P. A.; BORM, G. F. The Hartung-Knapp-Sidik-Jonkman method for random effects meta-analysis is straightforward and considerably outperforms the standard DerSimonian-Laird method. </a:t>
            </a:r>
            <a:r>
              <a:rPr sz="1500" b="1" i="0">
                <a:solidFill>
                  <a:srgbClr val="1F2433"/>
                </a:solidFill>
                <a:latin typeface="Arial"/>
              </a:rPr>
              <a:t>BMC Med Res Methodol</a:t>
            </a:r>
            <a:r>
              <a:rPr sz="1500" b="0" i="0">
                <a:solidFill>
                  <a:srgbClr val="1F2433"/>
                </a:solidFill>
                <a:latin typeface="Arial"/>
              </a:rPr>
              <a:t>, v. 14, p. 25, 2014.</a:t>
            </a:r>
          </a:p>
          <a:p>
            <a:pPr algn="l">
              <a:lnSpc>
                <a:spcPct val="100000"/>
              </a:lnSpc>
              <a:spcAft>
                <a:spcPts val="800"/>
              </a:spcAft>
              <a:buNone/>
            </a:pPr>
            <a:r>
              <a:rPr sz="1500" b="0" i="0">
                <a:solidFill>
                  <a:srgbClr val="1F2433"/>
                </a:solidFill>
                <a:latin typeface="Arial"/>
              </a:rPr>
              <a:t>MUNN, Z. et al. Methodological guidance for systematic reviews of observational epidemiological studies reporting prevalence and cumulative incidence data. </a:t>
            </a:r>
            <a:r>
              <a:rPr sz="1500" b="1" i="0">
                <a:solidFill>
                  <a:srgbClr val="1F2433"/>
                </a:solidFill>
                <a:latin typeface="Arial"/>
              </a:rPr>
              <a:t>Int J Evid Based Healthc</a:t>
            </a:r>
            <a:r>
              <a:rPr sz="1500" b="0" i="0">
                <a:solidFill>
                  <a:srgbClr val="1F2433"/>
                </a:solidFill>
                <a:latin typeface="Arial"/>
              </a:rPr>
              <a:t>, v. 13, n. 3, p. 147-153, 2015.</a:t>
            </a:r>
          </a:p>
          <a:p>
            <a:pPr algn="l">
              <a:lnSpc>
                <a:spcPct val="100000"/>
              </a:lnSpc>
              <a:spcAft>
                <a:spcPts val="800"/>
              </a:spcAft>
              <a:buNone/>
            </a:pPr>
            <a:r>
              <a:rPr sz="1500" b="0" i="0">
                <a:solidFill>
                  <a:srgbClr val="1F2433"/>
                </a:solidFill>
                <a:latin typeface="Arial"/>
              </a:rPr>
              <a:t>NAVARRO, M. C. et al. Cambios en la mucosa nasal de los médicos por exposición al humo por electrocoagulación. </a:t>
            </a:r>
            <a:r>
              <a:rPr sz="1500" b="1" i="0">
                <a:solidFill>
                  <a:srgbClr val="1F2433"/>
                </a:solidFill>
                <a:latin typeface="Arial"/>
              </a:rPr>
              <a:t>Rev Fac Nac Salud Pública</a:t>
            </a:r>
            <a:r>
              <a:rPr sz="1500" b="0" i="0">
                <a:solidFill>
                  <a:srgbClr val="1F2433"/>
                </a:solidFill>
                <a:latin typeface="Arial"/>
              </a:rPr>
              <a:t>, v. 34, n. 2, p. 135-144, 2016.</a:t>
            </a:r>
          </a:p>
          <a:p>
            <a:pPr algn="l">
              <a:lnSpc>
                <a:spcPct val="100000"/>
              </a:lnSpc>
              <a:spcAft>
                <a:spcPts val="800"/>
              </a:spcAft>
              <a:buNone/>
            </a:pPr>
            <a:r>
              <a:rPr sz="1500" b="0" i="0">
                <a:solidFill>
                  <a:srgbClr val="1F2433"/>
                </a:solidFill>
                <a:latin typeface="Arial"/>
              </a:rPr>
              <a:t>PAGE, M. J. et al. The PRISMA 2020 statement: an updated guideline for reporting systematic reviews. </a:t>
            </a:r>
            <a:r>
              <a:rPr sz="1500" b="1" i="0">
                <a:solidFill>
                  <a:srgbClr val="1F2433"/>
                </a:solidFill>
                <a:latin typeface="Arial"/>
              </a:rPr>
              <a:t>BMJ</a:t>
            </a:r>
            <a:r>
              <a:rPr sz="1500" b="0" i="0">
                <a:solidFill>
                  <a:srgbClr val="1F2433"/>
                </a:solidFill>
                <a:latin typeface="Arial"/>
              </a:rPr>
              <a:t>, v. 372, n71, 2021.</a:t>
            </a:r>
          </a:p>
          <a:p>
            <a:pPr algn="l">
              <a:lnSpc>
                <a:spcPct val="100000"/>
              </a:lnSpc>
              <a:spcAft>
                <a:spcPts val="800"/>
              </a:spcAft>
              <a:buNone/>
            </a:pPr>
            <a:r>
              <a:rPr sz="1500" b="0" i="0">
                <a:solidFill>
                  <a:srgbClr val="1F2433"/>
                </a:solidFill>
                <a:latin typeface="Arial"/>
              </a:rPr>
              <a:t>RILEY, R. D.; HIGGINS, J. P. T.; DEEKS, J. J. Interpretation of random effects meta-analyses. </a:t>
            </a:r>
            <a:r>
              <a:rPr sz="1500" b="1" i="0">
                <a:solidFill>
                  <a:srgbClr val="1F2433"/>
                </a:solidFill>
                <a:latin typeface="Arial"/>
              </a:rPr>
              <a:t>BMJ</a:t>
            </a:r>
            <a:r>
              <a:rPr sz="1500" b="0" i="0">
                <a:solidFill>
                  <a:srgbClr val="1F2433"/>
                </a:solidFill>
                <a:latin typeface="Arial"/>
              </a:rPr>
              <a:t>, v. 342, d549, 2011.</a:t>
            </a:r>
          </a:p>
        </p:txBody>
      </p:sp>
      <p:sp>
        <p:nvSpPr>
          <p:cNvPr id="9" name="Rounded Rectangle 8"/>
          <p:cNvSpPr/>
          <p:nvPr/>
        </p:nvSpPr>
        <p:spPr>
          <a:xfrm>
            <a:off x="1143000" y="7543800"/>
            <a:ext cx="16642080" cy="2194560"/>
          </a:xfrm>
          <a:prstGeom prst="roundRect">
            <a:avLst>
              <a:gd name="adj" fmla="val 6000"/>
            </a:avLst>
          </a:prstGeom>
          <a:solidFill>
            <a:srgbClr val="E6EBF5"/>
          </a:solidFill>
          <a:ln>
            <a:noFill/>
          </a:ln>
          <a:effectLst/>
        </p:spPr>
        <p:txBody>
          <a:bodyPr rtlCol="0" anchor="ctr"/>
          <a:lstStyle/>
          <a:p/>
        </p:txBody>
      </p:sp>
      <p:pic>
        <p:nvPicPr>
          <p:cNvPr id="10" name="QR code OSF" descr="qr_osf_jktmn.png"/>
          <p:cNvPicPr>
            <a:picLocks noChangeAspect="1"/>
          </p:cNvPicPr>
          <p:nvPr/>
        </p:nvPicPr>
        <p:blipFill>
          <a:blip r:embed="rId4"/>
          <a:stretch>
            <a:fillRect/>
          </a:stretch>
        </p:blipFill>
        <p:spPr>
          <a:xfrm>
            <a:off x="15910559" y="7863840"/>
            <a:ext cx="1554480" cy="1554480"/>
          </a:xfrm>
          <a:prstGeom prst="rect">
            <a:avLst/>
          </a:prstGeom>
        </p:spPr>
      </p:pic>
      <p:pic>
        <p:nvPicPr>
          <p:cNvPr id="11" name="icone file" descr="file_navy.png"/>
          <p:cNvPicPr>
            <a:picLocks noChangeAspect="1"/>
          </p:cNvPicPr>
          <p:nvPr/>
        </p:nvPicPr>
        <p:blipFill>
          <a:blip r:embed="rId5"/>
          <a:stretch>
            <a:fillRect/>
          </a:stretch>
        </p:blipFill>
        <p:spPr>
          <a:xfrm>
            <a:off x="1463040" y="8321040"/>
            <a:ext cx="640080" cy="640080"/>
          </a:xfrm>
          <a:prstGeom prst="rect">
            <a:avLst/>
          </a:prstGeom>
        </p:spPr>
      </p:pic>
      <p:sp>
        <p:nvSpPr>
          <p:cNvPr id="12" name="TextBox 11"/>
          <p:cNvSpPr txBox="1"/>
          <p:nvPr/>
        </p:nvSpPr>
        <p:spPr>
          <a:xfrm>
            <a:off x="2377440" y="7772400"/>
            <a:ext cx="13258800" cy="1737360"/>
          </a:xfrm>
          <a:prstGeom prst="rect">
            <a:avLst/>
          </a:prstGeom>
          <a:noFill/>
        </p:spPr>
        <p:txBody>
          <a:bodyPr wrap="square" lIns="0" rIns="0" tIns="0" bIns="0" anchor="ctr">
            <a:noAutofit/>
          </a:bodyPr>
          <a:lstStyle/>
          <a:p>
            <a:pPr algn="l">
              <a:lnSpc>
                <a:spcPct val="100000"/>
              </a:lnSpc>
              <a:spcAft>
                <a:spcPts val="600"/>
              </a:spcAft>
              <a:buNone/>
            </a:pPr>
            <a:r>
              <a:rPr sz="2200" b="1" i="0">
                <a:solidFill>
                  <a:srgbClr val="002060"/>
                </a:solidFill>
                <a:latin typeface="Arial"/>
              </a:rPr>
              <a:t>Suplementos, código e planilhas</a:t>
            </a:r>
          </a:p>
          <a:p>
            <a:pPr algn="l">
              <a:lnSpc>
                <a:spcPct val="100000"/>
              </a:lnSpc>
              <a:spcAft>
                <a:spcPts val="300"/>
              </a:spcAft>
              <a:buNone/>
            </a:pPr>
            <a:r>
              <a:rPr sz="1700" b="0" i="0">
                <a:solidFill>
                  <a:srgbClr val="1F2433"/>
                </a:solidFill>
                <a:latin typeface="Arial"/>
              </a:rPr>
              <a:t>Aponte a câmera do celular para o QR code  ·  </a:t>
            </a:r>
            <a:r>
              <a:rPr sz="1700" b="1" i="0">
                <a:solidFill>
                  <a:srgbClr val="002060"/>
                </a:solidFill>
                <a:latin typeface="Arial"/>
              </a:rPr>
              <a:t>osf.io/jktmn</a:t>
            </a:r>
          </a:p>
          <a:p>
            <a:pPr algn="l">
              <a:lnSpc>
                <a:spcPct val="100000"/>
              </a:lnSpc>
              <a:spcAft>
                <a:spcPts val="300"/>
              </a:spcAft>
              <a:buNone/>
            </a:pPr>
            <a:r>
              <a:rPr sz="1700" b="0" i="0">
                <a:solidFill>
                  <a:srgbClr val="5A6270"/>
                </a:solidFill>
                <a:latin typeface="Arial"/>
              </a:rPr>
              <a:t>Planilhas de extração, código em Python, figuras em alta resolução e material complementar.</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lano de fundo do modelo" descr="tpl_bg.png"/>
          <p:cNvPicPr>
            <a:picLocks noChangeAspect="1"/>
          </p:cNvPicPr>
          <p:nvPr/>
        </p:nvPicPr>
        <p:blipFill>
          <a:blip r:embed="rId2"/>
          <a:stretch>
            <a:fillRect/>
          </a:stretch>
        </p:blipFill>
        <p:spPr>
          <a:xfrm>
            <a:off x="20" y="1923"/>
            <a:ext cx="18287980" cy="10285077"/>
          </a:xfrm>
          <a:prstGeom prst="rect">
            <a:avLst/>
          </a:prstGeom>
        </p:spPr>
      </p:pic>
      <p:sp>
        <p:nvSpPr>
          <p:cNvPr id="3" name="Retângulo branco (modelo)"/>
          <p:cNvSpPr/>
          <p:nvPr/>
        </p:nvSpPr>
        <p:spPr>
          <a:xfrm>
            <a:off x="15888345" y="279974"/>
            <a:ext cx="2362200" cy="863025"/>
          </a:xfrm>
          <a:prstGeom prst="rect">
            <a:avLst/>
          </a:prstGeom>
          <a:solidFill>
            <a:srgbClr val="FFFFFF"/>
          </a:solidFill>
          <a:ln>
            <a:noFill/>
          </a:ln>
        </p:spPr>
        <p:txBody>
          <a:bodyPr rtlCol="0" anchor="ctr"/>
          <a:lstStyle/>
          <a:p>
            <a:pPr algn="ctr"/>
          </a:p>
        </p:txBody>
      </p:sp>
      <p:pic>
        <p:nvPicPr>
          <p:cNvPr id="4" name="Logo SEMICA" descr="image.png"/>
          <p:cNvPicPr>
            <a:picLocks noChangeAspect="1"/>
          </p:cNvPicPr>
          <p:nvPr/>
        </p:nvPicPr>
        <p:blipFill>
          <a:blip r:embed="rId3"/>
          <a:stretch>
            <a:fillRect/>
          </a:stretch>
        </p:blipFill>
        <p:spPr>
          <a:xfrm>
            <a:off x="15544800" y="279974"/>
            <a:ext cx="2512314" cy="1234862"/>
          </a:xfrm>
          <a:prstGeom prst="rect">
            <a:avLst/>
          </a:prstGeom>
        </p:spPr>
      </p:pic>
      <p:sp>
        <p:nvSpPr>
          <p:cNvPr id="5" name="Título da seção"/>
          <p:cNvSpPr txBox="1"/>
          <p:nvPr/>
        </p:nvSpPr>
        <p:spPr>
          <a:xfrm>
            <a:off x="1143000" y="558224"/>
            <a:ext cx="10058400" cy="584775"/>
          </a:xfrm>
          <a:prstGeom prst="rect">
            <a:avLst/>
          </a:prstGeom>
          <a:noFill/>
        </p:spPr>
        <p:txBody>
          <a:bodyPr wrap="square">
            <a:noAutofit/>
          </a:bodyPr>
          <a:lstStyle/>
          <a:p>
            <a:pPr algn="l">
              <a:lnSpc>
                <a:spcPct val="100000"/>
              </a:lnSpc>
              <a:spcAft>
                <a:spcPts val="0"/>
              </a:spcAft>
              <a:buNone/>
            </a:pPr>
            <a:r>
              <a:rPr sz="3200" b="0" i="0">
                <a:solidFill>
                  <a:srgbClr val="000000"/>
                </a:solidFill>
                <a:latin typeface="Arial"/>
              </a:rPr>
              <a:t>AGRADECIMENTOS</a:t>
            </a:r>
          </a:p>
        </p:txBody>
      </p:sp>
      <p:pic>
        <p:nvPicPr>
          <p:cNvPr id="6" name="icone handshake" descr="handshake_navy.png"/>
          <p:cNvPicPr>
            <a:picLocks noChangeAspect="1"/>
          </p:cNvPicPr>
          <p:nvPr/>
        </p:nvPicPr>
        <p:blipFill>
          <a:blip r:embed="rId4"/>
          <a:stretch>
            <a:fillRect/>
          </a:stretch>
        </p:blipFill>
        <p:spPr>
          <a:xfrm>
            <a:off x="8961119" y="2057400"/>
            <a:ext cx="1005840" cy="1005840"/>
          </a:xfrm>
          <a:prstGeom prst="rect">
            <a:avLst/>
          </a:prstGeom>
        </p:spPr>
      </p:pic>
      <p:sp>
        <p:nvSpPr>
          <p:cNvPr id="7" name="TextBox 6"/>
          <p:cNvSpPr txBox="1"/>
          <p:nvPr/>
        </p:nvSpPr>
        <p:spPr>
          <a:xfrm>
            <a:off x="1143000" y="3200400"/>
            <a:ext cx="16642080" cy="640080"/>
          </a:xfrm>
          <a:prstGeom prst="rect">
            <a:avLst/>
          </a:prstGeom>
          <a:noFill/>
        </p:spPr>
        <p:txBody>
          <a:bodyPr wrap="square" lIns="0" rIns="0" tIns="0" bIns="0" anchor="t">
            <a:noAutofit/>
          </a:bodyPr>
          <a:lstStyle/>
          <a:p>
            <a:pPr algn="ctr">
              <a:lnSpc>
                <a:spcPct val="100000"/>
              </a:lnSpc>
              <a:spcAft>
                <a:spcPts val="0"/>
              </a:spcAft>
              <a:buNone/>
            </a:pPr>
            <a:r>
              <a:rPr sz="3600" b="1" i="0">
                <a:solidFill>
                  <a:srgbClr val="002060"/>
                </a:solidFill>
                <a:latin typeface="Arial"/>
              </a:rPr>
              <a:t>Muito obrigado</a:t>
            </a:r>
          </a:p>
        </p:txBody>
      </p:sp>
      <p:sp>
        <p:nvSpPr>
          <p:cNvPr id="8" name="Rounded Rectangle 7"/>
          <p:cNvSpPr/>
          <p:nvPr/>
        </p:nvSpPr>
        <p:spPr>
          <a:xfrm>
            <a:off x="1143000" y="4160520"/>
            <a:ext cx="5364480" cy="3429000"/>
          </a:xfrm>
          <a:prstGeom prst="roundRect">
            <a:avLst>
              <a:gd name="adj" fmla="val 6000"/>
            </a:avLst>
          </a:prstGeom>
          <a:solidFill>
            <a:srgbClr val="F2F4F8"/>
          </a:solidFill>
          <a:ln>
            <a:noFill/>
          </a:ln>
          <a:effectLst/>
        </p:spPr>
        <p:txBody>
          <a:bodyPr rtlCol="0" anchor="ctr"/>
          <a:lstStyle/>
          <a:p/>
        </p:txBody>
      </p:sp>
      <p:sp>
        <p:nvSpPr>
          <p:cNvPr id="9" name="Oval 8"/>
          <p:cNvSpPr/>
          <p:nvPr/>
        </p:nvSpPr>
        <p:spPr>
          <a:xfrm>
            <a:off x="3390900" y="4480559"/>
            <a:ext cx="868680" cy="868680"/>
          </a:xfrm>
          <a:prstGeom prst="ellipse">
            <a:avLst/>
          </a:prstGeom>
          <a:solidFill>
            <a:srgbClr val="002060"/>
          </a:solidFill>
          <a:ln>
            <a:noFill/>
          </a:ln>
          <a:effectLst/>
        </p:spPr>
        <p:txBody>
          <a:bodyPr rtlCol="0" anchor="ctr" lIns="0" rIns="0" tIns="0" bIns="0"/>
          <a:lstStyle/>
          <a:p/>
        </p:txBody>
      </p:sp>
      <p:pic>
        <p:nvPicPr>
          <p:cNvPr id="10" name="icone graduation" descr="graduation_white.png"/>
          <p:cNvPicPr>
            <a:picLocks noChangeAspect="1"/>
          </p:cNvPicPr>
          <p:nvPr/>
        </p:nvPicPr>
        <p:blipFill>
          <a:blip r:embed="rId5"/>
          <a:stretch>
            <a:fillRect/>
          </a:stretch>
        </p:blipFill>
        <p:spPr>
          <a:xfrm>
            <a:off x="3608070" y="4697729"/>
            <a:ext cx="434340" cy="434340"/>
          </a:xfrm>
          <a:prstGeom prst="rect">
            <a:avLst/>
          </a:prstGeom>
        </p:spPr>
      </p:pic>
      <p:sp>
        <p:nvSpPr>
          <p:cNvPr id="11" name="TextBox 10"/>
          <p:cNvSpPr txBox="1"/>
          <p:nvPr/>
        </p:nvSpPr>
        <p:spPr>
          <a:xfrm>
            <a:off x="1463040" y="5486400"/>
            <a:ext cx="4724399" cy="411480"/>
          </a:xfrm>
          <a:prstGeom prst="rect">
            <a:avLst/>
          </a:prstGeom>
          <a:noFill/>
        </p:spPr>
        <p:txBody>
          <a:bodyPr wrap="square" lIns="0" rIns="0" tIns="0" bIns="0" anchor="t">
            <a:noAutofit/>
          </a:bodyPr>
          <a:lstStyle/>
          <a:p>
            <a:pPr algn="ctr">
              <a:lnSpc>
                <a:spcPct val="100000"/>
              </a:lnSpc>
              <a:spcAft>
                <a:spcPts val="0"/>
              </a:spcAft>
              <a:buNone/>
            </a:pPr>
            <a:r>
              <a:rPr sz="1900" b="1" i="0">
                <a:solidFill>
                  <a:srgbClr val="002060"/>
                </a:solidFill>
                <a:latin typeface="Arial"/>
              </a:rPr>
              <a:t>Orientadora</a:t>
            </a:r>
          </a:p>
        </p:txBody>
      </p:sp>
      <p:sp>
        <p:nvSpPr>
          <p:cNvPr id="12" name="TextBox 11"/>
          <p:cNvSpPr txBox="1"/>
          <p:nvPr/>
        </p:nvSpPr>
        <p:spPr>
          <a:xfrm>
            <a:off x="1463040" y="5943600"/>
            <a:ext cx="4724399" cy="1325880"/>
          </a:xfrm>
          <a:prstGeom prst="rect">
            <a:avLst/>
          </a:prstGeom>
          <a:noFill/>
        </p:spPr>
        <p:txBody>
          <a:bodyPr wrap="square" lIns="0" rIns="0" tIns="0" bIns="0" anchor="t">
            <a:noAutofit/>
          </a:bodyPr>
          <a:lstStyle/>
          <a:p>
            <a:pPr algn="ctr">
              <a:lnSpc>
                <a:spcPct val="105000"/>
              </a:lnSpc>
              <a:spcAft>
                <a:spcPts val="0"/>
              </a:spcAft>
              <a:buNone/>
            </a:pPr>
            <a:r>
              <a:rPr sz="1700" b="0" i="0">
                <a:solidFill>
                  <a:srgbClr val="1F2433"/>
                </a:solidFill>
                <a:latin typeface="Arial"/>
              </a:rPr>
              <a:t>Profa. Lisie Tocci Justo, pela orientação, supervisão metodológica e revisão crítica.</a:t>
            </a:r>
          </a:p>
        </p:txBody>
      </p:sp>
      <p:sp>
        <p:nvSpPr>
          <p:cNvPr id="13" name="Rounded Rectangle 12"/>
          <p:cNvSpPr/>
          <p:nvPr/>
        </p:nvSpPr>
        <p:spPr>
          <a:xfrm>
            <a:off x="6781799" y="4160520"/>
            <a:ext cx="5364480" cy="3429000"/>
          </a:xfrm>
          <a:prstGeom prst="roundRect">
            <a:avLst>
              <a:gd name="adj" fmla="val 6000"/>
            </a:avLst>
          </a:prstGeom>
          <a:solidFill>
            <a:srgbClr val="F2F4F8"/>
          </a:solidFill>
          <a:ln>
            <a:noFill/>
          </a:ln>
          <a:effectLst/>
        </p:spPr>
        <p:txBody>
          <a:bodyPr rtlCol="0" anchor="ctr"/>
          <a:lstStyle/>
          <a:p/>
        </p:txBody>
      </p:sp>
      <p:sp>
        <p:nvSpPr>
          <p:cNvPr id="14" name="Oval 13"/>
          <p:cNvSpPr/>
          <p:nvPr/>
        </p:nvSpPr>
        <p:spPr>
          <a:xfrm>
            <a:off x="9029700" y="4480559"/>
            <a:ext cx="868680" cy="868680"/>
          </a:xfrm>
          <a:prstGeom prst="ellipse">
            <a:avLst/>
          </a:prstGeom>
          <a:solidFill>
            <a:srgbClr val="002060"/>
          </a:solidFill>
          <a:ln>
            <a:noFill/>
          </a:ln>
          <a:effectLst/>
        </p:spPr>
        <p:txBody>
          <a:bodyPr rtlCol="0" anchor="ctr" lIns="0" rIns="0" tIns="0" bIns="0"/>
          <a:lstStyle/>
          <a:p/>
        </p:txBody>
      </p:sp>
      <p:pic>
        <p:nvPicPr>
          <p:cNvPr id="15" name="icone people" descr="people_white.png"/>
          <p:cNvPicPr>
            <a:picLocks noChangeAspect="1"/>
          </p:cNvPicPr>
          <p:nvPr/>
        </p:nvPicPr>
        <p:blipFill>
          <a:blip r:embed="rId6"/>
          <a:stretch>
            <a:fillRect/>
          </a:stretch>
        </p:blipFill>
        <p:spPr>
          <a:xfrm>
            <a:off x="9246869" y="4697729"/>
            <a:ext cx="434340" cy="434340"/>
          </a:xfrm>
          <a:prstGeom prst="rect">
            <a:avLst/>
          </a:prstGeom>
        </p:spPr>
      </p:pic>
      <p:sp>
        <p:nvSpPr>
          <p:cNvPr id="16" name="TextBox 15"/>
          <p:cNvSpPr txBox="1"/>
          <p:nvPr/>
        </p:nvSpPr>
        <p:spPr>
          <a:xfrm>
            <a:off x="7101839" y="5486400"/>
            <a:ext cx="4724399" cy="411480"/>
          </a:xfrm>
          <a:prstGeom prst="rect">
            <a:avLst/>
          </a:prstGeom>
          <a:noFill/>
        </p:spPr>
        <p:txBody>
          <a:bodyPr wrap="square" lIns="0" rIns="0" tIns="0" bIns="0" anchor="t">
            <a:noAutofit/>
          </a:bodyPr>
          <a:lstStyle/>
          <a:p>
            <a:pPr algn="ctr">
              <a:lnSpc>
                <a:spcPct val="100000"/>
              </a:lnSpc>
              <a:spcAft>
                <a:spcPts val="0"/>
              </a:spcAft>
              <a:buNone/>
            </a:pPr>
            <a:r>
              <a:rPr sz="1900" b="1" i="0">
                <a:solidFill>
                  <a:srgbClr val="002060"/>
                </a:solidFill>
                <a:latin typeface="Arial"/>
              </a:rPr>
              <a:t>Coautores</a:t>
            </a:r>
          </a:p>
        </p:txBody>
      </p:sp>
      <p:sp>
        <p:nvSpPr>
          <p:cNvPr id="17" name="TextBox 16"/>
          <p:cNvSpPr txBox="1"/>
          <p:nvPr/>
        </p:nvSpPr>
        <p:spPr>
          <a:xfrm>
            <a:off x="7101839" y="5943600"/>
            <a:ext cx="4724399" cy="1325880"/>
          </a:xfrm>
          <a:prstGeom prst="rect">
            <a:avLst/>
          </a:prstGeom>
          <a:noFill/>
        </p:spPr>
        <p:txBody>
          <a:bodyPr wrap="square" lIns="0" rIns="0" tIns="0" bIns="0" anchor="t">
            <a:noAutofit/>
          </a:bodyPr>
          <a:lstStyle/>
          <a:p>
            <a:pPr algn="ctr">
              <a:lnSpc>
                <a:spcPct val="105000"/>
              </a:lnSpc>
              <a:spcAft>
                <a:spcPts val="0"/>
              </a:spcAft>
              <a:buNone/>
            </a:pPr>
            <a:r>
              <a:rPr sz="1700" b="0" i="0">
                <a:solidFill>
                  <a:srgbClr val="1F2433"/>
                </a:solidFill>
                <a:latin typeface="Arial"/>
              </a:rPr>
              <a:t>Luiz Henrique Ledesma Pereira (SLMandic Araras) e Dra. Mariana Matera Veras (LIM05, HC-FMUSP), pela interpretação dos resultados e revisão crítica.</a:t>
            </a:r>
          </a:p>
        </p:txBody>
      </p:sp>
      <p:sp>
        <p:nvSpPr>
          <p:cNvPr id="18" name="Rounded Rectangle 17"/>
          <p:cNvSpPr/>
          <p:nvPr/>
        </p:nvSpPr>
        <p:spPr>
          <a:xfrm>
            <a:off x="12420599" y="4160520"/>
            <a:ext cx="5364480" cy="3429000"/>
          </a:xfrm>
          <a:prstGeom prst="roundRect">
            <a:avLst>
              <a:gd name="adj" fmla="val 6000"/>
            </a:avLst>
          </a:prstGeom>
          <a:solidFill>
            <a:srgbClr val="F2F4F8"/>
          </a:solidFill>
          <a:ln>
            <a:noFill/>
          </a:ln>
          <a:effectLst/>
        </p:spPr>
        <p:txBody>
          <a:bodyPr rtlCol="0" anchor="ctr"/>
          <a:lstStyle/>
          <a:p/>
        </p:txBody>
      </p:sp>
      <p:sp>
        <p:nvSpPr>
          <p:cNvPr id="19" name="Oval 18"/>
          <p:cNvSpPr/>
          <p:nvPr/>
        </p:nvSpPr>
        <p:spPr>
          <a:xfrm>
            <a:off x="14668499" y="4480559"/>
            <a:ext cx="868680" cy="868680"/>
          </a:xfrm>
          <a:prstGeom prst="ellipse">
            <a:avLst/>
          </a:prstGeom>
          <a:solidFill>
            <a:srgbClr val="002060"/>
          </a:solidFill>
          <a:ln>
            <a:noFill/>
          </a:ln>
          <a:effectLst/>
        </p:spPr>
        <p:txBody>
          <a:bodyPr rtlCol="0" anchor="ctr" lIns="0" rIns="0" tIns="0" bIns="0"/>
          <a:lstStyle/>
          <a:p/>
        </p:txBody>
      </p:sp>
      <p:pic>
        <p:nvPicPr>
          <p:cNvPr id="20" name="icone hospital" descr="hospital_white.png"/>
          <p:cNvPicPr>
            <a:picLocks noChangeAspect="1"/>
          </p:cNvPicPr>
          <p:nvPr/>
        </p:nvPicPr>
        <p:blipFill>
          <a:blip r:embed="rId7"/>
          <a:stretch>
            <a:fillRect/>
          </a:stretch>
        </p:blipFill>
        <p:spPr>
          <a:xfrm>
            <a:off x="14885669" y="4697729"/>
            <a:ext cx="434340" cy="434340"/>
          </a:xfrm>
          <a:prstGeom prst="rect">
            <a:avLst/>
          </a:prstGeom>
        </p:spPr>
      </p:pic>
      <p:sp>
        <p:nvSpPr>
          <p:cNvPr id="21" name="TextBox 20"/>
          <p:cNvSpPr txBox="1"/>
          <p:nvPr/>
        </p:nvSpPr>
        <p:spPr>
          <a:xfrm>
            <a:off x="12740639" y="5486400"/>
            <a:ext cx="4724399" cy="411480"/>
          </a:xfrm>
          <a:prstGeom prst="rect">
            <a:avLst/>
          </a:prstGeom>
          <a:noFill/>
        </p:spPr>
        <p:txBody>
          <a:bodyPr wrap="square" lIns="0" rIns="0" tIns="0" bIns="0" anchor="t">
            <a:noAutofit/>
          </a:bodyPr>
          <a:lstStyle/>
          <a:p>
            <a:pPr algn="ctr">
              <a:lnSpc>
                <a:spcPct val="100000"/>
              </a:lnSpc>
              <a:spcAft>
                <a:spcPts val="0"/>
              </a:spcAft>
              <a:buNone/>
            </a:pPr>
            <a:r>
              <a:rPr sz="1900" b="1" i="0">
                <a:solidFill>
                  <a:srgbClr val="002060"/>
                </a:solidFill>
                <a:latin typeface="Arial"/>
              </a:rPr>
              <a:t>Instituição</a:t>
            </a:r>
          </a:p>
        </p:txBody>
      </p:sp>
      <p:sp>
        <p:nvSpPr>
          <p:cNvPr id="22" name="TextBox 21"/>
          <p:cNvSpPr txBox="1"/>
          <p:nvPr/>
        </p:nvSpPr>
        <p:spPr>
          <a:xfrm>
            <a:off x="12740639" y="5943600"/>
            <a:ext cx="4724399" cy="1325880"/>
          </a:xfrm>
          <a:prstGeom prst="rect">
            <a:avLst/>
          </a:prstGeom>
          <a:noFill/>
        </p:spPr>
        <p:txBody>
          <a:bodyPr wrap="square" lIns="0" rIns="0" tIns="0" bIns="0" anchor="t">
            <a:noAutofit/>
          </a:bodyPr>
          <a:lstStyle/>
          <a:p>
            <a:pPr algn="ctr">
              <a:lnSpc>
                <a:spcPct val="105000"/>
              </a:lnSpc>
              <a:spcAft>
                <a:spcPts val="0"/>
              </a:spcAft>
              <a:buNone/>
            </a:pPr>
            <a:r>
              <a:rPr sz="1700" b="0" i="0">
                <a:solidFill>
                  <a:srgbClr val="1F2433"/>
                </a:solidFill>
                <a:latin typeface="Arial"/>
              </a:rPr>
              <a:t>Faculdade São Leopoldo Mandic Araras e Programa de Iniciação Científica (PIC), na modalidade voluntária, pelo apoio institucional e metodológico.</a:t>
            </a:r>
          </a:p>
        </p:txBody>
      </p:sp>
      <p:sp>
        <p:nvSpPr>
          <p:cNvPr id="23" name="Rounded Rectangle 22"/>
          <p:cNvSpPr/>
          <p:nvPr/>
        </p:nvSpPr>
        <p:spPr>
          <a:xfrm>
            <a:off x="1143000" y="7863840"/>
            <a:ext cx="16642080" cy="1874519"/>
          </a:xfrm>
          <a:prstGeom prst="roundRect">
            <a:avLst>
              <a:gd name="adj" fmla="val 6000"/>
            </a:avLst>
          </a:prstGeom>
          <a:solidFill>
            <a:srgbClr val="E6EBF5"/>
          </a:solidFill>
          <a:ln>
            <a:noFill/>
          </a:ln>
          <a:effectLst/>
        </p:spPr>
        <p:txBody>
          <a:bodyPr rtlCol="0" anchor="ctr"/>
          <a:lstStyle/>
          <a:p/>
        </p:txBody>
      </p:sp>
      <p:sp>
        <p:nvSpPr>
          <p:cNvPr id="24" name="TextBox 23"/>
          <p:cNvSpPr txBox="1"/>
          <p:nvPr/>
        </p:nvSpPr>
        <p:spPr>
          <a:xfrm>
            <a:off x="1463040" y="8046720"/>
            <a:ext cx="16002000" cy="1508759"/>
          </a:xfrm>
          <a:prstGeom prst="rect">
            <a:avLst/>
          </a:prstGeom>
          <a:noFill/>
        </p:spPr>
        <p:txBody>
          <a:bodyPr wrap="square" lIns="0" rIns="0" tIns="0" bIns="0" anchor="ctr">
            <a:noAutofit/>
          </a:bodyPr>
          <a:lstStyle/>
          <a:p>
            <a:pPr algn="ctr">
              <a:lnSpc>
                <a:spcPct val="100000"/>
              </a:lnSpc>
              <a:spcAft>
                <a:spcPts val="600"/>
              </a:spcAft>
              <a:buNone/>
            </a:pPr>
            <a:r>
              <a:rPr sz="1700" b="1" i="0">
                <a:solidFill>
                  <a:srgbClr val="002060"/>
                </a:solidFill>
                <a:latin typeface="Arial"/>
              </a:rPr>
              <a:t>Registro PROSPERO: </a:t>
            </a:r>
            <a:r>
              <a:rPr sz="1700" b="0" i="0">
                <a:solidFill>
                  <a:srgbClr val="1F2433"/>
                </a:solidFill>
                <a:latin typeface="Arial"/>
              </a:rPr>
              <a:t>CRD420251238727   ·   </a:t>
            </a:r>
            <a:r>
              <a:rPr sz="1700" b="1" i="0">
                <a:solidFill>
                  <a:srgbClr val="002060"/>
                </a:solidFill>
                <a:latin typeface="Arial"/>
              </a:rPr>
              <a:t>Dados e código: </a:t>
            </a:r>
            <a:r>
              <a:rPr sz="1700" b="0" i="0">
                <a:solidFill>
                  <a:srgbClr val="1F2433"/>
                </a:solidFill>
                <a:latin typeface="Arial"/>
              </a:rPr>
              <a:t>osf.io/jktmn</a:t>
            </a:r>
          </a:p>
          <a:p>
            <a:pPr algn="ctr">
              <a:lnSpc>
                <a:spcPct val="100000"/>
              </a:lnSpc>
              <a:spcAft>
                <a:spcPts val="600"/>
              </a:spcAft>
              <a:buNone/>
            </a:pPr>
            <a:r>
              <a:rPr sz="1700" b="1" i="0">
                <a:solidFill>
                  <a:srgbClr val="002060"/>
                </a:solidFill>
                <a:latin typeface="Arial"/>
              </a:rPr>
              <a:t>Financiamento: </a:t>
            </a:r>
            <a:r>
              <a:rPr sz="1700" b="0" i="0">
                <a:solidFill>
                  <a:srgbClr val="1F2433"/>
                </a:solidFill>
                <a:latin typeface="Arial"/>
              </a:rPr>
              <a:t>nenhum   ·   </a:t>
            </a:r>
            <a:r>
              <a:rPr sz="1700" b="1" i="0">
                <a:solidFill>
                  <a:srgbClr val="002060"/>
                </a:solidFill>
                <a:latin typeface="Arial"/>
              </a:rPr>
              <a:t>Conflitos de interesse: </a:t>
            </a:r>
            <a:r>
              <a:rPr sz="1700" b="0" i="0">
                <a:solidFill>
                  <a:srgbClr val="1F2433"/>
                </a:solidFill>
                <a:latin typeface="Arial"/>
              </a:rPr>
              <a:t>nenhum   ·   </a:t>
            </a:r>
            <a:r>
              <a:rPr sz="1700" b="1" i="0">
                <a:solidFill>
                  <a:srgbClr val="002060"/>
                </a:solidFill>
                <a:latin typeface="Arial"/>
              </a:rPr>
              <a:t>Dispensa do CEP: </a:t>
            </a:r>
            <a:r>
              <a:rPr sz="1700" b="0" i="0">
                <a:solidFill>
                  <a:srgbClr val="1F2433"/>
                </a:solidFill>
                <a:latin typeface="Arial"/>
              </a:rPr>
              <a:t>protocolo 2025/0743 (Res. CNS 510/2016)</a:t>
            </a:r>
          </a:p>
          <a:p>
            <a:pPr algn="ctr">
              <a:lnSpc>
                <a:spcPct val="100000"/>
              </a:lnSpc>
              <a:spcAft>
                <a:spcPts val="600"/>
              </a:spcAft>
              <a:buNone/>
            </a:pPr>
            <a:r>
              <a:rPr sz="1700" b="1" i="0">
                <a:solidFill>
                  <a:srgbClr val="002060"/>
                </a:solidFill>
                <a:latin typeface="Arial"/>
              </a:rPr>
              <a:t>Contato: </a:t>
            </a:r>
            <a:r>
              <a:rPr sz="1700" b="0" i="0">
                <a:solidFill>
                  <a:srgbClr val="1F2433"/>
                </a:solidFill>
                <a:latin typeface="Arial"/>
              </a:rPr>
              <a:t>theo.baccaro@med.slmandic.edu.br</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81</TotalTime>
  <Words>57</Words>
  <Application>Microsoft Office PowerPoint</Application>
  <PresentationFormat>Personalizar</PresentationFormat>
  <Paragraphs>18</Paragraphs>
  <Slides>11</Slides>
  <Notes>0</Notes>
  <HiddenSlides>0</HiddenSlides>
  <MMClips>0</MMClips>
  <ScaleCrop>false</ScaleCrop>
  <HeadingPairs>
    <vt:vector size="6" baseType="variant">
      <vt:variant>
        <vt:lpstr>Fontes usadas</vt:lpstr>
      </vt:variant>
      <vt:variant>
        <vt:i4>2</vt:i4>
      </vt:variant>
      <vt:variant>
        <vt:lpstr>Tema</vt:lpstr>
      </vt:variant>
      <vt:variant>
        <vt:i4>1</vt:i4>
      </vt:variant>
      <vt:variant>
        <vt:lpstr>Títulos de slides</vt:lpstr>
      </vt:variant>
      <vt:variant>
        <vt:i4>11</vt:i4>
      </vt:variant>
    </vt:vector>
  </HeadingPairs>
  <TitlesOfParts>
    <vt:vector size="14" baseType="lpstr">
      <vt:lpstr>Arial</vt:lpstr>
      <vt:lpstr>Calibri</vt:lpstr>
      <vt:lpstr>Office Theme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Ana Carolina da Cruz Alves</dc:creator>
  <cp:lastModifiedBy>Flávia Alves</cp:lastModifiedBy>
  <cp:revision>4</cp:revision>
  <dcterms:created xsi:type="dcterms:W3CDTF">2006-08-16T00:00:00Z</dcterms:created>
  <dcterms:modified xsi:type="dcterms:W3CDTF">2026-10-02T15:48:53Z</dcterms:modified>
  <dc:identifier>DAGzoUEXYuM</dc:identifier>
</cp:coreProperties>
</file>