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61" r:id="rId10"/>
    <p:sldId id="262" r:id="rId11"/>
    <p:sldId id="263" r:id="rId9"/>
    <p:sldId id="264" r:id="rId8"/>
    <p:sldId id="265" r:id="rId7"/>
    <p:sldId id="266" r:id="rId6"/>
    <p:sldId id="267" r:id="rId5"/>
    <p:sldId id="268" r:id="rId4"/>
    <p:sldId id="269" r:id="rId3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60" r:id="rId12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01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2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ávia Alves" userId="b26f7b41b6da3d18" providerId="LiveId" clId="{48279B96-E656-47C8-AE37-55BD5486B1B4}"/>
    <pc:docChg chg="modSld">
      <pc:chgData name="Flávia Alves" userId="b26f7b41b6da3d18" providerId="LiveId" clId="{48279B96-E656-47C8-AE37-55BD5486B1B4}" dt="2026-10-02T15:48:52.725" v="25" actId="20577"/>
      <pc:docMkLst>
        <pc:docMk/>
      </pc:docMkLst>
      <pc:sldChg chg="modSp mod">
        <pc:chgData name="Flávia Alves" userId="b26f7b41b6da3d18" providerId="LiveId" clId="{48279B96-E656-47C8-AE37-55BD5486B1B4}" dt="2026-10-02T15:48:52.725" v="25" actId="20577"/>
        <pc:sldMkLst>
          <pc:docMk/>
          <pc:sldMk cId="0" sldId="258"/>
        </pc:sldMkLst>
        <pc:spChg chg="mod">
          <ac:chgData name="Flávia Alves" userId="b26f7b41b6da3d18" providerId="LiveId" clId="{48279B96-E656-47C8-AE37-55BD5486B1B4}" dt="2026-10-02T15:48:52.725" v="25" actId="20577"/>
          <ac:spMkLst>
            <pc:docMk/>
            <pc:sldMk cId="0" sldId="258"/>
            <ac:spMk id="5" creationId="{13EED535-3E35-9C1D-2B6B-5464675B12C6}"/>
          </ac:spMkLst>
        </pc:spChg>
        <pc:spChg chg="mod">
          <ac:chgData name="Flávia Alves" userId="b26f7b41b6da3d18" providerId="LiveId" clId="{48279B96-E656-47C8-AE37-55BD5486B1B4}" dt="2026-10-02T15:47:38.326" v="12" actId="20577"/>
          <ac:spMkLst>
            <pc:docMk/>
            <pc:sldMk cId="0" sldId="258"/>
            <ac:spMk id="7" creationId="{17DF7FDA-FA4B-CFC4-F048-39EA88B7B7C3}"/>
          </ac:spMkLst>
        </pc:spChg>
      </pc:sldChg>
      <pc:sldChg chg="modSp mod">
        <pc:chgData name="Flávia Alves" userId="b26f7b41b6da3d18" providerId="LiveId" clId="{48279B96-E656-47C8-AE37-55BD5486B1B4}" dt="2026-10-02T15:47:14.136" v="11" actId="20577"/>
        <pc:sldMkLst>
          <pc:docMk/>
          <pc:sldMk cId="43250430" sldId="260"/>
        </pc:sldMkLst>
        <pc:spChg chg="mod">
          <ac:chgData name="Flávia Alves" userId="b26f7b41b6da3d18" providerId="LiveId" clId="{48279B96-E656-47C8-AE37-55BD5486B1B4}" dt="2026-10-02T15:47:14.136" v="11" actId="20577"/>
          <ac:spMkLst>
            <pc:docMk/>
            <pc:sldMk cId="43250430" sldId="260"/>
            <ac:spMk id="10" creationId="{F7C5D084-7D27-940F-6996-698E06882E08}"/>
          </ac:spMkLst>
        </pc:spChg>
      </pc:sldChg>
      <pc:sldChg chg="modSp mod">
        <pc:chgData name="Flávia Alves" userId="b26f7b41b6da3d18" providerId="LiveId" clId="{48279B96-E656-47C8-AE37-55BD5486B1B4}" dt="2026-10-02T15:47:01.268" v="10" actId="1035"/>
        <pc:sldMkLst>
          <pc:docMk/>
          <pc:sldMk cId="333493163" sldId="280"/>
        </pc:sldMkLst>
        <pc:spChg chg="mod">
          <ac:chgData name="Flávia Alves" userId="b26f7b41b6da3d18" providerId="LiveId" clId="{48279B96-E656-47C8-AE37-55BD5486B1B4}" dt="2026-10-02T15:46:56.449" v="8" actId="14100"/>
          <ac:spMkLst>
            <pc:docMk/>
            <pc:sldMk cId="333493163" sldId="280"/>
            <ac:spMk id="3" creationId="{D367EA2F-EAAF-7687-9AFE-7DBE4216341E}"/>
          </ac:spMkLst>
        </pc:spChg>
        <pc:picChg chg="mod">
          <ac:chgData name="Flávia Alves" userId="b26f7b41b6da3d18" providerId="LiveId" clId="{48279B96-E656-47C8-AE37-55BD5486B1B4}" dt="2026-10-02T15:47:01.268" v="10" actId="1035"/>
          <ac:picMkLst>
            <pc:docMk/>
            <pc:sldMk cId="333493163" sldId="280"/>
            <ac:picMk id="2" creationId="{1E344D4C-B05B-36E8-6A59-3414AE69FCF3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Registros</c:v>
                </c:pt>
              </c:strCache>
            </c:strRef>
          </c:tx>
          <c:spPr>
            <a:solidFill>
              <a:srgbClr val="002060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4.522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4.660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3.629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2.639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1.229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50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28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400">
                        <a:solidFill>
                          <a:srgbClr val="1F2433"/>
                        </a:solidFill>
                        <a:latin typeface="Arial"/>
                      </a:rP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PubMed/MEDLINE</c:v>
                </c:pt>
                <c:pt idx="1">
                  <c:v>Embase</c:v>
                </c:pt>
                <c:pt idx="2">
                  <c:v>Web of Science</c:v>
                </c:pt>
                <c:pt idx="3">
                  <c:v>Scopus</c:v>
                </c:pt>
                <c:pt idx="4">
                  <c:v>BVS (LILACS/IBECS)</c:v>
                </c:pt>
                <c:pt idx="5">
                  <c:v>Google Scholar</c:v>
                </c:pt>
                <c:pt idx="6">
                  <c:v>SciELO</c:v>
                </c:pt>
                <c:pt idx="7">
                  <c:v>Cochrane CENTRAL</c:v>
                </c:pt>
                <c:pt idx="8">
                  <c:v>Catálogo CAPES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4522</c:v>
                </c:pt>
                <c:pt idx="1">
                  <c:v>4660</c:v>
                </c:pt>
                <c:pt idx="2">
                  <c:v>3629</c:v>
                </c:pt>
                <c:pt idx="3">
                  <c:v>2639</c:v>
                </c:pt>
                <c:pt idx="4">
                  <c:v>1229</c:v>
                </c:pt>
                <c:pt idx="5">
                  <c:v>50</c:v>
                </c:pt>
                <c:pt idx="6">
                  <c:v>28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1F243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FDA"/>
            </a:solidFill>
          </a:ln>
        </c:spPr>
        <c:txPr>
          <a:bodyPr/>
          <a:lstStyle/>
          <a:p>
            <a:pPr>
              <a:defRPr sz="14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85.2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F24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CAPA (~15 s)</a:t>
            </a:r>
          </a:p>
          <a:p>
            <a:r>
              <a:t>Bom dia a todos. Meu nome é Theo Báccaro, sou aluno de Medicina da São Leopoldo Mandic de Araras. Vou apresentar a Iniciação Científica que desenvolvi ao longo de um ano, sob orientação da Profa. Lisie Tocci Justo, com a colaboração do Luiz Henrique Ledesma Pereira e da Dra. Mariana Matera Veras, do LIM05 da USP.</a:t>
            </a:r>
          </a:p>
          <a:p>
            <a:r>
              <a:t>O trabalho é uma revisão sistemática com metanálise de prevalência sobre os efeitos à saúde da exposição ocupacional à fumaça cirúrgica na equipe de centro cirúrgico.</a:t>
            </a:r>
          </a:p>
          <a:p/>
          <a:p>
            <a:r>
              <a:t>DICA: fale o título de forma natural, sem ler palavra por palavra. Respire e vá para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[0:15–0:35] TRAJETÓRIA (~20 s)</a:t>
            </a:r>
          </a:p>
          <a:p>
            <a:r>
              <a:t>Antes do conteúdo, um ano de trabalho em uma imagem. Em julho de 2025 fiz o curso de Revisão Sistemática e Metanálise da Unicamp, 40 horas, concluído com distinção, e um curso de escrita científica. Estudei as Diretrizes Metodológicas do Ministério da Saúde e as ferramentas de risco de viés do JBI, registrei o protocolo no PROSPERO e obtive a dispensa do CEP. Em março de 2026 fiz os cursos de normalização da Fiocruz. Em julho rodei a busca final nas sete bases e li, um a um, 10.910 títulos e resumos; depois vieram a extração, o risco de viés, a metanálise em Python, o GRADE e o manuscrito.</a:t>
            </a:r>
          </a:p>
          <a:p/>
          <a:p>
            <a:r>
              <a:t>DICA: este slide é contexto; não leia as legendas. Aponte a linha do tempo e siga. A animação monta o slide sozinha (cerca de 3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[0:35–1:20] INTRODUÇÃO (~45 s)</a:t>
            </a:r>
          </a:p>
          <a:p>
            <a:r>
              <a:t>Fumaça cirúrgica é o subproduto da destruição térmica dos tecidos pelo eletrocautério, pelo laser e pelo bisturi ultrassônico. Ela não é só "fumaça": contém hidrocarbonetos aromáticos policíclicos, compostos orgânicos voláteis como benzeno, tolueno e xileno, material particulado fino, o PM2,5, e partículas ultrafinas, que chegam às vias aéreas inferiores, e até material genético viral, como o HPV.</a:t>
            </a:r>
          </a:p>
          <a:p>
            <a:r>
              <a:t>(Se perguntarem: PM2,5 é a fração fina, com diâmetro aerodinâmico abaixo de 2,5 µm; "ultrafina" é abaixo de 0,1 µm. O manuscrito cita as duas.)</a:t>
            </a:r>
          </a:p>
          <a:p>
            <a:r>
              <a:t>Quem trabalha no centro cirúrgico relata com frequência irritação ocular, tosse, irritação de mucosas, cefaleia e náusea. O que não sabemos é o efeito de longo prazo: há plausibilidade biológica para câncer e doença respiratória, mas a relação causal nunca foi estabelecida, e revisões recentes chegam a dizer que o risco pode estar superestimado.</a:t>
            </a:r>
          </a:p>
          <a:p>
            <a:r>
              <a:t>Enquanto isso, exaustão de fumaça e máscaras de alta filtração ainda são pouco adotadas. E a literatura prévia era descritiva, sem metanálise. Por isso desenhamos uma síntese em camadas: metanálise de prevalência dos sintomas e síntese narrativa, com GRADE, dos desfechos objetivos.</a:t>
            </a:r>
          </a:p>
          <a:p/>
          <a:p>
            <a:r>
              <a:t>PONTO-CHAVE: a palavra "controvérsia" justifica a revisão. Se a banca perguntar "por que mais uma revisão?", a resposta é: nenhuma anterior quantificou a prevalência com intervalo de predição 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[1:20–1:45] OBJETIVOS (~25 s)</a:t>
            </a:r>
          </a:p>
          <a:p>
            <a:r>
              <a:t>O objetivo foi avaliar os desfechos de saúde associados à exposição ocupacional à fumaça cirúrgica na equipe de centro cirúrgico, com ênfase em três coisas: prevalência de sintomas, desfechos objetivos e biomarcadores.</a:t>
            </a:r>
          </a:p>
          <a:p>
            <a:r>
              <a:t>A pergunta foi estruturada em PECO: população é a equipe de centro cirúrgico; exposição é a fumaça dos dispositivos de energia; comparador são os não expostos ou protegidos; desfecho são os efeitos à saúde. Para a parte de prevalência usamos o esquema CoCoPop, condição, contexto e população, que é o recomendado pelo JBI para metanálises de proporção.</a:t>
            </a:r>
          </a:p>
          <a:p>
            <a:r>
              <a:t>Um ponto que gosto de deixar claro desde o início: metanálise de proporção estima frequência, não efeito causal. Isso vai ser importante na hora de interpretar.</a:t>
            </a:r>
          </a:p>
          <a:p/>
          <a:p>
            <a:r>
              <a:t>SE PERGUNTAREM "por que PECO e não PICO?": porque é exposição, não intervenção; não houve alocação de intervenção.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[1:45–2:15] METODOLOGIA – MAPA (~30 s)</a:t>
            </a:r>
          </a:p>
          <a:p>
            <a:r>
              <a:t>A parte que mais me orgulho é o método, então vou apresentá-lo como um passo a passo, do jeito que o PRISMA 2020 recomenda. São sete passos.</a:t>
            </a:r>
          </a:p>
          <a:p>
            <a:r>
              <a:t>Um: a pergunta e o protocolo, registrado no PROSPERO antes da extração de dados, e a dispensa do Comitê de Ética, por ser revisão de literatura. Dois: a busca em sete bases, mais literatura cinzenta e busca por citação. Três: a seleção, com deduplicação, triagem e leitura na íntegra. Quatro: a extração padronizada. Cinco: o risco de viés com as ferramentas do JBI. Seis: a síntese, que é a metanálise de proporções. Sete: a certeza da evidência pelo GRADE.</a:t>
            </a:r>
          </a:p>
          <a:p>
            <a:r>
              <a:t>Tudo foi feito com ferramentas abertas: Zotero, Rayyan, OpenAlex e análise em Python. Um assistente de IA teve função só operacional: ajudou a priorizar a ordem de leitura na triagem, na leitura assistida de resumos e na organização do fluxo de trabalho. Toda decisão de elegibilidade, a extração, a interpretação e a redação foram minhas, e nada gerado por IA entrou sem verificação humana; isso está declarado conforme a Portaria do CNPq. O código e as planilhas estão públicos no OSF.</a:t>
            </a:r>
          </a:p>
          <a:p/>
          <a:p>
            <a:r>
              <a:t>DICA: não detalhe nada aqui; é só o mapa. Os próximos cinco slides percorrem os passos. As colunas aparecem sozinhas, uma 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[2:15–2:50] PASSOS 1 E 2 (~35 s)</a:t>
            </a:r>
          </a:p>
          <a:p>
            <a:r>
              <a:t>Os critérios de elegibilidade foram definidos no protocolo, e os ajustes feitos depois do registro estão declarados no manuscrito. Incluímos estudos observacionais primários com profissionais de centro cirúrgico expostos, com qualquer efeito à saúde ou marcador de exposição como desfecho, em português, inglês ou espanhol, sem restrição de data. Resumos de congresso só entraram quando traziam população, cenário, definição do desfecho, eventos e denominador; essa admissão foi uma decisão posterior ao registro, declarada, e esses resumos receberam preocupação alta com viés e análise de sensibilidade. Excluímos estudos em animais, populações fora do centro cirúrgico, desfechos só no paciente, medições de ar sem desfecho humano e exposições não atribuíveis à fumaça.</a:t>
            </a:r>
          </a:p>
          <a:p>
            <a:r>
              <a:t>A busca foi desenhada para sensibilidade máxima: dois blocos, população e exposição, sem bloco de desfecho, sem filtro de idioma nem de data. Rodamos em sete bases, mais literatura cinzenta e busca por citação automatizada no OpenAlex. Resultado: 16.757 registros, mais 443 referências rastreadas por citação. PubMed e Embase trouxeram quase metade.</a:t>
            </a:r>
          </a:p>
          <a:p/>
          <a:p>
            <a:r>
              <a:t>SE PERGUNTAREM por que a Cochrane CENTRAL deu zero: ela indexa ensaios clínicos e a revisão só incluiu observacionais; era esperado.</a:t>
            </a:r>
          </a:p>
          <a:p>
            <a:r>
              <a:t>SE PERGUNTAREM por que sem bloco de desfecho: porque os desfechos eram heterogêneos (sintomas, espirometria, HPV...) e um bloco de desfecho reduziria a sensibilidade.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[2:50–3:25] PASSO 3 – SELEÇÃO (~35 s)</a:t>
            </a:r>
          </a:p>
          <a:p>
            <a:r>
              <a:t>Da esquerda para a direita: 16.757 registros entraram no Zotero e foram importados no Rayyan, que removeu 5.839 duplicatas por DOI, PMID e similaridade de título. Sobraram 10.910 registros únicos, e eu li o título e o resumo de todos eles. Um script em Python com regras por palavras-chave e um assistente de IA tiveram papel operacional: reordenaram a fila de leitura, apoiaram a leitura assistida de resumos e a organização do fluxo. Quem decidia a elegibilidade era eu, com os critérios.</a:t>
            </a:r>
          </a:p>
          <a:p>
            <a:r>
              <a:t>Vinte e oito foram para texto completo, mais quatro vindos da busca por citação, total de 32; seis não foram recuperados apesar de tentativas por acesso institucional e contato com autores; 26 foram avaliados na íntegra e 22 incluídos.</a:t>
            </a:r>
          </a:p>
          <a:p>
            <a:r>
              <a:t>Um cuidado importante: sete publicações vêm do mesmo grupo brasileiro, com amostras sobrepostas. Para não contar ninguém duas vezes, cada agrupamento recebeu só um representante desse cluster, o Bieniek 2022, que era o relato mais completo.</a:t>
            </a:r>
          </a:p>
          <a:p/>
          <a:p>
            <a:r>
              <a:t>HONESTIDADE METODOLÓGICA: a triagem foi feita por um único revisor. Isso está declarado como limitação. Cuidado com a terminologia: o PRISMA 2020 é um guia de RELATO (diz o que deve constar no texto); a seleção independente por dois revisores é uma recomendação METODOLÓGICA importante (manuais do JBI e da Cochrane; Diretrizes do MS). Se perguntarem, diga que as decisões foram registradas com justificativa e que a replicação em duplicata está nas perspectivas.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[3:25–3:55] PASSOS 4 E 5 (~30 s)</a:t>
            </a:r>
          </a:p>
          <a:p>
            <a:r>
              <a:t>A extração foi feita em planilha padronizada: identificação, desenho, população, dispositivo gerador, comparador, instrumento e definição do desfecho, taxa de resposta e, para a metanálise, o número de eventos e o denominador de cada estudo. Por exemplo, no İlçe 2017, 33 de 81 profissionais relataram lacrimejamento.</a:t>
            </a:r>
          </a:p>
          <a:p>
            <a:r>
              <a:t>O risco de viés foi avaliado com as ferramentas do Joanna Briggs Institute, escolhidas pela função de cada estudo: a lista de prevalência, com nove itens, para os sete estudos das metanálises; a de transversal analítico para os comparativos; e a de coorte para os três longitudinais. O julgamento global foi qualitativo, guiado pelos domínios críticos: amostragem, tamanho amostral, validade da mensuração e taxa de resposta.</a:t>
            </a:r>
          </a:p>
          <a:p>
            <a:r>
              <a:t>O semáforo resume: a preocupação foi moderada ou alta em todos, principalmente por amostragem não probabilística, taxa de resposta não relatada e desfecho autorrelatado. Nenhum estudo teve preocupação baixa, e isso vai pesar no GRADE.</a:t>
            </a:r>
          </a:p>
          <a:p/>
          <a:p>
            <a:r>
              <a:t>SE PERGUNTAREM por que JBI e não Newcastle-Ottawa ou ROBINS-E: o JBI tem lista específica para estudos de prevalência, alinhada ao CoCoPop; NOS não cobre prevalência e ROBINS-E é para exposição comparativa.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[3:55–4:45] PASSO 6 – METANÁLISE (~50 s)  ← o coração da apresentação</a:t>
            </a:r>
          </a:p>
          <a:p>
            <a:r>
              <a:t>Vou explicar a metanálise em cinco passos. Primeiro, cada estudo vira uma proporção: eventos dividido pelo n. Segundo, aplicamos a transformação logito, o logaritmo da chance: isso tira a proporção da escala de zero a um, aproxima da distribuição normal e garante que a estimativa combinada e os intervalos fiquem entre 0 e 100%. Terceiro, usamos modelo de efeitos aleatórios, porque não faz sentido supor uma única prevalência verdadeira em hospitais da Turquia, da Malásia e do Brasil; a variância entre estudos, o tau-quadrado, foi estimada por Paule-Mandel. Quarto, o intervalo de confiança da estimativa combinada recebeu o ajuste de Hartung-Knapp, que usa a distribuição t e é mais honesto quando há poucos estudos e muita heterogeneidade. Quinto, voltamos para porcentagem e reportamos o I² e o intervalo de predição, que diz onde cairia a prevalência de um novo estudo.</a:t>
            </a:r>
          </a:p>
          <a:p>
            <a:r>
              <a:t>Para testar a robustez, repetimos tudo com a transformação de Freeman-Tukey e com um modelo logístico misto, fizemos leave-one-out, gráfico de Baujat e subgrupo por país.</a:t>
            </a:r>
          </a:p>
          <a:p>
            <a:r>
              <a:t>Não fizemos gráfico de funil nem Egger, porque em proporções o erro-padrão depende da própria proporção, o que cria assimetria falsa, e seriam necessários dez estudos.</a:t>
            </a:r>
          </a:p>
          <a:p/>
          <a:p>
            <a:r>
              <a:t>ANALOGIA se precisar: efeitos fixos = "todos os estudos medem a mesma coisa com ruído"; efeitos aleatórios = "cada estudo mede a sua prevalência, e queremos a média dessas prevalências e a dispersão delas".</a:t>
            </a:r>
          </a:p>
          <a:p>
            <a:r>
              <a:t>Os cinco cards aparecem sozinhos, um a um, enquanto você fala.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[4:45–5:15] PASSO 7 – GRADE (~30 s)</a:t>
            </a:r>
          </a:p>
          <a:p>
            <a:r>
              <a:t>O último passo foi graduar a certeza da evidência pelo GRADE, nos cinco domínios: risco de viés, inconsistência, evidência indireta, imprecisão e viés de publicação. Como não existe adaptação universal do GRADE para prevalência, explicitamos os critérios em cada domínio.</a:t>
            </a:r>
          </a:p>
          <a:p>
            <a:r>
              <a:t>Partimos de certeza baixa, por ser evidência observacional, e qualquer domínio grave leva a muito baixa. Um detalhe que mostra cuidado: a evidência indireta não foi rebaixada nos sintomas, porque o sintoma autorrelatado é exatamente o desfecho da pergunta de frequência; já nos biomarcadores foi rebaixada, por coexposição e desfecho substituto. E evitamos dupla contagem: o intervalo de predição entrou em inconsistência, e a largura do IC em imprecisão.</a:t>
            </a:r>
          </a:p>
          <a:p>
            <a:r>
              <a:t>À direita estão as decisões tomadas depois do registro no PROSPERO, todas declaradas no manuscrito.</a:t>
            </a:r>
          </a:p>
          <a:p/>
          <a:p>
            <a:r>
              <a:t>SE PERGUNTAREM "se começasse em alta, mudaria?": não. Com inconsistência muito grave, risco de viés grave e imprecisão grave, a certeza cairia três níveis e chegaria igualmente a muito baixa.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[5:15–5:35] RESULTADOS – SELEÇÃO E CARACTERÍSTICAS (~20 s)</a:t>
            </a:r>
          </a:p>
          <a:p>
            <a:r>
              <a:t>Este é o fluxograma PRISMA completo, que vocês já viram em números. Ficaram 22 relatórios de estudos observacionais, de nove países, a maioria transversal; três eram coortes prospectivas (Navarro 2016; Stanganelli 2019; Stanganelli Caus 2025).</a:t>
            </a:r>
          </a:p>
          <a:p>
            <a:r>
              <a:t>Depois do controle de sobreposição, seis amostras independentes, com 756 profissionais, entraram na metanálise ocular, e sete amostras, com 1.428, na respiratória.</a:t>
            </a:r>
          </a:p>
          <a:p>
            <a:r>
              <a:t>No risco de viés, a preocupação foi moderada a alta nos inquéritos de prevalência, e moderada nos estudos de desfechos objetivos. Nenhum estudo teve preocupação baixa; só Mohd Fikri Rosely e Titi Rahmawati (2019) usaram amostragem aleatória estratificada.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[5:35–6:25] RESULTADO PRINCIPAL – OCULAR (~50 s)  ← dê tempo a este slide; é o que mais mostra análise crítica</a:t>
            </a:r>
          </a:p>
          <a:p>
            <a:r>
              <a:t>Este é o resultado principal. A prevalência combinada de sintoma ocular, irritação ou lacrimejamento, foi de 37,6%, com intervalo de confiança de 21,9 a 56,5%. São seis amostras independentes, 756 profissionais.</a:t>
            </a:r>
          </a:p>
          <a:p>
            <a:r>
              <a:t>No gráfico de floresta, cada quadrado é a prevalência de um estudo, com o tamanho proporcional ao peso; a linha preta é o intervalo de confiança de Wilson; o losango vermelho é a estimativa combinada e a linha vermelha mais longa é o intervalo de predição, de 7 a 83%.</a:t>
            </a:r>
          </a:p>
          <a:p>
            <a:r>
              <a:t>Essa linha longa é a mensagem honesta do trabalho. A heterogeneidade é de 93%, os estudos vão de 19% na Malásia a 56% na Turquia, e um novo estudo, em outro hospital, poderia encontrar quase qualquer valor. Por isso eu não apresento o 37,6% como "a prevalência", e sim como a média de uma distribuição ampla, que o intervalo de predição descreve melhor do que o intervalo de confiança.</a:t>
            </a:r>
          </a:p>
          <a:p>
            <a:r>
              <a:t>Dois cuidados de interpretação: isto é a proporção de profissionais que relataram o sintoma e o atribuíram à fumaça, conforme a definição de cada estudo, não uma prevalência com período de recordatório homogêneo; e não há grupo não exposto no agrupamento, então o número descreve a carga de sintomas, não um excesso atribuível.</a:t>
            </a:r>
          </a:p>
          <a:p>
            <a:r>
              <a:t>(O maior inquérito, Van Giersbergen 2019, n = 672, ficou fora do agrupamento ocular por não reportar numerador e denominador extraíveis.)</a:t>
            </a:r>
          </a:p>
          <a:p/>
          <a:p>
            <a:r>
              <a:t>SE PERGUNTAREM "I² de 93% não invalida a metanálise?": em prevalência, I² alto é a regra, não a exceção (Barker et al., 2021). Por isso reportamos o intervalo de predição e investigamos as fontes (país, definição), em vez de esconder a heterogeneidade num único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[6:25–6:50] RESPIRATÓRIO E ROBUSTEZ (~25 s)  ← aponte a tabela, não leia linha por linha</a:t>
            </a:r>
          </a:p>
          <a:p>
            <a:r>
              <a:t>O desfecho respiratório, tratado como exploratório porque as definições variam muito, deu 41,7%, com intervalo de predição de 15 a 74%, em sete amostras e 1.428 profissionais.</a:t>
            </a:r>
          </a:p>
          <a:p>
            <a:r>
              <a:t>A tabela resume a robustez, e a mensagem é uma só: três modelos diferentes, retirar um estudo por vez ou excluir o resumo de congresso não mudam a leitura. O achado mais interessante é que, restringindo a definições específicas de sintoma respiratório, o I² cai de 91 para 61%: boa parte da heterogeneidade vem de como cada estudo definiu o sintoma.</a:t>
            </a:r>
          </a:p>
          <a:p>
            <a:r>
              <a:t>Na análise por país, Turquia e Malásia diferem bastante, mas com dois ou três estudos por país isso é hipótese, não conclusão.</a:t>
            </a:r>
          </a:p>
          <a:p/>
          <a:p>
            <a:r>
              <a:t>SE PEDIREM DETALHE DA TABELA: logito-HK 37,6/41,7; Freeman-Tukey 38,1/41,7; GLMM 37,5/42,0; leave-one-out 34,3–42,1 e 38,9–45,5; sem resumo de congresso 42,1/42,4; definições específicas 36,5 (I² 94%)/35,8 (I² 61%). Subgrupo ocular: Turquia n = 268; Malásia n = 333. No gráfico de Baujat, Mohd Fikri Rosely 2022 é o estudo mais influente.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[6:50–7:30] DESFECHOS OBJETIVOS E GRADE (~40 s)</a:t>
            </a:r>
          </a:p>
          <a:p>
            <a:r>
              <a:t>Além dos sintomas, quatro estudos, um por desfecho, trouxeram medidas objetivas, e todos apontam na mesma direção, desfavorável aos expostos.</a:t>
            </a:r>
          </a:p>
          <a:p>
            <a:r>
              <a:t>Espirometria no Sudão: VEF1, CVF e pico de fluxo menores nos expostos, com gradiente pelo tempo de atuação; mas a relação VEF1/CVF foi normal e o pico de fluxo depende de esforço, então lemos com cautela. Biomarcadores urinários no Brasil: metabólitos de benzeno e xileno e malondialdeído muito mais altos nos expostos; note que os denominadores diferem: 52 expostos contra 49 controles para os metabólitos, porque três amostras do grupo controle se perderam, e 52 contra 52 para o perfil oxidativo. Biópsia nasal numa coorte mexicana de quatro anos: metaplasia em 70% dos expostos contra 5%, risco relativo de 13,9, com intervalo muito amplo. E DNA de HPV na mucosa nasal de ginecologistas chineses: 9% contra 1,7%, risco relativo de 5,2.</a:t>
            </a:r>
          </a:p>
          <a:p>
            <a:r>
              <a:t>Pelo GRADE, a certeza foi muito baixa em todos os desfechos. E talvez o achado mais importante seja o que não encontramos: nenhum estudo avaliou diretamente câncer ou DPOC na equipe cirúrgica. Isso é um vazio de evidência, não evidência de ausência de risco.</a:t>
            </a:r>
          </a:p>
          <a:p/>
          <a:p>
            <a:r>
              <a:t>NÚMEROS para decorar: 37,6% ocular; 41,7% respiratório; RR 13,9 metaplasia; RR 5,2 HPV; 0 estudos de câncer/DPOC.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[7:30–8:00] DISCUSSÃO – INTERPRETAÇÃO (~30 s)</a:t>
            </a:r>
          </a:p>
          <a:p>
            <a:r>
              <a:t>Três leituras. Primeira: a carga de sintomas é alta e coerente com a literatura; a novidade é ter uma estimativa combinada com intervalo de predição, subgrupo e GRADE. Segunda: a heterogeneidade acima de 90% é esperada em prevalência; em vez de escondê-la, mostramos o intervalo de predição e as fontes prováveis: definição do sintoma, composição da equipe, tempo de exposição e contexto, como exaustão e EPI. Terceira: os desfechos objetivos têm gradiente dose-resposta (espirometria e HPV), temporalidade e plausibilidade, mas são um estudo por desfecho, com intervalos amplos e coexposições. São marcadores, não doença.</a:t>
            </a:r>
          </a:p>
          <a:p>
            <a:r>
              <a:t>E o achado mais relevante é o que não foi encontrado: nenhum estudo de câncer ou DPOC. A controvérsia sobre o risco real só se resolve com estudos longitudinais que ainda não existem.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[8:00–8:25] PONTOS FORTES E LIMITAÇÕES (~25 s)</a:t>
            </a:r>
          </a:p>
          <a:p>
            <a:r>
              <a:t>Como pontos fortes: busca ampla e sem filtro de idioma, protocolo registrado, risco de viés padronizado, síntese com intervalo de predição e três modelos concordantes, GRADE por desfecho e tudo reprodutível no OSF.</a:t>
            </a:r>
          </a:p>
          <a:p>
            <a:r>
              <a:t>As limitações estão todas declaradas. As principais: os estudos são transversais, com exposição por ocupação e sintomas autorrelatados, e o respondente sabia que o questionário era sobre fumaça; não há grupo não exposto nos agrupamentos, então não estimamos o excesso atribuível; existe o efeito do trabalhador sadio, que subestima a prevalência; a heterogeneidade é alta; e a triagem, a extração e o risco de viés foram feitos por um único revisor, sem duplicata.</a:t>
            </a:r>
          </a:p>
          <a:p>
            <a:r>
              <a:t>Elas não invalidam a síntese: delimitam o que a evidência permite afirmar.</a:t>
            </a:r>
          </a:p>
          <a:p/>
          <a:p>
            <a:r>
              <a:t>ATITUDE: fale as limitações com segurança. Banca valoriza quem conhece as fraquezas do próprio trabalho mais do que quem as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[8:25–8:50] CONCLUSÃO (~25 s)</a:t>
            </a:r>
          </a:p>
          <a:p>
            <a:r>
              <a:t>Concluindo. O que se sabe: sintomas oculares e respiratórios são frequentes na equipe exposta, com grande variação entre contextos, e os desfechos objetivos sinalizam alterações além do incômodo agudo. O que não se sabe: não há evidência direta de câncer ou DPOC atribuíveis à fumaça, a certeza é muito baixa e as coexposições limitam a atribuição causal.</a:t>
            </a:r>
          </a:p>
          <a:p>
            <a:r>
              <a:t>A implicação prática é clara: pelo princípio da precaução e pela carga de sintomas, a exaustão local na fonte, os respiradores N95 e a educação da equipe se justificam hoje. E medir o risco de longo prazo é tarefa de estudos longitudinais.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[8:50–9:05] PERSPECTIVAS FUTURAS (~15 s)</a:t>
            </a:r>
          </a:p>
          <a:p>
            <a:r>
              <a:t>Para o campo, a agenda é clara: coortes com medição objetiva da exposição e controle de coexposições, definições padronizadas de sintoma, desfechos crônicos como câncer e DPOC, e estudos de efetividade da exaustão e das máscaras.</a:t>
            </a:r>
          </a:p>
          <a:p>
            <a:r>
              <a:t>Para este trabalho: submeter o manuscrito, atualizar a busca, replicar a triagem em duplicata e levar uma proposta de proteção para o nosso centro cirúrgico.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[9:05–9:10] REFERÊNCIAS (~5 s)</a:t>
            </a:r>
          </a:p>
          <a:p>
            <a:r>
              <a:t>Estas são as principais referências metodológicas e dos estudos incluídos; a lista completa está no manuscrito, e o QR code leva ao projeto público no OSF, com o manuscrito, os anexos e os suplementos. (Não leia; apenas mencione e avance.)</a:t>
            </a:r>
          </a:p>
          <a:p/>
          <a:p>
            <a:r>
              <a:t>ANTES DO DIA: confira que o PDF do manuscrito está publicado no OSF (osf.io/jktmn); hoje o projeto tem o suplemento (zip) e as referências do banner.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[9:10–9:20] AGRADECIMENTOS (~10 s)</a:t>
            </a:r>
          </a:p>
          <a:p>
            <a:r>
              <a:t>Agradeço à Profa. Lisie pela orientação, ao Luiz Henrique e à Dra. Mariana pela revisão crítica, e à Faculdade São Leopoldo Mandic e ao PIC pelo apoio. O protocolo está no PROSPERO e o manuscrito, os dados e o código estão no OSF. Obrigado. Estou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</a:t>
            </a:r>
          </a:p>
          <a:p>
            <a:r>
              <a:t>Deixe este slide na tela durante as perguntas: o QR code leva ao manuscrito e aos suplementos no OSF. Respire, ouça a pergunta inteira, repita-a em uma frase ("a pergunta é sobre…") e responda em no máximo 30–40 segundos. Se não souber, diga o que o estudo permite afirmar e o que seria necessário para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67.png"/><Relationship Id="rId5" Type="http://schemas.openxmlformats.org/officeDocument/2006/relationships/notesSlide" Target="../notesSlides/notesSlide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Relationship Id="rId11" Type="http://schemas.openxmlformats.org/officeDocument/2006/relationships/image" Target="../media/image13.jpg"/><Relationship Id="rId12" Type="http://schemas.openxmlformats.org/officeDocument/2006/relationships/image" Target="../media/image14.jpg"/><Relationship Id="rId13" Type="http://schemas.openxmlformats.org/officeDocument/2006/relationships/image" Target="../media/image15.jpg"/><Relationship Id="rId14" Type="http://schemas.openxmlformats.org/officeDocument/2006/relationships/image" Target="../media/image16.jpg"/><Relationship Id="rId15" Type="http://schemas.openxmlformats.org/officeDocument/2006/relationships/image" Target="../media/image17.jpg"/><Relationship Id="rId16" Type="http://schemas.openxmlformats.org/officeDocument/2006/relationships/image" Target="../media/image18.jpg"/><Relationship Id="rId17" Type="http://schemas.openxmlformats.org/officeDocument/2006/relationships/image" Target="../media/image19.jpg"/><Relationship Id="rId18" Type="http://schemas.openxmlformats.org/officeDocument/2006/relationships/image" Target="../media/image20.jpg"/><Relationship Id="rId19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8.png"/><Relationship Id="rId7" Type="http://schemas.openxmlformats.org/officeDocument/2006/relationships/image" Target="../media/image25.png"/><Relationship Id="rId8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9.png"/><Relationship Id="rId9" Type="http://schemas.openxmlformats.org/officeDocument/2006/relationships/image" Target="../media/image45.png"/><Relationship Id="rId10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7.png"/><Relationship Id="rId5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42.png"/><Relationship Id="rId6" Type="http://schemas.openxmlformats.org/officeDocument/2006/relationships/image" Target="../media/image50.png"/><Relationship Id="rId7" Type="http://schemas.openxmlformats.org/officeDocument/2006/relationships/image" Target="../media/image52.png"/><Relationship Id="rId8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28.png"/><Relationship Id="rId6" Type="http://schemas.openxmlformats.org/officeDocument/2006/relationships/image" Target="../media/image54.png"/><Relationship Id="rId7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29.png"/><Relationship Id="rId8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png"/><Relationship Id="rId12" Type="http://schemas.openxmlformats.org/officeDocument/2006/relationships/image" Target="../media/image66.png"/><Relationship Id="rId1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69.png"/><Relationship Id="rId5" Type="http://schemas.openxmlformats.org/officeDocument/2006/relationships/image" Target="../media/image6.png"/><Relationship Id="rId6" Type="http://schemas.openxmlformats.org/officeDocument/2006/relationships/image" Target="../media/image38.png"/><Relationship Id="rId7" Type="http://schemas.openxmlformats.org/officeDocument/2006/relationships/image" Target="../media/image70.png"/><Relationship Id="rId8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4142676" y="8191500"/>
            <a:ext cx="4174632" cy="1959689"/>
          </a:xfrm>
          <a:custGeom>
            <a:avLst/>
            <a:gdLst/>
            <a:ahLst/>
            <a:cxnLst/>
            <a:rect l="l" t="t" r="r" b="b"/>
            <a:pathLst>
              <a:path w="4174632" h="1959689">
                <a:moveTo>
                  <a:pt x="0" y="0"/>
                </a:moveTo>
                <a:lnTo>
                  <a:pt x="4174632" y="0"/>
                </a:lnTo>
                <a:lnTo>
                  <a:pt x="4174632" y="1959690"/>
                </a:lnTo>
                <a:lnTo>
                  <a:pt x="0" y="19596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3EED535-3E35-9C1D-2B6B-5464675B12C6}"/>
              </a:ext>
            </a:extLst>
          </p:cNvPr>
          <p:cNvSpPr txBox="1"/>
          <p:nvPr/>
        </p:nvSpPr>
        <p:spPr>
          <a:xfrm>
            <a:off x="3657600" y="6675120"/>
            <a:ext cx="10972800" cy="1280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800" b="1" i="0">
                <a:solidFill>
                  <a:srgbClr val="1F2433"/>
                </a:solidFill>
                <a:latin typeface="Tahoma"/>
              </a:rPr>
              <a:t>Autor: </a:t>
            </a:r>
            <a:r>
              <a:rPr sz="1800" b="0" i="0">
                <a:solidFill>
                  <a:srgbClr val="1F2433"/>
                </a:solidFill>
                <a:latin typeface="Tahoma"/>
              </a:rPr>
              <a:t>Theo Augusto Lopes de Moraes Báccaro</a:t>
            </a:r>
            <a:endParaRPr lang="pt-BR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Aft>
                <a:spcPts val="300"/>
              </a:spcAft>
              <a:buNone/>
            </a:pPr>
            <a:r>
              <a:rPr sz="1800" b="1" i="0">
                <a:solidFill>
                  <a:srgbClr val="1F2433"/>
                </a:solidFill>
                <a:latin typeface="Tahoma"/>
              </a:rPr>
              <a:t>Orientadora: </a:t>
            </a:r>
            <a:r>
              <a:rPr sz="1800" b="0" i="0">
                <a:solidFill>
                  <a:srgbClr val="1F2433"/>
                </a:solidFill>
                <a:latin typeface="Tahoma"/>
              </a:rPr>
              <a:t>Profa. Lisie Tocci Justo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Tahoma"/>
              </a:rPr>
              <a:t>Coautores: Luiz Henrique Ledesma Pereira; Mariana Matera Veras (LIM05, HC-FMUSP)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5B56E3E-8734-A45C-A55E-A28633526BAC}"/>
              </a:ext>
            </a:extLst>
          </p:cNvPr>
          <p:cNvSpPr txBox="1"/>
          <p:nvPr/>
        </p:nvSpPr>
        <p:spPr>
          <a:xfrm>
            <a:off x="2377440" y="4892040"/>
            <a:ext cx="13533120" cy="1600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200" b="1" i="0">
                <a:solidFill>
                  <a:srgbClr val="002060"/>
                </a:solidFill>
                <a:latin typeface="Calibri"/>
              </a:rPr>
              <a:t>Sintomas, desfechos objetivos e biomarcadores em profissionais de centro cirúrgico ocupacionalmente expostos à fumaça cirúrgica: revisão sistemática e metanálise de prevalência</a:t>
            </a:r>
            <a:endParaRPr lang="pt-BR" sz="3200" dirty="0">
              <a:cs typeface="Arial" panose="020B0604020202020204" pitchFamily="3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7DF7FDA-FA4B-CFC4-F048-39EA88B7B7C3}"/>
              </a:ext>
            </a:extLst>
          </p:cNvPr>
          <p:cNvSpPr txBox="1"/>
          <p:nvPr/>
        </p:nvSpPr>
        <p:spPr>
          <a:xfrm>
            <a:off x="3581400" y="3978106"/>
            <a:ext cx="13258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latin typeface="Arial" panose="020B0604020202020204" pitchFamily="34" charset="0"/>
                <a:cs typeface="Arial" panose="020B0604020202020204" pitchFamily="34" charset="0"/>
              </a:rPr>
              <a:t>VIII SEMICA – SEMINÁRIO DE INICIAÇÃO CIENTÍFICA</a:t>
            </a:r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7B7C3954-A502-B216-C1D2-7F55EE788122}"/>
              </a:ext>
            </a:extLst>
          </p:cNvPr>
          <p:cNvSpPr/>
          <p:nvPr/>
        </p:nvSpPr>
        <p:spPr>
          <a:xfrm rot="-10800000">
            <a:off x="0" y="0"/>
            <a:ext cx="18288000" cy="1968910"/>
          </a:xfrm>
          <a:custGeom>
            <a:avLst/>
            <a:gdLst/>
            <a:ahLst/>
            <a:cxnLst/>
            <a:rect l="l" t="t" r="r" b="b"/>
            <a:pathLst>
              <a:path w="7315200" h="3274807">
                <a:moveTo>
                  <a:pt x="0" y="0"/>
                </a:moveTo>
                <a:lnTo>
                  <a:pt x="7315200" y="0"/>
                </a:lnTo>
                <a:lnTo>
                  <a:pt x="7315200" y="3274807"/>
                </a:lnTo>
                <a:lnTo>
                  <a:pt x="0" y="3274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9812" t="-3" r="-15473" b="-66323"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26" name="Picture 2" descr="Uma nova SLMANDIC de Araras para você - São Leopoldo Mandic Araras">
            <a:extLst>
              <a:ext uri="{FF2B5EF4-FFF2-40B4-BE49-F238E27FC236}">
                <a16:creationId xmlns:a16="http://schemas.microsoft.com/office/drawing/2014/main" id="{F41A3293-2A1D-554E-AE84-E597AB7A83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63" t="7525" r="19809" b="7525"/>
          <a:stretch>
            <a:fillRect/>
          </a:stretch>
        </p:blipFill>
        <p:spPr bwMode="auto">
          <a:xfrm>
            <a:off x="381000" y="7448739"/>
            <a:ext cx="2156252" cy="267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F5B3B6FD-A9BC-8FFA-D352-065DF936FD8C}"/>
              </a:ext>
            </a:extLst>
          </p:cNvPr>
          <p:cNvCxnSpPr>
            <a:cxnSpLocks/>
          </p:cNvCxnSpPr>
          <p:nvPr/>
        </p:nvCxnSpPr>
        <p:spPr>
          <a:xfrm>
            <a:off x="11035412" y="2091778"/>
            <a:ext cx="0" cy="5334000"/>
          </a:xfrm>
          <a:prstGeom prst="line">
            <a:avLst/>
          </a:prstGeom>
          <a:ln w="28575">
            <a:solidFill>
              <a:srgbClr val="1A01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7C5D084-7D27-940F-6996-698E06882E08}"/>
              </a:ext>
            </a:extLst>
          </p:cNvPr>
          <p:cNvSpPr txBox="1"/>
          <p:nvPr/>
        </p:nvSpPr>
        <p:spPr>
          <a:xfrm>
            <a:off x="5347855" y="3600743"/>
            <a:ext cx="5562600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VIII SEMICA </a:t>
            </a:r>
          </a:p>
          <a:p>
            <a:pPr algn="ctr"/>
            <a:r>
              <a:rPr lang="pt-BR" sz="32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SEMINÁRIO DE INICIAÇÃO CIENTÍFICA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A55075D-6FAB-04F6-9FAF-94B1098B5FAD}"/>
              </a:ext>
            </a:extLst>
          </p:cNvPr>
          <p:cNvSpPr txBox="1"/>
          <p:nvPr/>
        </p:nvSpPr>
        <p:spPr>
          <a:xfrm>
            <a:off x="11734800" y="4480647"/>
            <a:ext cx="5867395" cy="769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OBRIGADO (A)!</a:t>
            </a:r>
          </a:p>
        </p:txBody>
      </p:sp>
      <p:pic>
        <p:nvPicPr>
          <p:cNvPr id="17" name="Imagem 16" descr="Logotipo&#10;&#10;O conteúdo gerado por IA pode estar incorreto.">
            <a:extLst>
              <a:ext uri="{FF2B5EF4-FFF2-40B4-BE49-F238E27FC236}">
                <a16:creationId xmlns:a16="http://schemas.microsoft.com/office/drawing/2014/main" id="{0D0FC99C-AA58-7690-EFFA-687CC2A3FC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5" b="4779"/>
          <a:stretch>
            <a:fillRect/>
          </a:stretch>
        </p:blipFill>
        <p:spPr>
          <a:xfrm>
            <a:off x="177979" y="2213031"/>
            <a:ext cx="5205045" cy="4558867"/>
          </a:xfrm>
          <a:prstGeom prst="rect">
            <a:avLst/>
          </a:prstGeom>
        </p:spPr>
      </p:pic>
      <p:sp>
        <p:nvSpPr>
          <p:cNvPr id="18" name="Freeform 2">
            <a:extLst>
              <a:ext uri="{FF2B5EF4-FFF2-40B4-BE49-F238E27FC236}">
                <a16:creationId xmlns:a16="http://schemas.microsoft.com/office/drawing/2014/main" id="{D8AB2630-64AC-CEF6-D4B2-14914D6C4709}"/>
              </a:ext>
            </a:extLst>
          </p:cNvPr>
          <p:cNvSpPr/>
          <p:nvPr/>
        </p:nvSpPr>
        <p:spPr>
          <a:xfrm>
            <a:off x="0" y="8879943"/>
            <a:ext cx="18288000" cy="1064157"/>
          </a:xfrm>
          <a:custGeom>
            <a:avLst/>
            <a:gdLst/>
            <a:ahLst/>
            <a:cxnLst/>
            <a:rect l="l" t="t" r="r" b="b"/>
            <a:pathLst>
              <a:path w="10648950" h="612315">
                <a:moveTo>
                  <a:pt x="0" y="0"/>
                </a:moveTo>
                <a:lnTo>
                  <a:pt x="10648950" y="0"/>
                </a:lnTo>
                <a:lnTo>
                  <a:pt x="10648950" y="612315"/>
                </a:lnTo>
                <a:lnTo>
                  <a:pt x="0" y="612315"/>
                </a:lnTo>
                <a:lnTo>
                  <a:pt x="0" y="0"/>
                </a:lnTo>
                <a:close/>
              </a:path>
            </a:pathLst>
          </a:custGeom>
          <a:solidFill>
            <a:srgbClr val="002060"/>
          </a:solidFill>
        </p:spPr>
        <p:txBody>
          <a:bodyPr/>
          <a:lstStyle/>
          <a:p>
            <a:endParaRPr lang="pt-BR" dirty="0">
              <a:highlight>
                <a:srgbClr val="1A015F"/>
              </a:highligh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0992EB5-ED4B-5892-9C40-AF7B65CAB4FD}"/>
              </a:ext>
            </a:extLst>
          </p:cNvPr>
          <p:cNvSpPr txBox="1"/>
          <p:nvPr/>
        </p:nvSpPr>
        <p:spPr>
          <a:xfrm>
            <a:off x="177979" y="9193411"/>
            <a:ext cx="17932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APOIO: PROGRAMA DE INICIAÇÃO CIENTÍFICA (PIC)</a:t>
            </a:r>
          </a:p>
        </p:txBody>
      </p:sp>
      <p:pic>
        <p:nvPicPr>
          <p:cNvPr id="20" name="Picture 2" descr="Uma nova SLMANDIC de Araras para você - São Leopoldo Mandic Araras">
            <a:extLst>
              <a:ext uri="{FF2B5EF4-FFF2-40B4-BE49-F238E27FC236}">
                <a16:creationId xmlns:a16="http://schemas.microsoft.com/office/drawing/2014/main" id="{76927D54-1347-A313-62EA-D31EE40AB0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63" t="7525" r="19809" b="7525"/>
          <a:stretch>
            <a:fillRect/>
          </a:stretch>
        </p:blipFill>
        <p:spPr bwMode="auto">
          <a:xfrm>
            <a:off x="15953769" y="261047"/>
            <a:ext cx="2156252" cy="267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QR code OSF" descr="qr_osf_jktm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6876" y="5486400"/>
            <a:ext cx="1600200" cy="160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923776" y="719632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5A6270"/>
                </a:solidFill>
                <a:latin typeface="Arial"/>
              </a:rPr>
              <a:t>Manuscrito e suplementos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002060"/>
                </a:solidFill>
                <a:latin typeface="Arial"/>
              </a:rPr>
              <a:t>osf.io/jktmn</a:t>
            </a:r>
          </a:p>
        </p:txBody>
      </p:sp>
    </p:spTree>
    <p:extLst>
      <p:ext uri="{BB962C8B-B14F-4D97-AF65-F5344CB8AC3E}">
        <p14:creationId xmlns:p14="http://schemas.microsoft.com/office/powerpoint/2010/main" val="43250430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TRAJETÓRIA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Um ano de preparação: formação, protocolo, leitura de 10.910 registros e análise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9840" y="2240280"/>
            <a:ext cx="13868400" cy="0"/>
          </a:xfrm>
          <a:prstGeom prst="line">
            <a:avLst/>
          </a:prstGeom>
          <a:ln w="5080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141220" y="18516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graduation" descr="graduati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5530" y="2045970"/>
            <a:ext cx="388620" cy="388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743200"/>
            <a:ext cx="25907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Jul/2025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27248"/>
            <a:ext cx="2407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RS e metanálise (Unicamp) e escrita científica</a:t>
            </a:r>
          </a:p>
        </p:txBody>
      </p:sp>
      <p:sp>
        <p:nvSpPr>
          <p:cNvPr id="12" name="Oval 11"/>
          <p:cNvSpPr/>
          <p:nvPr/>
        </p:nvSpPr>
        <p:spPr>
          <a:xfrm>
            <a:off x="4914900" y="18516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3" name="icone clipboard" descr="clipboar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209" y="2045970"/>
            <a:ext cx="388620" cy="3886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08119" y="2743200"/>
            <a:ext cx="25907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9560" y="3127248"/>
            <a:ext cx="2407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Protocolo no PROSPERO e dispensa do CEP</a:t>
            </a:r>
          </a:p>
        </p:txBody>
      </p:sp>
      <p:sp>
        <p:nvSpPr>
          <p:cNvPr id="16" name="Oval 15"/>
          <p:cNvSpPr/>
          <p:nvPr/>
        </p:nvSpPr>
        <p:spPr>
          <a:xfrm>
            <a:off x="7688579" y="18516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7" name="icone book" descr="boo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889" y="2045970"/>
            <a:ext cx="388620" cy="3886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1799" y="2743200"/>
            <a:ext cx="25907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Mar/2026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3239" y="3127248"/>
            <a:ext cx="2407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Normalização ABNT e referências (Fiocruz)</a:t>
            </a:r>
          </a:p>
        </p:txBody>
      </p:sp>
      <p:sp>
        <p:nvSpPr>
          <p:cNvPr id="20" name="Oval 19"/>
          <p:cNvSpPr/>
          <p:nvPr/>
        </p:nvSpPr>
        <p:spPr>
          <a:xfrm>
            <a:off x="10462260" y="18516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1" name="icone search" descr="search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6570" y="2045970"/>
            <a:ext cx="388620" cy="3886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555480" y="2743200"/>
            <a:ext cx="25907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Jul/2026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127248"/>
            <a:ext cx="2407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Busca final em 7 bases (09/07) e projeto no OSF</a:t>
            </a:r>
          </a:p>
        </p:txBody>
      </p:sp>
      <p:sp>
        <p:nvSpPr>
          <p:cNvPr id="24" name="Oval 23"/>
          <p:cNvSpPr/>
          <p:nvPr/>
        </p:nvSpPr>
        <p:spPr>
          <a:xfrm>
            <a:off x="13235939" y="18516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5" name="icone filter" descr="filter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30249" y="2045970"/>
            <a:ext cx="388620" cy="3886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329160" y="2743200"/>
            <a:ext cx="25907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Jul–Ago/2026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20599" y="3127248"/>
            <a:ext cx="2407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10.910 títulos e resumos lidos, um a um</a:t>
            </a:r>
          </a:p>
        </p:txBody>
      </p:sp>
      <p:sp>
        <p:nvSpPr>
          <p:cNvPr id="28" name="Oval 27"/>
          <p:cNvSpPr/>
          <p:nvPr/>
        </p:nvSpPr>
        <p:spPr>
          <a:xfrm>
            <a:off x="16009620" y="1851660"/>
            <a:ext cx="777240" cy="7772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9" name="icone chart" descr="char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03930" y="2045970"/>
            <a:ext cx="388620" cy="3886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102840" y="2743200"/>
            <a:ext cx="25907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Até Out/2026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94280" y="3127248"/>
            <a:ext cx="24079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Extração, JBI, metanálise, GRADE e manuscrito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160520"/>
            <a:ext cx="8183879" cy="3886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463040" y="4480559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4" name="icone graduation" descr="graduati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3060" y="4640579"/>
            <a:ext cx="320040" cy="320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31720" y="4480559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Formação certificada · ≈ 49 h</a:t>
            </a:r>
          </a:p>
        </p:txBody>
      </p:sp>
      <p:pic>
        <p:nvPicPr>
          <p:cNvPr id="36" name="Picture 35" descr="cert_unicamp_rs_metanalis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63040" y="5404470"/>
            <a:ext cx="1748790" cy="1352579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1463040" y="6949440"/>
            <a:ext cx="174879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RS e Metanálise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Unicamp · 40 h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8A6D1F"/>
                </a:solidFill>
                <a:latin typeface="Arial"/>
              </a:rPr>
              <a:t>com distinção</a:t>
            </a:r>
          </a:p>
        </p:txBody>
      </p:sp>
      <p:pic>
        <p:nvPicPr>
          <p:cNvPr id="38" name="Picture 37" descr="cert_zuco_escrit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94710" y="5429062"/>
            <a:ext cx="1748790" cy="1303395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39" name="TextBox 38"/>
          <p:cNvSpPr txBox="1"/>
          <p:nvPr/>
        </p:nvSpPr>
        <p:spPr>
          <a:xfrm>
            <a:off x="3394710" y="6949440"/>
            <a:ext cx="174879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Escrita científica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ZucoEscrita · 3,6 h</a:t>
            </a:r>
          </a:p>
        </p:txBody>
      </p:sp>
      <p:pic>
        <p:nvPicPr>
          <p:cNvPr id="40" name="Picture 39" descr="cert_fiocruz_abnt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26380" y="5487810"/>
            <a:ext cx="1748790" cy="1185898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5326380" y="6949440"/>
            <a:ext cx="174879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Normas ABNT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Fiocruz · 3 h</a:t>
            </a:r>
          </a:p>
        </p:txBody>
      </p:sp>
      <p:pic>
        <p:nvPicPr>
          <p:cNvPr id="42" name="Picture 41" descr="cert_fiocruz_referencias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58050" y="5487810"/>
            <a:ext cx="1748790" cy="1185898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43" name="TextBox 42"/>
          <p:cNvSpPr txBox="1"/>
          <p:nvPr/>
        </p:nvSpPr>
        <p:spPr>
          <a:xfrm>
            <a:off x="7258050" y="6949440"/>
            <a:ext cx="174879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Referências (ABNT)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Fiocruz · 2 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4160520"/>
            <a:ext cx="8183879" cy="3886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9921240" y="4480559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46" name="icone book" descr="boo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1259" y="4640579"/>
            <a:ext cx="320040" cy="3200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789919" y="4480559"/>
            <a:ext cx="667511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Base metodológica: diretrizes e testes de viés</a:t>
            </a:r>
          </a:p>
        </p:txBody>
      </p:sp>
      <p:pic>
        <p:nvPicPr>
          <p:cNvPr id="48" name="Picture 47" descr="capa_ms_observacionais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03249" y="5349240"/>
            <a:ext cx="1198437" cy="1691640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49" name="TextBox 48"/>
          <p:cNvSpPr txBox="1"/>
          <p:nvPr/>
        </p:nvSpPr>
        <p:spPr>
          <a:xfrm>
            <a:off x="9921240" y="7150607"/>
            <a:ext cx="136245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MS 2014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Observacionais</a:t>
            </a:r>
          </a:p>
        </p:txBody>
      </p:sp>
      <p:pic>
        <p:nvPicPr>
          <p:cNvPr id="50" name="Picture 49" descr="capa_ms_grad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48585" y="5349240"/>
            <a:ext cx="1198437" cy="1691640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51" name="TextBox 50"/>
          <p:cNvSpPr txBox="1"/>
          <p:nvPr/>
        </p:nvSpPr>
        <p:spPr>
          <a:xfrm>
            <a:off x="11466576" y="7150607"/>
            <a:ext cx="136245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MS 2014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Sistema GRADE</a:t>
            </a:r>
          </a:p>
        </p:txBody>
      </p:sp>
      <p:pic>
        <p:nvPicPr>
          <p:cNvPr id="52" name="Picture 51" descr="capa_jbi_prevalencia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074537" y="5349240"/>
            <a:ext cx="1237205" cy="1691640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53" name="TextBox 52"/>
          <p:cNvSpPr txBox="1"/>
          <p:nvPr/>
        </p:nvSpPr>
        <p:spPr>
          <a:xfrm>
            <a:off x="13011911" y="7150607"/>
            <a:ext cx="136245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JBI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Prevalência</a:t>
            </a:r>
          </a:p>
        </p:txBody>
      </p:sp>
      <p:pic>
        <p:nvPicPr>
          <p:cNvPr id="54" name="Picture 53" descr="capa_jbi_transversal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639257" y="5349240"/>
            <a:ext cx="1198437" cy="1691640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55" name="TextBox 54"/>
          <p:cNvSpPr txBox="1"/>
          <p:nvPr/>
        </p:nvSpPr>
        <p:spPr>
          <a:xfrm>
            <a:off x="14557247" y="7150607"/>
            <a:ext cx="136245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JBI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Transversal</a:t>
            </a:r>
          </a:p>
        </p:txBody>
      </p:sp>
      <p:pic>
        <p:nvPicPr>
          <p:cNvPr id="56" name="Picture 55" descr="capa_jbi_coorte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184593" y="5349240"/>
            <a:ext cx="1198437" cy="1691640"/>
          </a:xfrm>
          <a:prstGeom prst="rect">
            <a:avLst/>
          </a:prstGeom>
          <a:ln w="9525">
            <a:solidFill>
              <a:srgbClr val="C9CFDA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6102584" y="7150607"/>
            <a:ext cx="136245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JBI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Coorte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8321040"/>
            <a:ext cx="16642080" cy="1417319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463040" y="8522208"/>
            <a:ext cx="30540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C8A951"/>
                </a:solidFill>
                <a:latin typeface="Arial"/>
              </a:rPr>
              <a:t>≈ 49 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40" y="9070848"/>
            <a:ext cx="305409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Arial"/>
              </a:rPr>
              <a:t>de cursos com certificado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00015" y="8522208"/>
            <a:ext cx="30540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C8A951"/>
                </a:solidFill>
                <a:latin typeface="Arial"/>
              </a:rPr>
              <a:t>16.757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0015" y="9070848"/>
            <a:ext cx="305409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Arial"/>
              </a:rPr>
              <a:t>registros identificados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36991" y="8522208"/>
            <a:ext cx="30540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C8A951"/>
                </a:solidFill>
                <a:latin typeface="Arial"/>
              </a:rPr>
              <a:t>10.910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36991" y="9070848"/>
            <a:ext cx="305409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Arial"/>
              </a:rPr>
              <a:t>títulos e resumos lidos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73967" y="8522208"/>
            <a:ext cx="30540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C8A951"/>
                </a:solidFill>
                <a:latin typeface="Arial"/>
              </a:rPr>
              <a:t>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73967" y="9070848"/>
            <a:ext cx="305409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Arial"/>
              </a:rPr>
              <a:t>textos completos avaliados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410943" y="8522208"/>
            <a:ext cx="305409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000" b="1" i="0">
                <a:solidFill>
                  <a:srgbClr val="C8A951"/>
                </a:solidFill>
                <a:latin typeface="Arial"/>
              </a:rPr>
              <a:t>22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410943" y="9070848"/>
            <a:ext cx="305409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Arial"/>
              </a:rPr>
              <a:t>relatórios incluídos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4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10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245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2800"/>
                            </p:stCondLst>
                            <p:childTnLst>
                              <p:par>
                                <p:cTn id="1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7" grpId="0" animBg="1"/>
      <p:bldP spid="39" grpId="0" animBg="1"/>
      <p:bldP spid="41" grpId="0" animBg="1"/>
      <p:bldP spid="43" grpId="0" animBg="1"/>
      <p:bldP spid="44" grpId="0" animBg="1"/>
      <p:bldP spid="45" grpId="0" animBg="1"/>
      <p:bldP spid="47" grpId="0" animBg="1"/>
      <p:bldP spid="49" grpId="0" animBg="1"/>
      <p:bldP spid="51" grpId="0" animBg="1"/>
      <p:bldP spid="53" grpId="0" animBg="1"/>
      <p:bldP spid="55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INTRODUÇÃO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Fumaça cirúrgica: o que é e por que importa</a:t>
            </a:r>
          </a:p>
        </p:txBody>
      </p:sp>
      <p:pic>
        <p:nvPicPr>
          <p:cNvPr id="7" name="Foto centro cirúrgico" descr="centro_cirurgico_fuma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7589520" cy="42465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6121037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Imagem ilustrativa (gerada por IA): pluma de fumaça do eletrocautério no campo cirúrgico.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6578237"/>
            <a:ext cx="7589520" cy="3160123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63040" y="6898276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Sintomas agudos relatados pela equipe exposta</a:t>
            </a:r>
          </a:p>
        </p:txBody>
      </p:sp>
      <p:pic>
        <p:nvPicPr>
          <p:cNvPr id="11" name="icone eye" descr="ey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750131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29968" y="7446916"/>
            <a:ext cx="6382512" cy="4928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Irritação ocular e lacrimejamento</a:t>
            </a:r>
          </a:p>
        </p:txBody>
      </p:sp>
      <p:pic>
        <p:nvPicPr>
          <p:cNvPr id="13" name="icone lungs" descr="lung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7994169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29968" y="7939767"/>
            <a:ext cx="6382512" cy="4928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Tosse e irritação das vias aéreas</a:t>
            </a:r>
          </a:p>
        </p:txBody>
      </p:sp>
      <p:pic>
        <p:nvPicPr>
          <p:cNvPr id="15" name="icone nose" descr="nos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8487019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29968" y="8432618"/>
            <a:ext cx="6382512" cy="4928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Irritação de mucosas</a:t>
            </a:r>
          </a:p>
        </p:txBody>
      </p:sp>
      <p:pic>
        <p:nvPicPr>
          <p:cNvPr id="17" name="icone exclaim" descr="exclaim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63040" y="897987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29968" y="8925469"/>
            <a:ext cx="6382512" cy="4928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Cefaleia e náusea</a:t>
            </a:r>
          </a:p>
        </p:txBody>
      </p:sp>
      <p:sp>
        <p:nvSpPr>
          <p:cNvPr id="19" name="Oval 18"/>
          <p:cNvSpPr/>
          <p:nvPr/>
        </p:nvSpPr>
        <p:spPr>
          <a:xfrm>
            <a:off x="9281160" y="178308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0" name="icone smoke" descr="smok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6900" y="1988819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378440" y="1783080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 que 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221991"/>
            <a:ext cx="7406640" cy="1085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Subproduto da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destruição térmica dos tecidos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por dispositivos de energia: eletrocautério (bisturi elétrico), laser e bisturi ultrassônico (Benaim; Jaspers, 2024).</a:t>
            </a:r>
          </a:p>
        </p:txBody>
      </p:sp>
      <p:sp>
        <p:nvSpPr>
          <p:cNvPr id="23" name="Oval 22"/>
          <p:cNvSpPr/>
          <p:nvPr/>
        </p:nvSpPr>
        <p:spPr>
          <a:xfrm>
            <a:off x="9281160" y="337185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4" name="icone flask" descr="flask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86900" y="3577590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378440" y="3371850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 que contém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3810762"/>
            <a:ext cx="7406640" cy="1085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Hidrocarbonetos aromáticos policíclicos,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compostos orgânicos voláteis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(benzeno, tolueno, xileno),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material particulado fino (PM2,5) e ultrafino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e material genético viral, como o HPV.</a:t>
            </a:r>
          </a:p>
        </p:txBody>
      </p:sp>
      <p:sp>
        <p:nvSpPr>
          <p:cNvPr id="27" name="Oval 26"/>
          <p:cNvSpPr/>
          <p:nvPr/>
        </p:nvSpPr>
        <p:spPr>
          <a:xfrm>
            <a:off x="9281160" y="496062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8" name="icone warning" descr="warning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86900" y="5166360"/>
            <a:ext cx="411480" cy="411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378440" y="4960620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 que se sabe (e o que não se sabe)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5399531"/>
            <a:ext cx="7406640" cy="1085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Sintomas agudos são frequentes. Efeitos crônicos (neoplasias, doença respiratória) são plausíveis, mas </a:t>
            </a:r>
            <a:r>
              <a:rPr sz="17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sem relação causal estabelecida</a:t>
            </a:r>
            <a:r>
              <a:rPr sz="1700" b="0" i="0">
                <a:solidFill>
                  <a:srgbClr val="1F2433"/>
                </a:solidFill>
                <a:latin typeface="Arial"/>
              </a:rPr>
              <a:t>; o tema é controverso (Hurst; Stewart, 2024).</a:t>
            </a:r>
          </a:p>
        </p:txBody>
      </p:sp>
      <p:sp>
        <p:nvSpPr>
          <p:cNvPr id="31" name="Oval 30"/>
          <p:cNvSpPr/>
          <p:nvPr/>
        </p:nvSpPr>
        <p:spPr>
          <a:xfrm>
            <a:off x="9281160" y="654939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2" name="icone shield" descr="shield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86900" y="6755130"/>
            <a:ext cx="411480" cy="4114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78440" y="6549390"/>
            <a:ext cx="7406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Por que importa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6988302"/>
            <a:ext cx="7406640" cy="1085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Exaustão de fumaça e máscaras de alta filtração ainda são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pouco adotadas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e não há diretrizes harmonizadas. As revisões anteriores eram descritivas, sem síntese quantitativa.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81160" y="8412480"/>
            <a:ext cx="8503919" cy="132588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601200" y="8595360"/>
            <a:ext cx="7863840" cy="9601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8B0000"/>
                </a:solidFill>
                <a:latin typeface="Arial"/>
              </a:rPr>
              <a:t>Lacuna →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síntese em camadas: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metanálise da prevalência de sintomas + síntese narrativa, com GRADE, dos desfechos objetivos e biomarcadores.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OBJETIVOS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Pergunta estruturada: PECO para os desfechos comparativos e CoCoPop para a prevalência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16642080" cy="123444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54480" y="1920240"/>
            <a:ext cx="158191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100" b="1" i="0">
                <a:solidFill>
                  <a:srgbClr val="C8A951"/>
                </a:solidFill>
                <a:latin typeface="Arial"/>
              </a:rPr>
              <a:t>Objetivo geral: </a:t>
            </a:r>
            <a:r>
              <a:rPr sz="2100" b="0" i="0">
                <a:solidFill>
                  <a:srgbClr val="FFFFFF"/>
                </a:solidFill>
                <a:latin typeface="Arial"/>
              </a:rPr>
              <a:t>avaliar os desfechos de saúde associados à exposição ocupacional à fumaça cirúrgica na equipe de centro cirúrgico, com ênfase na prevalência de sintomas, nos desfechos objetivos e nos biomarcadores de exposição ou de possível efeito.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291840"/>
            <a:ext cx="3954780" cy="2423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63040" y="361188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611880"/>
            <a:ext cx="24003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População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480560"/>
            <a:ext cx="33147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Equipe de centro cirúrgico: cirurgiões, residentes, enfermagem perioperatória, instrumentadores e anestesia.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72100" y="3291840"/>
            <a:ext cx="3954780" cy="2423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692140" y="361188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6540" y="3611880"/>
            <a:ext cx="24003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Exposição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2140" y="4480560"/>
            <a:ext cx="33147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Fumaça gerada por dispositivos de energia (eletrocautério, laser, bisturi ultrassônico).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3291840"/>
            <a:ext cx="3954780" cy="2423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921240" y="361188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35640" y="3611880"/>
            <a:ext cx="24003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Comparador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4480560"/>
            <a:ext cx="33147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Não expostos, minimamente expostos ou com proteção (exaustão local, máscaras de alta filtração).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830300" y="3291840"/>
            <a:ext cx="3954780" cy="2423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4150340" y="361188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Arial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64740" y="3611880"/>
            <a:ext cx="24003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Outcome (desfecho)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50340" y="4480560"/>
            <a:ext cx="33147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Sintomas, função pulmonar, biomarcadores urinários, mucosa nasal e HPV-DNA nas vias aéreas.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43600"/>
            <a:ext cx="16642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Para a prevalência (metanálise de proporções): </a:t>
            </a:r>
            <a:r>
              <a:rPr sz="1800" b="0" i="0">
                <a:solidFill>
                  <a:srgbClr val="5A6270"/>
                </a:solidFill>
                <a:latin typeface="Arial"/>
              </a:rPr>
              <a:t>esquema CoCoPop (Munn et al., 2015)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00800"/>
            <a:ext cx="5364480" cy="137160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463040" y="6647688"/>
            <a:ext cx="4724399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Condição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7040880"/>
            <a:ext cx="47243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Sintomas oculares e respiratórios autorrelatados, relacionados à exposição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81799" y="6400800"/>
            <a:ext cx="5364480" cy="137160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01839" y="6647688"/>
            <a:ext cx="4724399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Contexto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1839" y="7040880"/>
            <a:ext cx="47243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Centro cirúrgico com uso de dispositivos de energia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420599" y="6400800"/>
            <a:ext cx="5364480" cy="1371600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740639" y="6647688"/>
            <a:ext cx="4724399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População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40639" y="7040880"/>
            <a:ext cx="47243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Equipe de centro cirúrgico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8046720"/>
            <a:ext cx="10241280" cy="1691639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463040" y="8302752"/>
            <a:ext cx="9601200" cy="1234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Objetivos específicos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Font typeface="Arial"/>
              <a:buChar char="1."/>
            </a:pPr>
            <a:r>
              <a:rPr sz="1600" b="0" i="0">
                <a:solidFill>
                  <a:srgbClr val="1F2433"/>
                </a:solidFill>
                <a:latin typeface="Arial"/>
              </a:rPr>
              <a:t>Metanálise da prevalência de sintoma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ocular (principal)</a:t>
            </a:r>
            <a:r>
              <a:rPr sz="1600" b="0" i="0">
                <a:solidFill>
                  <a:srgbClr val="1F2433"/>
                </a:solidFill>
                <a:latin typeface="Arial"/>
              </a:rPr>
              <a:t> e respiratório (exploratório);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Font typeface="Arial"/>
              <a:buChar char="2."/>
            </a:pPr>
            <a:r>
              <a:rPr sz="1600" b="0" i="0">
                <a:solidFill>
                  <a:srgbClr val="1F2433"/>
                </a:solidFill>
                <a:latin typeface="Arial"/>
              </a:rPr>
              <a:t>Síntese narrativa dos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desfechos objetivos e biomarcadores</a:t>
            </a:r>
            <a:r>
              <a:rPr sz="1600" b="0" i="0">
                <a:solidFill>
                  <a:srgbClr val="1F2433"/>
                </a:solidFill>
                <a:latin typeface="Arial"/>
              </a:rPr>
              <a:t>;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Font typeface="Arial"/>
              <a:buChar char="3."/>
            </a:pPr>
            <a:r>
              <a:rPr sz="1600" b="0" i="0">
                <a:solidFill>
                  <a:srgbClr val="1F2433"/>
                </a:solidFill>
                <a:latin typeface="Arial"/>
              </a:rPr>
              <a:t>Certeza da evidência por desfecho (</a:t>
            </a:r>
            <a:r>
              <a:rPr sz="1600" b="1" i="0">
                <a:solidFill>
                  <a:srgbClr val="1F2433"/>
                </a:solidFill>
                <a:latin typeface="Arial"/>
              </a:rPr>
              <a:t>GRADE</a:t>
            </a:r>
            <a:r>
              <a:rPr sz="1600" b="0" i="0">
                <a:solidFill>
                  <a:srgbClr val="1F2433"/>
                </a:solidFill>
                <a:latin typeface="Arial"/>
              </a:rPr>
              <a:t>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658600" y="8046720"/>
            <a:ext cx="6126480" cy="1691639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8" name="icone warning" descr="warning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0" y="8641080"/>
            <a:ext cx="502920" cy="502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710160" y="8275320"/>
            <a:ext cx="4754880" cy="12344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a metanálise de proporções </a:t>
            </a:r>
            <a:r>
              <a:rPr sz="16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estima a frequência de sintomas em expostos</a:t>
            </a:r>
            <a:r>
              <a:rPr sz="1600" b="0" i="0">
                <a:solidFill>
                  <a:srgbClr val="1F2433"/>
                </a:solidFill>
                <a:latin typeface="Arial"/>
              </a:rPr>
              <a:t>, não o efeito causal da fumaça; a causalidade depende dos estudos comparativos.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Mapa da revisão: 7 passos, do protocolo à certeza da evidência (PRISMA 2020)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1720" y="2240280"/>
            <a:ext cx="14264639" cy="0"/>
          </a:xfrm>
          <a:prstGeom prst="line">
            <a:avLst/>
          </a:prstGeom>
          <a:ln w="5080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1897379" y="180594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7863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97863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99031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PECO e CoCoPop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PRISMA 2020 e Diretrizes do MS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PROSPERO CRD420251238727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Dispensa do CEP 2025/0743</a:t>
            </a:r>
          </a:p>
        </p:txBody>
      </p:sp>
      <p:sp>
        <p:nvSpPr>
          <p:cNvPr id="12" name="Oval 11"/>
          <p:cNvSpPr/>
          <p:nvPr/>
        </p:nvSpPr>
        <p:spPr>
          <a:xfrm>
            <a:off x="4274820" y="180594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Busca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5304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6472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7 bases + literatura cinzenta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Busca por citação (OpenAlex)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Sem filtro de idioma ou data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Última busca: 09/07/2026</a:t>
            </a:r>
          </a:p>
        </p:txBody>
      </p:sp>
      <p:sp>
        <p:nvSpPr>
          <p:cNvPr id="16" name="Oval 15"/>
          <p:cNvSpPr/>
          <p:nvPr/>
        </p:nvSpPr>
        <p:spPr>
          <a:xfrm>
            <a:off x="6652260" y="180594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2744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Seleção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52744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53912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Zotero → Rayyan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Deduplicação automática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Triagem e leitura na íntegra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Controle de sobreposição</a:t>
            </a:r>
          </a:p>
        </p:txBody>
      </p:sp>
      <p:sp>
        <p:nvSpPr>
          <p:cNvPr id="20" name="Oval 19"/>
          <p:cNvSpPr/>
          <p:nvPr/>
        </p:nvSpPr>
        <p:spPr>
          <a:xfrm>
            <a:off x="9029700" y="180594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3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Extração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30183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31352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Planilha padronizada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Eventos e denominadores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Definição do desfecho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Taxa de resposta</a:t>
            </a:r>
          </a:p>
        </p:txBody>
      </p:sp>
      <p:sp>
        <p:nvSpPr>
          <p:cNvPr id="24" name="Oval 23"/>
          <p:cNvSpPr/>
          <p:nvPr/>
        </p:nvSpPr>
        <p:spPr>
          <a:xfrm>
            <a:off x="11407140" y="180594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624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Risco de viés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07624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08792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Ferramentas JBI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Prevalência (9 itens)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Transversal (8) e coorte (11)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Domínios críticos</a:t>
            </a:r>
          </a:p>
        </p:txBody>
      </p:sp>
      <p:sp>
        <p:nvSpPr>
          <p:cNvPr id="28" name="Oval 27"/>
          <p:cNvSpPr/>
          <p:nvPr/>
        </p:nvSpPr>
        <p:spPr>
          <a:xfrm>
            <a:off x="13784580" y="1805940"/>
            <a:ext cx="868680" cy="8686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85064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Síntese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085064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286232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Metanálise de proporções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Logito + efeitos aleatórios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Hartung-Knapp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IP e sensibilidade</a:t>
            </a:r>
          </a:p>
        </p:txBody>
      </p:sp>
      <p:sp>
        <p:nvSpPr>
          <p:cNvPr id="32" name="Oval 31"/>
          <p:cNvSpPr/>
          <p:nvPr/>
        </p:nvSpPr>
        <p:spPr>
          <a:xfrm>
            <a:off x="16162020" y="1805940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462504" y="2816352"/>
            <a:ext cx="226771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Certeza (GRADE)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62504" y="3520440"/>
            <a:ext cx="2267712" cy="27889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5663672" y="3749039"/>
            <a:ext cx="1865376" cy="2331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GRADE adaptado à prevalência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5 domínios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Ponto de partida: baixa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Justificativa por domínio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83680"/>
            <a:ext cx="16642080" cy="128016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463040" y="6766560"/>
            <a:ext cx="2560320" cy="9143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Ferramentas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(função operacional)</a:t>
            </a:r>
          </a:p>
        </p:txBody>
      </p:sp>
      <p:pic>
        <p:nvPicPr>
          <p:cNvPr id="38" name="icone database" descr="databas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6972300"/>
            <a:ext cx="502920" cy="502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46320" y="6812280"/>
            <a:ext cx="190195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Zotero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7178040"/>
            <a:ext cx="190195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gestão de referências</a:t>
            </a:r>
          </a:p>
        </p:txBody>
      </p:sp>
      <p:pic>
        <p:nvPicPr>
          <p:cNvPr id="41" name="icone filter" descr="filter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1" y="697230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25511" y="6812280"/>
            <a:ext cx="190195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Rayyan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25511" y="7178040"/>
            <a:ext cx="190195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deduplicação e triagem</a:t>
            </a:r>
          </a:p>
        </p:txBody>
      </p:sp>
      <p:pic>
        <p:nvPicPr>
          <p:cNvPr id="44" name="icone link" descr="lin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4624" y="6972300"/>
            <a:ext cx="502920" cy="5029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204703" y="6812280"/>
            <a:ext cx="190195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OpenAlex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4703" y="7178040"/>
            <a:ext cx="190195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metadados e citações</a:t>
            </a:r>
          </a:p>
        </p:txBody>
      </p:sp>
      <p:pic>
        <p:nvPicPr>
          <p:cNvPr id="47" name="icone code" descr="cod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43815" y="697230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2883895" y="6812280"/>
            <a:ext cx="190195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Python 3.13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83895" y="7178040"/>
            <a:ext cx="190195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NumPy, SciPy, statsmodels</a:t>
            </a:r>
          </a:p>
        </p:txBody>
      </p:sp>
      <p:pic>
        <p:nvPicPr>
          <p:cNvPr id="50" name="icone robot" descr="robot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23008" y="6972300"/>
            <a:ext cx="502920" cy="5029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563088" y="6812280"/>
            <a:ext cx="190195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Assistente de 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563088" y="7178040"/>
            <a:ext cx="190195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apoio operacional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3000" y="8138160"/>
            <a:ext cx="8183879" cy="1600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463040" y="8339328"/>
            <a:ext cx="7543800" cy="11978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Uso de IA (declarado, Portaria CNPq nº 2.664/2026):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apoio operacional na priorização da leitura, na leitura assistida de resumos e na organização do fluxo.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Elegibilidade, extração, interpretação e redação: decisões humanas.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601200" y="8138160"/>
            <a:ext cx="8183879" cy="1600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921240" y="8339328"/>
            <a:ext cx="7543800" cy="11978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Transparência e reprodutibilidade: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checklist PRISMA 2020 (27 itens), estratégias completas (Anexo A), extração, JBI e GRADE em anexos;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código, figuras e planilhas abertos no OSF.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4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210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245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80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Passos 1 e 2 · Critérios de elegibilidade e busca de alta sensibilidade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08929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60243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7680960" cy="722375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463040" y="2103120"/>
            <a:ext cx="7040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Critérios de elegibilidade e ajustes posteriores declarados</a:t>
            </a:r>
          </a:p>
        </p:txBody>
      </p:sp>
      <p:pic>
        <p:nvPicPr>
          <p:cNvPr id="24" name="icone check" descr="check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2651760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65960" y="260604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E7C86"/>
                </a:solidFill>
                <a:latin typeface="Arial"/>
              </a:rPr>
              <a:t>Incluímos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063239"/>
            <a:ext cx="7040880" cy="2606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Estudos observacionais primários (transversais, caso-controle, coorte);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Profissionais de centro cirúrgico expostos à fumaça cirúrgica;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Efeitos à saúde ou marcadores de exposição como desfecho;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Português, inglês ou espanhol; sem restrição de data;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E7C86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Resumos de congresso com dados completos, com preocupação alta </a:t>
            </a:r>
            <a:r>
              <a:rPr sz="1800" b="1" i="0">
                <a:solidFill>
                  <a:srgbClr val="8A6D1F"/>
                </a:solidFill>
                <a:latin typeface="Arial"/>
              </a:rPr>
              <a:t>(ajuste posterior ao registro, declarado).</a:t>
            </a:r>
          </a:p>
        </p:txBody>
      </p:sp>
      <p:pic>
        <p:nvPicPr>
          <p:cNvPr id="27" name="icone xmark" descr="xmark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5806440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65960" y="57607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8B0000"/>
                </a:solidFill>
                <a:latin typeface="Arial"/>
              </a:rPr>
              <a:t>Excluímos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6217920"/>
            <a:ext cx="7040880" cy="24688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Estudos in vitro ou em animais;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População fora do centro cirúrgico (ex.: ambulatórios);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Desfecho apenas no paciente;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Medição físico-química do ar sem desfecho humano;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Revisões, editoriais, cartas e comentários;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8B0000"/>
              </a:buClr>
              <a:buFont typeface="Arial"/>
              <a:buChar char="•"/>
            </a:pPr>
            <a:r>
              <a:rPr sz="1800" b="0" i="0">
                <a:solidFill>
                  <a:srgbClr val="1F2433"/>
                </a:solidFill>
                <a:latin typeface="Arial"/>
              </a:rPr>
              <a:t>Exposição não atribuível à fumaça (gases, radiação).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1783080"/>
            <a:ext cx="8686799" cy="44805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418320" y="2057400"/>
            <a:ext cx="80467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Registros recuperados por fonte (busca em 09/07/2026)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9235440" y="2514600"/>
          <a:ext cx="5897880" cy="361187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15270480" y="2560320"/>
            <a:ext cx="2194559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8B0000"/>
                </a:solidFill>
                <a:latin typeface="Arial"/>
              </a:rPr>
              <a:t>16.757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70480" y="3215639"/>
            <a:ext cx="2194559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Arial"/>
              </a:rPr>
              <a:t>registros identificados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70480" y="4023360"/>
            <a:ext cx="2194559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3200" b="1" i="0">
                <a:solidFill>
                  <a:srgbClr val="002060"/>
                </a:solidFill>
                <a:latin typeface="Arial"/>
              </a:rPr>
              <a:t>+ 443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0" y="4556760"/>
            <a:ext cx="2194559" cy="883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5A6270"/>
                </a:solidFill>
                <a:latin typeface="Arial"/>
              </a:rPr>
              <a:t>referências na busca por citação (OpenAlex)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70480" y="5257800"/>
            <a:ext cx="2194559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Cinzenta: Google Scholar (4 × 50 resultados) e Catálogo CAPES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6537959"/>
            <a:ext cx="8686799" cy="246888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418320" y="6812279"/>
            <a:ext cx="80467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Como a estratégia foi construída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7315199"/>
            <a:ext cx="8046719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Dois blocos: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(equipe cirúrgica) AND (fumaça OU dispositivos de energia); MeSH/Emtree e texto livre; sem bloco de desfecho.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Sem filtro de idioma ou data</a:t>
            </a:r>
            <a:r>
              <a:rPr sz="1600" b="0" i="0">
                <a:solidFill>
                  <a:srgbClr val="1F2433"/>
                </a:solidFill>
                <a:latin typeface="Arial"/>
              </a:rPr>
              <a:t> → alta sensibilidade (Anexo A).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C8A951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Busca por citação (OpenAlex):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referências dos incluídos e quem os cita.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 3 · Seleção dos estudos: do registro bruto ao relatório incluído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11557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2514600" cy="2011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25880" y="19659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16.757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69748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registros identificados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(bases + literatura cinzenta)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514600"/>
            <a:ext cx="87096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4674870" y="1783080"/>
            <a:ext cx="2514600" cy="2011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857750" y="19659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10.910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3470" y="269748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registros únicos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(5.839 duplicatas; 8 não exportados)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262622" y="2514600"/>
            <a:ext cx="87096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7226046" y="2697480"/>
            <a:ext cx="94411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10.882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excluídos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na triagem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06740" y="1783080"/>
            <a:ext cx="2514600" cy="2011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89619" y="19659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5340" y="269748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buscados na íntegra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(28 da triagem + 4 por citação)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794491" y="2514600"/>
            <a:ext cx="87096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10757915" y="2697480"/>
            <a:ext cx="94411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6 não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recuperados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38609" y="1783080"/>
            <a:ext cx="2514600" cy="2011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921489" y="19659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967209" y="269748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avaliados para elegibilidade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(6 não recuperados)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326361" y="2514600"/>
            <a:ext cx="870967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14289785" y="2697480"/>
            <a:ext cx="94411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4 excluídos</a:t>
            </a:r>
          </a:p>
          <a:p>
            <a:pPr algn="ctr">
              <a:lnSpc>
                <a:spcPct val="95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na íntegra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270480" y="1783080"/>
            <a:ext cx="2514600" cy="201168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5453359" y="19659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8B0000"/>
                </a:solidFill>
                <a:latin typeface="Arial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499080" y="269748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relatórios incluídos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(4 excluídos na íntegra)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4069080"/>
            <a:ext cx="5364480" cy="361187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463040" y="4389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46" name="icone filter" descr="filt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572000"/>
            <a:ext cx="365760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423160" y="4389120"/>
            <a:ext cx="37642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Deduplicação e triagem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303520"/>
            <a:ext cx="4724399" cy="2057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Zotero → Rayyan: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duplicatas por DOI, PMID e similaridade de título.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10.910 títulos e resumos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lidos por um único revisor.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Script em Python e IA: apoio operacional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(ordem de leitura, leitura assistida, fluxo);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elegibilidade decidida por humano.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81799" y="4069080"/>
            <a:ext cx="5364480" cy="361187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7101839" y="4389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51" name="icone book" descr="boo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4719" y="4572000"/>
            <a:ext cx="365760" cy="36576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061960" y="4389120"/>
            <a:ext cx="37642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Leitura na íntegra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01839" y="5303520"/>
            <a:ext cx="4724399" cy="2057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Critérios definitivos;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motivo de exclusão registrado (Anexo C).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Excluídos: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1 resumo sem dados e 3 por população ou contexto.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Sintoma-índice: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o mais específico de cada via (lacrimejamento ou irritação ocular; tosse ou irritação de vias aéreas).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420599" y="4069080"/>
            <a:ext cx="5364480" cy="361187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12740639" y="4389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56" name="icone people" descr="peop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23520" y="4572000"/>
            <a:ext cx="365760" cy="3657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3700760" y="4389120"/>
            <a:ext cx="37642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Sobreposição amostral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40639" y="5303520"/>
            <a:ext cx="4724399" cy="2057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7 publicações do mesmo grupo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(Paraná) com amostras sobrepostas.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1 representante por desfecho,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definido antes da síntese: Bieniek et al., 2022.</a:t>
            </a:r>
          </a:p>
          <a:p>
            <a:pPr algn="l" marL="274320" indent="-274320">
              <a:lnSpc>
                <a:spcPct val="100000"/>
              </a:lnSpc>
              <a:spcAft>
                <a:spcPts val="700"/>
              </a:spcAft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Nenhum participante contado duas vezes.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3000" y="7955279"/>
            <a:ext cx="16642080" cy="105156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60" name="icone exclaim" descr="exclaim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8229600"/>
            <a:ext cx="502920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194560" y="8092440"/>
            <a:ext cx="15270480" cy="7772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6 relatórios não recuperados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apesar de acesso institucional, repositórios, páginas dos autores, comutação e contato com autores; entre eles, 2 inquéritos de sintomas e 1 estudo de olho seco → possível impacto, declarado como limitação.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75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10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45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80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8" grpId="0" animBg="1"/>
      <p:bldP spid="49" grpId="0" animBg="1"/>
      <p:bldP spid="50" grpId="0" animBg="1"/>
      <p:bldP spid="52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Passos 4 e 5 · Extração padronizada e avaliação do risco de viés (JBI)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62871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14186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6675120" cy="722375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463040" y="2103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4" name="icone table" descr="t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2285999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23160" y="210312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Extração dos dados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017520"/>
            <a:ext cx="6035040" cy="566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8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Planilha padronizada: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autor, ano, país; desenho; população; dispositivo; comparador; instrumento e definição do desfecho; taxa de resposta; resultados.</a:t>
            </a:r>
          </a:p>
          <a:p>
            <a:pPr algn="l" marL="274320" indent="-274320">
              <a:lnSpc>
                <a:spcPct val="100000"/>
              </a:lnSpc>
              <a:spcAft>
                <a:spcPts val="8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Para a metanálise: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eventos e denominador de cada grupo (Anexo D).</a:t>
            </a:r>
          </a:p>
          <a:p>
            <a:pPr algn="l" marL="274320" indent="-274320">
              <a:lnSpc>
                <a:spcPct val="100000"/>
              </a:lnSpc>
              <a:spcAft>
                <a:spcPts val="8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Recordatório, validação e taxa de resposta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raramente informados → “não relatado”.</a:t>
            </a:r>
          </a:p>
          <a:p>
            <a:pPr algn="l" marL="274320" indent="-274320">
              <a:lnSpc>
                <a:spcPct val="100000"/>
              </a:lnSpc>
              <a:spcAft>
                <a:spcPts val="8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Sem contato com autores;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planilha completa pública no OSF.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625449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Exemplo de linhas extraídas (Anexo D, sintoma ocular)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463040" y="6711696"/>
          <a:ext cx="6035040" cy="192024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868680"/>
                <a:gridCol w="548640"/>
                <a:gridCol w="777240"/>
                <a:gridCol w="1645920"/>
              </a:tblGrid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Estudo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Eventos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Prev.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Definição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İlçe et al., 2017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lacrimejamento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Usta et al., 2019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lacrimejamento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Mohd Fikri Rosely; Titi Rahmawati, 2019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irritação ocular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Bieniek et al., 2022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43,2%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300" b="0" i="0">
                          <a:solidFill>
                            <a:srgbClr val="1F2433"/>
                          </a:solidFill>
                          <a:latin typeface="Arial"/>
                        </a:rPr>
                        <a:t>escala (sistema ocular)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8092440" y="1783080"/>
            <a:ext cx="969263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Risco de viés: ferramenta JBI escolhida pela função de cada estudo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2331720"/>
            <a:ext cx="3078479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21040" y="2514600"/>
            <a:ext cx="26212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Prevalência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834639"/>
            <a:ext cx="262127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F2433"/>
                </a:solidFill>
                <a:latin typeface="Arial"/>
              </a:rPr>
              <a:t>9 itens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264408"/>
            <a:ext cx="262127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estudos das metanálises (k = 7)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99520" y="2331720"/>
            <a:ext cx="3078479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1628120" y="2514600"/>
            <a:ext cx="26212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Transversal analítico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28120" y="2834639"/>
            <a:ext cx="262127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F2433"/>
                </a:solidFill>
                <a:latin typeface="Arial"/>
              </a:rPr>
              <a:t>8 itens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28120" y="3264408"/>
            <a:ext cx="262127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comparativos e objetivos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06599" y="2331720"/>
            <a:ext cx="3078479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4935199" y="2514600"/>
            <a:ext cx="262127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A6D1F"/>
                </a:solidFill>
                <a:latin typeface="Arial"/>
              </a:rPr>
              <a:t>Coorte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935199" y="2834639"/>
            <a:ext cx="262127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1F2433"/>
                </a:solidFill>
                <a:latin typeface="Arial"/>
              </a:rPr>
              <a:t>11 itens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935199" y="3264408"/>
            <a:ext cx="2621279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3 coortes prospectivas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904487"/>
            <a:ext cx="9692639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Julgamento global: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qualitativo, pelos domínios críticos (amostragem, tamanho amostral, validade da mensuração, taxa de resposta), não por corte percentual; “não” pesou mais que “incerto”. Todos os estudos foram mantidos e a classificação alimentou o GRADE.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932920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518136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103352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88568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273784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59000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444216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29432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614648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199864" y="4892040"/>
            <a:ext cx="58521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Geral</a:t>
            </a:r>
          </a:p>
        </p:txBody>
      </p:sp>
      <p:sp>
        <p:nvSpPr>
          <p:cNvPr id="53" name="Faixa zebrada"/>
          <p:cNvSpPr/>
          <p:nvPr/>
        </p:nvSpPr>
        <p:spPr>
          <a:xfrm>
            <a:off x="8092440" y="5239512"/>
            <a:ext cx="9692639" cy="41539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83880" y="5239512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İlçe et al., 2017</a:t>
            </a:r>
          </a:p>
        </p:txBody>
      </p:sp>
      <p:sp>
        <p:nvSpPr>
          <p:cNvPr id="55" name="Oval 54"/>
          <p:cNvSpPr/>
          <p:nvPr/>
        </p:nvSpPr>
        <p:spPr>
          <a:xfrm>
            <a:off x="12060936" y="5282619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56" name="Oval 55"/>
          <p:cNvSpPr/>
          <p:nvPr/>
        </p:nvSpPr>
        <p:spPr>
          <a:xfrm>
            <a:off x="12646152" y="5282619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57" name="Oval 56"/>
          <p:cNvSpPr/>
          <p:nvPr/>
        </p:nvSpPr>
        <p:spPr>
          <a:xfrm>
            <a:off x="13231368" y="5282619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58" name="Oval 57"/>
          <p:cNvSpPr/>
          <p:nvPr/>
        </p:nvSpPr>
        <p:spPr>
          <a:xfrm>
            <a:off x="13816584" y="5282619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59" name="Oval 58"/>
          <p:cNvSpPr/>
          <p:nvPr/>
        </p:nvSpPr>
        <p:spPr>
          <a:xfrm>
            <a:off x="14401800" y="5282619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60" name="Oval 59"/>
          <p:cNvSpPr/>
          <p:nvPr/>
        </p:nvSpPr>
        <p:spPr>
          <a:xfrm>
            <a:off x="14987016" y="5282619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61" name="Oval 60"/>
          <p:cNvSpPr/>
          <p:nvPr/>
        </p:nvSpPr>
        <p:spPr>
          <a:xfrm>
            <a:off x="15572232" y="5282619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62" name="Oval 61"/>
          <p:cNvSpPr/>
          <p:nvPr/>
        </p:nvSpPr>
        <p:spPr>
          <a:xfrm>
            <a:off x="16157448" y="5282619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63" name="Oval 62"/>
          <p:cNvSpPr/>
          <p:nvPr/>
        </p:nvSpPr>
        <p:spPr>
          <a:xfrm>
            <a:off x="16742664" y="5282619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64" name="Oval 63"/>
          <p:cNvSpPr/>
          <p:nvPr/>
        </p:nvSpPr>
        <p:spPr>
          <a:xfrm>
            <a:off x="17327880" y="5282619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83880" y="5654910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Cinar; Sanlier, 2022</a:t>
            </a:r>
          </a:p>
        </p:txBody>
      </p:sp>
      <p:sp>
        <p:nvSpPr>
          <p:cNvPr id="66" name="Oval 65"/>
          <p:cNvSpPr/>
          <p:nvPr/>
        </p:nvSpPr>
        <p:spPr>
          <a:xfrm>
            <a:off x="12060936" y="5698018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67" name="Oval 66"/>
          <p:cNvSpPr/>
          <p:nvPr/>
        </p:nvSpPr>
        <p:spPr>
          <a:xfrm>
            <a:off x="12646152" y="5698018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68" name="Oval 67"/>
          <p:cNvSpPr/>
          <p:nvPr/>
        </p:nvSpPr>
        <p:spPr>
          <a:xfrm>
            <a:off x="13231368" y="5698018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69" name="Oval 68"/>
          <p:cNvSpPr/>
          <p:nvPr/>
        </p:nvSpPr>
        <p:spPr>
          <a:xfrm>
            <a:off x="13816584" y="5698018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70" name="Oval 69"/>
          <p:cNvSpPr/>
          <p:nvPr/>
        </p:nvSpPr>
        <p:spPr>
          <a:xfrm>
            <a:off x="14401800" y="5698018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71" name="Oval 70"/>
          <p:cNvSpPr/>
          <p:nvPr/>
        </p:nvSpPr>
        <p:spPr>
          <a:xfrm>
            <a:off x="14987016" y="5698018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72" name="Oval 71"/>
          <p:cNvSpPr/>
          <p:nvPr/>
        </p:nvSpPr>
        <p:spPr>
          <a:xfrm>
            <a:off x="15572232" y="5698018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73" name="Oval 72"/>
          <p:cNvSpPr/>
          <p:nvPr/>
        </p:nvSpPr>
        <p:spPr>
          <a:xfrm>
            <a:off x="16157448" y="5698018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74" name="Oval 73"/>
          <p:cNvSpPr/>
          <p:nvPr/>
        </p:nvSpPr>
        <p:spPr>
          <a:xfrm>
            <a:off x="16742664" y="5698018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75" name="Oval 74"/>
          <p:cNvSpPr/>
          <p:nvPr/>
        </p:nvSpPr>
        <p:spPr>
          <a:xfrm>
            <a:off x="17327880" y="5698018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76" name="Faixa zebrada"/>
          <p:cNvSpPr/>
          <p:nvPr/>
        </p:nvSpPr>
        <p:spPr>
          <a:xfrm>
            <a:off x="8092440" y="6070309"/>
            <a:ext cx="9692639" cy="41539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183880" y="6070309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Usta et al., 2019</a:t>
            </a:r>
          </a:p>
        </p:txBody>
      </p:sp>
      <p:sp>
        <p:nvSpPr>
          <p:cNvPr id="78" name="Oval 77"/>
          <p:cNvSpPr/>
          <p:nvPr/>
        </p:nvSpPr>
        <p:spPr>
          <a:xfrm>
            <a:off x="12060936" y="6113417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79" name="Oval 78"/>
          <p:cNvSpPr/>
          <p:nvPr/>
        </p:nvSpPr>
        <p:spPr>
          <a:xfrm>
            <a:off x="12646152" y="6113417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80" name="Oval 79"/>
          <p:cNvSpPr/>
          <p:nvPr/>
        </p:nvSpPr>
        <p:spPr>
          <a:xfrm>
            <a:off x="13231368" y="6113417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81" name="Oval 80"/>
          <p:cNvSpPr/>
          <p:nvPr/>
        </p:nvSpPr>
        <p:spPr>
          <a:xfrm>
            <a:off x="13816584" y="6113417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82" name="Oval 81"/>
          <p:cNvSpPr/>
          <p:nvPr/>
        </p:nvSpPr>
        <p:spPr>
          <a:xfrm>
            <a:off x="14401800" y="6113417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83" name="Oval 82"/>
          <p:cNvSpPr/>
          <p:nvPr/>
        </p:nvSpPr>
        <p:spPr>
          <a:xfrm>
            <a:off x="14987016" y="6113417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84" name="Oval 83"/>
          <p:cNvSpPr/>
          <p:nvPr/>
        </p:nvSpPr>
        <p:spPr>
          <a:xfrm>
            <a:off x="15572232" y="6113417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85" name="Oval 84"/>
          <p:cNvSpPr/>
          <p:nvPr/>
        </p:nvSpPr>
        <p:spPr>
          <a:xfrm>
            <a:off x="16157448" y="6113417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86" name="Oval 85"/>
          <p:cNvSpPr/>
          <p:nvPr/>
        </p:nvSpPr>
        <p:spPr>
          <a:xfrm>
            <a:off x="16742664" y="6113417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87" name="Oval 86"/>
          <p:cNvSpPr/>
          <p:nvPr/>
        </p:nvSpPr>
        <p:spPr>
          <a:xfrm>
            <a:off x="17327880" y="6113417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183880" y="6485708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Mohd Fikri Rosely; Titi Rahmawati, 2019</a:t>
            </a:r>
          </a:p>
        </p:txBody>
      </p:sp>
      <p:sp>
        <p:nvSpPr>
          <p:cNvPr id="89" name="Oval 88"/>
          <p:cNvSpPr/>
          <p:nvPr/>
        </p:nvSpPr>
        <p:spPr>
          <a:xfrm>
            <a:off x="12060936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0" name="Oval 89"/>
          <p:cNvSpPr/>
          <p:nvPr/>
        </p:nvSpPr>
        <p:spPr>
          <a:xfrm>
            <a:off x="12646152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1" name="Oval 90"/>
          <p:cNvSpPr/>
          <p:nvPr/>
        </p:nvSpPr>
        <p:spPr>
          <a:xfrm>
            <a:off x="13231368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2" name="Oval 91"/>
          <p:cNvSpPr/>
          <p:nvPr/>
        </p:nvSpPr>
        <p:spPr>
          <a:xfrm>
            <a:off x="13816584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3" name="Oval 92"/>
          <p:cNvSpPr/>
          <p:nvPr/>
        </p:nvSpPr>
        <p:spPr>
          <a:xfrm>
            <a:off x="14401800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4" name="Oval 93"/>
          <p:cNvSpPr/>
          <p:nvPr/>
        </p:nvSpPr>
        <p:spPr>
          <a:xfrm>
            <a:off x="14987016" y="6528816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95" name="Oval 94"/>
          <p:cNvSpPr/>
          <p:nvPr/>
        </p:nvSpPr>
        <p:spPr>
          <a:xfrm>
            <a:off x="15572232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6" name="Oval 95"/>
          <p:cNvSpPr/>
          <p:nvPr/>
        </p:nvSpPr>
        <p:spPr>
          <a:xfrm>
            <a:off x="16157448" y="6528816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97" name="Oval 96"/>
          <p:cNvSpPr/>
          <p:nvPr/>
        </p:nvSpPr>
        <p:spPr>
          <a:xfrm>
            <a:off x="16742664" y="6528816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98" name="Oval 97"/>
          <p:cNvSpPr/>
          <p:nvPr/>
        </p:nvSpPr>
        <p:spPr>
          <a:xfrm>
            <a:off x="17327880" y="6528816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99" name="Faixa zebrada"/>
          <p:cNvSpPr/>
          <p:nvPr/>
        </p:nvSpPr>
        <p:spPr>
          <a:xfrm>
            <a:off x="8092440" y="6901107"/>
            <a:ext cx="9692639" cy="41539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183880" y="6901107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Van Giersbergen et al., 2019</a:t>
            </a:r>
          </a:p>
        </p:txBody>
      </p:sp>
      <p:sp>
        <p:nvSpPr>
          <p:cNvPr id="101" name="Oval 100"/>
          <p:cNvSpPr/>
          <p:nvPr/>
        </p:nvSpPr>
        <p:spPr>
          <a:xfrm>
            <a:off x="12060936" y="6944214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02" name="Oval 101"/>
          <p:cNvSpPr/>
          <p:nvPr/>
        </p:nvSpPr>
        <p:spPr>
          <a:xfrm>
            <a:off x="12646152" y="6944214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103" name="Oval 102"/>
          <p:cNvSpPr/>
          <p:nvPr/>
        </p:nvSpPr>
        <p:spPr>
          <a:xfrm>
            <a:off x="13231368" y="6944214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4" name="Oval 103"/>
          <p:cNvSpPr/>
          <p:nvPr/>
        </p:nvSpPr>
        <p:spPr>
          <a:xfrm>
            <a:off x="13816584" y="6944214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05" name="Oval 104"/>
          <p:cNvSpPr/>
          <p:nvPr/>
        </p:nvSpPr>
        <p:spPr>
          <a:xfrm>
            <a:off x="14401800" y="6944214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06" name="Oval 105"/>
          <p:cNvSpPr/>
          <p:nvPr/>
        </p:nvSpPr>
        <p:spPr>
          <a:xfrm>
            <a:off x="14987016" y="6944214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−</a:t>
            </a:r>
          </a:p>
        </p:txBody>
      </p:sp>
      <p:sp>
        <p:nvSpPr>
          <p:cNvPr id="107" name="Oval 106"/>
          <p:cNvSpPr/>
          <p:nvPr/>
        </p:nvSpPr>
        <p:spPr>
          <a:xfrm>
            <a:off x="15572232" y="6944214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08" name="Oval 107"/>
          <p:cNvSpPr/>
          <p:nvPr/>
        </p:nvSpPr>
        <p:spPr>
          <a:xfrm>
            <a:off x="16157448" y="6944214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09" name="Oval 108"/>
          <p:cNvSpPr/>
          <p:nvPr/>
        </p:nvSpPr>
        <p:spPr>
          <a:xfrm>
            <a:off x="16742664" y="6944214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0" name="Oval 109"/>
          <p:cNvSpPr/>
          <p:nvPr/>
        </p:nvSpPr>
        <p:spPr>
          <a:xfrm>
            <a:off x="17327880" y="6944214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8183880" y="7316506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Bieniek et al., 2022</a:t>
            </a:r>
          </a:p>
        </p:txBody>
      </p:sp>
      <p:sp>
        <p:nvSpPr>
          <p:cNvPr id="112" name="Oval 111"/>
          <p:cNvSpPr/>
          <p:nvPr/>
        </p:nvSpPr>
        <p:spPr>
          <a:xfrm>
            <a:off x="12060936" y="7359613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3" name="Oval 112"/>
          <p:cNvSpPr/>
          <p:nvPr/>
        </p:nvSpPr>
        <p:spPr>
          <a:xfrm>
            <a:off x="12646152" y="7359613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4" name="Oval 113"/>
          <p:cNvSpPr/>
          <p:nvPr/>
        </p:nvSpPr>
        <p:spPr>
          <a:xfrm>
            <a:off x="13231368" y="7359613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5" name="Oval 114"/>
          <p:cNvSpPr/>
          <p:nvPr/>
        </p:nvSpPr>
        <p:spPr>
          <a:xfrm>
            <a:off x="13816584" y="7359613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6" name="Oval 115"/>
          <p:cNvSpPr/>
          <p:nvPr/>
        </p:nvSpPr>
        <p:spPr>
          <a:xfrm>
            <a:off x="14401800" y="7359613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7" name="Oval 116"/>
          <p:cNvSpPr/>
          <p:nvPr/>
        </p:nvSpPr>
        <p:spPr>
          <a:xfrm>
            <a:off x="14987016" y="7359613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8" name="Oval 117"/>
          <p:cNvSpPr/>
          <p:nvPr/>
        </p:nvSpPr>
        <p:spPr>
          <a:xfrm>
            <a:off x="15572232" y="7359613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19" name="Oval 118"/>
          <p:cNvSpPr/>
          <p:nvPr/>
        </p:nvSpPr>
        <p:spPr>
          <a:xfrm>
            <a:off x="16157448" y="7359613"/>
            <a:ext cx="329184" cy="3291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120" name="Oval 119"/>
          <p:cNvSpPr/>
          <p:nvPr/>
        </p:nvSpPr>
        <p:spPr>
          <a:xfrm>
            <a:off x="16742664" y="7359613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21" name="Oval 120"/>
          <p:cNvSpPr/>
          <p:nvPr/>
        </p:nvSpPr>
        <p:spPr>
          <a:xfrm>
            <a:off x="17327880" y="7359613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122" name="Faixa zebrada"/>
          <p:cNvSpPr/>
          <p:nvPr/>
        </p:nvSpPr>
        <p:spPr>
          <a:xfrm>
            <a:off x="8092440" y="7731905"/>
            <a:ext cx="9692639" cy="41539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8183880" y="7731905"/>
            <a:ext cx="3611879" cy="4153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1F2433"/>
                </a:solidFill>
                <a:latin typeface="Arial"/>
              </a:rPr>
              <a:t>Mohd Fikri Rosely, 2022</a:t>
            </a:r>
          </a:p>
        </p:txBody>
      </p:sp>
      <p:sp>
        <p:nvSpPr>
          <p:cNvPr id="124" name="Oval 123"/>
          <p:cNvSpPr/>
          <p:nvPr/>
        </p:nvSpPr>
        <p:spPr>
          <a:xfrm>
            <a:off x="12060936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25" name="Oval 124"/>
          <p:cNvSpPr/>
          <p:nvPr/>
        </p:nvSpPr>
        <p:spPr>
          <a:xfrm>
            <a:off x="12646152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26" name="Oval 125"/>
          <p:cNvSpPr/>
          <p:nvPr/>
        </p:nvSpPr>
        <p:spPr>
          <a:xfrm>
            <a:off x="13231368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27" name="Oval 126"/>
          <p:cNvSpPr/>
          <p:nvPr/>
        </p:nvSpPr>
        <p:spPr>
          <a:xfrm>
            <a:off x="13816584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28" name="Oval 127"/>
          <p:cNvSpPr/>
          <p:nvPr/>
        </p:nvSpPr>
        <p:spPr>
          <a:xfrm>
            <a:off x="14401800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29" name="Oval 128"/>
          <p:cNvSpPr/>
          <p:nvPr/>
        </p:nvSpPr>
        <p:spPr>
          <a:xfrm>
            <a:off x="14987016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0" name="Oval 129"/>
          <p:cNvSpPr/>
          <p:nvPr/>
        </p:nvSpPr>
        <p:spPr>
          <a:xfrm>
            <a:off x="15572232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1" name="Oval 130"/>
          <p:cNvSpPr/>
          <p:nvPr/>
        </p:nvSpPr>
        <p:spPr>
          <a:xfrm>
            <a:off x="16157448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2" name="Oval 131"/>
          <p:cNvSpPr/>
          <p:nvPr/>
        </p:nvSpPr>
        <p:spPr>
          <a:xfrm>
            <a:off x="16742664" y="7775012"/>
            <a:ext cx="329184" cy="32918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3" name="Oval 132"/>
          <p:cNvSpPr/>
          <p:nvPr/>
        </p:nvSpPr>
        <p:spPr>
          <a:xfrm>
            <a:off x="17327880" y="7775012"/>
            <a:ext cx="329184" cy="32918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8092440" y="8257031"/>
            <a:ext cx="9692639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Figura E1. </a:t>
            </a:r>
            <a:r>
              <a:rPr sz="1400" b="1" i="0">
                <a:solidFill>
                  <a:srgbClr val="2E7D32"/>
                </a:solidFill>
                <a:latin typeface="Arial"/>
              </a:rPr>
              <a:t>+ sim  </a:t>
            </a:r>
            <a:r>
              <a:rPr sz="1400" b="1" i="0">
                <a:solidFill>
                  <a:srgbClr val="E08A1E"/>
                </a:solidFill>
                <a:latin typeface="Arial"/>
              </a:rPr>
              <a:t>? incerto  </a:t>
            </a:r>
            <a:r>
              <a:rPr sz="1400" b="1" i="0">
                <a:solidFill>
                  <a:srgbClr val="8B0000"/>
                </a:solidFill>
                <a:latin typeface="Arial"/>
              </a:rPr>
              <a:t>− não</a:t>
            </a:r>
            <a:r>
              <a:rPr sz="1400" b="1" i="0">
                <a:solidFill>
                  <a:srgbClr val="1F2433"/>
                </a:solidFill>
                <a:latin typeface="Arial"/>
              </a:rPr>
              <a:t>  ·  Geral: </a:t>
            </a:r>
            <a:r>
              <a:rPr sz="1400" b="1" i="0">
                <a:solidFill>
                  <a:srgbClr val="8B0000"/>
                </a:solidFill>
                <a:latin typeface="Arial"/>
              </a:rPr>
              <a:t>● alta  </a:t>
            </a:r>
            <a:r>
              <a:rPr sz="1400" b="1" i="0">
                <a:solidFill>
                  <a:srgbClr val="E08A1E"/>
                </a:solidFill>
                <a:latin typeface="Arial"/>
              </a:rPr>
              <a:t>● moderada</a:t>
            </a:r>
            <a:r>
              <a:rPr sz="1400" b="0" i="0">
                <a:solidFill>
                  <a:srgbClr val="1F2433"/>
                </a:solidFill>
                <a:latin typeface="Arial"/>
              </a:rPr>
              <a:t>  →  </a:t>
            </a:r>
            <a:r>
              <a:rPr sz="14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nenhum com preocupação baixa.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Itens: </a:t>
            </a:r>
            <a:r>
              <a:rPr sz="1400" b="0" i="0">
                <a:solidFill>
                  <a:srgbClr val="5A6270"/>
                </a:solidFill>
                <a:latin typeface="Arial"/>
              </a:rPr>
              <a:t>1 marco amostral · 2 amostragem · 3 tamanho · 4 sujeitos/cenário · 5 cobertura · 6 validade · 7 padronização · 8 análise · 9 taxa de resposta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 6 · Metanálise de prevalência explicada: de 7 proporções a uma estimativa combinada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3965500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53390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463040" y="21031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2057400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Proporção de cada estudo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2880360"/>
            <a:ext cx="2651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63040" y="28803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p = eventos ÷ 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61188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Ex.: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33/81 = 40,7%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IC95% de cada estudo pelo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método de Wilson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79392" y="3840480"/>
            <a:ext cx="219455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526279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846319" y="21031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19" y="2057400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Transformação logito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79" y="2880360"/>
            <a:ext cx="2651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846319" y="28803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ln[ p ÷ (1 − p)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361188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Leva a proporção (0 a 1) para a escala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−∞ a +∞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Aproxima da normal e mantém estimativa e IC entre 0 e 100%.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Sem 0% ou 100% → sem correção de continuidade.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62671" y="3840480"/>
            <a:ext cx="21945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909559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229599" y="21031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399" y="2057400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Modelo de efeitos aleatórios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59" y="2880360"/>
            <a:ext cx="2651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229599" y="28803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τ² por Paule-Mandel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61188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A prevalência verdadeira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varia entre estudos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τ² = variância entre estudos;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peso = 1 ÷ (variância + τ²).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Mais estável que DerSimonian-Laird com poucos estudos.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045951" y="3840480"/>
            <a:ext cx="219457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11292840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1612880" y="21031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98680" y="2057400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Ajuste de Hartung-Knapp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521440" y="2880360"/>
            <a:ext cx="2651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1612880" y="28803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IC pela distribuição 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361188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Usa t com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k − 1 graus de liberdade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IC mais honesto (em geral mais largo) com poucos estudos e alta heterogeneidade (IntHout et al., 2014).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4429231" y="3840480"/>
            <a:ext cx="219456" cy="0"/>
          </a:xfrm>
          <a:prstGeom prst="line">
            <a:avLst/>
          </a:prstGeom>
          <a:ln w="31750">
            <a:solidFill>
              <a:srgbClr val="002060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14676119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4996159" y="2103120"/>
            <a:ext cx="548640" cy="54864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81959" y="2057400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Voltar para % e interpretar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904719" y="2880360"/>
            <a:ext cx="2651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4996159" y="28803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8B0000"/>
                </a:solidFill>
                <a:latin typeface="Arial"/>
              </a:rPr>
              <a:t>I² + predição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904719" y="3611880"/>
            <a:ext cx="265176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Retrotransformação para porcentagem.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I² = % da variação </a:t>
            </a:r>
            <a:r>
              <a:rPr sz="1600" b="1" i="0">
                <a:solidFill>
                  <a:srgbClr val="1F2433"/>
                </a:solidFill>
                <a:latin typeface="Arial"/>
              </a:rPr>
              <a:t>devida à heterogeneidade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0" i="0">
                <a:solidFill>
                  <a:srgbClr val="1F2433"/>
                </a:solidFill>
                <a:latin typeface="Arial"/>
              </a:rPr>
              <a:t>Intervalo de predição: </a:t>
            </a:r>
            <a:r>
              <a:rPr sz="16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faixa esperada para um novo estudo</a:t>
            </a:r>
            <a:r>
              <a:rPr sz="1600" b="0" i="0">
                <a:solidFill>
                  <a:srgbClr val="1F2433"/>
                </a:solidFill>
                <a:latin typeface="Arial"/>
              </a:rPr>
              <a:t>; instável com k &lt; 10.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6053328"/>
            <a:ext cx="16642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Verificando a robustez </a:t>
            </a:r>
            <a:r>
              <a:rPr sz="1700" b="0" i="0">
                <a:solidFill>
                  <a:srgbClr val="5A6270"/>
                </a:solidFill>
                <a:latin typeface="Arial"/>
              </a:rPr>
              <a:t>(sensibilidade, influência e subgrupo)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3000" y="6464808"/>
            <a:ext cx="2621280" cy="1261871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371600" y="6647688"/>
            <a:ext cx="2164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Freeman-Tukey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0" y="6995160"/>
            <a:ext cx="2164080" cy="548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duplo-arcoseno (DerSimonian-Laird)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47160" y="6464808"/>
            <a:ext cx="2621280" cy="1261871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175760" y="6647688"/>
            <a:ext cx="2164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GLMM logístico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75760" y="6995160"/>
            <a:ext cx="2164080" cy="548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intercepto aleatório por estudo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51320" y="6464808"/>
            <a:ext cx="2621280" cy="1261871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979920" y="6647688"/>
            <a:ext cx="2164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Leave-one-out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79920" y="6995160"/>
            <a:ext cx="2164080" cy="548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retira 1 estudo por vez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55480" y="6464808"/>
            <a:ext cx="2621280" cy="1261871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784080" y="6647688"/>
            <a:ext cx="2164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Gráfico de Baujat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84080" y="6995160"/>
            <a:ext cx="2164080" cy="548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quem puxa a heterogeneidade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2359640" y="6464808"/>
            <a:ext cx="2621280" cy="1261871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2588240" y="6647688"/>
            <a:ext cx="2164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Subgrupo por país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588240" y="6995160"/>
            <a:ext cx="2164080" cy="548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exploratório; teste Q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163800" y="6464808"/>
            <a:ext cx="2621280" cy="1261871"/>
          </a:xfrm>
          <a:prstGeom prst="roundRect">
            <a:avLst>
              <a:gd name="adj" fmla="val 6000"/>
            </a:avLst>
          </a:prstGeom>
          <a:solidFill>
            <a:srgbClr val="E3F3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5392400" y="6647688"/>
            <a:ext cx="2164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E7C86"/>
                </a:solidFill>
                <a:latin typeface="Arial"/>
              </a:rPr>
              <a:t>Sensibilidade extra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392400" y="6995160"/>
            <a:ext cx="2164080" cy="548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sem resumo; definições específicas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3000" y="8001000"/>
            <a:ext cx="16642080" cy="100584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76" name="icone question" descr="question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8229600"/>
            <a:ext cx="548640" cy="5486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240280" y="8138160"/>
            <a:ext cx="1522475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Sem gráfico de funil nem teste de Egger: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em proporções o erro-padrão depende da própria proporção (assimetria espúria) e os testes exigem ≥ 10 estudos; viés de relato apreciado qualitativamente.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Sem metarregressão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(poucos estudos por covariável).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RR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na escala log (Wald).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7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40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2100"/>
                            </p:stCondLst>
                            <p:childTnLst>
                              <p:par>
                                <p:cTn id="1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METODOLOGIA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Passo 7 · Certeza da evidência: GRADE adaptado a desfechos de prevalência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10097" y="9454896"/>
            <a:ext cx="14107885" cy="0"/>
          </a:xfrm>
          <a:prstGeom prst="line">
            <a:avLst/>
          </a:prstGeom>
          <a:ln w="31750">
            <a:solidFill>
              <a:srgbClr val="C9CFDA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245505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Pergunta e protocolo</a:t>
            </a:r>
          </a:p>
        </p:txBody>
      </p:sp>
      <p:sp>
        <p:nvSpPr>
          <p:cNvPr id="10" name="Oval 9"/>
          <p:cNvSpPr/>
          <p:nvPr/>
        </p:nvSpPr>
        <p:spPr>
          <a:xfrm>
            <a:off x="4596819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5754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Busca</a:t>
            </a:r>
          </a:p>
        </p:txBody>
      </p:sp>
      <p:sp>
        <p:nvSpPr>
          <p:cNvPr id="12" name="Oval 11"/>
          <p:cNvSpPr/>
          <p:nvPr/>
        </p:nvSpPr>
        <p:spPr>
          <a:xfrm>
            <a:off x="6948133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7068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Seleção</a:t>
            </a:r>
          </a:p>
        </p:txBody>
      </p:sp>
      <p:sp>
        <p:nvSpPr>
          <p:cNvPr id="14" name="Oval 13"/>
          <p:cNvSpPr/>
          <p:nvPr/>
        </p:nvSpPr>
        <p:spPr>
          <a:xfrm>
            <a:off x="9299447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8382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Extração</a:t>
            </a:r>
          </a:p>
        </p:txBody>
      </p:sp>
      <p:sp>
        <p:nvSpPr>
          <p:cNvPr id="16" name="Oval 15"/>
          <p:cNvSpPr/>
          <p:nvPr/>
        </p:nvSpPr>
        <p:spPr>
          <a:xfrm>
            <a:off x="11650762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9697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Risco de viés</a:t>
            </a:r>
          </a:p>
        </p:txBody>
      </p:sp>
      <p:sp>
        <p:nvSpPr>
          <p:cNvPr id="18" name="Oval 17"/>
          <p:cNvSpPr/>
          <p:nvPr/>
        </p:nvSpPr>
        <p:spPr>
          <a:xfrm>
            <a:off x="14002076" y="9290304"/>
            <a:ext cx="329184" cy="329184"/>
          </a:xfrm>
          <a:prstGeom prst="ellipse">
            <a:avLst/>
          </a:prstGeom>
          <a:solidFill>
            <a:srgbClr val="C9CFDA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91011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Síntese</a:t>
            </a:r>
          </a:p>
        </p:txBody>
      </p:sp>
      <p:sp>
        <p:nvSpPr>
          <p:cNvPr id="20" name="Oval 19"/>
          <p:cNvSpPr/>
          <p:nvPr/>
        </p:nvSpPr>
        <p:spPr>
          <a:xfrm>
            <a:off x="16316814" y="9253728"/>
            <a:ext cx="402336" cy="402336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 wrap="square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42325" y="9710928"/>
            <a:ext cx="235131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002060"/>
                </a:solidFill>
                <a:latin typeface="Arial"/>
              </a:rPr>
              <a:t>Certeza (GRADE)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417320" y="205740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4" name="icone balance" descr="balanc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8770" y="2228850"/>
            <a:ext cx="342900" cy="3429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31720" y="2057400"/>
            <a:ext cx="164592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Risco de viés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9260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Do JBI: amostragem não probabilística, taxa de resposta não relatada, autorrelato; nos objetivos, sem ajuste para confundidores.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26279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00599" y="205740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9" name="icone spiral" descr="spir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2049" y="2228850"/>
            <a:ext cx="342900" cy="342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4999" y="2057400"/>
            <a:ext cx="1645919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Inconsistência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599" y="29260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I² acima de 90%, prevalências de 19% a 56% e intervalo de predição amplo → muito grave na prevalência.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59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183879" y="205740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4" name="icone compass" descr="compas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329" y="2228850"/>
            <a:ext cx="342900" cy="3429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098280" y="2057400"/>
            <a:ext cx="1645919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Evidência indireta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29260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Não rebaixada na prevalência (o sintoma é o próprio desfecho); rebaixada nos biomarcadores (coexposições, desfechos substitutos).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292840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1567160" y="205740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39" name="icone target" descr="targe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38610" y="2228850"/>
            <a:ext cx="342900" cy="3429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481560" y="2057400"/>
            <a:ext cx="1645919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Imprecisão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67160" y="29260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IC95% amplo (ex.: 21,9–56,5) ou ausente no estudo original; poucos eventos nos desfechos objetivos.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676119" y="1783080"/>
            <a:ext cx="3108960" cy="31546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4950439" y="2057400"/>
            <a:ext cx="685800" cy="68580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44" name="icone search" descr="search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121889" y="2228850"/>
            <a:ext cx="342900" cy="3429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864839" y="2057400"/>
            <a:ext cx="1645919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Viés de publicação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950439" y="29260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600" b="0" i="0">
                <a:solidFill>
                  <a:srgbClr val="1F2433"/>
                </a:solidFill>
                <a:latin typeface="Arial"/>
              </a:rPr>
              <a:t>Busca ampla, mas poucos estudos pequenos e 6 não recuperados → não excluível, sem base formal para rebaixar.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5212080"/>
            <a:ext cx="9692640" cy="3794759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463040" y="5486400"/>
            <a:ext cx="9052560" cy="3200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Como a certeza foi graduada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Ponto de partida: certeza BAIXA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para evidência observacional (decisão dos autores; parte da literatura sugere iniciar em alta para prevalência).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Regra: </a:t>
            </a:r>
            <a:r>
              <a:rPr sz="16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um domínio grave já leva a MUITO BAIXA</a:t>
            </a:r>
            <a:r>
              <a:rPr sz="1600" b="0" i="0">
                <a:solidFill>
                  <a:srgbClr val="1F2433"/>
                </a:solidFill>
                <a:latin typeface="Arial"/>
              </a:rPr>
              <a:t>; a certeza final não muda com o ponto de partida alternativo.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Sem dupla contagem: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intervalo de predição em inconsistência; amplitude do IC95% em imprecisão.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Desfechos com um único estudo: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inconsistência não aplicável; viés de publicação não avaliável.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●●●● alta   ●●●○ moderada   ●●○○ baixa   ●○○○ muito baixa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09960" y="5212080"/>
            <a:ext cx="6675120" cy="3794759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50" name="icone clipboard" descr="clipboard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0" y="5513832"/>
            <a:ext cx="457200" cy="4572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024360" y="5486400"/>
            <a:ext cx="5440679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Decisões posteriores ao registro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172200"/>
            <a:ext cx="6035040" cy="2514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Ocular como principal; respiratório exploratório (definições mais variáveis);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Modelo principal: logito, efeitos aleatórios e Hartung-Knapp;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1 publicação por desfecho no cluster com sobreposição; análises por país e de influência exploratórias;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Resumos de congresso com dados suficientes (preocupação alta);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Na análise: regra do sintoma-índice e sensibilidade por definição, independentes dos resultados.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Seleção (PRISMA 2020) e características dos 22 relatórios incluídos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1783080"/>
            <a:ext cx="4754880" cy="109728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31720" y="1892807"/>
            <a:ext cx="4206240" cy="8778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Registros identificados (n = 16.757)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Bases: 16.707 · Literatura cinzenta: 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783080"/>
            <a:ext cx="2468880" cy="1097280"/>
          </a:xfrm>
          <a:prstGeom prst="roundRect">
            <a:avLst>
              <a:gd name="adj" fmla="val 8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06640" y="1892807"/>
            <a:ext cx="2011680" cy="8778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Busca por citação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443 referências → 4 relatórios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6830568" y="2331720"/>
            <a:ext cx="347472" cy="0"/>
          </a:xfrm>
          <a:prstGeom prst="line">
            <a:avLst/>
          </a:prstGeom>
          <a:ln w="25400">
            <a:solidFill>
              <a:srgbClr val="8A6D1F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>
            <a:off x="4434840" y="2880360"/>
            <a:ext cx="0" cy="256031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2057400" y="3154679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331720" y="3264408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Importados: 16.749 (8 não exportados)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Duplicatas removidas: 5.839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34840" y="4069079"/>
            <a:ext cx="0" cy="256033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2057400" y="4343399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4453127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Triados (título e resumo): 10.910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revisor único; IA como apoio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78040" y="4343399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06640" y="4453127"/>
            <a:ext cx="201168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Excluídos na triagem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n = 10.882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12280" y="4800599"/>
            <a:ext cx="347472" cy="0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4434840" y="5257799"/>
            <a:ext cx="0" cy="256032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057400" y="5532119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331720" y="5641847"/>
            <a:ext cx="420624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Buscados na íntegra: 32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28 da triagem + 4 por citação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78040" y="5532119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5641847"/>
            <a:ext cx="2011680" cy="6949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Não recuperados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n = 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12280" y="5989319"/>
            <a:ext cx="347472" cy="0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4434840" y="6446519"/>
            <a:ext cx="0" cy="256032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2057400" y="6720839"/>
            <a:ext cx="4754880" cy="96012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331720" y="6830567"/>
            <a:ext cx="4206240" cy="7406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Avaliados para elegibilidade: 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6720839"/>
            <a:ext cx="2468880" cy="96012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06640" y="6830567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Excluídos (n = 4)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1F2433"/>
                </a:solidFill>
                <a:latin typeface="Arial"/>
              </a:rPr>
              <a:t>1 resumo; 3 população ou contexto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12280" y="7200899"/>
            <a:ext cx="347472" cy="0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4434840" y="7680959"/>
            <a:ext cx="0" cy="256033"/>
          </a:xfrm>
          <a:prstGeom prst="line">
            <a:avLst/>
          </a:prstGeom>
          <a:ln w="25400">
            <a:solidFill>
              <a:srgbClr val="002060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2057400" y="7955279"/>
            <a:ext cx="4754880" cy="1280160"/>
          </a:xfrm>
          <a:prstGeom prst="roundRect">
            <a:avLst>
              <a:gd name="adj" fmla="val 8000"/>
            </a:avLst>
          </a:prstGeom>
          <a:solidFill>
            <a:srgbClr val="E7F3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331720" y="8065007"/>
            <a:ext cx="4206240" cy="10607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700" b="1" i="0">
                <a:solidFill>
                  <a:srgbClr val="2E7D32"/>
                </a:solidFill>
                <a:latin typeface="Arial"/>
              </a:rPr>
              <a:t>Relatórios incluídos (n = 22)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Metanálise: 6 (ocular) e 7 (respiratório)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Narrativa + GRADE: desfechos objetivos</a:t>
            </a:r>
          </a:p>
        </p:txBody>
      </p:sp>
      <p:sp>
        <p:nvSpPr>
          <p:cNvPr id="36" name="TextBox 35"/>
          <p:cNvSpPr txBox="1"/>
          <p:nvPr/>
        </p:nvSpPr>
        <p:spPr>
          <a:xfrm rot="16200000">
            <a:off x="594359" y="274319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Identificação</a:t>
            </a:r>
          </a:p>
        </p:txBody>
      </p:sp>
      <p:sp>
        <p:nvSpPr>
          <p:cNvPr id="37" name="TextBox 36"/>
          <p:cNvSpPr txBox="1"/>
          <p:nvPr/>
        </p:nvSpPr>
        <p:spPr>
          <a:xfrm rot="16200000">
            <a:off x="594359" y="521207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Triagem</a:t>
            </a:r>
          </a:p>
        </p:txBody>
      </p:sp>
      <p:sp>
        <p:nvSpPr>
          <p:cNvPr id="38" name="TextBox 37"/>
          <p:cNvSpPr txBox="1"/>
          <p:nvPr/>
        </p:nvSpPr>
        <p:spPr>
          <a:xfrm rot="16200000">
            <a:off x="594359" y="701801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Elegibilidade</a:t>
            </a:r>
          </a:p>
        </p:txBody>
      </p:sp>
      <p:sp>
        <p:nvSpPr>
          <p:cNvPr id="39" name="TextBox 38"/>
          <p:cNvSpPr txBox="1"/>
          <p:nvPr/>
        </p:nvSpPr>
        <p:spPr>
          <a:xfrm rot="16200000">
            <a:off x="594359" y="84124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300" b="1" i="0">
                <a:solidFill>
                  <a:srgbClr val="002060"/>
                </a:solidFill>
                <a:latin typeface="Arial"/>
              </a:rPr>
              <a:t>Incluídos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93268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300" b="0" i="0">
                <a:solidFill>
                  <a:srgbClr val="5A6270"/>
                </a:solidFill>
                <a:latin typeface="Arial"/>
              </a:rPr>
              <a:t>Fluxograma PRISMA 2020 (Figura 1 do manuscrito); não recuperados e excluídos no Anexo C.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1783080"/>
            <a:ext cx="3794759" cy="1783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0195560" y="1988819"/>
            <a:ext cx="3246119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400" b="1" i="0">
                <a:solidFill>
                  <a:srgbClr val="002060"/>
                </a:solidFill>
                <a:latin typeface="Arial"/>
              </a:rPr>
              <a:t>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705099"/>
            <a:ext cx="3246119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5A6270"/>
                </a:solidFill>
                <a:latin typeface="Arial"/>
              </a:rPr>
              <a:t>relatórios de estudos observacionais incluídos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990319" y="1783080"/>
            <a:ext cx="3794759" cy="1783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4264640" y="1988819"/>
            <a:ext cx="3246119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400" b="1" i="0">
                <a:solidFill>
                  <a:srgbClr val="002060"/>
                </a:solidFill>
                <a:latin typeface="Arial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264640" y="2705099"/>
            <a:ext cx="3246119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países: Turquia, Malásia, Brasil, Paquistão, China, México, EUA, Sudão e Tailândia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1240" y="3840480"/>
            <a:ext cx="3794759" cy="17830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195560" y="4046220"/>
            <a:ext cx="3246119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002060"/>
                </a:solidFill>
                <a:latin typeface="Arial"/>
              </a:rPr>
              <a:t>19 + 3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5560" y="4701540"/>
            <a:ext cx="3246119" cy="647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5A6270"/>
                </a:solidFill>
                <a:latin typeface="Arial"/>
              </a:rPr>
              <a:t>transversais + coortes prospectivas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990319" y="3840480"/>
            <a:ext cx="3794759" cy="178308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4264640" y="4046220"/>
            <a:ext cx="3246119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sz="4000" b="1" i="0">
                <a:solidFill>
                  <a:srgbClr val="8B0000"/>
                </a:solidFill>
                <a:latin typeface="Arial"/>
              </a:rPr>
              <a:t>6 |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264640" y="4701540"/>
            <a:ext cx="3246119" cy="647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amostras independentes: ocular (n = 756) | respiratória (n = 1.428)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21240" y="5897879"/>
            <a:ext cx="7863840" cy="3840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10241280" y="6217919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55" name="icone balance" descr="balanc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299" y="6377939"/>
            <a:ext cx="320040" cy="32004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109959" y="6217919"/>
            <a:ext cx="635507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002060"/>
                </a:solidFill>
                <a:latin typeface="Arial"/>
              </a:rPr>
              <a:t>Risco de viés (JBI): resumo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7040879"/>
            <a:ext cx="7223759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1F2433"/>
                </a:solidFill>
                <a:latin typeface="Arial"/>
              </a:rPr>
              <a:t>Prevalência: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preocupação moderada a alta (amostragem não probabilística, taxa de resposta não informada, autorrelato); só 1 estudo com amostragem aleatória.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1F2433"/>
                </a:solidFill>
                <a:latin typeface="Arial"/>
              </a:rPr>
              <a:t>Resumo de congresso: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alta preocupação por relato incompleto.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1F2433"/>
                </a:solidFill>
                <a:latin typeface="Arial"/>
              </a:rPr>
              <a:t>Comparativos e objetivos: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preocupação moderada (exposição pela ocupação, sem ajuste para confundidores).</a:t>
            </a:r>
          </a:p>
          <a:p>
            <a:pPr algn="l" marL="274320" indent="-274320">
              <a:lnSpc>
                <a:spcPct val="100000"/>
              </a:lnSpc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8B0000"/>
                </a:solidFill>
                <a:latin typeface="Arial"/>
              </a:rPr>
              <a:t>Nenhum estudo com preocupação baixa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→ análise restrita a baixo risco não foi factível.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5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1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450"/>
                            </p:stCondLst>
                            <p:childTnLst>
                              <p:par>
                                <p:cTn id="1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1" grpId="0" animBg="1"/>
      <p:bldP spid="34" grpId="0" animBg="1"/>
      <p:bldP spid="35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Desfecho principal · Prevalência combinada de sintoma ocular (irritação ou lacrimejamento)</a:t>
            </a:r>
          </a:p>
        </p:txBody>
      </p:sp>
      <p:pic>
        <p:nvPicPr>
          <p:cNvPr id="7" name="Figura 2 forest plot ocular" descr="fig2_forest_ocul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11247120" cy="58021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658345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5A6270"/>
                </a:solidFill>
                <a:latin typeface="Arial"/>
              </a:rPr>
              <a:t>Figura 2. </a:t>
            </a:r>
            <a:r>
              <a:rPr sz="1400" b="0" i="0">
                <a:solidFill>
                  <a:srgbClr val="5A6270"/>
                </a:solidFill>
                <a:latin typeface="Arial"/>
              </a:rPr>
              <a:t>Logito, Paule-Mandel e Hartung-Knapp. Quadrado = prevalência do estudo (tamanho ∝ peso); linha preta = IC95% de Wilson; losango = estimativa combinada; linha vermelha = intervalo de predição.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64440" y="1783080"/>
            <a:ext cx="5120639" cy="324612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984480" y="1984248"/>
            <a:ext cx="4480559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7200" b="1" i="0">
                <a:solidFill>
                  <a:srgbClr val="8B0000"/>
                </a:solidFill>
                <a:latin typeface="Arial"/>
              </a:rPr>
              <a:t>37,6%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0" y="3127248"/>
            <a:ext cx="448055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Arial"/>
              </a:rPr>
              <a:t>prevalência combinada de sintoma ocular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0" y="3611880"/>
            <a:ext cx="4480559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IC95%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21,9 – 56,5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Intervalo de predição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7 – 83%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I² = 93% · k = 6 · n = 756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664440" y="5303520"/>
            <a:ext cx="5120639" cy="4434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984480" y="5623559"/>
            <a:ext cx="4480559" cy="313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Características do agrupamento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0" y="6120129"/>
            <a:ext cx="4480559" cy="32981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6 inquéritos transversais: Turquia (3), Malásia (2) e Brasil (1).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Preocupação com viés moderada ou alta em todos.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Definições: lacrimejamento, irritação ocular ou escala do sistema ocular.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O maior inquérito (n = 672)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não entrou: sem numerador e denominador ocular extraíveis.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8229600"/>
            <a:ext cx="11247120" cy="150876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463040" y="8366760"/>
            <a:ext cx="10607040" cy="12344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Como ler: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cerca de 4 em cada 10 profissionais relataram irritação ou lacrimejamento ocular; os estudos variam de 19% (Malásia) a 56% (Turquia), e </a:t>
            </a:r>
            <a:r>
              <a:rPr sz="16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um novo estudo poderia encontrar qualquer valor entre 7% e 83%</a:t>
            </a:r>
            <a:r>
              <a:rPr sz="1600" b="0" i="0">
                <a:solidFill>
                  <a:srgbClr val="1F2433"/>
                </a:solidFill>
                <a:latin typeface="Arial"/>
              </a:rPr>
              <a:t>. </a:t>
            </a:r>
            <a:r>
              <a:rPr sz="1600" b="0" i="0">
                <a:solidFill>
                  <a:srgbClr val="5A6270"/>
                </a:solidFill>
                <a:latin typeface="Arial"/>
              </a:rPr>
              <a:t>É a proporção que relatou o sintoma, não uma prevalência com recordatório homogêneo.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Desfecho exploratório · Sintoma respiratório ou de vias aéreas, e robustez das estimativas</a:t>
            </a:r>
          </a:p>
        </p:txBody>
      </p:sp>
      <p:pic>
        <p:nvPicPr>
          <p:cNvPr id="7" name="Figura 3 forest plot respiratório" descr="fig3_forest_re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9326880" cy="53397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19593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5A6270"/>
                </a:solidFill>
                <a:latin typeface="Arial"/>
              </a:rPr>
              <a:t>Figura 3. </a:t>
            </a:r>
            <a:r>
              <a:rPr sz="1400" b="0" i="0">
                <a:solidFill>
                  <a:srgbClr val="5A6270"/>
                </a:solidFill>
                <a:latin typeface="Arial"/>
              </a:rPr>
              <a:t>Sete amostras independentes (n = 1.428). Definições variam: tosse, ardência de garganta, irritação de vias aéreas superiores, escala por sistema.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7863840"/>
            <a:ext cx="9326880" cy="187452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63040" y="8119871"/>
            <a:ext cx="8686800" cy="1417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500" b="1" i="0">
                <a:solidFill>
                  <a:srgbClr val="002060"/>
                </a:solidFill>
                <a:latin typeface="Arial"/>
              </a:rPr>
              <a:t>Subgrupo por país (sintoma ocular; exploratório)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500" b="1" i="0">
                <a:solidFill>
                  <a:srgbClr val="8B0000"/>
                </a:solidFill>
                <a:latin typeface="Arial"/>
              </a:rPr>
              <a:t>Turquia 50,5%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(k = 3; I² = 57%)  ·  </a:t>
            </a:r>
            <a:r>
              <a:rPr sz="1500" b="1" i="0">
                <a:solidFill>
                  <a:srgbClr val="8B0000"/>
                </a:solidFill>
                <a:latin typeface="Arial"/>
              </a:rPr>
              <a:t>Malásia 19,8%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(k = 2; I² = 0%)  · 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Brasil 43,2%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(k = 1)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Teste entre subgrupos p &lt; 0,001, mas: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poucos estudos por país e um resumo de congresso na Malásia → gera hipótese, não prova moderação causal.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81360" y="1783080"/>
            <a:ext cx="6903719" cy="214884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201400" y="196596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5000" b="1" i="0">
                <a:solidFill>
                  <a:srgbClr val="8B0000"/>
                </a:solidFill>
                <a:latin typeface="Arial"/>
              </a:rPr>
              <a:t>41,7%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2770632"/>
            <a:ext cx="6263639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5A6270"/>
                </a:solidFill>
                <a:latin typeface="Arial"/>
              </a:rPr>
              <a:t>prevalência combinada de sintoma respiratório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3154680"/>
            <a:ext cx="626363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IC95%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30,4 – 53,9  ·  </a:t>
            </a:r>
            <a:r>
              <a:rPr sz="1500" b="1" i="0">
                <a:solidFill>
                  <a:srgbClr val="1F2433"/>
                </a:solidFill>
                <a:latin typeface="Arial"/>
              </a:rPr>
              <a:t>Intervalo de predição </a:t>
            </a:r>
            <a:r>
              <a:rPr sz="1500" b="0" i="0">
                <a:solidFill>
                  <a:srgbClr val="1F2433"/>
                </a:solidFill>
                <a:latin typeface="Arial"/>
              </a:rPr>
              <a:t>15 – 74%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500" b="1" i="0">
                <a:solidFill>
                  <a:srgbClr val="1F2433"/>
                </a:solidFill>
                <a:latin typeface="Arial"/>
              </a:rPr>
              <a:t>I² = 91% · k = 7 · n = 1.428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4160520"/>
            <a:ext cx="69037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Robustez: estável entre modelos e estudos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881360" y="4572000"/>
          <a:ext cx="6903719" cy="2816352"/>
        </p:xfrm>
        <a:graphic>
          <a:graphicData uri="http://schemas.openxmlformats.org/drawingml/2006/table">
            <a:tbl>
              <a:tblPr firstRow="0" bandRow="0"/>
              <a:tblGrid>
                <a:gridCol w="3886199"/>
                <a:gridCol w="1417320"/>
                <a:gridCol w="160020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Análise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Ocular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Respiratório</a:t>
                      </a:r>
                    </a:p>
                  </a:txBody>
                  <a:tcPr marL="91440" marR="91440" marT="36576" marB="36576" anchor="ctr">
                    <a:solidFill>
                      <a:srgbClr val="002060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F2433"/>
                          </a:solidFill>
                          <a:latin typeface="Arial"/>
                        </a:rPr>
                        <a:t>Logito + Hartung-Knapp (principal)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F2433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F2433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Freeman-Tukey (DerSimonian-Laird)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GLMM logístico (intercepto aleatório)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Leave-one-out (faixa)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34,3–42,1%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38,9–45,5%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Sem o resumo de congresso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Só definições específicas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36,5% (I² 94%)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F2433"/>
                          </a:solidFill>
                          <a:latin typeface="Arial"/>
                        </a:rPr>
                        <a:t>35,8% (I² 61%)</a:t>
                      </a:r>
                    </a:p>
                  </a:txBody>
                  <a:tcPr marL="91440" marR="91440" marT="36576" marB="3657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0881360" y="7479792"/>
            <a:ext cx="690371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1" i="0">
                <a:solidFill>
                  <a:srgbClr val="1F2433"/>
                </a:solidFill>
                <a:latin typeface="Arial"/>
              </a:rPr>
              <a:t>Sem Van Giersbergen 2019 </a:t>
            </a:r>
            <a:r>
              <a:rPr sz="1400" b="0" i="0">
                <a:solidFill>
                  <a:srgbClr val="1F2433"/>
                </a:solidFill>
                <a:latin typeface="Arial"/>
              </a:rPr>
              <a:t>(definição mais divergente): 38,9%.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81360" y="7863840"/>
            <a:ext cx="6903719" cy="187452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201400" y="8119871"/>
            <a:ext cx="6263639" cy="1417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O que a sensibilidade ensina</a:t>
            </a:r>
          </a:p>
          <a:p>
            <a:pPr algn="l" marL="274320" indent="-274320">
              <a:lnSpc>
                <a:spcPct val="100000"/>
              </a:lnSpc>
              <a:spcAft>
                <a:spcPts val="4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Definições específicas: </a:t>
            </a:r>
            <a:r>
              <a:rPr sz="1500" b="1" i="0">
                <a:solidFill>
                  <a:srgbClr val="1F2433"/>
                </a:solidFill>
                <a:highlight>
                  <a:srgbClr val="FFEB99"/>
                </a:highlight>
                <a:latin typeface="Arial"/>
              </a:rPr>
              <a:t>I² respiratório 91% → 61%</a:t>
            </a:r>
            <a:r>
              <a:rPr sz="1500" b="0" i="0">
                <a:solidFill>
                  <a:srgbClr val="1F2433"/>
                </a:solidFill>
                <a:latin typeface="Arial"/>
              </a:rPr>
              <a:t> (a definição explica parte da heterogeneidade).</a:t>
            </a:r>
          </a:p>
          <a:p>
            <a:pPr algn="l" marL="274320" indent="-274320">
              <a:lnSpc>
                <a:spcPct val="100000"/>
              </a:lnSpc>
              <a:spcAft>
                <a:spcPts val="400"/>
              </a:spcAft>
              <a:buClr>
                <a:srgbClr val="C8A951"/>
              </a:buClr>
              <a:buFont typeface="Arial"/>
              <a:buChar char="•"/>
            </a:pPr>
            <a:r>
              <a:rPr sz="1500" b="0" i="0">
                <a:solidFill>
                  <a:srgbClr val="1F2433"/>
                </a:solidFill>
                <a:latin typeface="Arial"/>
              </a:rPr>
              <a:t>Ocular: nenhum estudo isolado explica o I² (Baujat).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RESULTADOS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Desfechos objetivos e biomarcadores: sinais além do incômodo agudo (1 estudo por desfecho)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8183879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3040" y="2103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lungs" descr="lung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228599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029967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Função pulmonar (espirometria)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68879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Ibrahim et al., 2025 · Sudão · 92 expostos vs 92 não expostos pareados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17520"/>
            <a:ext cx="7543800" cy="1188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VEF1 2,78 vs 3,14 L · CVF 3,02 vs 3,45 L · PFE 327,5 vs 483,5 L/min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p = 0,001; gradiente: mais tempo em centro cirúrgico → valores menores.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VEF1/CVF ≈ 91% nos dois grupos; PFE depende do esforço.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1783080"/>
            <a:ext cx="8183879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921240" y="2103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5" name="icone vial" descr="vi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2285999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881360" y="2029967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Biomarcadores urinários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2468879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Canicoba, 2025 · Brasil · 52 vs 49 (metabólitos); 52 vs 52 (oxidativo)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3017520"/>
            <a:ext cx="7543800" cy="1188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Ác. t,t-mucônico (benzeno):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202,9 vs 46,1 µg/L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Ác. metil-hipúrico (xileno):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468,2 vs 184,4 µg/L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Malondialdeído: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9,33 vs 3,22 nmol/mg</a:t>
            </a:r>
            <a:r>
              <a:rPr sz="1700" b="0" i="0">
                <a:solidFill>
                  <a:srgbClr val="1F2433"/>
                </a:solidFill>
                <a:latin typeface="Arial"/>
              </a:rPr>
              <a:t>; todos p &lt; 0,001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sem IC95%; t,t-mucônico inespecífico (dieta, tabagismo).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800600"/>
            <a:ext cx="8183879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463040" y="512064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1" name="icone biotech" descr="biotech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5920" y="5303520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23160" y="5047488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Mucosa nasal (biópsia)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54864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Navarro et al., 2016 · México · coorte de 4 anos · 23 vs 20 residentes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6035040"/>
            <a:ext cx="7543800" cy="1188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Metaplasia ou hiperplasia: 70% (16/23) vs 5% (1/20)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RR 13,9 (IC95% 2,0 – 95,8)</a:t>
            </a:r>
            <a:r>
              <a:rPr sz="1700" b="0" i="0">
                <a:solidFill>
                  <a:srgbClr val="1F2433"/>
                </a:solidFill>
                <a:latin typeface="Arial"/>
              </a:rPr>
              <a:t>: 1 evento no grupo não exposto → IC amplo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resposta inespecífica a irritantes; exposição por proxy.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0" y="4800600"/>
            <a:ext cx="8183879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921240" y="512064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7" name="icone virus" descr="viru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4120" y="5303520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881360" y="5047488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002060"/>
                </a:solidFill>
                <a:latin typeface="Arial"/>
              </a:rPr>
              <a:t>HPV-DNA na mucosa nasal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54864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Hu et al., 2021 · China · 469 com eletrocirurgia vs 231 sem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6035040"/>
            <a:ext cx="7543800" cy="1188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8,96% (42/469) com eletrocirurgia vs 1,73% (4/231) sem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RR 5,2 (IC95% 1,9 – 14,2)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· maior com mais tempo de eletrocirurgia</a:t>
            </a:r>
          </a:p>
          <a:p>
            <a:pPr algn="l" marL="274320" indent="-274320">
              <a:lnSpc>
                <a:spcPct val="100000"/>
              </a:lnSpc>
              <a:spcAft>
                <a:spcPts val="500"/>
              </a:spcAft>
              <a:buClr>
                <a:srgbClr val="002060"/>
              </a:buClr>
              <a:buFont typeface="Arial"/>
              <a:buChar char="•"/>
            </a:pPr>
            <a:r>
              <a:rPr sz="1700" b="1" i="0">
                <a:solidFill>
                  <a:srgbClr val="8B0000"/>
                </a:solidFill>
                <a:latin typeface="Arial"/>
              </a:rPr>
              <a:t>Cautela: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DNA ≠ infecção ou doença; achado da N95 (0/196) sem ajuste.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7818120"/>
            <a:ext cx="16642080" cy="1920239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463040" y="8138160"/>
            <a:ext cx="505967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C8A951"/>
                </a:solidFill>
                <a:latin typeface="Arial"/>
              </a:rPr>
              <a:t>●○○○  Certeza MUITO BAIXA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8641080"/>
            <a:ext cx="5059679" cy="777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em todos os desfechos (GRADE); medidas comparativas não combinadas (desenhos e desfechos heterogêneos).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4199" y="8138160"/>
            <a:ext cx="505967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C8A951"/>
                </a:solidFill>
                <a:latin typeface="Arial"/>
              </a:rPr>
              <a:t>0 estudos sobre câncer ou DPOC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4199" y="8641080"/>
            <a:ext cx="5059679" cy="777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vazio de evidência: ausência de estudos ≠ ausência de risco.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05359" y="8138160"/>
            <a:ext cx="505967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000" b="1" i="0">
                <a:solidFill>
                  <a:srgbClr val="C8A951"/>
                </a:solidFill>
                <a:latin typeface="Arial"/>
              </a:rPr>
              <a:t>Direção consistente, mas…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05359" y="8641080"/>
            <a:ext cx="5059679" cy="777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coexposições (gases anestésicos, radiação), 1 estudo por desfecho e IC amplos: marcadores, não doença crônica atribuível.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4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DISCUSSÃO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O que os achados significam e como interpretá-los com cautela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5364480" cy="57607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3040" y="2103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chart" descr="char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228599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103120"/>
            <a:ext cx="37642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Carga de sintomas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4724399" cy="420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Sintomas frequentes: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ocular 37,6%, respiratório 41,7%, qualquer sintoma entre 55,6% e 73,2%.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0" i="0">
                <a:solidFill>
                  <a:srgbClr val="1F2433"/>
                </a:solidFill>
                <a:latin typeface="Arial"/>
              </a:rPr>
              <a:t>Coerente com a literatura prévia, transversal e sem síntese quantitativa (Mowbray 2013; Dixon 2023).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Contribuição: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primeira estimativa combinada com intervalo de predição, subgrupo por país e GRADE para este corpo de literatura.</a:t>
            </a:r>
          </a:p>
        </p:txBody>
      </p:sp>
      <p:sp>
        <p:nvSpPr>
          <p:cNvPr id="12" name="Faixa zebrada chave"/>
          <p:cNvSpPr/>
          <p:nvPr/>
        </p:nvSpPr>
        <p:spPr>
          <a:xfrm>
            <a:off x="1463040" y="6172200"/>
            <a:ext cx="47243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63040" y="6281928"/>
            <a:ext cx="47243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8B0000"/>
                </a:solidFill>
                <a:latin typeface="Arial"/>
              </a:rPr>
              <a:t>37,6% | 41,7%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6793992"/>
            <a:ext cx="445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prevalência ocular | respiratória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1799" y="1783080"/>
            <a:ext cx="5364480" cy="57607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101839" y="2103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7" name="icone spiral" descr="spiral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4719" y="2285999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61960" y="2103120"/>
            <a:ext cx="37642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Heterogeneidade: esperada, não ignorada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839" y="3017520"/>
            <a:ext cx="4724399" cy="420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I² &gt; 90% é típico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em prevalência → ler pelo intervalo de predição.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Fontes plausíveis: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definição do sintoma e recordatório, composição profissional, tempo de exposição, exaustão e EPI.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País reduziu o I²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intragrupo (Turquia 57%, Malásia 0%), mas com 2–3 estudos por estrato é hipótese.</a:t>
            </a:r>
          </a:p>
        </p:txBody>
      </p:sp>
      <p:sp>
        <p:nvSpPr>
          <p:cNvPr id="20" name="Faixa zebrada chave"/>
          <p:cNvSpPr/>
          <p:nvPr/>
        </p:nvSpPr>
        <p:spPr>
          <a:xfrm>
            <a:off x="7101839" y="6172200"/>
            <a:ext cx="47243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01839" y="6281928"/>
            <a:ext cx="47243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8B0000"/>
                </a:solidFill>
                <a:latin typeface="Arial"/>
              </a:rPr>
              <a:t>IP 7–83%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8999" y="6793992"/>
            <a:ext cx="445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faixa esperada para um novo estudo (ocular)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20599" y="1783080"/>
            <a:ext cx="5364480" cy="57607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2740639" y="2103120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5" name="icone biotech" descr="biotech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23520" y="2285999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700760" y="2103120"/>
            <a:ext cx="376427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Sinais além do incômodo agudo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40639" y="3017520"/>
            <a:ext cx="4724399" cy="420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A favor da causalidade: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gradiente com o tempo de exposição, temporalidade (coorte) e plausibilidade biológica.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Contra: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um estudo por desfecho, intervalos amplos, coexposições (gases anestésicos, radiação).</a:t>
            </a:r>
          </a:p>
          <a:p>
            <a:pPr algn="l" marL="274320" indent="-274320">
              <a:lnSpc>
                <a:spcPct val="100000"/>
              </a:lnSpc>
              <a:spcAft>
                <a:spcPts val="1000"/>
              </a:spcAft>
              <a:buFont typeface="Arial"/>
              <a:buChar char="•"/>
            </a:pPr>
            <a:r>
              <a:rPr sz="1700" b="1" i="0">
                <a:solidFill>
                  <a:srgbClr val="1F2433"/>
                </a:solidFill>
                <a:latin typeface="Arial"/>
              </a:rPr>
              <a:t>Metabólitos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= exposição recente;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metaplasia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= resposta inespecífica;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HPV-DNA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= detecção, não infecção.</a:t>
            </a:r>
          </a:p>
        </p:txBody>
      </p:sp>
      <p:sp>
        <p:nvSpPr>
          <p:cNvPr id="28" name="Faixa zebrada chave"/>
          <p:cNvSpPr/>
          <p:nvPr/>
        </p:nvSpPr>
        <p:spPr>
          <a:xfrm>
            <a:off x="12740639" y="6172200"/>
            <a:ext cx="47243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CFD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740639" y="6281928"/>
            <a:ext cx="47243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2800" b="1" i="0">
                <a:solidFill>
                  <a:srgbClr val="8B0000"/>
                </a:solidFill>
                <a:latin typeface="Arial"/>
              </a:rPr>
              <a:t>RR 13,9 | RR 5,2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77799" y="6793992"/>
            <a:ext cx="445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metaplasia nasal | HPV-DNA (1 estudo cada)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7818120"/>
            <a:ext cx="16642080" cy="192024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2" name="icone question" descr="question_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8760" y="8389620"/>
            <a:ext cx="777240" cy="7772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560320" y="8138160"/>
            <a:ext cx="14904720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C8A951"/>
                </a:solidFill>
                <a:latin typeface="Arial"/>
              </a:rPr>
              <a:t>O achado talvez mais relevante é o que não foi encontrado. </a:t>
            </a:r>
            <a:r>
              <a:rPr sz="1800" b="0" i="0">
                <a:solidFill>
                  <a:srgbClr val="FFFFFF"/>
                </a:solidFill>
                <a:latin typeface="Arial"/>
              </a:rPr>
              <a:t>Nenhum estudo elegível estimou câncer ou DPOC atribuíveis à fumaça. Relatos de caso de papilomatose laríngea e carcinoma orofaríngeo por HPV em cirurgiões (Hallmo; Naess, 1991; Rioux et al., 2013) reforçam a plausibilidade, mas não estimam risco. A controvérsia (Hurst; Stewart, 2024) se resolve com estudos longitudinais ainda por realizar.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DISCUSSÃO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Pontos fortes e limitações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6766560" cy="6217920"/>
          </a:xfrm>
          <a:prstGeom prst="roundRect">
            <a:avLst>
              <a:gd name="adj" fmla="val 6000"/>
            </a:avLst>
          </a:prstGeom>
          <a:solidFill>
            <a:srgbClr val="E7F3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63040" y="21031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9" name="icone thumbsup" descr="thumbsu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2285999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103120"/>
            <a:ext cx="51663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Pontos fortes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6126480" cy="466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Busca abrangente: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7 bases, literatura cinzenta e citação, sem filtro de idioma.</a:t>
            </a:r>
          </a:p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Protocolo registrado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(PROSPERO) e relato PRISMA 2020 (27 itens).</a:t>
            </a:r>
          </a:p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Risco de viés padronizado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com ferramentas JBI.</a:t>
            </a:r>
          </a:p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Síntese robusta: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intervalo de predição, 3 modelos concordantes, leave-one-out, Baujat.</a:t>
            </a:r>
          </a:p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Certeza por desfecho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(GRADE), justificada por domínio.</a:t>
            </a:r>
          </a:p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Sobreposição amostral e uso de IA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tratados de forma explícita.</a:t>
            </a:r>
          </a:p>
          <a:p>
            <a:pPr algn="l" marL="274320" indent="-274320">
              <a:lnSpc>
                <a:spcPct val="100000"/>
              </a:lnSpc>
              <a:spcAft>
                <a:spcPts val="13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Reprodutível: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código, planilhas e figuras abertos no OSF.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783080"/>
            <a:ext cx="9601199" cy="6217920"/>
          </a:xfrm>
          <a:prstGeom prst="roundRect">
            <a:avLst>
              <a:gd name="adj" fmla="val 6000"/>
            </a:avLst>
          </a:prstGeom>
          <a:solidFill>
            <a:srgbClr val="F9E9E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503920" y="2103120"/>
            <a:ext cx="731520" cy="73152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4" name="icone warning" descr="warnin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2285999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64040" y="2103120"/>
            <a:ext cx="8000999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Limitações (declaradas no manuscrito)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017520"/>
            <a:ext cx="8961119" cy="466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Transversais, exposição por proxy e autorrelato;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viés de atribuição (o respondente sabe que o tema é fumaça).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Sem grupo não exposto nos agrupamentos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→ não se estima o excesso atribuível.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Efeito do trabalhador sadio: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quem adoece sai do centro cirúrgico → subestima.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Heterogeneidade alta;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subgrupo exploratório; maior inquérito (n = 672) fora do ocular.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Sobreposição amostral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tratada; 1 resumo de congresso na síntese.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Revisor único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na triagem, extração, JBI e GRADE; 6 relatórios não recuperados.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1F2433"/>
                </a:solidFill>
                <a:latin typeface="Arial"/>
              </a:rPr>
              <a:t>Instrumentos sem validação relatada; </a:t>
            </a:r>
            <a:r>
              <a:rPr sz="1800" b="0" i="0">
                <a:solidFill>
                  <a:srgbClr val="1F2433"/>
                </a:solidFill>
                <a:latin typeface="Arial"/>
              </a:rPr>
              <a:t>recordatório e taxa de resposta raramente informados.</a:t>
            </a:r>
          </a:p>
          <a:p>
            <a:pPr algn="l" marL="274320" indent="-274320">
              <a:lnSpc>
                <a:spcPct val="100000"/>
              </a:lnSpc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8B0000"/>
                </a:solidFill>
                <a:latin typeface="Arial"/>
              </a:rPr>
              <a:t>A metanálise estima prevalência em expostos, não risco causal.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8275320"/>
            <a:ext cx="16642080" cy="146304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8" name="icone balance" descr="balance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868680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423160" y="8458200"/>
            <a:ext cx="1504188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C8A951"/>
                </a:solidFill>
                <a:latin typeface="Arial"/>
              </a:rPr>
              <a:t>Limitações declaradas e testadas por sensibilidade quando possível: </a:t>
            </a:r>
            <a:r>
              <a:rPr sz="1800" b="0" i="0">
                <a:solidFill>
                  <a:srgbClr val="FFFFFF"/>
                </a:solidFill>
                <a:latin typeface="Arial"/>
              </a:rPr>
              <a:t>elas não invalidam a síntese, delimitam o que a evidência permite afirmar.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CONCLUSÃO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Síntese da mensagem da revisão</a:t>
            </a:r>
          </a:p>
        </p:txBody>
      </p:sp>
      <p:pic>
        <p:nvPicPr>
          <p:cNvPr id="7" name="Foto exaustão e N95" descr="exaustao_n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83080"/>
            <a:ext cx="6949440" cy="38883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5744609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400" b="0" i="0">
                <a:solidFill>
                  <a:srgbClr val="5A6270"/>
                </a:solidFill>
                <a:latin typeface="Arial"/>
              </a:rPr>
              <a:t>Imagem ilustrativa (gerada por IA): exaustão local na fonte e respirador N95.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6174377"/>
            <a:ext cx="6949440" cy="1918062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63040" y="6402977"/>
            <a:ext cx="6309359" cy="15065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1" i="0">
                <a:solidFill>
                  <a:srgbClr val="002060"/>
                </a:solidFill>
                <a:latin typeface="Arial"/>
              </a:rPr>
              <a:t>Proteção recomendada (NIOSH, 1996; NR-32)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Evacuação local na fonte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(medida principal);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Respiradores N95/PFF2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(não substituem a exaustão);</a:t>
            </a:r>
          </a:p>
          <a:p>
            <a:pPr algn="l" marL="274320" indent="-274320">
              <a:lnSpc>
                <a:spcPct val="100000"/>
              </a:lnSpc>
              <a:spcAft>
                <a:spcPts val="200"/>
              </a:spcAft>
              <a:buClr>
                <a:srgbClr val="002060"/>
              </a:buClr>
              <a:buFont typeface="Arial"/>
              <a:buChar char="•"/>
            </a:pPr>
            <a:r>
              <a:rPr sz="1600" b="1" i="0">
                <a:solidFill>
                  <a:srgbClr val="1F2433"/>
                </a:solidFill>
                <a:latin typeface="Arial"/>
              </a:rPr>
              <a:t>Educação da equipe.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Efetividade não avaliada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1783080"/>
            <a:ext cx="9235440" cy="1921328"/>
          </a:xfrm>
          <a:prstGeom prst="roundRect">
            <a:avLst>
              <a:gd name="adj" fmla="val 6000"/>
            </a:avLst>
          </a:prstGeom>
          <a:solidFill>
            <a:srgbClr val="E7F3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869680" y="21031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3" name="icone check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2285999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29800" y="2057400"/>
            <a:ext cx="7635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2E7D32"/>
                </a:solidFill>
                <a:latin typeface="Arial"/>
              </a:rPr>
              <a:t>O que se sabe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14600"/>
            <a:ext cx="7635240" cy="86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Sintomas oculares (37,6%; IP 7–83%) e respiratórios (41,7%; IP 15–74%) são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frequentes</a:t>
            </a:r>
            <a:r>
              <a:rPr sz="1700" b="0" i="0">
                <a:solidFill>
                  <a:srgbClr val="1F2433"/>
                </a:solidFill>
                <a:latin typeface="Arial"/>
              </a:rPr>
              <a:t>, com ampla variação entre contextos; desfechos objetivos sinalizam alterações além do incômodo agudo.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978728"/>
            <a:ext cx="9235440" cy="1921328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869680" y="4298768"/>
            <a:ext cx="731520" cy="731520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8" name="icone question" descr="questio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4481648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29800" y="4253048"/>
            <a:ext cx="7635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8A6D1F"/>
                </a:solidFill>
                <a:latin typeface="Arial"/>
              </a:rPr>
              <a:t>O que não se sabe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4710248"/>
            <a:ext cx="7635240" cy="86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Não há evidência direta de câncer ou DPOC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atribuíveis à fumaça; certeza muito baixa; a exposição múltipla limita a atribuição causal.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6174377"/>
            <a:ext cx="9235440" cy="1918062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869680" y="6494417"/>
            <a:ext cx="731520" cy="73152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3" name="icone shield" descr="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0" y="6677297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29800" y="6448697"/>
            <a:ext cx="7635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Implicação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6905897"/>
            <a:ext cx="7635240" cy="8665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A proteção da equipe </a:t>
            </a:r>
            <a:r>
              <a:rPr sz="1700" b="1" i="0">
                <a:solidFill>
                  <a:srgbClr val="1F2433"/>
                </a:solidFill>
                <a:latin typeface="Arial"/>
              </a:rPr>
              <a:t>parece justificada</a:t>
            </a:r>
            <a:r>
              <a:rPr sz="1700" b="0" i="0">
                <a:solidFill>
                  <a:srgbClr val="1F2433"/>
                </a:solidFill>
                <a:latin typeface="Arial"/>
              </a:rPr>
              <a:t> pela carga sintomática e pelo princípio da precaução; o risco de longo prazo depende de estudos longitudinais.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8366760"/>
            <a:ext cx="16642080" cy="13716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554480" y="8549640"/>
            <a:ext cx="1581912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800" b="1" i="0">
                <a:solidFill>
                  <a:srgbClr val="C8A951"/>
                </a:solidFill>
                <a:latin typeface="Arial"/>
              </a:rPr>
              <a:t>Mensagem final: </a:t>
            </a:r>
            <a:r>
              <a:rPr sz="1800" b="0" i="0">
                <a:solidFill>
                  <a:srgbClr val="FFFFFF"/>
                </a:solidFill>
                <a:latin typeface="Arial"/>
              </a:rPr>
              <a:t>a fumaça cirúrgica está associada a uma carga sintomática relevante e a sinais biológicos precoces; proteger a equipe hoje é prudente, e medir o risco crônico é a tarefa dos próximos estudos.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PERSPECTIVAS FUTURAS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Agenda de pesquisa e próximos passos deste trabalho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83080"/>
            <a:ext cx="10058400" cy="79552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463040" y="205740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Para o campo: o que falta para responder ao risco crônico</a:t>
            </a:r>
          </a:p>
        </p:txBody>
      </p:sp>
      <p:sp>
        <p:nvSpPr>
          <p:cNvPr id="9" name="Oval 8"/>
          <p:cNvSpPr/>
          <p:nvPr/>
        </p:nvSpPr>
        <p:spPr>
          <a:xfrm>
            <a:off x="1463039" y="276606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0" name="icone timeline" descr="timeli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350" y="2960370"/>
            <a:ext cx="388620" cy="3886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14600" y="2743200"/>
            <a:ext cx="83667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Estudos longitudinais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172968"/>
            <a:ext cx="8366760" cy="1120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Coortes com </a:t>
            </a:r>
            <a:r>
              <a:rPr sz="1800" b="1" i="0">
                <a:solidFill>
                  <a:srgbClr val="1F2433"/>
                </a:solidFill>
                <a:latin typeface="Arial"/>
              </a:rPr>
              <a:t>aferição objetiva da exposição</a:t>
            </a:r>
            <a:r>
              <a:rPr sz="1800" b="0" i="0">
                <a:solidFill>
                  <a:srgbClr val="1F2433"/>
                </a:solidFill>
                <a:latin typeface="Arial"/>
              </a:rPr>
              <a:t> (PM2,5, COV, tempo de dispositivo) e controle de coexposições e tabagismo.</a:t>
            </a:r>
          </a:p>
        </p:txBody>
      </p:sp>
      <p:sp>
        <p:nvSpPr>
          <p:cNvPr id="13" name="Oval 12"/>
          <p:cNvSpPr/>
          <p:nvPr/>
        </p:nvSpPr>
        <p:spPr>
          <a:xfrm>
            <a:off x="1463039" y="443484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4" name="icone list" descr="lis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7350" y="4629150"/>
            <a:ext cx="388620" cy="3886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514600" y="4411980"/>
            <a:ext cx="83667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Definições padronizadas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841748"/>
            <a:ext cx="8366760" cy="1120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Sintoma-índice, recordatório e </a:t>
            </a:r>
            <a:r>
              <a:rPr sz="1800" b="1" i="0">
                <a:solidFill>
                  <a:srgbClr val="1F2433"/>
                </a:solidFill>
                <a:latin typeface="Arial"/>
              </a:rPr>
              <a:t>instrumentos validados</a:t>
            </a:r>
            <a:r>
              <a:rPr sz="1800" b="0" i="0">
                <a:solidFill>
                  <a:srgbClr val="1F2433"/>
                </a:solidFill>
                <a:latin typeface="Arial"/>
              </a:rPr>
              <a:t>, com taxa de resposta relatada.</a:t>
            </a:r>
          </a:p>
        </p:txBody>
      </p:sp>
      <p:sp>
        <p:nvSpPr>
          <p:cNvPr id="17" name="Oval 16"/>
          <p:cNvSpPr/>
          <p:nvPr/>
        </p:nvSpPr>
        <p:spPr>
          <a:xfrm>
            <a:off x="1463039" y="610362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8" name="icone dna" descr="dna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7350" y="6297930"/>
            <a:ext cx="388620" cy="3886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14600" y="6080760"/>
            <a:ext cx="83667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Desfechos crônicos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6510528"/>
            <a:ext cx="8366760" cy="1120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Incidência de </a:t>
            </a:r>
            <a:r>
              <a:rPr sz="1800" b="1" i="0">
                <a:solidFill>
                  <a:srgbClr val="1F2433"/>
                </a:solidFill>
                <a:latin typeface="Arial"/>
              </a:rPr>
              <a:t>câncer e DPOC</a:t>
            </a:r>
            <a:r>
              <a:rPr sz="1800" b="0" i="0">
                <a:solidFill>
                  <a:srgbClr val="1F2433"/>
                </a:solidFill>
                <a:latin typeface="Arial"/>
              </a:rPr>
              <a:t>; seguimento de mucosa nasal, HPV e função pulmonar.</a:t>
            </a:r>
          </a:p>
        </p:txBody>
      </p:sp>
      <p:sp>
        <p:nvSpPr>
          <p:cNvPr id="21" name="Oval 20"/>
          <p:cNvSpPr/>
          <p:nvPr/>
        </p:nvSpPr>
        <p:spPr>
          <a:xfrm>
            <a:off x="1463039" y="7772400"/>
            <a:ext cx="777240" cy="77724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2" name="icone fan" descr="fa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7350" y="7966710"/>
            <a:ext cx="388620" cy="3886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14600" y="7749540"/>
            <a:ext cx="83667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Efetividade das medidas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8179308"/>
            <a:ext cx="8366760" cy="11201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800" b="0" i="0">
                <a:solidFill>
                  <a:srgbClr val="1F2433"/>
                </a:solidFill>
                <a:latin typeface="Arial"/>
              </a:rPr>
              <a:t>Intervenção com </a:t>
            </a:r>
            <a:r>
              <a:rPr sz="1800" b="1" i="0">
                <a:solidFill>
                  <a:srgbClr val="1F2433"/>
                </a:solidFill>
                <a:latin typeface="Arial"/>
              </a:rPr>
              <a:t>exaustão local, N95/PFF2 e educação</a:t>
            </a:r>
            <a:r>
              <a:rPr sz="1800" b="0" i="0">
                <a:solidFill>
                  <a:srgbClr val="1F2433"/>
                </a:solidFill>
                <a:latin typeface="Arial"/>
              </a:rPr>
              <a:t>, medindo a exposição antes e depois.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75720" y="1783080"/>
            <a:ext cx="6309359" cy="7955280"/>
          </a:xfrm>
          <a:prstGeom prst="roundRect">
            <a:avLst>
              <a:gd name="adj" fmla="val 6000"/>
            </a:avLst>
          </a:prstGeom>
          <a:solidFill>
            <a:srgbClr val="FBF5E3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795760" y="2057400"/>
            <a:ext cx="5669279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Para este trabalho</a:t>
            </a:r>
          </a:p>
        </p:txBody>
      </p:sp>
      <p:pic>
        <p:nvPicPr>
          <p:cNvPr id="27" name="icone upload" descr="upload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95760" y="2816352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0" y="2743200"/>
            <a:ext cx="4937759" cy="1197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Submissão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do manuscrito a periódico indexado (versão final v5).</a:t>
            </a:r>
          </a:p>
        </p:txBody>
      </p:sp>
      <p:pic>
        <p:nvPicPr>
          <p:cNvPr id="29" name="icone calendar" descr="calendar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95760" y="4151376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27280" y="4078224"/>
            <a:ext cx="4937759" cy="1197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Atualização da busca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e vigilância dos 6 relatórios não recuperados.</a:t>
            </a:r>
          </a:p>
        </p:txBody>
      </p:sp>
      <p:pic>
        <p:nvPicPr>
          <p:cNvPr id="31" name="icone people" descr="peopl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95760" y="548640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527280" y="5413248"/>
            <a:ext cx="4937759" cy="1197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Duplicata: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triagem e extração com segundo revisor independente.</a:t>
            </a:r>
          </a:p>
        </p:txBody>
      </p:sp>
      <p:pic>
        <p:nvPicPr>
          <p:cNvPr id="33" name="icone hospital" descr="hospital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95760" y="6821424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527280" y="6748272"/>
            <a:ext cx="4937759" cy="1197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Devolutiva institucional: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protocolo de proteção no centro cirúrgico.</a:t>
            </a:r>
          </a:p>
        </p:txBody>
      </p:sp>
      <p:pic>
        <p:nvPicPr>
          <p:cNvPr id="35" name="icone graduation" descr="graduation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795760" y="8156448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0" y="8083296"/>
            <a:ext cx="4937759" cy="11978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sz="1700" b="1" i="0">
                <a:solidFill>
                  <a:srgbClr val="1F2433"/>
                </a:solidFill>
                <a:latin typeface="Arial"/>
              </a:rPr>
              <a:t>Formação </a:t>
            </a:r>
            <a:r>
              <a:rPr sz="1700" b="0" i="0">
                <a:solidFill>
                  <a:srgbClr val="1F2433"/>
                </a:solidFill>
                <a:latin typeface="Arial"/>
              </a:rPr>
              <a:t>em síntese de evidências, do protocolo ao GRADE.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REFERÊNCIAS BIBLIOGRÁFICAS</a:t>
            </a:r>
          </a:p>
        </p:txBody>
      </p:sp>
      <p:sp>
        <p:nvSpPr>
          <p:cNvPr id="6" name="Subtítulo"/>
          <p:cNvSpPr txBox="1"/>
          <p:nvPr/>
        </p:nvSpPr>
        <p:spPr>
          <a:xfrm>
            <a:off x="1143000" y="1097280"/>
            <a:ext cx="141732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2400" b="1" i="0">
                <a:solidFill>
                  <a:srgbClr val="002060"/>
                </a:solidFill>
                <a:latin typeface="Arial"/>
              </a:rPr>
              <a:t>Principais referências metodológicas e dos estudos incluídos (lista completa no manuscrito)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8046719" cy="57149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PAGE, M. J. et al. The PRISMA 2020 statement: an updated guideline for reporting systematic reviews. BMJ, v. 372, n71, 2021.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BARKER, T. H. et al. Conducting proportional meta-analysis in different types of systematic reviews: a guide for synthesisers of evidence. BMC Med Res Methodol, v. 21, p. 189, 2021.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INTHOUT, J.; IOANNIDIS, J. P. A.; BORM, G. F. The Hartung-Knapp-Sidik-Jonkman method for random effects meta-analysis is straightforward and considerably outperforms the standard DerSimonian-Laird method. BMC Med Res Methodol, v. 14, p. 25, 2014.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RILEY, R. D.; HIGGINS, J. P. T.; DEEKS, J. J. Interpretation of random effects meta-analyses. BMJ, v. 342, d549, 2011.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AROMATARIS, E.; MUNN, Z. (Ed.). JBI Manual for Evidence Synthesis. Adelaide: JBI, 2020.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MUNN, Z. et al. Methodological guidance for systematic reviews of observational epidemiological studies reporting prevalence and cumulative incidence data. Int J Evid Based Healthc, v. 13, n. 3, p. 147-153, 2015.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BRASIL. Ministério da Saúde. Diretrizes metodológicas: Sistema GRADE. Brasília: Ministério da Saúde, 2014.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HURST, R. D.; STEWART, C. L. Hazards of surgical smoke from electrocautery: a critical review of the data. Am J Surg, v. 233, p. 29-36, 2024.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59" y="1783080"/>
            <a:ext cx="8046719" cy="57149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BENAIM, E. H.; JASPERS, I. Surgical smoke and its components, effects, and mitigation: a contemporary review. Toxicol Sci, v. 198, n. 2, p. 157-168, 2024.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DIXON, K.; DASGUPTA, P.; VASDEV, N. A systematic review of the harmful effects of surgical smoke inhalation on operating room personnel. Health Sci Rev, v. 6, 100077, 2023.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İLÇE, A.; YUZDEN, G. E.; VAN GIERSBERGEN, M. Y. The examination of problems experienced by nurses and doctors associated with exposure to surgical smoke and the necessary precautions. J Clin Nurs, v. 26, p. 1555-1561, 2017.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BIENIEK, A. A. et al. Risco ocupacional: sinais e sintomas relacionados à exposição à fumaça cirúrgica. Rev SOBECC, v. 27, 2022.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HU, X. et al. Prevalence of HPV infections in surgical smoke exposed gynecologists. Int Arch Occup Environ Health, v. 94, n. 1, p. 107-115, 2021.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IBRAHIM, J. B. et al. Evaluation of spirometric lung function among healthcare professionals working in operating theatres: a comparative cross-sectional study. Afr J Thorac Crit Care Med, v. 31, n. 2, e2639, 2025.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NAVARRO, M. C. et al. Cambios en la mucosa nasal de los médicos por exposición al humo por electrocoagulación. Rev Fac Nac Salud Pública, v. 34, n. 2, p. 135-144, 2016.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CANICOBA, A. R. B. Impacto da exposição ocupacional à fumaça cirúrgica sobre os marcadores biológicos de profissionais de saúde da sala operatória. Tese (Doutorado). EE-USP, 2025.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7772400"/>
            <a:ext cx="16642080" cy="196596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0" name="QR code OSF" descr="qr_osf_jktm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4839" y="7955279"/>
            <a:ext cx="1600200" cy="1600200"/>
          </a:xfrm>
          <a:prstGeom prst="rect">
            <a:avLst/>
          </a:prstGeom>
        </p:spPr>
      </p:pic>
      <p:pic>
        <p:nvPicPr>
          <p:cNvPr id="11" name="icone file" descr="fi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8435340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7440" y="8001000"/>
            <a:ext cx="13213080" cy="1508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sz="2200" b="1" i="0">
                <a:solidFill>
                  <a:srgbClr val="002060"/>
                </a:solidFill>
                <a:latin typeface="Arial"/>
              </a:rPr>
              <a:t>Manuscrito completo, anexos e suplementos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0" i="0">
                <a:solidFill>
                  <a:srgbClr val="1F2433"/>
                </a:solidFill>
                <a:latin typeface="Arial"/>
              </a:rPr>
              <a:t>Aponte a câmera do celular para o QR code  ·  </a:t>
            </a:r>
            <a:r>
              <a:rPr sz="1700" b="1" i="0">
                <a:solidFill>
                  <a:srgbClr val="002060"/>
                </a:solidFill>
                <a:latin typeface="Arial"/>
              </a:rPr>
              <a:t>osf.io/jktmn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None/>
            </a:pPr>
            <a:r>
              <a:rPr sz="1700" b="0" i="0">
                <a:solidFill>
                  <a:srgbClr val="5A6270"/>
                </a:solidFill>
                <a:latin typeface="Arial"/>
              </a:rPr>
              <a:t>Planilhas de extração, código em Python, figuras em alta resolução e material complementar.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lano de fundo do modelo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sp>
        <p:nvSpPr>
          <p:cNvPr id="3" name="Retângulo branco (modelo)"/>
          <p:cNvSpPr/>
          <p:nvPr/>
        </p:nvSpPr>
        <p:spPr>
          <a:xfrm>
            <a:off x="15888345" y="279974"/>
            <a:ext cx="2362200" cy="863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Logo SEM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0" y="279974"/>
            <a:ext cx="2512314" cy="1234862"/>
          </a:xfrm>
          <a:prstGeom prst="rect">
            <a:avLst/>
          </a:prstGeom>
        </p:spPr>
      </p:pic>
      <p:sp>
        <p:nvSpPr>
          <p:cNvPr id="5" name="Título da seção"/>
          <p:cNvSpPr txBox="1"/>
          <p:nvPr/>
        </p:nvSpPr>
        <p:spPr>
          <a:xfrm>
            <a:off x="1143000" y="558224"/>
            <a:ext cx="10058400" cy="584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sz="3200" b="0" i="0">
                <a:solidFill>
                  <a:srgbClr val="000000"/>
                </a:solidFill>
                <a:latin typeface="Arial"/>
              </a:rPr>
              <a:t>AGRADECIMENTOS</a:t>
            </a:r>
          </a:p>
        </p:txBody>
      </p:sp>
      <p:pic>
        <p:nvPicPr>
          <p:cNvPr id="6" name="icone handshake" descr="handshak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19" y="18288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971800"/>
            <a:ext cx="16642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3600" b="1" i="0">
                <a:solidFill>
                  <a:srgbClr val="002060"/>
                </a:solidFill>
                <a:latin typeface="Arial"/>
              </a:rPr>
              <a:t>Muito obrigado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3931920"/>
            <a:ext cx="5364480" cy="30175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3390900" y="4251959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0" name="icone graduation" descr="graduatio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8070" y="4469129"/>
            <a:ext cx="434340" cy="4343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5257800"/>
            <a:ext cx="47243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Orientadora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715000"/>
            <a:ext cx="4724399" cy="914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Profa. Lisie Tocci Justo, pela orientação, supervisão metodológica e revisão crítica.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81799" y="3931920"/>
            <a:ext cx="5364480" cy="30175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029700" y="4251959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15" name="icone people" descr="peopl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6869" y="4469129"/>
            <a:ext cx="434340" cy="4343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01839" y="5257800"/>
            <a:ext cx="47243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Coautores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1839" y="5715000"/>
            <a:ext cx="4724399" cy="914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Luiz Henrique Ledesma Pereira (SLMandic Araras) e Dra. Mariana Matera Veras (LIM05, HC-FMUSP), pela interpretação dos resultados e revisão crítica.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20599" y="3931920"/>
            <a:ext cx="5364480" cy="30175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4668499" y="4251959"/>
            <a:ext cx="868680" cy="86868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/>
        </p:txBody>
      </p:sp>
      <p:pic>
        <p:nvPicPr>
          <p:cNvPr id="20" name="icone hospital" descr="hospital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85669" y="4469129"/>
            <a:ext cx="434340" cy="4343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740639" y="5257800"/>
            <a:ext cx="4724399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sz="1900" b="1" i="0">
                <a:solidFill>
                  <a:srgbClr val="002060"/>
                </a:solidFill>
                <a:latin typeface="Arial"/>
              </a:rPr>
              <a:t>Instituição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40639" y="5715000"/>
            <a:ext cx="4724399" cy="9143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buNone/>
            </a:pPr>
            <a:r>
              <a:rPr sz="1500" b="0" i="0">
                <a:solidFill>
                  <a:srgbClr val="1F2433"/>
                </a:solidFill>
                <a:latin typeface="Arial"/>
              </a:rPr>
              <a:t>Faculdade São Leopoldo Mandic Araras e Programa de Iniciação Científica (PIC), na modalidade voluntária, pelo apoio institucional e metodológico.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7223759"/>
            <a:ext cx="16642080" cy="2514600"/>
          </a:xfrm>
          <a:prstGeom prst="roundRect">
            <a:avLst>
              <a:gd name="adj" fmla="val 6000"/>
            </a:avLst>
          </a:prstGeom>
          <a:solidFill>
            <a:srgbClr val="E6EBF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63040" y="7406640"/>
            <a:ext cx="16002000" cy="2148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Registro PROSPERO: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CRD420251238727   ·   </a:t>
            </a:r>
            <a:r>
              <a:rPr sz="1600" b="1" i="0">
                <a:solidFill>
                  <a:srgbClr val="002060"/>
                </a:solidFill>
                <a:latin typeface="Arial"/>
              </a:rPr>
              <a:t>Manuscrito, dados e código: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osf.io/jktmn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Financiamento: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nenhum   ·   </a:t>
            </a:r>
            <a:r>
              <a:rPr sz="1600" b="1" i="0">
                <a:solidFill>
                  <a:srgbClr val="002060"/>
                </a:solidFill>
                <a:latin typeface="Arial"/>
              </a:rPr>
              <a:t>Conflitos de interesse: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nenhum   ·   </a:t>
            </a:r>
            <a:r>
              <a:rPr sz="1600" b="1" i="0">
                <a:solidFill>
                  <a:srgbClr val="002060"/>
                </a:solidFill>
                <a:latin typeface="Arial"/>
              </a:rPr>
              <a:t>Dispensa do CEP: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protocolo 2025/0743 (Res. CNS 510/2016)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buNone/>
            </a:pPr>
            <a:r>
              <a:rPr sz="1600" b="1" i="0">
                <a:solidFill>
                  <a:srgbClr val="002060"/>
                </a:solidFill>
                <a:latin typeface="Arial"/>
              </a:rPr>
              <a:t>Contato: </a:t>
            </a:r>
            <a:r>
              <a:rPr sz="1600" b="0" i="0">
                <a:solidFill>
                  <a:srgbClr val="1F2433"/>
                </a:solidFill>
                <a:latin typeface="Arial"/>
              </a:rPr>
              <a:t>theo.baccaro@med.slmandic.edu.br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57</Words>
  <Application>Microsoft Office PowerPoint</Application>
  <PresentationFormat>Personalizar</PresentationFormat>
  <Paragraphs>18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 Carolina da Cruz Alves</dc:creator>
  <cp:lastModifiedBy>Flávia Alves</cp:lastModifiedBy>
  <cp:revision>4</cp:revision>
  <dcterms:created xsi:type="dcterms:W3CDTF">2006-08-16T00:00:00Z</dcterms:created>
  <dcterms:modified xsi:type="dcterms:W3CDTF">2026-10-02T15:48:53Z</dcterms:modified>
  <dc:identifier>DAGzoUEXYuM</dc:identifier>
</cp:coreProperties>
</file>