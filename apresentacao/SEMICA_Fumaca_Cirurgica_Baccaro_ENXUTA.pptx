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8" r:id="rId2"/>
    <p:sldId id="261" r:id="rId10"/>
    <p:sldId id="262" r:id="rId11"/>
    <p:sldId id="263" r:id="rId8"/>
    <p:sldId id="264" r:id="rId7"/>
    <p:sldId id="265" r:id="rId6"/>
    <p:sldId id="266" r:id="rId5"/>
    <p:sldId id="267" r:id="rId4"/>
    <p:sldId id="268" r:id="rId3"/>
    <p:sldId id="269" r:id="rId18"/>
    <p:sldId id="270" r:id="rId19"/>
    <p:sldId id="271" r:id="rId20"/>
    <p:sldId id="272" r:id="rId21"/>
    <p:sldId id="273" r:id="rId22"/>
    <p:sldId id="260" r:id="rId12"/>
    <p:sldId id="274" r:id="rId23"/>
    <p:sldId id="275" r:id="rId24"/>
    <p:sldId id="276" r:id="rId25"/>
    <p:sldId id="277" r:id="rId26"/>
    <p:sldId id="278" r:id="rId27"/>
    <p:sldId id="279" r:id="rId28"/>
    <p:sldId id="280" r:id="rId29"/>
    <p:sldId id="281" r:id="rId30"/>
    <p:sldId id="282" r:id="rId31"/>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01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2.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ávia Alves" userId="b26f7b41b6da3d18" providerId="LiveId" clId="{48279B96-E656-47C8-AE37-55BD5486B1B4}"/>
    <pc:docChg chg="modSld">
      <pc:chgData name="Flávia Alves" userId="b26f7b41b6da3d18" providerId="LiveId" clId="{48279B96-E656-47C8-AE37-55BD5486B1B4}" dt="2026-10-02T15:48:52.725" v="25" actId="20577"/>
      <pc:docMkLst>
        <pc:docMk/>
      </pc:docMkLst>
      <pc:sldChg chg="modSp mod">
        <pc:chgData name="Flávia Alves" userId="b26f7b41b6da3d18" providerId="LiveId" clId="{48279B96-E656-47C8-AE37-55BD5486B1B4}" dt="2026-10-02T15:48:52.725" v="25" actId="20577"/>
        <pc:sldMkLst>
          <pc:docMk/>
          <pc:sldMk cId="0" sldId="258"/>
        </pc:sldMkLst>
        <pc:spChg chg="mod">
          <ac:chgData name="Flávia Alves" userId="b26f7b41b6da3d18" providerId="LiveId" clId="{48279B96-E656-47C8-AE37-55BD5486B1B4}" dt="2026-10-02T15:48:52.725" v="25" actId="20577"/>
          <ac:spMkLst>
            <pc:docMk/>
            <pc:sldMk cId="0" sldId="258"/>
            <ac:spMk id="5" creationId="{13EED535-3E35-9C1D-2B6B-5464675B12C6}"/>
          </ac:spMkLst>
        </pc:spChg>
        <pc:spChg chg="mod">
          <ac:chgData name="Flávia Alves" userId="b26f7b41b6da3d18" providerId="LiveId" clId="{48279B96-E656-47C8-AE37-55BD5486B1B4}" dt="2026-10-02T15:47:38.326" v="12" actId="20577"/>
          <ac:spMkLst>
            <pc:docMk/>
            <pc:sldMk cId="0" sldId="258"/>
            <ac:spMk id="7" creationId="{17DF7FDA-FA4B-CFC4-F048-39EA88B7B7C3}"/>
          </ac:spMkLst>
        </pc:spChg>
      </pc:sldChg>
      <pc:sldChg chg="modSp mod">
        <pc:chgData name="Flávia Alves" userId="b26f7b41b6da3d18" providerId="LiveId" clId="{48279B96-E656-47C8-AE37-55BD5486B1B4}" dt="2026-10-02T15:47:14.136" v="11" actId="20577"/>
        <pc:sldMkLst>
          <pc:docMk/>
          <pc:sldMk cId="43250430" sldId="260"/>
        </pc:sldMkLst>
        <pc:spChg chg="mod">
          <ac:chgData name="Flávia Alves" userId="b26f7b41b6da3d18" providerId="LiveId" clId="{48279B96-E656-47C8-AE37-55BD5486B1B4}" dt="2026-10-02T15:47:14.136" v="11" actId="20577"/>
          <ac:spMkLst>
            <pc:docMk/>
            <pc:sldMk cId="43250430" sldId="260"/>
            <ac:spMk id="10" creationId="{F7C5D084-7D27-940F-6996-698E06882E08}"/>
          </ac:spMkLst>
        </pc:spChg>
      </pc:sldChg>
      <pc:sldChg chg="modSp mod">
        <pc:chgData name="Flávia Alves" userId="b26f7b41b6da3d18" providerId="LiveId" clId="{48279B96-E656-47C8-AE37-55BD5486B1B4}" dt="2026-10-02T15:47:01.268" v="10" actId="1035"/>
        <pc:sldMkLst>
          <pc:docMk/>
          <pc:sldMk cId="333493163" sldId="280"/>
        </pc:sldMkLst>
        <pc:spChg chg="mod">
          <ac:chgData name="Flávia Alves" userId="b26f7b41b6da3d18" providerId="LiveId" clId="{48279B96-E656-47C8-AE37-55BD5486B1B4}" dt="2026-10-02T15:46:56.449" v="8" actId="14100"/>
          <ac:spMkLst>
            <pc:docMk/>
            <pc:sldMk cId="333493163" sldId="280"/>
            <ac:spMk id="3" creationId="{D367EA2F-EAAF-7687-9AFE-7DBE4216341E}"/>
          </ac:spMkLst>
        </pc:spChg>
        <pc:picChg chg="mod">
          <ac:chgData name="Flávia Alves" userId="b26f7b41b6da3d18" providerId="LiveId" clId="{48279B96-E656-47C8-AE37-55BD5486B1B4}" dt="2026-10-02T15:47:01.268" v="10" actId="1035"/>
          <ac:picMkLst>
            <pc:docMk/>
            <pc:sldMk cId="333493163" sldId="280"/>
            <ac:picMk id="2" creationId="{1E344D4C-B05B-36E8-6A59-3414AE69FCF3}"/>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Registros</c:v>
                </c:pt>
              </c:strCache>
            </c:strRef>
          </c:tx>
          <c:spPr>
            <a:solidFill>
              <a:srgbClr val="002060"/>
            </a:solidFill>
          </c:spPr>
          <c:dLbls>
            <c:dLbl>
              <c:idx val="0"/>
              <c:tx>
                <c:rich>
                  <a:bodyPr/>
                  <a:lstStyle/>
                  <a:p>
                    <a:r>
                      <a:rPr sz="1400">
                        <a:solidFill>
                          <a:srgbClr val="1F2433"/>
                        </a:solidFill>
                        <a:latin typeface="Arial"/>
                      </a:rPr>
                      <a:t>4.522</a:t>
                    </a:r>
                  </a:p>
                </c:rich>
              </c:tx>
              <c:dLblPos val="outEnd"/>
              <c:showLegendKey val="0"/>
              <c:showVal val="1"/>
              <c:showCatName val="0"/>
              <c:showSerName val="0"/>
              <c:showPercent val="0"/>
              <c:showBubbleSize val="0"/>
            </c:dLbl>
            <c:dLbl>
              <c:idx val="1"/>
              <c:tx>
                <c:rich>
                  <a:bodyPr/>
                  <a:lstStyle/>
                  <a:p>
                    <a:r>
                      <a:rPr sz="1400">
                        <a:solidFill>
                          <a:srgbClr val="1F2433"/>
                        </a:solidFill>
                        <a:latin typeface="Arial"/>
                      </a:rPr>
                      <a:t>4.660</a:t>
                    </a:r>
                  </a:p>
                </c:rich>
              </c:tx>
              <c:dLblPos val="outEnd"/>
              <c:showLegendKey val="0"/>
              <c:showVal val="1"/>
              <c:showCatName val="0"/>
              <c:showSerName val="0"/>
              <c:showPercent val="0"/>
              <c:showBubbleSize val="0"/>
            </c:dLbl>
            <c:dLbl>
              <c:idx val="2"/>
              <c:tx>
                <c:rich>
                  <a:bodyPr/>
                  <a:lstStyle/>
                  <a:p>
                    <a:r>
                      <a:rPr sz="1400">
                        <a:solidFill>
                          <a:srgbClr val="1F2433"/>
                        </a:solidFill>
                        <a:latin typeface="Arial"/>
                      </a:rPr>
                      <a:t>3.629</a:t>
                    </a:r>
                  </a:p>
                </c:rich>
              </c:tx>
              <c:dLblPos val="outEnd"/>
              <c:showLegendKey val="0"/>
              <c:showVal val="1"/>
              <c:showCatName val="0"/>
              <c:showSerName val="0"/>
              <c:showPercent val="0"/>
              <c:showBubbleSize val="0"/>
            </c:dLbl>
            <c:dLbl>
              <c:idx val="3"/>
              <c:tx>
                <c:rich>
                  <a:bodyPr/>
                  <a:lstStyle/>
                  <a:p>
                    <a:r>
                      <a:rPr sz="1400">
                        <a:solidFill>
                          <a:srgbClr val="1F2433"/>
                        </a:solidFill>
                        <a:latin typeface="Arial"/>
                      </a:rPr>
                      <a:t>2.639</a:t>
                    </a:r>
                  </a:p>
                </c:rich>
              </c:tx>
              <c:dLblPos val="outEnd"/>
              <c:showLegendKey val="0"/>
              <c:showVal val="1"/>
              <c:showCatName val="0"/>
              <c:showSerName val="0"/>
              <c:showPercent val="0"/>
              <c:showBubbleSize val="0"/>
            </c:dLbl>
            <c:dLbl>
              <c:idx val="4"/>
              <c:tx>
                <c:rich>
                  <a:bodyPr/>
                  <a:lstStyle/>
                  <a:p>
                    <a:r>
                      <a:rPr sz="1400">
                        <a:solidFill>
                          <a:srgbClr val="1F2433"/>
                        </a:solidFill>
                        <a:latin typeface="Arial"/>
                      </a:rPr>
                      <a:t>1.229</a:t>
                    </a:r>
                  </a:p>
                </c:rich>
              </c:tx>
              <c:dLblPos val="outEnd"/>
              <c:showLegendKey val="0"/>
              <c:showVal val="1"/>
              <c:showCatName val="0"/>
              <c:showSerName val="0"/>
              <c:showPercent val="0"/>
              <c:showBubbleSize val="0"/>
            </c:dLbl>
            <c:dLbl>
              <c:idx val="5"/>
              <c:tx>
                <c:rich>
                  <a:bodyPr/>
                  <a:lstStyle/>
                  <a:p>
                    <a:r>
                      <a:rPr sz="1400">
                        <a:solidFill>
                          <a:srgbClr val="1F2433"/>
                        </a:solidFill>
                        <a:latin typeface="Arial"/>
                      </a:rPr>
                      <a:t>50</a:t>
                    </a:r>
                  </a:p>
                </c:rich>
              </c:tx>
              <c:dLblPos val="outEnd"/>
              <c:showLegendKey val="0"/>
              <c:showVal val="1"/>
              <c:showCatName val="0"/>
              <c:showSerName val="0"/>
              <c:showPercent val="0"/>
              <c:showBubbleSize val="0"/>
            </c:dLbl>
            <c:dLbl>
              <c:idx val="6"/>
              <c:tx>
                <c:rich>
                  <a:bodyPr/>
                  <a:lstStyle/>
                  <a:p>
                    <a:r>
                      <a:rPr sz="1400">
                        <a:solidFill>
                          <a:srgbClr val="1F2433"/>
                        </a:solidFill>
                        <a:latin typeface="Arial"/>
                      </a:rPr>
                      <a:t>28</a:t>
                    </a:r>
                  </a:p>
                </c:rich>
              </c:tx>
              <c:dLblPos val="outEnd"/>
              <c:showLegendKey val="0"/>
              <c:showVal val="1"/>
              <c:showCatName val="0"/>
              <c:showSerName val="0"/>
              <c:showPercent val="0"/>
              <c:showBubbleSize val="0"/>
            </c:dLbl>
            <c:dLbl>
              <c:idx val="7"/>
              <c:tx>
                <c:rich>
                  <a:bodyPr/>
                  <a:lstStyle/>
                  <a:p>
                    <a:r>
                      <a:rPr sz="1400">
                        <a:solidFill>
                          <a:srgbClr val="1F2433"/>
                        </a:solidFill>
                        <a:latin typeface="Arial"/>
                      </a:rPr>
                      <a:t>0</a:t>
                    </a:r>
                  </a:p>
                </c:rich>
              </c:tx>
              <c:dLblPos val="outEnd"/>
              <c:showLegendKey val="0"/>
              <c:showVal val="1"/>
              <c:showCatName val="0"/>
              <c:showSerName val="0"/>
              <c:showPercent val="0"/>
              <c:showBubbleSize val="0"/>
            </c:dLbl>
            <c:dLbl>
              <c:idx val="8"/>
              <c:tx>
                <c:rich>
                  <a:bodyPr/>
                  <a:lstStyle/>
                  <a:p>
                    <a:r>
                      <a:rPr sz="1400">
                        <a:solidFill>
                          <a:srgbClr val="1F2433"/>
                        </a:solidFill>
                        <a:latin typeface="Arial"/>
                      </a:rPr>
                      <a:t>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PubMed/MEDLINE</c:v>
                </c:pt>
                <c:pt idx="1">
                  <c:v>Embase</c:v>
                </c:pt>
                <c:pt idx="2">
                  <c:v>Web of Science</c:v>
                </c:pt>
                <c:pt idx="3">
                  <c:v>Scopus</c:v>
                </c:pt>
                <c:pt idx="4">
                  <c:v>BVS (LILACS/IBECS)</c:v>
                </c:pt>
                <c:pt idx="5">
                  <c:v>Google Scholar</c:v>
                </c:pt>
                <c:pt idx="6">
                  <c:v>SciELO</c:v>
                </c:pt>
                <c:pt idx="7">
                  <c:v>Cochrane CENTRAL</c:v>
                </c:pt>
                <c:pt idx="8">
                  <c:v>Catálogo CAPES</c:v>
                </c:pt>
              </c:strCache>
            </c:strRef>
          </c:cat>
          <c:val>
            <c:numRef>
              <c:f>Sheet1!$B$2:$B$10</c:f>
              <c:numCache>
                <c:formatCode>General</c:formatCode>
                <c:ptCount val="9"/>
                <c:pt idx="0">
                  <c:v>4522</c:v>
                </c:pt>
                <c:pt idx="1">
                  <c:v>4660</c:v>
                </c:pt>
                <c:pt idx="2">
                  <c:v>3629</c:v>
                </c:pt>
                <c:pt idx="3">
                  <c:v>2639</c:v>
                </c:pt>
                <c:pt idx="4">
                  <c:v>1229</c:v>
                </c:pt>
                <c:pt idx="5">
                  <c:v>50</c:v>
                </c:pt>
                <c:pt idx="6">
                  <c:v>28</c:v>
                </c:pt>
                <c:pt idx="7">
                  <c:v>0</c:v>
                </c:pt>
                <c:pt idx="8">
                  <c:v>0</c:v>
                </c:pt>
              </c:numCache>
            </c:numRef>
          </c:val>
        </c:ser>
        <c:dLbls>
          <c:numFmt formatCode="#,##0" sourceLinked="0"/>
          <c:txPr>
            <a:bodyPr/>
            <a:lstStyle/>
            <a:p>
              <a:pPr>
                <a:defRPr sz="1400">
                  <a:solidFill>
                    <a:srgbClr val="1F2433"/>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400">
                <a:latin typeface="Arial"/>
              </a:defRPr>
            </a:pPr>
          </a:p>
        </c:txPr>
        <c:crossAx val="-2113994440"/>
        <c:crosses val="autoZero"/>
        <c:auto val="1"/>
        <c:lblAlgn val="ctr"/>
        <c:lblOffset val="100"/>
        <c:noMultiLvlLbl val="0"/>
      </c:catAx>
      <c:valAx>
        <c:axId val="-2113994440"/>
        <c:scaling>
          <c:max val="5685.2"/>
        </c:scaling>
        <c:delete/>
        <c:axPos val="b"/>
        <c:majorTickMark val="out"/>
        <c:minorTickMark val="none"/>
        <c:tickLblPos val="nextTo"/>
        <c:crossAx val="-2068027336"/>
        <c:crosses val="autoZero"/>
      </c:valAx>
    </c:plotArea>
    <c:dispBlanksAs val="gap"/>
  </c:chart>
  <c:txPr>
    <a:bodyPr/>
    <a:lstStyle/>
    <a:p>
      <a:pPr>
        <a:defRPr sz="1400">
          <a:solidFill>
            <a:srgbClr val="1F2433"/>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CAPA (~15 s · 31 palavras)</a:t>
            </a:r>
          </a:p>
          <a:p>
            <a:r>
              <a:t>FALA:</a:t>
            </a:r>
          </a:p>
          <a:p>
            <a:r>
              <a:t>Bom dia. Sou Theo Báccaro, de Medicina da São Leopoldo Mandic, orientado pela Profa. Lisie. Apresento nossa revisão sistemática sobre a fumaça cirúrgica e a saúde da equipe do centro cirúrgico.</a:t>
            </a:r>
          </a:p>
          <a:p/>
          <a:p>
            <a:r>
              <a:t>APOIO (não ler):</a:t>
            </a:r>
          </a:p>
          <a:p>
            <a:r>
              <a:t>- Coautores: Luiz Henrique Ledesma Pereira e Dra. Mariana Matera Veras (LIM05, HC-FMUSP).</a:t>
            </a:r>
          </a:p>
          <a:p>
            <a:r>
              <a:t>- Fale o título de forma natural, sem ler palavra por palavra. Respire e avance.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[0:15–1:00] INTRODUÇÃO (~45 s · 83 palavras)</a:t>
            </a:r>
          </a:p>
          <a:p>
            <a:r>
              <a:t>FALA:</a:t>
            </a:r>
          </a:p>
          <a:p>
            <a:r>
              <a:t>Sempre que o eletrocautério, o laser ou o bisturi ultrassônico cortam tecido, formam fumaça. Ela contém benzeno e outros compostos voláteis, partículas ultrafinas e até DNA viral, como o do HPV. A equipe do centro cirúrgico está exposta a essa fumaça no trabalho e relata irritação nos olhos e nas vias aéreas; os efeitos crônicos são plausíveis, mas sem relação causal estabelecida. E as revisões anteriores eram majoritariamente descritivas: faltava combinar os estudos numa estimativa e graduar a certeza. Essa é a lacuna.</a:t>
            </a:r>
          </a:p>
          <a:p/>
          <a:p>
            <a:r>
              <a:t>APOIO (não ler):</a:t>
            </a:r>
          </a:p>
          <a:p>
            <a:r>
              <a:t>- Composição: hidrocarbonetos aromáticos policíclicos, compostos orgânicos voláteis (benzeno, tolueno, xileno), material particulado fino (PM2,5) e ultrafino (&lt; 0,1 µm), material genético viral (Benaim; Jaspers, 2024).</a:t>
            </a:r>
          </a:p>
          <a:p>
            <a:r>
              <a:t>- Controvérsia: Hurst; Stewart (2024) argumentam que o risco pode estar superestimado.</a:t>
            </a:r>
          </a:p>
          <a:p>
            <a:r>
              <a:t>- Revisões anteriores sem síntese quantitativa: Mowbray et al., 2013; Dixon; Dasgupta; Vasdev, 2023.</a:t>
            </a:r>
          </a:p>
          <a:p>
            <a:r>
              <a:t>- A imagem é ilustrativa, gerada por IA (a legenda diz isso).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[1:00–1:25] OBJETIVO (~25 s · 44 palavras)</a:t>
            </a:r>
          </a:p>
          <a:p>
            <a:r>
              <a:t>FALA:</a:t>
            </a:r>
          </a:p>
          <a:p>
            <a:r>
              <a:t>O objetivo foi avaliar os desfechos de saúde associados à exposição ocupacional à fumaça cirúrgica na equipe de centro cirúrgico, em três frentes: a prevalência de sintomas, por metanálise; os desfechos objetivos e biomarcadores, por síntese narrativa; e a certeza da evidência, pelo GRADE.</a:t>
            </a:r>
          </a:p>
          <a:p/>
          <a:p>
            <a:r>
              <a:t>APOIO (não ler):</a:t>
            </a:r>
          </a:p>
          <a:p>
            <a:r>
              <a:t>- PECO, e não PICO, porque é exposição, não intervenção alocada. Para a prevalência, o esquema CoCoPop (Condição, Contexto, População; Munn et al., 2015), recomendado pelo JBI.</a:t>
            </a:r>
          </a:p>
          <a:p>
            <a:r>
              <a:t>- Ocular é o desfecho principal; respiratório é exploratório (definições mais variáveis).</a:t>
            </a:r>
          </a:p>
          <a:p>
            <a:r>
              <a:t>- A conclusão responde a estes três itens, na mesma ordem (1, 2,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[1:25–2:15] MÉTODO EM 7 PASSOS (~50 s · 83 palavras)</a:t>
            </a:r>
          </a:p>
          <a:p>
            <a:r>
              <a:t>FALA:</a:t>
            </a:r>
          </a:p>
          <a:p>
            <a:r>
              <a:t>Para responder, segui sete passos, conforme o PRISMA 2020. Registrei o protocolo no PROSPERO antes da extração. Busquei em sete bases, na literatura cinzenta e por citação, sem filtro de idioma. Li, um a um, 10.910 títulos e resumos. Extraí os dados numa planilha padronizada, avaliei o risco de viés pelo JBI, combinei as prevalências em metanálise e graduei a certeza pelo GRADE. O código e as planilhas estão abertos no OSF, e a IA foi apenas apoio operacional: as decisões foram humanas.</a:t>
            </a:r>
          </a:p>
          <a:p/>
          <a:p>
            <a:r>
              <a:t>APOIO (não ler):</a:t>
            </a:r>
          </a:p>
          <a:p>
            <a:r>
              <a:t>- PROSPERO CRD420251238727; dispensa do CEP (protocolo 2025/0743; Res. CNS 510/2016).</a:t>
            </a:r>
          </a:p>
          <a:p>
            <a:r>
              <a:t>- 7 bases: PubMed/MEDLINE, Embase, Web of Science, Scopus, BVS (LILACS/IBECS), SciELO e Cochrane CENTRAL; cinzenta: Google Scholar (4 × 50 resultados) e Catálogo CAPES; citação: OpenAlex.</a:t>
            </a:r>
          </a:p>
          <a:p>
            <a:r>
              <a:t>- Ferramentas: Zotero 6, Rayyan, OpenAlex, Python 3.13 (NumPy, SciPy, statsmodels).</a:t>
            </a:r>
          </a:p>
          <a:p>
            <a:r>
              <a:t>- IA (declarada, Portaria CNPq nº 2.664/2026): priorização da ordem de leitura, leitura assistida de resumos e organização do fluxo; elegibilidade, extração, interpretação e redação foram decisões humanas.</a:t>
            </a:r>
          </a:p>
          <a:p>
            <a:r>
              <a:t>- Detalhes de elegibilidade e busca: slide de apoio 17.</a:t>
            </a:r>
          </a:p>
          <a:p>
            <a:r>
              <a:t>- As colunas aparecem sozinhas, uma a uma: comece a falar sem esperar.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[2:15–2:50] BUSCA E SELEÇÃO (~35 s · 57 palavras)</a:t>
            </a:r>
          </a:p>
          <a:p>
            <a:r>
              <a:t>FALA:</a:t>
            </a:r>
          </a:p>
          <a:p>
            <a:r>
              <a:t>A busca trouxe 16.757 registros. Sem as duplicatas, li 10.910 títulos e resumos; 32 relatórios foram buscados na íntegra, seis não foram recuperados, 26 foram avaliados e 22 incluídos, de nove países. Um cuidado importante: sete publicações do mesmo grupo tinham amostras sobrepostas, e cada análise usou uma só, para não contar as mesmas pessoas duas vezes.</a:t>
            </a:r>
          </a:p>
          <a:p/>
          <a:p>
            <a:r>
              <a:t>APOIO (não ler):</a:t>
            </a:r>
          </a:p>
          <a:p>
            <a:r>
              <a:t>- Fluxo: 16.757 identificados → 16.749 importados (8 não exportados) → 5.839 duplicatas → 10.910 triados → 10.882 excluídos → 28 + 4 por citação = 32 buscados → 6 não recuperados → 26 avaliados → 4 excluídos (1 resumo sem dados; 3 por população ou contexto) → 22 incluídos.</a:t>
            </a:r>
          </a:p>
          <a:p>
            <a:r>
              <a:t>- 19 transversais e 3 coortes prospectivas; países: Turquia, Malásia, Brasil, Paquistão, China, México, EUA, Sudão e Tailândia.</a:t>
            </a:r>
          </a:p>
          <a:p>
            <a:r>
              <a:t>- Representante do grupo com sobreposição (Paraná): Bieniek et al., 2022, definido antes da síntese.</a:t>
            </a:r>
          </a:p>
          <a:p>
            <a:r>
              <a:t>- Triagem por revisor único: limitação declarada; replicar em duplicata está nas perspectivas.</a:t>
            </a:r>
          </a:p>
          <a:p>
            <a:r>
              <a:t>- Fluxograma PRISMA completo: slide de apoio 18.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[2:50–3:40] COMO OS ESTUDOS FORAM COMBINADOS (~50 s · 91 palavras)</a:t>
            </a:r>
          </a:p>
          <a:p>
            <a:r>
              <a:t>FALA:</a:t>
            </a:r>
          </a:p>
          <a:p>
            <a:r>
              <a:t>Como combinar estudos tão diferentes? Em quatro passos. Primeiro, cada estudo vira uma proporção: no İlçe, 33 de 81 profissionais, 40,7%. Segundo, a escala logito, que mantém o resultado entre zero e cem por cento. Terceiro, um modelo de efeitos aleatórios, porque a prevalência verdadeira muda de um hospital para outro, com ajuste de Hartung-Knapp, mais honesto com poucos estudos. Quarto, o intervalo de predição: o que esperar num novo hospital. Antes, o risco de viés de cada estudo foi avaliado pelo JBI; depois, a certeza de cada desfecho, pelo GRADE.</a:t>
            </a:r>
          </a:p>
          <a:p/>
          <a:p>
            <a:r>
              <a:t>APOIO (não ler):</a:t>
            </a:r>
          </a:p>
          <a:p>
            <a:r>
              <a:t>- Logito = ln[p ÷ (1 − p)]; IC95% de cada estudo pelo método de Wilson; sem 0% ou 100%, não houve correção de continuidade.</a:t>
            </a:r>
          </a:p>
          <a:p>
            <a:r>
              <a:t>- Efeitos aleatórios: τ² (variância entre estudos) por Paule-Mandel; peso = 1 ÷ (variância + τ²). Hartung-Knapp: IC pela distribuição t com k − 1 graus de liberdade (IntHout; Ioannidis; Borm, 2014).</a:t>
            </a:r>
          </a:p>
          <a:p>
            <a:r>
              <a:t>- Intervalo de predição com t (k − 2); instável com menos de 10 estudos.</a:t>
            </a:r>
          </a:p>
          <a:p>
            <a:r>
              <a:t>- Sem teste de Egger nem funil: em proporções o erro-padrão depende da própria proporção, e os testes pedem ≥ 10 estudos.</a:t>
            </a:r>
          </a:p>
          <a:p>
            <a:r>
              <a:t>- GRADE: ponto de partida baixa (observacional); um domínio grave já leva a muito baixa.</a:t>
            </a:r>
          </a:p>
          <a:p>
            <a:r>
              <a:t>- Detalhes: slides de apoio 19 (extração e JBI), 20 (metanálise) e 21 (GRADE).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[3:40–4:35] RESULTADO PRINCIPAL – OCULAR (~55 s · 91 palavras) ← dê tempo a este slide</a:t>
            </a:r>
          </a:p>
          <a:p>
            <a:r>
              <a:t>FALA:</a:t>
            </a:r>
          </a:p>
          <a:p>
            <a:r>
              <a:t>Este é o resultado principal. Em seis estudos, com 756 profissionais, a prevalência combinada de sintoma ocular foi de 37,6%: cerca de quatro em cada dez relataram irritação ou lacrimejamento. Cada quadrado é um estudo; o losango, a estimativa combinada. Os estudos vão de 19%, na Malásia, a 56%, na Turquia, e o I² de 93% mostra que a variação entre estudos vai além do acaso. Por isso, a mensagem mais honesta é o intervalo de predição: num novo hospital, a prevalência pode ficar entre 7 e 83%, conforme o contexto.</a:t>
            </a:r>
          </a:p>
          <a:p/>
          <a:p>
            <a:r>
              <a:t>APOIO (não ler):</a:t>
            </a:r>
          </a:p>
          <a:p>
            <a:r>
              <a:t>- IC95% 21,9–56,5. O intervalo de confiança é sobre a média; o intervalo de predição é sobre um novo estudo.</a:t>
            </a:r>
          </a:p>
          <a:p>
            <a:r>
              <a:t>- É a proporção de expostos que relatou o sintoma, não um efeito causal: não há grupo não exposto no agrupamento.</a:t>
            </a:r>
          </a:p>
          <a:p>
            <a:r>
              <a:t>- O maior inquérito (Van Giersbergen et al., 2019; n = 672) ficou fora do ocular: sem numerador e denominador oculares extraíveis.</a:t>
            </a:r>
          </a:p>
          <a:p>
            <a:r>
              <a:t>- "I² de 93% invalida?": em metanálise de prevalência, I² alto é esperado; por isso o intervalo de predição e a investigação das fontes (país, definição).</a:t>
            </a:r>
          </a:p>
          <a:p>
            <a:r>
              <a:t>- Subgrupo por país (exploratório): Turquia 50,5%; Malásia 19,8%; p &lt; 0,001 entre subgrupos.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[4:35–5:10] SINTOMA RESPIRATÓRIO E ROBUSTEZ (~35 s · 56 palavras) ← aponte a tabela, não leia linha por linha</a:t>
            </a:r>
          </a:p>
          <a:p>
            <a:r>
              <a:t>FALA:</a:t>
            </a:r>
          </a:p>
          <a:p>
            <a:r>
              <a:t>O sintoma respiratório, exploratório, teve prevalência de 41,7%, em sete estudos e 1.428 profissionais. E os resultados são robustos: com três modelos estatísticos diferentes, quase não mudam, no ocular e no respiratório. Com as definições mais específicas, o I² respiratório cai de 91 para 61%: parte da variação vem de como cada estudo definiu o sintoma.</a:t>
            </a:r>
          </a:p>
          <a:p/>
          <a:p>
            <a:r>
              <a:t>APOIO (não ler):</a:t>
            </a:r>
          </a:p>
          <a:p>
            <a:r>
              <a:t>- IC95% 30,4–53,9; intervalo de predição 15–74%; I² = 91%.</a:t>
            </a:r>
          </a:p>
          <a:p>
            <a:r>
              <a:t>- Leave-one-out: ocular 34,3–42,1%; respiratório 38,9–45,5%. Sem o resumo de congresso: 42,1% e 42,4%.</a:t>
            </a:r>
          </a:p>
          <a:p>
            <a:r>
              <a:t>- Só definições específicas: ocular 36,5% (I² 94%); respiratório 35,8% (I² 61%).</a:t>
            </a:r>
          </a:p>
          <a:p>
            <a:r>
              <a:t>- Tabela completa e subgrupo por país: slide de apoio 22.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[5:10–5:55] DESFECHOS OBJETIVOS E BIOMARCADORES (~45 s · 80 palavras)</a:t>
            </a:r>
          </a:p>
          <a:p>
            <a:r>
              <a:t>FALA:</a:t>
            </a:r>
          </a:p>
          <a:p>
            <a:r>
              <a:t>Além dos sintomas, quatro estudos mediram alterações objetivas, e todos apontam na mesma direção. No Sudão, função pulmonar menor nos expostos. No Brasil, o metabólito urinário do benzeno foi mais de quatro vezes maior. No México, metaplasia ou hiperplasia nasal em 70% dos residentes expostos, contra 5%. Na China, DNA de HPV na mucosa nasal cerca de cinco vezes mais frequente. Mas é um estudo por desfecho, a certeza é muito baixa, e nenhum estudo elegível estimou câncer ou DPOC.</a:t>
            </a:r>
          </a:p>
          <a:p/>
          <a:p>
            <a:r>
              <a:t>APOIO (não ler):</a:t>
            </a:r>
          </a:p>
          <a:p>
            <a:r>
              <a:t>- Ibrahim 2025 (92 vs 92 pareados; medianas): VEF1 2,78 vs 3,14 L; CVF 3,02 vs 3,45 L; PFE 327,5 vs 483,5 L/min; p = 0,001; VEF1/CVF ≈ 91% nos dois grupos (não é padrão obstrutivo); gradiente com o tempo de atuação.</a:t>
            </a:r>
          </a:p>
          <a:p>
            <a:r>
              <a:t>- Canicoba 2025 (52 vs 49): ácido t,t-mucônico 202,9 vs 46,1 µg/L (benzeno); metil-hipúrico 468,2 vs 184,4 µg/L (xileno); malondialdeído 9,33 vs 3,22 nmol/mg; sem IC95%; t,t-mucônico é inespecífico (dieta, tabagismo).</a:t>
            </a:r>
          </a:p>
          <a:p>
            <a:r>
              <a:t>- Navarro 2016: 16/23 vs 1/20; RR 13,9 (IC95% 2,0–95,8), IC amplo por 1 evento no grupo não exposto.</a:t>
            </a:r>
          </a:p>
          <a:p>
            <a:r>
              <a:t>- Hu 2021: 42/469 vs 4/231; RR 5,2 (IC95% 1,9–14,2); DNA ≠ infecção ou doença; achado da N95 (0/196) sem ajuste.</a:t>
            </a:r>
          </a:p>
          <a:p>
            <a:r>
              <a:t>- Coexposições (gases anestésicos, radiação) limitam a atribuição. Detalhes: slide de apoio 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[5:55–6:35] DISCUSSÃO (~40 s · 59 palavras)</a:t>
            </a:r>
          </a:p>
          <a:p>
            <a:r>
              <a:t>FALA:</a:t>
            </a:r>
          </a:p>
          <a:p>
            <a:r>
              <a:t>O que o trabalho acrescenta: uma estimativa combinada, com intervalo de predição e certeza graduada, onde antes havia revisões descritivas, com protocolo registrado e análise reproduzível. Como ler: é prevalência em expostos, a carga de sintomas, não o excesso causado pela fumaça. E os limites, todos declarados: estudos transversais, sintomas autorrelatados, heterogeneidade alta e triagem por um único revisor.</a:t>
            </a:r>
          </a:p>
          <a:p/>
          <a:p>
            <a:r>
              <a:t>APOIO (não ler):</a:t>
            </a:r>
          </a:p>
          <a:p>
            <a:r>
              <a:t>- Viés de atribuição: o respondente sabe que o tema é fumaça. Trabalhador sadio: quem adoece sai do centro cirúrgico (subestima).</a:t>
            </a:r>
          </a:p>
          <a:p>
            <a:r>
              <a:t>- Heterogeneidade: definição do sintoma e recordatório, composição profissional, tempo de exposição, exaustão e EPI.</a:t>
            </a:r>
          </a:p>
          <a:p>
            <a:r>
              <a:t>- A favor da causalidade: gradiente com o tempo de exposição, temporalidade (coorte), plausibilidade. Contra: um estudo por desfecho, IC amplos, coexposições.</a:t>
            </a:r>
          </a:p>
          <a:p>
            <a:r>
              <a:t>- Lista completa de pontos fortes e limitações: slide de apoio 24.</a:t>
            </a:r>
          </a:p>
          <a:p>
            <a:r>
              <a:t>- ATITUDE: fale as limitações com segurança; a banca valoriza quem conhece as fraquezas do próprio trabalho.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[6:35–7:10] CONCLUSÃO – RESPOSTA AO OBJETIVO (~35 s · 63 palavras)</a:t>
            </a:r>
          </a:p>
          <a:p>
            <a:r>
              <a:t>FALA:</a:t>
            </a:r>
          </a:p>
          <a:p>
            <a:r>
              <a:t>Respondendo ao objetivo: um, sintomas oculares e respiratórios foram frequentemente relatados, por cerca de quatro em cada dez profissionais, com grande variação entre contextos. Dois, estudos isolados sugerem alterações além do incômodo agudo, sem demonstrar doença crônica. Três, a certeza é muito baixa. Ainda assim, pela carga de sintomas e por precaução, proteger a equipe parece justificado: exaustão na fonte, respiradores e educação.</a:t>
            </a:r>
          </a:p>
          <a:p/>
          <a:p>
            <a:r>
              <a:t>APOIO (não ler):</a:t>
            </a:r>
          </a:p>
          <a:p>
            <a:r>
              <a:t>- Proteção (NIOSH, 1996): a evacuação local na fonte é a medida principal; N95/PFF2 não substituem a exaustão. A efetividade das medidas não foi avaliada nesta revisão.</a:t>
            </a:r>
          </a:p>
          <a:p>
            <a:r>
              <a:t>- NR-32: marco geral de riscos em serviços de saúde, sem regra específica para a fumaça cirúrgica.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[7:10–7:25] PERSPECTIVAS FUTURAS (~15 s · 30 palavras)</a:t>
            </a:r>
          </a:p>
          <a:p>
            <a:r>
              <a:t>FALA:</a:t>
            </a:r>
          </a:p>
          <a:p>
            <a:r>
              <a:t>Faltam coortes com medida objetiva da exposição, estudos sobre câncer e DPOC e sobre a efetividade da proteção. Para este trabalho: submeter o manuscrito e replicar a triagem em duplicata.</a:t>
            </a:r>
          </a:p>
          <a:p/>
          <a:p>
            <a:r>
              <a:t>APOIO (não ler):</a:t>
            </a:r>
          </a:p>
          <a:p>
            <a:r>
              <a:t>- Também: definições padronizadas de sintoma e recordatório, atualização da busca e vigilância dos 6 relatórios não recuperados.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[7:25–7:30] REFERÊNCIAS (~5 s · 9 palavras)</a:t>
            </a:r>
          </a:p>
          <a:p>
            <a:r>
              <a:t>FALA:</a:t>
            </a:r>
          </a:p>
          <a:p>
            <a:r>
              <a:t>As referências e os suplementos estão no QR code.</a:t>
            </a:r>
          </a:p>
          <a:p/>
          <a:p>
            <a:r>
              <a:t>APOIO (não ler):</a:t>
            </a:r>
          </a:p>
          <a:p>
            <a:r>
              <a:t>- Não leia a lista; mencione e avance.</a:t>
            </a:r>
          </a:p>
          <a:p>
            <a:r>
              <a:t>- O QR code leva ao projeto público do OSF (osf.io/jktmn): suplementos, código e planilhas.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[7:30–7:40] AGRADECIMENTOS (~10 s · 17 palavras)</a:t>
            </a:r>
          </a:p>
          <a:p>
            <a:r>
              <a:t>FALA:</a:t>
            </a:r>
          </a:p>
          <a:p>
            <a:r>
              <a:t>Agradeço à Profa. Lisie, aos coautores e à São Leopoldo Mandic. Obrigado; estou à disposição para perguntas.</a:t>
            </a:r>
          </a:p>
          <a:p/>
          <a:p>
            <a:r>
              <a:t>APOIO (não ler):</a:t>
            </a:r>
          </a:p>
          <a:p>
            <a:r>
              <a:t>- Ao dizer "perguntas", AVANCE para o slide 15 (QR code grande) e deixe-o na tela durante a arguição.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ENCERRAMENTO</a:t>
            </a:r>
          </a:p>
          <a:p>
            <a:r>
              <a:t>Deixe este slide na tela durante as perguntas. Ouça a pergunta inteira, repita-a em uma frase e responda em 30 a 40 segundos.</a:t>
            </a:r>
          </a:p>
          <a:p>
            <a:r>
              <a:t>SLIDES DE APOIO (depois deste; no modo de apresentação, digite o número e Enter para ir direto, e 15 + Enter para voltar):</a:t>
            </a:r>
          </a:p>
          <a:p>
            <a:r>
              <a:t>16 Trajetória e aprendizado (se perguntarem como foi a formação ou o que aprendeu)</a:t>
            </a:r>
          </a:p>
          <a:p>
            <a:r>
              <a:t>17 Elegibilidade e busca por base</a:t>
            </a:r>
          </a:p>
          <a:p>
            <a:r>
              <a:t>18 Fluxograma PRISMA completo e características dos estudos</a:t>
            </a:r>
          </a:p>
          <a:p>
            <a:r>
              <a:t>19 Extração e risco de viés (JBI)</a:t>
            </a:r>
          </a:p>
          <a:p>
            <a:r>
              <a:t>20 Metanálise passo a passo e verificações de robustez</a:t>
            </a:r>
          </a:p>
          <a:p>
            <a:r>
              <a:t>21 GRADE: domínios e decisões</a:t>
            </a:r>
          </a:p>
          <a:p>
            <a:r>
              <a:t>22 Sintoma respiratório: tabela de robustez e subgrupo por país</a:t>
            </a:r>
          </a:p>
          <a:p>
            <a:r>
              <a:t>23 Desfechos objetivos em detalhe</a:t>
            </a:r>
          </a:p>
          <a:p>
            <a:r>
              <a:t>24 Pontos fortes e limitações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16 – TRAJETÓRIA E APRENDIZADO (mostre só se perguntarem sobre a formação ou o aprendizado)</a:t>
            </a:r>
          </a:p>
          <a:p>
            <a:r>
              <a:t>Se derem a oportunidade, em 20 a 30 segundos:</a:t>
            </a:r>
          </a:p>
          <a:p>
            <a:r>
              <a:t>Em julho de 2025 concluí o curso de revisão sistemática e metanálise da Unicamp, com distinção. Estudei o PRISMA 2020, o Cochrane Handbook, o manual do JBI e os livros de Borenstein e de Harrer; registrei o protocolo no PROSPERO e li, um a um, 10.910 títulos e resumos.</a:t>
            </a:r>
          </a:p>
          <a:p>
            <a:r>
              <a:t>(Feche com o seu aprendizado, nas suas palavras; por exemplo: ler a heterogeneidade com honestidade, relatando o intervalo de predição em vez de um número único.)</a:t>
            </a:r>
          </a:p>
          <a:p/>
          <a:p>
            <a:r>
              <a:t>PONTOS-CHAVE:</a:t>
            </a:r>
          </a:p>
          <a:p>
            <a:r>
              <a:t>- Cursos: Unicamp (40 h, com distinção, 20/07/2025); ZucoEscrita (3,6 h); Fiocruz ABNT (3 h) e referências (2 h). Total ≈ 49 h.</a:t>
            </a:r>
          </a:p>
          <a:p>
            <a:r>
              <a:t>- Cochrane Handbook, Borenstein e Harrer foram material de estudo; o manuscrito cita os trabalhos específicos de cada método (Barker 2021, IntHout 2014, Riley 2011, Munn 2015).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17 – ELEGIBILIDADE E BUSCA</a:t>
            </a:r>
          </a:p>
          <a:p>
            <a:r>
              <a:t>- Incluídos: observacionais com profissionais de centro cirúrgico expostos; qualquer efeito à saúde ou marcador de exposição; português, inglês ou espanhol; sem limite de data; resumos de congresso só com eventos e denominador (decisão posterior ao registro, declarada).</a:t>
            </a:r>
          </a:p>
          <a:p>
            <a:r>
              <a:t>- Excluídos: in vitro ou animais; fora do centro cirúrgico; desfecho só no paciente; só medição do ar; revisões, editoriais e cartas; exposição não atribuível à fumaça.</a:t>
            </a:r>
          </a:p>
          <a:p>
            <a:r>
              <a:t>- Busca em dois blocos (população AND exposição), sem bloco de desfecho, para máxima sensibilidade. Cochrane CENTRAL = 0 era esperado (indexa ensaios clínicos).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18 – FLUXOGRAMA PRISMA E CARACTERÍSTICAS</a:t>
            </a:r>
          </a:p>
          <a:p>
            <a:r>
              <a:t>- Fluxograma da Figura 1 do manuscrito; não recuperados e excluídos no Anexo C.</a:t>
            </a:r>
          </a:p>
          <a:p>
            <a:r>
              <a:t>- A busca por citação (443 referências) trouxe 4 relatórios, que entram em "Buscados na íntegra" (28 + 4 = 32).</a:t>
            </a:r>
          </a:p>
          <a:p>
            <a:r>
              <a:t>- Entre os 7 estudos das metanálises, só Mohd Fikri Rosely e Titi Rahmawati (2019) usaram amostragem aleatória; nenhum estudo com preocupação baixa de viés.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19 – EXTRAÇÃO E RISCO DE VIÉS (JBI)</a:t>
            </a:r>
          </a:p>
          <a:p>
            <a:r>
              <a:t>- Listas JBI por função do estudo: prevalência (9 itens), transversal analítico (8), coorte (11).</a:t>
            </a:r>
          </a:p>
          <a:p>
            <a:r>
              <a:t>- Julgamento global qualitativo pelos domínios críticos (amostragem, tamanho, validade da mensuração, taxa de resposta); "não" pesa mais que "incerto". Todos os estudos foram mantidos e a classificação alimentou o GRADE.</a:t>
            </a:r>
          </a:p>
          <a:p>
            <a:r>
              <a:t>- Por que JBI: tem lista específica para prevalência, alinhada ao CoCoPop; Newcastle-Ottawa não cobre prevalência e o ROBINS-E é para efeito comparativo de exposição.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20 – METANÁLISE PASSO A PASSO E ROBUSTEZ</a:t>
            </a:r>
          </a:p>
          <a:p>
            <a:r>
              <a:t>- Proporção → logito → efeitos aleatórios (Paule-Mandel) → Hartung-Knapp → retrotransformação, I² e intervalo de predição.</a:t>
            </a:r>
          </a:p>
          <a:p>
            <a:r>
              <a:t>- Robustez: Freeman-Tukey (DerSimonian-Laird), GLMM logístico, leave-one-out, Baujat, subgrupo por país, sem o resumo de congresso e só definições específicas.</a:t>
            </a:r>
          </a:p>
          <a:p>
            <a:r>
              <a:t>- Analogia: efeitos fixos = todos medem a mesma coisa com ruído; efeitos aleatórios = cada estudo tem a sua prevalência, e queremos a média e a dispersão delas.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21 – GRADE</a:t>
            </a:r>
          </a:p>
          <a:p>
            <a:r>
              <a:t>- Ponto de partida baixa (observacional); um domínio grave já leva a muito baixa. Começar em alta não mudaria a certeza final.</a:t>
            </a:r>
          </a:p>
          <a:p>
            <a:r>
              <a:t>- Evidência indireta não rebaixada nos sintomas (o sintoma é o próprio desfecho); rebaixada nos objetivos (coexposições, desfechos substitutos).</a:t>
            </a:r>
          </a:p>
          <a:p>
            <a:r>
              <a:t>- Sem dupla contagem: intervalo de predição em inconsistência; IC95% em imprecisão.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22 – TABELA DE ROBUSTEZ E SUBGRUPO POR PAÍS</a:t>
            </a:r>
          </a:p>
          <a:p>
            <a:r>
              <a:t>- Subgrupo ocular: Turquia 50,5% (k = 3; I² 57%); Malásia 19,8% (k = 2; I² 0%); Brasil 43,2% (k = 1); p &lt; 0,001, mas exploratório (poucos estudos e um resumo de congresso na Malásia).</a:t>
            </a:r>
          </a:p>
          <a:p>
            <a:r>
              <a:t>- Baujat: no ocular, Mohd Fikri Rosely 2022 é o mais influente; o I² ocular segue alto sem ele (89%) ou sem Bieniek (94%).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23 – DESFECHOS OBJETIVOS EM DETALHE</a:t>
            </a:r>
          </a:p>
          <a:p>
            <a:r>
              <a:t>- Cada desfecho vem de um único estudo; comparações não combinadas (desenhos e desfechos heterogêneos).</a:t>
            </a:r>
          </a:p>
          <a:p>
            <a:r>
              <a:t>- Cautelas: VEF1/CVF ≈ 91% nos dois grupos e PFE depende do esforço; t,t-mucônico inespecífico; metaplasia é resposta inespecífica a irritantes; DNA de HPV ≠ infecção ou doença.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24 – PONTOS FORTES E LIMITAÇÕES</a:t>
            </a:r>
          </a:p>
          <a:p>
            <a:r>
              <a:t>- Fortes: busca ampla, protocolo registrado, PRISMA 2020, JBI, intervalo de predição, 3 modelos concordantes, GRADE por desfecho, OSF.</a:t>
            </a:r>
          </a:p>
          <a:p>
            <a:r>
              <a:t>- Limitações: transversais e autorrelato; sem grupo não exposto nos agrupamentos; trabalhador sadio; heterogeneidade; revisor único; 6 não recuperados; elegibilidade em 3 idiomas.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39.png"/><Relationship Id="rId5" Type="http://schemas.openxmlformats.org/officeDocument/2006/relationships/notesSlide" Target="../notesSlides/notes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16.png"/><Relationship Id="rId6" Type="http://schemas.openxmlformats.org/officeDocument/2006/relationships/image" Target="../media/image21.png"/><Relationship Id="rId7"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24.png"/><Relationship Id="rId7" Type="http://schemas.openxmlformats.org/officeDocument/2006/relationships/image" Target="../media/image31.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33.png"/><Relationship Id="rId6" Type="http://schemas.openxmlformats.org/officeDocument/2006/relationships/image" Target="../media/image19.png"/><Relationship Id="rId7" Type="http://schemas.openxmlformats.org/officeDocument/2006/relationships/image" Target="../media/image42.png"/><Relationship Id="rId8"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image" Target="../media/image15.png"/><Relationship Id="rId6" Type="http://schemas.openxmlformats.org/officeDocument/2006/relationships/image" Target="../media/image43.png"/><Relationship Id="rId7" Type="http://schemas.openxmlformats.org/officeDocument/2006/relationships/image" Target="../media/image18.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jpg"/><Relationship Id="rId11" Type="http://schemas.openxmlformats.org/officeDocument/2006/relationships/image" Target="../media/image47.jpg"/><Relationship Id="rId12" Type="http://schemas.openxmlformats.org/officeDocument/2006/relationships/image" Target="../media/image48.jpg"/><Relationship Id="rId13" Type="http://schemas.openxmlformats.org/officeDocument/2006/relationships/image" Target="../media/image49.jpg"/><Relationship Id="rId14" Type="http://schemas.openxmlformats.org/officeDocument/2006/relationships/image" Target="../media/image50.jpg"/><Relationship Id="rId15" Type="http://schemas.openxmlformats.org/officeDocument/2006/relationships/image" Target="../media/image51.jpg"/><Relationship Id="rId16" Type="http://schemas.openxmlformats.org/officeDocument/2006/relationships/image" Target="../media/image52.jpg"/><Relationship Id="rId17" Type="http://schemas.openxmlformats.org/officeDocument/2006/relationships/image" Target="../media/image53.jpg"/><Relationship Id="rId18" Type="http://schemas.openxmlformats.org/officeDocument/2006/relationships/image" Target="../media/image54.jpg"/><Relationship Id="rId19" Type="http://schemas.openxmlformats.org/officeDocument/2006/relationships/image" Target="../media/image55.jpg"/><Relationship Id="rId20" Type="http://schemas.openxmlformats.org/officeDocument/2006/relationships/image" Target="../media/image56.jpg"/><Relationship Id="rId21" Type="http://schemas.openxmlformats.org/officeDocument/2006/relationships/image" Target="../media/image57.jpg"/><Relationship Id="rId22" Type="http://schemas.openxmlformats.org/officeDocument/2006/relationships/image" Target="../media/image58.jpg"/><Relationship Id="rId23" Type="http://schemas.openxmlformats.org/officeDocument/2006/relationships/image" Target="../media/image59.jpg"/><Relationship Id="rId2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chart" Target="../charts/char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2.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63.png"/><Relationship Id="rId6" Type="http://schemas.openxmlformats.org/officeDocument/2006/relationships/image" Target="../media/image29.png"/><Relationship Id="rId7" Type="http://schemas.openxmlformats.org/officeDocument/2006/relationships/image" Target="../media/image21.png"/><Relationship Id="rId8" Type="http://schemas.openxmlformats.org/officeDocument/2006/relationships/image" Target="../media/image18.png"/><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image" Target="../media/image13.png"/><Relationship Id="rId6" Type="http://schemas.openxmlformats.org/officeDocument/2006/relationships/image" Target="../media/image64.png"/><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4142676" y="8191500"/>
            <a:ext cx="4174632" cy="1959689"/>
          </a:xfrm>
          <a:custGeom>
            <a:avLst/>
            <a:gdLst/>
            <a:ahLst/>
            <a:cxnLst/>
            <a:rect l="l" t="t" r="r" b="b"/>
            <a:pathLst>
              <a:path w="4174632" h="1959689">
                <a:moveTo>
                  <a:pt x="0" y="0"/>
                </a:moveTo>
                <a:lnTo>
                  <a:pt x="4174632" y="0"/>
                </a:lnTo>
                <a:lnTo>
                  <a:pt x="4174632" y="1959690"/>
                </a:lnTo>
                <a:lnTo>
                  <a:pt x="0" y="1959690"/>
                </a:lnTo>
                <a:lnTo>
                  <a:pt x="0" y="0"/>
                </a:lnTo>
                <a:close/>
              </a:path>
            </a:pathLst>
          </a:custGeom>
          <a:blipFill>
            <a:blip r:embed="rId2"/>
            <a:stretch>
              <a:fillRect/>
            </a:stretch>
          </a:blipFill>
        </p:spPr>
        <p:txBody>
          <a:bodyPr/>
          <a:lstStyle/>
          <a:p>
            <a:endParaRPr lang="pt-BR"/>
          </a:p>
        </p:txBody>
      </p:sp>
      <p:sp>
        <p:nvSpPr>
          <p:cNvPr id="5" name="CaixaDeTexto 4">
            <a:extLst>
              <a:ext uri="{FF2B5EF4-FFF2-40B4-BE49-F238E27FC236}">
                <a16:creationId xmlns:a16="http://schemas.microsoft.com/office/drawing/2014/main" id="{13EED535-3E35-9C1D-2B6B-5464675B12C6}"/>
              </a:ext>
            </a:extLst>
          </p:cNvPr>
          <p:cNvSpPr txBox="1"/>
          <p:nvPr/>
        </p:nvSpPr>
        <p:spPr>
          <a:xfrm>
            <a:off x="3657600" y="6675120"/>
            <a:ext cx="10972800" cy="1280160"/>
          </a:xfrm>
          <a:prstGeom prst="rect">
            <a:avLst/>
          </a:prstGeom>
          <a:noFill/>
        </p:spPr>
        <p:txBody>
          <a:bodyPr wrap="square" rtlCol="0">
            <a:noAutofit/>
          </a:bodyPr>
          <a:lstStyle/>
          <a:p>
            <a:pPr algn="ctr">
              <a:lnSpc>
                <a:spcPct val="100000"/>
              </a:lnSpc>
              <a:spcAft>
                <a:spcPts val="300"/>
              </a:spcAft>
              <a:buNone/>
            </a:pPr>
            <a:r>
              <a:rPr sz="1800" b="1" i="0">
                <a:solidFill>
                  <a:srgbClr val="1F2433"/>
                </a:solidFill>
                <a:latin typeface="Tahoma"/>
              </a:rPr>
              <a:t>Autor: </a:t>
            </a:r>
            <a:r>
              <a:rPr sz="1800" b="0" i="0">
                <a:solidFill>
                  <a:srgbClr val="1F2433"/>
                </a:solidFill>
                <a:latin typeface="Tahoma"/>
              </a:rPr>
              <a:t>Theo Augusto Lopes de Moraes Báccaro</a:t>
            </a:r>
            <a:endParaRPr lang="pt-BR" sz="2800" dirty="0">
              <a:latin typeface="Arial" panose="020B0604020202020204" pitchFamily="34" charset="0"/>
              <a:cs typeface="Arial" panose="020B0604020202020204" pitchFamily="34" charset="0"/>
            </a:endParaRPr>
          </a:p>
          <a:p>
            <a:pPr algn="ctr">
              <a:lnSpc>
                <a:spcPct val="100000"/>
              </a:lnSpc>
              <a:spcAft>
                <a:spcPts val="300"/>
              </a:spcAft>
              <a:buNone/>
            </a:pPr>
            <a:r>
              <a:rPr sz="1800" b="1" i="0">
                <a:solidFill>
                  <a:srgbClr val="1F2433"/>
                </a:solidFill>
                <a:latin typeface="Tahoma"/>
              </a:rPr>
              <a:t>Orientadora: </a:t>
            </a:r>
            <a:r>
              <a:rPr sz="1800" b="0" i="0">
                <a:solidFill>
                  <a:srgbClr val="1F2433"/>
                </a:solidFill>
                <a:latin typeface="Tahoma"/>
              </a:rPr>
              <a:t>Profa. Lisie Tocci Justo</a:t>
            </a:r>
          </a:p>
          <a:p>
            <a:pPr algn="ctr">
              <a:lnSpc>
                <a:spcPct val="100000"/>
              </a:lnSpc>
              <a:spcBef>
                <a:spcPts val="400"/>
              </a:spcBef>
              <a:spcAft>
                <a:spcPts val="300"/>
              </a:spcAft>
              <a:buNone/>
            </a:pPr>
            <a:r>
              <a:rPr sz="1600" b="0" i="0">
                <a:solidFill>
                  <a:srgbClr val="5A6270"/>
                </a:solidFill>
                <a:latin typeface="Tahoma"/>
              </a:rPr>
              <a:t>Coautores: Luiz Henrique Ledesma Pereira; Mariana Matera Veras (LIM05, HC-FMUSP)</a:t>
            </a:r>
          </a:p>
        </p:txBody>
      </p:sp>
      <p:sp>
        <p:nvSpPr>
          <p:cNvPr id="6" name="CaixaDeTexto 5">
            <a:extLst>
              <a:ext uri="{FF2B5EF4-FFF2-40B4-BE49-F238E27FC236}">
                <a16:creationId xmlns:a16="http://schemas.microsoft.com/office/drawing/2014/main" id="{35B56E3E-8734-A45C-A55E-A28633526BAC}"/>
              </a:ext>
            </a:extLst>
          </p:cNvPr>
          <p:cNvSpPr txBox="1"/>
          <p:nvPr/>
        </p:nvSpPr>
        <p:spPr>
          <a:xfrm>
            <a:off x="2377440" y="4892040"/>
            <a:ext cx="13533120" cy="1600200"/>
          </a:xfrm>
          <a:prstGeom prst="rect">
            <a:avLst/>
          </a:prstGeom>
          <a:noFill/>
        </p:spPr>
        <p:txBody>
          <a:bodyPr wrap="square" rtlCol="0">
            <a:noAutofit/>
          </a:bodyPr>
          <a:lstStyle/>
          <a:p>
            <a:pPr algn="ctr">
              <a:lnSpc>
                <a:spcPct val="100000"/>
              </a:lnSpc>
              <a:spcAft>
                <a:spcPts val="0"/>
              </a:spcAft>
              <a:buNone/>
            </a:pPr>
            <a:r>
              <a:rPr sz="3200" b="1" i="0">
                <a:solidFill>
                  <a:srgbClr val="002060"/>
                </a:solidFill>
                <a:latin typeface="Calibri"/>
              </a:rPr>
              <a:t>Sintomas, desfechos objetivos e biomarcadores em profissionais de centro cirúrgico ocupacionalmente expostos à fumaça cirúrgica: revisão sistemática e metanálise de prevalência</a:t>
            </a:r>
            <a:endParaRPr lang="pt-BR" sz="3200" dirty="0">
              <a:cs typeface="Arial" panose="020B0604020202020204" pitchFamily="34" charset="0"/>
            </a:endParaRPr>
          </a:p>
        </p:txBody>
      </p:sp>
      <p:sp>
        <p:nvSpPr>
          <p:cNvPr id="7" name="CaixaDeTexto 6">
            <a:extLst>
              <a:ext uri="{FF2B5EF4-FFF2-40B4-BE49-F238E27FC236}">
                <a16:creationId xmlns:a16="http://schemas.microsoft.com/office/drawing/2014/main" id="{17DF7FDA-FA4B-CFC4-F048-39EA88B7B7C3}"/>
              </a:ext>
            </a:extLst>
          </p:cNvPr>
          <p:cNvSpPr txBox="1"/>
          <p:nvPr/>
        </p:nvSpPr>
        <p:spPr>
          <a:xfrm>
            <a:off x="2377440" y="3978106"/>
            <a:ext cx="13533120" cy="707886"/>
          </a:xfrm>
          <a:prstGeom prst="rect">
            <a:avLst/>
          </a:prstGeom>
          <a:noFill/>
        </p:spPr>
        <p:txBody>
          <a:bodyPr wrap="square" rtlCol="0">
            <a:spAutoFit/>
          </a:bodyPr>
          <a:lstStyle/>
          <a:p>
            <a:pPr algn="ctr"/>
            <a:r>
              <a:rPr lang="pt-BR" sz="4000" dirty="0">
                <a:latin typeface="Arial" panose="020B0604020202020204" pitchFamily="34" charset="0"/>
                <a:cs typeface="Arial" panose="020B0604020202020204" pitchFamily="34" charset="0"/>
              </a:rPr>
              <a:t>VIII SEMICA – SEMINÁRIO DE INICIAÇÃO CIENTÍFICA</a:t>
            </a:r>
          </a:p>
        </p:txBody>
      </p:sp>
      <p:sp>
        <p:nvSpPr>
          <p:cNvPr id="11" name="Freeform 7">
            <a:extLst>
              <a:ext uri="{FF2B5EF4-FFF2-40B4-BE49-F238E27FC236}">
                <a16:creationId xmlns:a16="http://schemas.microsoft.com/office/drawing/2014/main" id="{7B7C3954-A502-B216-C1D2-7F55EE788122}"/>
              </a:ext>
            </a:extLst>
          </p:cNvPr>
          <p:cNvSpPr/>
          <p:nvPr/>
        </p:nvSpPr>
        <p:spPr>
          <a:xfrm rot="-10800000">
            <a:off x="0" y="0"/>
            <a:ext cx="18288000" cy="1968910"/>
          </a:xfrm>
          <a:custGeom>
            <a:avLst/>
            <a:gdLst/>
            <a:ahLst/>
            <a:cxnLst/>
            <a:rect l="l" t="t" r="r" b="b"/>
            <a:pathLst>
              <a:path w="7315200" h="3274807">
                <a:moveTo>
                  <a:pt x="0" y="0"/>
                </a:moveTo>
                <a:lnTo>
                  <a:pt x="7315200" y="0"/>
                </a:lnTo>
                <a:lnTo>
                  <a:pt x="7315200" y="3274807"/>
                </a:lnTo>
                <a:lnTo>
                  <a:pt x="0" y="3274807"/>
                </a:lnTo>
                <a:lnTo>
                  <a:pt x="0" y="0"/>
                </a:lnTo>
                <a:close/>
              </a:path>
            </a:pathLst>
          </a:custGeom>
          <a:blipFill>
            <a:blip>
              <a:extLst>
                <a:ext uri="{96DAC541-7B7A-43D3-8B79-37D633B846F1}">
                  <asvg:svgBlip xmlns:asvg="http://schemas.microsoft.com/office/drawing/2016/SVG/main" r:embed="rId3"/>
                </a:ext>
              </a:extLst>
            </a:blip>
            <a:stretch>
              <a:fillRect l="-9812" t="-3" r="-15473" b="-66323"/>
            </a:stretch>
          </a:blipFill>
        </p:spPr>
        <p:txBody>
          <a:bodyPr/>
          <a:lstStyle/>
          <a:p>
            <a:endParaRPr lang="pt-BR"/>
          </a:p>
        </p:txBody>
      </p:sp>
      <p:pic>
        <p:nvPicPr>
          <p:cNvPr id="1026" name="Picture 2" descr="Uma nova SLMANDIC de Araras para você - São Leopoldo Mandic Araras">
            <a:extLst>
              <a:ext uri="{FF2B5EF4-FFF2-40B4-BE49-F238E27FC236}">
                <a16:creationId xmlns:a16="http://schemas.microsoft.com/office/drawing/2014/main" id="{F41A3293-2A1D-554E-AE84-E597AB7A832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563" t="7525" r="19809" b="7525"/>
          <a:stretch>
            <a:fillRect/>
          </a:stretch>
        </p:blipFill>
        <p:spPr bwMode="auto">
          <a:xfrm>
            <a:off x="381000" y="7448739"/>
            <a:ext cx="2156252" cy="26726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Conector reto 7">
            <a:extLst>
              <a:ext uri="{FF2B5EF4-FFF2-40B4-BE49-F238E27FC236}">
                <a16:creationId xmlns:a16="http://schemas.microsoft.com/office/drawing/2014/main" id="{F5B3B6FD-A9BC-8FFA-D352-065DF936FD8C}"/>
              </a:ext>
            </a:extLst>
          </p:cNvPr>
          <p:cNvCxnSpPr>
            <a:cxnSpLocks/>
          </p:cNvCxnSpPr>
          <p:nvPr/>
        </p:nvCxnSpPr>
        <p:spPr>
          <a:xfrm>
            <a:off x="11035412" y="2091778"/>
            <a:ext cx="0" cy="5334000"/>
          </a:xfrm>
          <a:prstGeom prst="line">
            <a:avLst/>
          </a:prstGeom>
          <a:ln w="28575">
            <a:solidFill>
              <a:srgbClr val="1A015F"/>
            </a:solidFill>
          </a:ln>
        </p:spPr>
        <p:style>
          <a:lnRef idx="2">
            <a:schemeClr val="accent1"/>
          </a:lnRef>
          <a:fillRef idx="0">
            <a:schemeClr val="accent1"/>
          </a:fillRef>
          <a:effectRef idx="1">
            <a:schemeClr val="accent1"/>
          </a:effectRef>
          <a:fontRef idx="minor">
            <a:schemeClr val="tx1"/>
          </a:fontRef>
        </p:style>
      </p:cxnSp>
      <p:sp>
        <p:nvSpPr>
          <p:cNvPr id="10" name="CaixaDeTexto 9">
            <a:extLst>
              <a:ext uri="{FF2B5EF4-FFF2-40B4-BE49-F238E27FC236}">
                <a16:creationId xmlns:a16="http://schemas.microsoft.com/office/drawing/2014/main" id="{F7C5D084-7D27-940F-6996-698E06882E08}"/>
              </a:ext>
            </a:extLst>
          </p:cNvPr>
          <p:cNvSpPr txBox="1"/>
          <p:nvPr/>
        </p:nvSpPr>
        <p:spPr>
          <a:xfrm>
            <a:off x="5347855" y="3600743"/>
            <a:ext cx="5562600" cy="2185214"/>
          </a:xfrm>
          <a:prstGeom prst="rect">
            <a:avLst/>
          </a:prstGeom>
          <a:noFill/>
        </p:spPr>
        <p:txBody>
          <a:bodyPr wrap="square" rtlCol="0">
            <a:spAutoFit/>
          </a:bodyPr>
          <a:lstStyle/>
          <a:p>
            <a:pPr algn="ctr"/>
            <a:r>
              <a:rPr lang="pt-BR" sz="7200"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VIII SEMICA </a:t>
            </a:r>
          </a:p>
          <a:p>
            <a:pPr algn="ctr"/>
            <a:r>
              <a:rPr lang="pt-BR" sz="3200"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SEMINÁRIO DE INICIAÇÃO CIENTÍFICA</a:t>
            </a:r>
          </a:p>
        </p:txBody>
      </p:sp>
      <p:sp>
        <p:nvSpPr>
          <p:cNvPr id="12" name="CaixaDeTexto 11">
            <a:extLst>
              <a:ext uri="{FF2B5EF4-FFF2-40B4-BE49-F238E27FC236}">
                <a16:creationId xmlns:a16="http://schemas.microsoft.com/office/drawing/2014/main" id="{FA55075D-6FAB-04F6-9FAF-94B1098B5FAD}"/>
              </a:ext>
            </a:extLst>
          </p:cNvPr>
          <p:cNvSpPr txBox="1"/>
          <p:nvPr/>
        </p:nvSpPr>
        <p:spPr>
          <a:xfrm>
            <a:off x="11734800" y="4480647"/>
            <a:ext cx="5867395" cy="769440"/>
          </a:xfrm>
          <a:prstGeom prst="rect">
            <a:avLst/>
          </a:prstGeom>
          <a:noFill/>
        </p:spPr>
        <p:txBody>
          <a:bodyPr wrap="square" rtlCol="0">
            <a:spAutoFit/>
          </a:bodyPr>
          <a:lstStyle/>
          <a:p>
            <a:pPr algn="ctr"/>
            <a:r>
              <a:rPr lang="pt-BR" sz="4400"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OBRIGADO (A)!</a:t>
            </a:r>
          </a:p>
        </p:txBody>
      </p:sp>
      <p:pic>
        <p:nvPicPr>
          <p:cNvPr id="17" name="Imagem 16" descr="Logotipo&#10;&#10;O conteúdo gerado por IA pode estar incorreto.">
            <a:extLst>
              <a:ext uri="{FF2B5EF4-FFF2-40B4-BE49-F238E27FC236}">
                <a16:creationId xmlns:a16="http://schemas.microsoft.com/office/drawing/2014/main" id="{0D0FC99C-AA58-7690-EFFA-687CC2A3FCDD}"/>
              </a:ext>
            </a:extLst>
          </p:cNvPr>
          <p:cNvPicPr>
            <a:picLocks noChangeAspect="1"/>
          </p:cNvPicPr>
          <p:nvPr/>
        </p:nvPicPr>
        <p:blipFill>
          <a:blip r:embed="rId2">
            <a:extLst>
              <a:ext uri="{28A0092B-C50C-407E-A947-70E740481C1C}">
                <a14:useLocalDpi xmlns:a14="http://schemas.microsoft.com/office/drawing/2010/main" val="0"/>
              </a:ext>
            </a:extLst>
          </a:blip>
          <a:srcRect t="3135" b="4779"/>
          <a:stretch>
            <a:fillRect/>
          </a:stretch>
        </p:blipFill>
        <p:spPr>
          <a:xfrm>
            <a:off x="177979" y="2213031"/>
            <a:ext cx="5205045" cy="4558867"/>
          </a:xfrm>
          <a:prstGeom prst="rect">
            <a:avLst/>
          </a:prstGeom>
        </p:spPr>
      </p:pic>
      <p:sp>
        <p:nvSpPr>
          <p:cNvPr id="18" name="Freeform 2">
            <a:extLst>
              <a:ext uri="{FF2B5EF4-FFF2-40B4-BE49-F238E27FC236}">
                <a16:creationId xmlns:a16="http://schemas.microsoft.com/office/drawing/2014/main" id="{D8AB2630-64AC-CEF6-D4B2-14914D6C4709}"/>
              </a:ext>
            </a:extLst>
          </p:cNvPr>
          <p:cNvSpPr/>
          <p:nvPr/>
        </p:nvSpPr>
        <p:spPr>
          <a:xfrm>
            <a:off x="0" y="8879943"/>
            <a:ext cx="18288000" cy="1064157"/>
          </a:xfrm>
          <a:custGeom>
            <a:avLst/>
            <a:gdLst/>
            <a:ahLst/>
            <a:cxnLst/>
            <a:rect l="l" t="t" r="r" b="b"/>
            <a:pathLst>
              <a:path w="10648950" h="612315">
                <a:moveTo>
                  <a:pt x="0" y="0"/>
                </a:moveTo>
                <a:lnTo>
                  <a:pt x="10648950" y="0"/>
                </a:lnTo>
                <a:lnTo>
                  <a:pt x="10648950" y="612315"/>
                </a:lnTo>
                <a:lnTo>
                  <a:pt x="0" y="612315"/>
                </a:lnTo>
                <a:lnTo>
                  <a:pt x="0" y="0"/>
                </a:lnTo>
                <a:close/>
              </a:path>
            </a:pathLst>
          </a:custGeom>
          <a:solidFill>
            <a:srgbClr val="002060"/>
          </a:solidFill>
        </p:spPr>
        <p:txBody>
          <a:bodyPr/>
          <a:lstStyle/>
          <a:p>
            <a:endParaRPr lang="pt-BR" dirty="0">
              <a:highlight>
                <a:srgbClr val="1A015F"/>
              </a:highlight>
            </a:endParaRPr>
          </a:p>
        </p:txBody>
      </p:sp>
      <p:sp>
        <p:nvSpPr>
          <p:cNvPr id="19" name="CaixaDeTexto 18">
            <a:extLst>
              <a:ext uri="{FF2B5EF4-FFF2-40B4-BE49-F238E27FC236}">
                <a16:creationId xmlns:a16="http://schemas.microsoft.com/office/drawing/2014/main" id="{B0992EB5-ED4B-5892-9C40-AF7B65CAB4FD}"/>
              </a:ext>
            </a:extLst>
          </p:cNvPr>
          <p:cNvSpPr txBox="1"/>
          <p:nvPr/>
        </p:nvSpPr>
        <p:spPr>
          <a:xfrm>
            <a:off x="177979" y="9193411"/>
            <a:ext cx="17932042" cy="461665"/>
          </a:xfrm>
          <a:prstGeom prst="rect">
            <a:avLst/>
          </a:prstGeom>
          <a:noFill/>
        </p:spPr>
        <p:txBody>
          <a:bodyPr wrap="square" rtlCol="0">
            <a:spAutoFit/>
          </a:bodyPr>
          <a:lstStyle/>
          <a:p>
            <a:pPr algn="ctr"/>
            <a:r>
              <a:rPr lang="pt-BR" sz="2400" dirty="0">
                <a:ln w="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APOIO: PROGRAMA DE INICIAÇÃO CIENTÍFICA (PIC)</a:t>
            </a:r>
          </a:p>
        </p:txBody>
      </p:sp>
      <p:pic>
        <p:nvPicPr>
          <p:cNvPr id="20" name="Picture 2" descr="Uma nova SLMANDIC de Araras para você - São Leopoldo Mandic Araras">
            <a:extLst>
              <a:ext uri="{FF2B5EF4-FFF2-40B4-BE49-F238E27FC236}">
                <a16:creationId xmlns:a16="http://schemas.microsoft.com/office/drawing/2014/main" id="{76927D54-1347-A313-62EA-D31EE40AB0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563" t="7525" r="19809" b="7525"/>
          <a:stretch>
            <a:fillRect/>
          </a:stretch>
        </p:blipFill>
        <p:spPr bwMode="auto">
          <a:xfrm>
            <a:off x="15953769" y="261047"/>
            <a:ext cx="2156252" cy="2672607"/>
          </a:xfrm>
          <a:prstGeom prst="rect">
            <a:avLst/>
          </a:prstGeom>
          <a:noFill/>
          <a:extLst>
            <a:ext uri="{909E8E84-426E-40DD-AFC4-6F175D3DCCD1}">
              <a14:hiddenFill xmlns:a14="http://schemas.microsoft.com/office/drawing/2010/main">
                <a:solidFill>
                  <a:srgbClr val="FFFFFF"/>
                </a:solidFill>
              </a14:hiddenFill>
            </a:ext>
          </a:extLst>
        </p:spPr>
      </p:pic>
      <p:pic>
        <p:nvPicPr>
          <p:cNvPr id="21" name="QR code OSF" descr="qr_osf_jktmn.png"/>
          <p:cNvPicPr>
            <a:picLocks noChangeAspect="1"/>
          </p:cNvPicPr>
          <p:nvPr/>
        </p:nvPicPr>
        <p:blipFill>
          <a:blip r:embed="rId4"/>
          <a:stretch>
            <a:fillRect/>
          </a:stretch>
        </p:blipFill>
        <p:spPr>
          <a:xfrm>
            <a:off x="13569696" y="5349240"/>
            <a:ext cx="2194560" cy="2194560"/>
          </a:xfrm>
          <a:prstGeom prst="rect">
            <a:avLst/>
          </a:prstGeom>
        </p:spPr>
      </p:pic>
      <p:sp>
        <p:nvSpPr>
          <p:cNvPr id="22" name="TextBox 21"/>
          <p:cNvSpPr txBox="1"/>
          <p:nvPr/>
        </p:nvSpPr>
        <p:spPr>
          <a:xfrm>
            <a:off x="11740896" y="7635240"/>
            <a:ext cx="5852160" cy="365760"/>
          </a:xfrm>
          <a:prstGeom prst="rect">
            <a:avLst/>
          </a:prstGeom>
          <a:noFill/>
        </p:spPr>
        <p:txBody>
          <a:bodyPr wrap="square" lIns="0" rIns="0" tIns="0" bIns="0" anchor="t">
            <a:noAutofit/>
          </a:bodyPr>
          <a:lstStyle/>
          <a:p>
            <a:pPr algn="ctr">
              <a:lnSpc>
                <a:spcPct val="100000"/>
              </a:lnSpc>
              <a:spcAft>
                <a:spcPts val="0"/>
              </a:spcAft>
              <a:buNone/>
            </a:pPr>
            <a:r>
              <a:rPr sz="1600" b="0" i="0">
                <a:solidFill>
                  <a:srgbClr val="5A6270"/>
                </a:solidFill>
                <a:latin typeface="Arial"/>
              </a:rPr>
              <a:t>Suplementos  ·  </a:t>
            </a:r>
            <a:r>
              <a:rPr sz="1600" b="1" i="0">
                <a:solidFill>
                  <a:srgbClr val="002060"/>
                </a:solidFill>
                <a:latin typeface="Arial"/>
              </a:rPr>
              <a:t>osf.io/jktmn</a:t>
            </a:r>
          </a:p>
        </p:txBody>
      </p:sp>
    </p:spTree>
    <p:extLst>
      <p:ext uri="{BB962C8B-B14F-4D97-AF65-F5344CB8AC3E}">
        <p14:creationId xmlns:p14="http://schemas.microsoft.com/office/powerpoint/2010/main" val="43250430"/>
      </p:ext>
    </p:extLst>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INTRODUÇÃO</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Fumaça cirúrgica: exposição ocupacional da equipe, efeitos ainda incertos</a:t>
            </a:r>
          </a:p>
        </p:txBody>
      </p:sp>
      <p:pic>
        <p:nvPicPr>
          <p:cNvPr id="7" name="Foto centro cirúrgico" descr="centro_cirurgico_fumaca.png"/>
          <p:cNvPicPr>
            <a:picLocks noChangeAspect="1"/>
          </p:cNvPicPr>
          <p:nvPr/>
        </p:nvPicPr>
        <p:blipFill>
          <a:blip r:embed="rId4"/>
          <a:stretch>
            <a:fillRect/>
          </a:stretch>
        </p:blipFill>
        <p:spPr>
          <a:xfrm>
            <a:off x="1143000" y="1783080"/>
            <a:ext cx="7315200" cy="4093028"/>
          </a:xfrm>
          <a:prstGeom prst="rect">
            <a:avLst/>
          </a:prstGeom>
        </p:spPr>
      </p:pic>
      <p:sp>
        <p:nvSpPr>
          <p:cNvPr id="8" name="TextBox 7"/>
          <p:cNvSpPr txBox="1"/>
          <p:nvPr/>
        </p:nvSpPr>
        <p:spPr>
          <a:xfrm>
            <a:off x="1143000" y="5949260"/>
            <a:ext cx="7315200" cy="32004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Imagem ilustrativa (gerada por IA): fumaça do eletrocautério no campo cirúrgico.</a:t>
            </a:r>
          </a:p>
        </p:txBody>
      </p:sp>
      <p:sp>
        <p:nvSpPr>
          <p:cNvPr id="9" name="Rounded Rectangle 8"/>
          <p:cNvSpPr/>
          <p:nvPr/>
        </p:nvSpPr>
        <p:spPr>
          <a:xfrm>
            <a:off x="1143000" y="6424748"/>
            <a:ext cx="7315200" cy="1713412"/>
          </a:xfrm>
          <a:prstGeom prst="roundRect">
            <a:avLst>
              <a:gd name="adj" fmla="val 6000"/>
            </a:avLst>
          </a:prstGeom>
          <a:solidFill>
            <a:srgbClr val="E6EBF5"/>
          </a:solidFill>
          <a:ln>
            <a:noFill/>
          </a:ln>
          <a:effectLst/>
        </p:spPr>
        <p:txBody>
          <a:bodyPr rtlCol="0" anchor="ctr"/>
          <a:lstStyle/>
          <a:p/>
        </p:txBody>
      </p:sp>
      <p:sp>
        <p:nvSpPr>
          <p:cNvPr id="10" name="TextBox 9"/>
          <p:cNvSpPr txBox="1"/>
          <p:nvPr/>
        </p:nvSpPr>
        <p:spPr>
          <a:xfrm>
            <a:off x="1463040" y="6589339"/>
            <a:ext cx="6675120" cy="365760"/>
          </a:xfrm>
          <a:prstGeom prst="rect">
            <a:avLst/>
          </a:prstGeom>
          <a:noFill/>
        </p:spPr>
        <p:txBody>
          <a:bodyPr wrap="square" lIns="0" rIns="0" tIns="0" bIns="0" anchor="t">
            <a:noAutofit/>
          </a:bodyPr>
          <a:lstStyle/>
          <a:p>
            <a:pPr algn="l">
              <a:lnSpc>
                <a:spcPct val="100000"/>
              </a:lnSpc>
              <a:spcAft>
                <a:spcPts val="0"/>
              </a:spcAft>
              <a:buNone/>
            </a:pPr>
            <a:r>
              <a:rPr sz="1700" b="1" i="0">
                <a:solidFill>
                  <a:srgbClr val="002060"/>
                </a:solidFill>
                <a:latin typeface="Arial"/>
              </a:rPr>
              <a:t>Sintomas relatados pela equipe</a:t>
            </a:r>
          </a:p>
        </p:txBody>
      </p:sp>
      <p:pic>
        <p:nvPicPr>
          <p:cNvPr id="11" name="icone eye" descr="eye_navy.png"/>
          <p:cNvPicPr>
            <a:picLocks noChangeAspect="1"/>
          </p:cNvPicPr>
          <p:nvPr/>
        </p:nvPicPr>
        <p:blipFill>
          <a:blip r:embed="rId5"/>
          <a:stretch>
            <a:fillRect/>
          </a:stretch>
        </p:blipFill>
        <p:spPr>
          <a:xfrm>
            <a:off x="2034540" y="7083116"/>
            <a:ext cx="457200" cy="457200"/>
          </a:xfrm>
          <a:prstGeom prst="rect">
            <a:avLst/>
          </a:prstGeom>
        </p:spPr>
      </p:pic>
      <p:sp>
        <p:nvSpPr>
          <p:cNvPr id="12" name="TextBox 11"/>
          <p:cNvSpPr txBox="1"/>
          <p:nvPr/>
        </p:nvSpPr>
        <p:spPr>
          <a:xfrm>
            <a:off x="1463040" y="7586036"/>
            <a:ext cx="1600200" cy="365760"/>
          </a:xfrm>
          <a:prstGeom prst="rect">
            <a:avLst/>
          </a:prstGeom>
          <a:noFill/>
        </p:spPr>
        <p:txBody>
          <a:bodyPr wrap="square" lIns="0" rIns="0" tIns="0" bIns="0" anchor="t">
            <a:noAutofit/>
          </a:bodyPr>
          <a:lstStyle/>
          <a:p>
            <a:pPr algn="ctr">
              <a:lnSpc>
                <a:spcPct val="100000"/>
              </a:lnSpc>
              <a:spcAft>
                <a:spcPts val="0"/>
              </a:spcAft>
              <a:buNone/>
            </a:pPr>
            <a:r>
              <a:rPr sz="1700" b="0" i="0">
                <a:solidFill>
                  <a:srgbClr val="1F2433"/>
                </a:solidFill>
                <a:latin typeface="Arial"/>
              </a:rPr>
              <a:t>Olhos</a:t>
            </a:r>
          </a:p>
        </p:txBody>
      </p:sp>
      <p:pic>
        <p:nvPicPr>
          <p:cNvPr id="13" name="icone lungs" descr="lungs_navy.png"/>
          <p:cNvPicPr>
            <a:picLocks noChangeAspect="1"/>
          </p:cNvPicPr>
          <p:nvPr/>
        </p:nvPicPr>
        <p:blipFill>
          <a:blip r:embed="rId6"/>
          <a:stretch>
            <a:fillRect/>
          </a:stretch>
        </p:blipFill>
        <p:spPr>
          <a:xfrm>
            <a:off x="3726180" y="7083116"/>
            <a:ext cx="457200" cy="457200"/>
          </a:xfrm>
          <a:prstGeom prst="rect">
            <a:avLst/>
          </a:prstGeom>
        </p:spPr>
      </p:pic>
      <p:sp>
        <p:nvSpPr>
          <p:cNvPr id="14" name="TextBox 13"/>
          <p:cNvSpPr txBox="1"/>
          <p:nvPr/>
        </p:nvSpPr>
        <p:spPr>
          <a:xfrm>
            <a:off x="3154680" y="7586036"/>
            <a:ext cx="1600200" cy="365760"/>
          </a:xfrm>
          <a:prstGeom prst="rect">
            <a:avLst/>
          </a:prstGeom>
          <a:noFill/>
        </p:spPr>
        <p:txBody>
          <a:bodyPr wrap="square" lIns="0" rIns="0" tIns="0" bIns="0" anchor="t">
            <a:noAutofit/>
          </a:bodyPr>
          <a:lstStyle/>
          <a:p>
            <a:pPr algn="ctr">
              <a:lnSpc>
                <a:spcPct val="100000"/>
              </a:lnSpc>
              <a:spcAft>
                <a:spcPts val="0"/>
              </a:spcAft>
              <a:buNone/>
            </a:pPr>
            <a:r>
              <a:rPr sz="1700" b="0" i="0">
                <a:solidFill>
                  <a:srgbClr val="1F2433"/>
                </a:solidFill>
                <a:latin typeface="Arial"/>
              </a:rPr>
              <a:t>Vias aéreas</a:t>
            </a:r>
          </a:p>
        </p:txBody>
      </p:sp>
      <p:pic>
        <p:nvPicPr>
          <p:cNvPr id="15" name="icone nose" descr="nose_navy.png"/>
          <p:cNvPicPr>
            <a:picLocks noChangeAspect="1"/>
          </p:cNvPicPr>
          <p:nvPr/>
        </p:nvPicPr>
        <p:blipFill>
          <a:blip r:embed="rId7"/>
          <a:stretch>
            <a:fillRect/>
          </a:stretch>
        </p:blipFill>
        <p:spPr>
          <a:xfrm>
            <a:off x="5417820" y="7083116"/>
            <a:ext cx="457200" cy="457200"/>
          </a:xfrm>
          <a:prstGeom prst="rect">
            <a:avLst/>
          </a:prstGeom>
        </p:spPr>
      </p:pic>
      <p:sp>
        <p:nvSpPr>
          <p:cNvPr id="16" name="TextBox 15"/>
          <p:cNvSpPr txBox="1"/>
          <p:nvPr/>
        </p:nvSpPr>
        <p:spPr>
          <a:xfrm>
            <a:off x="4846320" y="7586036"/>
            <a:ext cx="1600200" cy="365760"/>
          </a:xfrm>
          <a:prstGeom prst="rect">
            <a:avLst/>
          </a:prstGeom>
          <a:noFill/>
        </p:spPr>
        <p:txBody>
          <a:bodyPr wrap="square" lIns="0" rIns="0" tIns="0" bIns="0" anchor="t">
            <a:noAutofit/>
          </a:bodyPr>
          <a:lstStyle/>
          <a:p>
            <a:pPr algn="ctr">
              <a:lnSpc>
                <a:spcPct val="100000"/>
              </a:lnSpc>
              <a:spcAft>
                <a:spcPts val="0"/>
              </a:spcAft>
              <a:buNone/>
            </a:pPr>
            <a:r>
              <a:rPr sz="1700" b="0" i="0">
                <a:solidFill>
                  <a:srgbClr val="1F2433"/>
                </a:solidFill>
                <a:latin typeface="Arial"/>
              </a:rPr>
              <a:t>Mucosas</a:t>
            </a:r>
          </a:p>
        </p:txBody>
      </p:sp>
      <p:pic>
        <p:nvPicPr>
          <p:cNvPr id="17" name="icone exclaim" descr="exclaim_navy.png"/>
          <p:cNvPicPr>
            <a:picLocks noChangeAspect="1"/>
          </p:cNvPicPr>
          <p:nvPr/>
        </p:nvPicPr>
        <p:blipFill>
          <a:blip r:embed="rId8"/>
          <a:stretch>
            <a:fillRect/>
          </a:stretch>
        </p:blipFill>
        <p:spPr>
          <a:xfrm>
            <a:off x="7109460" y="7083116"/>
            <a:ext cx="457200" cy="457200"/>
          </a:xfrm>
          <a:prstGeom prst="rect">
            <a:avLst/>
          </a:prstGeom>
        </p:spPr>
      </p:pic>
      <p:sp>
        <p:nvSpPr>
          <p:cNvPr id="18" name="TextBox 17"/>
          <p:cNvSpPr txBox="1"/>
          <p:nvPr/>
        </p:nvSpPr>
        <p:spPr>
          <a:xfrm>
            <a:off x="6537960" y="7586036"/>
            <a:ext cx="1600200" cy="365760"/>
          </a:xfrm>
          <a:prstGeom prst="rect">
            <a:avLst/>
          </a:prstGeom>
          <a:noFill/>
        </p:spPr>
        <p:txBody>
          <a:bodyPr wrap="square" lIns="0" rIns="0" tIns="0" bIns="0" anchor="t">
            <a:noAutofit/>
          </a:bodyPr>
          <a:lstStyle/>
          <a:p>
            <a:pPr algn="ctr">
              <a:lnSpc>
                <a:spcPct val="100000"/>
              </a:lnSpc>
              <a:spcAft>
                <a:spcPts val="0"/>
              </a:spcAft>
              <a:buNone/>
            </a:pPr>
            <a:r>
              <a:rPr sz="1700" b="0" i="0">
                <a:solidFill>
                  <a:srgbClr val="1F2433"/>
                </a:solidFill>
                <a:latin typeface="Arial"/>
              </a:rPr>
              <a:t>Cefaleia</a:t>
            </a:r>
          </a:p>
        </p:txBody>
      </p:sp>
      <p:sp>
        <p:nvSpPr>
          <p:cNvPr id="19" name="Oval 18"/>
          <p:cNvSpPr/>
          <p:nvPr/>
        </p:nvSpPr>
        <p:spPr>
          <a:xfrm>
            <a:off x="9006840" y="1783080"/>
            <a:ext cx="914400" cy="914400"/>
          </a:xfrm>
          <a:prstGeom prst="ellipse">
            <a:avLst/>
          </a:prstGeom>
          <a:solidFill>
            <a:srgbClr val="002060"/>
          </a:solidFill>
          <a:ln>
            <a:noFill/>
          </a:ln>
          <a:effectLst/>
        </p:spPr>
        <p:txBody>
          <a:bodyPr rtlCol="0" anchor="ctr" lIns="0" rIns="0" tIns="0" bIns="0"/>
          <a:lstStyle/>
          <a:p/>
        </p:txBody>
      </p:sp>
      <p:pic>
        <p:nvPicPr>
          <p:cNvPr id="20" name="icone smoke" descr="smoke_white.png"/>
          <p:cNvPicPr>
            <a:picLocks noChangeAspect="1"/>
          </p:cNvPicPr>
          <p:nvPr/>
        </p:nvPicPr>
        <p:blipFill>
          <a:blip r:embed="rId9"/>
          <a:stretch>
            <a:fillRect/>
          </a:stretch>
        </p:blipFill>
        <p:spPr>
          <a:xfrm>
            <a:off x="9235440" y="2011680"/>
            <a:ext cx="457200" cy="457200"/>
          </a:xfrm>
          <a:prstGeom prst="rect">
            <a:avLst/>
          </a:prstGeom>
        </p:spPr>
      </p:pic>
      <p:sp>
        <p:nvSpPr>
          <p:cNvPr id="21" name="TextBox 20"/>
          <p:cNvSpPr txBox="1"/>
          <p:nvPr/>
        </p:nvSpPr>
        <p:spPr>
          <a:xfrm>
            <a:off x="10195560" y="1801368"/>
            <a:ext cx="7589519" cy="45720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O que é</a:t>
            </a:r>
          </a:p>
        </p:txBody>
      </p:sp>
      <p:sp>
        <p:nvSpPr>
          <p:cNvPr id="22" name="TextBox 21"/>
          <p:cNvSpPr txBox="1"/>
          <p:nvPr/>
        </p:nvSpPr>
        <p:spPr>
          <a:xfrm>
            <a:off x="10195560" y="2331720"/>
            <a:ext cx="7589519" cy="1478280"/>
          </a:xfrm>
          <a:prstGeom prst="rect">
            <a:avLst/>
          </a:prstGeom>
          <a:noFill/>
        </p:spPr>
        <p:txBody>
          <a:bodyPr wrap="square" lIns="0" rIns="0" tIns="0" bIns="0" anchor="t">
            <a:noAutofit/>
          </a:bodyPr>
          <a:lstStyle/>
          <a:p>
            <a:pPr algn="l">
              <a:lnSpc>
                <a:spcPct val="102000"/>
              </a:lnSpc>
              <a:spcAft>
                <a:spcPts val="0"/>
              </a:spcAft>
              <a:buNone/>
            </a:pPr>
            <a:r>
              <a:rPr sz="2100" b="0" i="0">
                <a:solidFill>
                  <a:srgbClr val="1F2433"/>
                </a:solidFill>
                <a:latin typeface="Arial"/>
              </a:rPr>
              <a:t>Subproduto do </a:t>
            </a:r>
            <a:r>
              <a:rPr sz="2100" b="1" i="0">
                <a:solidFill>
                  <a:srgbClr val="1F2433"/>
                </a:solidFill>
                <a:latin typeface="Arial"/>
              </a:rPr>
              <a:t>eletrocautério, do laser e do bisturi ultrassônico</a:t>
            </a:r>
            <a:r>
              <a:rPr sz="2100" b="0" i="0">
                <a:solidFill>
                  <a:srgbClr val="1F2433"/>
                </a:solidFill>
                <a:latin typeface="Arial"/>
              </a:rPr>
              <a:t> ao cortar e coagular tecido.</a:t>
            </a:r>
          </a:p>
        </p:txBody>
      </p:sp>
      <p:sp>
        <p:nvSpPr>
          <p:cNvPr id="23" name="Oval 22"/>
          <p:cNvSpPr/>
          <p:nvPr/>
        </p:nvSpPr>
        <p:spPr>
          <a:xfrm>
            <a:off x="9006840" y="3901440"/>
            <a:ext cx="914400" cy="914400"/>
          </a:xfrm>
          <a:prstGeom prst="ellipse">
            <a:avLst/>
          </a:prstGeom>
          <a:solidFill>
            <a:srgbClr val="002060"/>
          </a:solidFill>
          <a:ln>
            <a:noFill/>
          </a:ln>
          <a:effectLst/>
        </p:spPr>
        <p:txBody>
          <a:bodyPr rtlCol="0" anchor="ctr" lIns="0" rIns="0" tIns="0" bIns="0"/>
          <a:lstStyle/>
          <a:p/>
        </p:txBody>
      </p:sp>
      <p:pic>
        <p:nvPicPr>
          <p:cNvPr id="24" name="icone flask" descr="flask_white.png"/>
          <p:cNvPicPr>
            <a:picLocks noChangeAspect="1"/>
          </p:cNvPicPr>
          <p:nvPr/>
        </p:nvPicPr>
        <p:blipFill>
          <a:blip r:embed="rId10"/>
          <a:stretch>
            <a:fillRect/>
          </a:stretch>
        </p:blipFill>
        <p:spPr>
          <a:xfrm>
            <a:off x="9235440" y="4130040"/>
            <a:ext cx="457200" cy="457200"/>
          </a:xfrm>
          <a:prstGeom prst="rect">
            <a:avLst/>
          </a:prstGeom>
        </p:spPr>
      </p:pic>
      <p:sp>
        <p:nvSpPr>
          <p:cNvPr id="25" name="TextBox 24"/>
          <p:cNvSpPr txBox="1"/>
          <p:nvPr/>
        </p:nvSpPr>
        <p:spPr>
          <a:xfrm>
            <a:off x="10195560" y="3919727"/>
            <a:ext cx="7589519" cy="45720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O que contém</a:t>
            </a:r>
          </a:p>
        </p:txBody>
      </p:sp>
      <p:sp>
        <p:nvSpPr>
          <p:cNvPr id="26" name="TextBox 25"/>
          <p:cNvSpPr txBox="1"/>
          <p:nvPr/>
        </p:nvSpPr>
        <p:spPr>
          <a:xfrm>
            <a:off x="10195560" y="4450080"/>
            <a:ext cx="7589519" cy="1478280"/>
          </a:xfrm>
          <a:prstGeom prst="rect">
            <a:avLst/>
          </a:prstGeom>
          <a:noFill/>
        </p:spPr>
        <p:txBody>
          <a:bodyPr wrap="square" lIns="0" rIns="0" tIns="0" bIns="0" anchor="t">
            <a:noAutofit/>
          </a:bodyPr>
          <a:lstStyle/>
          <a:p>
            <a:pPr algn="l">
              <a:lnSpc>
                <a:spcPct val="102000"/>
              </a:lnSpc>
              <a:spcAft>
                <a:spcPts val="0"/>
              </a:spcAft>
              <a:buNone/>
            </a:pPr>
            <a:r>
              <a:rPr sz="2100" b="1" i="0">
                <a:solidFill>
                  <a:srgbClr val="1F2433"/>
                </a:solidFill>
                <a:latin typeface="Arial"/>
              </a:rPr>
              <a:t>Benzeno</a:t>
            </a:r>
            <a:r>
              <a:rPr sz="2100" b="0" i="0">
                <a:solidFill>
                  <a:srgbClr val="1F2433"/>
                </a:solidFill>
                <a:latin typeface="Arial"/>
              </a:rPr>
              <a:t> e outros compostos voláteis, </a:t>
            </a:r>
            <a:r>
              <a:rPr sz="2100" b="1" i="0">
                <a:solidFill>
                  <a:srgbClr val="1F2433"/>
                </a:solidFill>
                <a:latin typeface="Arial"/>
              </a:rPr>
              <a:t>partículas ultrafinas</a:t>
            </a:r>
            <a:r>
              <a:rPr sz="2100" b="0" i="0">
                <a:solidFill>
                  <a:srgbClr val="1F2433"/>
                </a:solidFill>
                <a:latin typeface="Arial"/>
              </a:rPr>
              <a:t> e DNA viral, como o do HPV.</a:t>
            </a:r>
          </a:p>
        </p:txBody>
      </p:sp>
      <p:sp>
        <p:nvSpPr>
          <p:cNvPr id="27" name="Oval 26"/>
          <p:cNvSpPr/>
          <p:nvPr/>
        </p:nvSpPr>
        <p:spPr>
          <a:xfrm>
            <a:off x="9006840" y="6019800"/>
            <a:ext cx="914400" cy="914400"/>
          </a:xfrm>
          <a:prstGeom prst="ellipse">
            <a:avLst/>
          </a:prstGeom>
          <a:solidFill>
            <a:srgbClr val="002060"/>
          </a:solidFill>
          <a:ln>
            <a:noFill/>
          </a:ln>
          <a:effectLst/>
        </p:spPr>
        <p:txBody>
          <a:bodyPr rtlCol="0" anchor="ctr" lIns="0" rIns="0" tIns="0" bIns="0"/>
          <a:lstStyle/>
          <a:p/>
        </p:txBody>
      </p:sp>
      <p:pic>
        <p:nvPicPr>
          <p:cNvPr id="28" name="icone warning" descr="warning_white.png"/>
          <p:cNvPicPr>
            <a:picLocks noChangeAspect="1"/>
          </p:cNvPicPr>
          <p:nvPr/>
        </p:nvPicPr>
        <p:blipFill>
          <a:blip r:embed="rId11"/>
          <a:stretch>
            <a:fillRect/>
          </a:stretch>
        </p:blipFill>
        <p:spPr>
          <a:xfrm>
            <a:off x="9235440" y="6248400"/>
            <a:ext cx="457200" cy="457200"/>
          </a:xfrm>
          <a:prstGeom prst="rect">
            <a:avLst/>
          </a:prstGeom>
        </p:spPr>
      </p:pic>
      <p:sp>
        <p:nvSpPr>
          <p:cNvPr id="29" name="TextBox 28"/>
          <p:cNvSpPr txBox="1"/>
          <p:nvPr/>
        </p:nvSpPr>
        <p:spPr>
          <a:xfrm>
            <a:off x="10195560" y="6038088"/>
            <a:ext cx="7589519" cy="45720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O que se sabe</a:t>
            </a:r>
          </a:p>
        </p:txBody>
      </p:sp>
      <p:sp>
        <p:nvSpPr>
          <p:cNvPr id="30" name="TextBox 29"/>
          <p:cNvSpPr txBox="1"/>
          <p:nvPr/>
        </p:nvSpPr>
        <p:spPr>
          <a:xfrm>
            <a:off x="10195560" y="6568440"/>
            <a:ext cx="7589519" cy="1478280"/>
          </a:xfrm>
          <a:prstGeom prst="rect">
            <a:avLst/>
          </a:prstGeom>
          <a:noFill/>
        </p:spPr>
        <p:txBody>
          <a:bodyPr wrap="square" lIns="0" rIns="0" tIns="0" bIns="0" anchor="t">
            <a:noAutofit/>
          </a:bodyPr>
          <a:lstStyle/>
          <a:p>
            <a:pPr algn="l">
              <a:lnSpc>
                <a:spcPct val="102000"/>
              </a:lnSpc>
              <a:spcAft>
                <a:spcPts val="0"/>
              </a:spcAft>
              <a:buNone/>
            </a:pPr>
            <a:r>
              <a:rPr sz="2100" b="0" i="0">
                <a:solidFill>
                  <a:srgbClr val="1F2433"/>
                </a:solidFill>
                <a:latin typeface="Arial"/>
              </a:rPr>
              <a:t>Sintomas agudos frequentes; efeitos crônicos plausíveis, mas </a:t>
            </a:r>
            <a:r>
              <a:rPr sz="2100" b="1" i="0">
                <a:solidFill>
                  <a:srgbClr val="1F2433"/>
                </a:solidFill>
                <a:highlight>
                  <a:srgbClr val="FFEB99"/>
                </a:highlight>
                <a:latin typeface="Arial"/>
              </a:rPr>
              <a:t>sem relação causal estabelecida</a:t>
            </a:r>
            <a:r>
              <a:rPr sz="2100" b="0" i="0">
                <a:solidFill>
                  <a:srgbClr val="1F2433"/>
                </a:solidFill>
                <a:latin typeface="Arial"/>
              </a:rPr>
              <a:t>.</a:t>
            </a:r>
          </a:p>
        </p:txBody>
      </p:sp>
      <p:sp>
        <p:nvSpPr>
          <p:cNvPr id="31" name="Rounded Rectangle 30"/>
          <p:cNvSpPr/>
          <p:nvPr/>
        </p:nvSpPr>
        <p:spPr>
          <a:xfrm>
            <a:off x="1143000" y="8412480"/>
            <a:ext cx="16642080" cy="1325880"/>
          </a:xfrm>
          <a:prstGeom prst="roundRect">
            <a:avLst>
              <a:gd name="adj" fmla="val 6000"/>
            </a:avLst>
          </a:prstGeom>
          <a:solidFill>
            <a:srgbClr val="002060"/>
          </a:solidFill>
          <a:ln>
            <a:noFill/>
          </a:ln>
          <a:effectLst/>
        </p:spPr>
        <p:txBody>
          <a:bodyPr rtlCol="0" anchor="ctr"/>
          <a:lstStyle/>
          <a:p/>
        </p:txBody>
      </p:sp>
      <p:pic>
        <p:nvPicPr>
          <p:cNvPr id="32" name="icone question" descr="question_gold.png"/>
          <p:cNvPicPr>
            <a:picLocks noChangeAspect="1"/>
          </p:cNvPicPr>
          <p:nvPr/>
        </p:nvPicPr>
        <p:blipFill>
          <a:blip r:embed="rId12"/>
          <a:stretch>
            <a:fillRect/>
          </a:stretch>
        </p:blipFill>
        <p:spPr>
          <a:xfrm>
            <a:off x="1463040" y="8755380"/>
            <a:ext cx="640080" cy="640080"/>
          </a:xfrm>
          <a:prstGeom prst="rect">
            <a:avLst/>
          </a:prstGeom>
        </p:spPr>
      </p:pic>
      <p:sp>
        <p:nvSpPr>
          <p:cNvPr id="33" name="TextBox 32"/>
          <p:cNvSpPr txBox="1"/>
          <p:nvPr/>
        </p:nvSpPr>
        <p:spPr>
          <a:xfrm>
            <a:off x="2377440" y="8549640"/>
            <a:ext cx="15087600" cy="105156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C8A951"/>
                </a:solidFill>
                <a:latin typeface="Arial"/>
              </a:rPr>
              <a:t>Lacuna: </a:t>
            </a:r>
            <a:r>
              <a:rPr sz="2100" b="0" i="0">
                <a:solidFill>
                  <a:srgbClr val="FFFFFF"/>
                </a:solidFill>
                <a:latin typeface="Arial"/>
              </a:rPr>
              <a:t>as revisões anteriores eram majoritariamente descritivas; </a:t>
            </a:r>
            <a:r>
              <a:rPr sz="2100" b="1" i="0">
                <a:solidFill>
                  <a:srgbClr val="FFFFFF"/>
                </a:solidFill>
                <a:latin typeface="Arial"/>
              </a:rPr>
              <a:t>faltava combinar os estudos numa estimativa e graduar a certeza da evidência.</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OBJETIVOS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Pergunta: que desfechos de saúde se associam à exposição à fumaça cirúrgica?</a:t>
            </a:r>
          </a:p>
        </p:txBody>
      </p:sp>
      <p:sp>
        <p:nvSpPr>
          <p:cNvPr id="7" name="Rounded Rectangle 6"/>
          <p:cNvSpPr/>
          <p:nvPr/>
        </p:nvSpPr>
        <p:spPr>
          <a:xfrm>
            <a:off x="1143000" y="1783080"/>
            <a:ext cx="16642080" cy="1417320"/>
          </a:xfrm>
          <a:prstGeom prst="roundRect">
            <a:avLst>
              <a:gd name="adj" fmla="val 6000"/>
            </a:avLst>
          </a:prstGeom>
          <a:solidFill>
            <a:srgbClr val="002060"/>
          </a:solidFill>
          <a:ln>
            <a:noFill/>
          </a:ln>
          <a:effectLst/>
        </p:spPr>
        <p:txBody>
          <a:bodyPr rtlCol="0" anchor="ctr"/>
          <a:lstStyle/>
          <a:p/>
        </p:txBody>
      </p:sp>
      <p:sp>
        <p:nvSpPr>
          <p:cNvPr id="8" name="TextBox 7"/>
          <p:cNvSpPr txBox="1"/>
          <p:nvPr/>
        </p:nvSpPr>
        <p:spPr>
          <a:xfrm>
            <a:off x="1554480" y="1920240"/>
            <a:ext cx="15819120" cy="1143000"/>
          </a:xfrm>
          <a:prstGeom prst="rect">
            <a:avLst/>
          </a:prstGeom>
          <a:noFill/>
        </p:spPr>
        <p:txBody>
          <a:bodyPr wrap="square" lIns="0" rIns="0" tIns="0" bIns="0" anchor="ctr">
            <a:noAutofit/>
          </a:bodyPr>
          <a:lstStyle/>
          <a:p>
            <a:pPr algn="l">
              <a:lnSpc>
                <a:spcPct val="100000"/>
              </a:lnSpc>
              <a:spcAft>
                <a:spcPts val="0"/>
              </a:spcAft>
              <a:buNone/>
            </a:pPr>
            <a:r>
              <a:rPr sz="2400" b="1" i="0">
                <a:solidFill>
                  <a:srgbClr val="C8A951"/>
                </a:solidFill>
                <a:latin typeface="Arial"/>
              </a:rPr>
              <a:t>Objetivo geral: </a:t>
            </a:r>
            <a:r>
              <a:rPr sz="2400" b="0" i="0">
                <a:solidFill>
                  <a:srgbClr val="FFFFFF"/>
                </a:solidFill>
                <a:latin typeface="Arial"/>
              </a:rPr>
              <a:t>avaliar os desfechos de saúde associados à exposição ocupacional à fumaça cirúrgica na equipe de centro cirúrgico.</a:t>
            </a:r>
          </a:p>
        </p:txBody>
      </p:sp>
      <p:sp>
        <p:nvSpPr>
          <p:cNvPr id="9" name="Rounded Rectangle 8"/>
          <p:cNvSpPr/>
          <p:nvPr/>
        </p:nvSpPr>
        <p:spPr>
          <a:xfrm>
            <a:off x="1143000" y="3566160"/>
            <a:ext cx="5364480" cy="3154680"/>
          </a:xfrm>
          <a:prstGeom prst="roundRect">
            <a:avLst>
              <a:gd name="adj" fmla="val 6000"/>
            </a:avLst>
          </a:prstGeom>
          <a:solidFill>
            <a:srgbClr val="F2F4F8"/>
          </a:solidFill>
          <a:ln>
            <a:noFill/>
          </a:ln>
          <a:effectLst/>
        </p:spPr>
        <p:txBody>
          <a:bodyPr rtlCol="0" anchor="ctr"/>
          <a:lstStyle/>
          <a:p/>
        </p:txBody>
      </p:sp>
      <p:sp>
        <p:nvSpPr>
          <p:cNvPr id="10" name="Oval 9"/>
          <p:cNvSpPr/>
          <p:nvPr/>
        </p:nvSpPr>
        <p:spPr>
          <a:xfrm>
            <a:off x="1463040" y="3886200"/>
            <a:ext cx="822960" cy="82296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3000" b="1" i="0">
                <a:solidFill>
                  <a:srgbClr val="FFFFFF"/>
                </a:solidFill>
                <a:latin typeface="Arial"/>
              </a:rPr>
              <a:t>1</a:t>
            </a:r>
          </a:p>
        </p:txBody>
      </p:sp>
      <p:sp>
        <p:nvSpPr>
          <p:cNvPr id="11" name="TextBox 10"/>
          <p:cNvSpPr txBox="1"/>
          <p:nvPr/>
        </p:nvSpPr>
        <p:spPr>
          <a:xfrm>
            <a:off x="2514600" y="3886200"/>
            <a:ext cx="3672839" cy="82296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Prevalência de sintomas</a:t>
            </a:r>
          </a:p>
        </p:txBody>
      </p:sp>
      <p:sp>
        <p:nvSpPr>
          <p:cNvPr id="12" name="TextBox 11"/>
          <p:cNvSpPr txBox="1"/>
          <p:nvPr/>
        </p:nvSpPr>
        <p:spPr>
          <a:xfrm>
            <a:off x="1463040" y="4846320"/>
            <a:ext cx="4724399" cy="1554480"/>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8B0000"/>
                </a:solidFill>
                <a:latin typeface="Arial"/>
              </a:rPr>
              <a:t>Metanálise</a:t>
            </a:r>
          </a:p>
          <a:p>
            <a:pPr algn="l">
              <a:lnSpc>
                <a:spcPct val="100000"/>
              </a:lnSpc>
              <a:spcAft>
                <a:spcPts val="0"/>
              </a:spcAft>
              <a:buNone/>
            </a:pPr>
            <a:r>
              <a:rPr sz="2100" b="0" i="0">
                <a:solidFill>
                  <a:srgbClr val="1F2433"/>
                </a:solidFill>
                <a:latin typeface="Arial"/>
              </a:rPr>
              <a:t>ocular (principal) e respiratório (exploratório)</a:t>
            </a:r>
          </a:p>
        </p:txBody>
      </p:sp>
      <p:sp>
        <p:nvSpPr>
          <p:cNvPr id="13" name="Rounded Rectangle 12"/>
          <p:cNvSpPr/>
          <p:nvPr/>
        </p:nvSpPr>
        <p:spPr>
          <a:xfrm>
            <a:off x="6781799" y="3566160"/>
            <a:ext cx="5364480" cy="3154680"/>
          </a:xfrm>
          <a:prstGeom prst="roundRect">
            <a:avLst>
              <a:gd name="adj" fmla="val 6000"/>
            </a:avLst>
          </a:prstGeom>
          <a:solidFill>
            <a:srgbClr val="F2F4F8"/>
          </a:solidFill>
          <a:ln>
            <a:noFill/>
          </a:ln>
          <a:effectLst/>
        </p:spPr>
        <p:txBody>
          <a:bodyPr rtlCol="0" anchor="ctr"/>
          <a:lstStyle/>
          <a:p/>
        </p:txBody>
      </p:sp>
      <p:sp>
        <p:nvSpPr>
          <p:cNvPr id="14" name="Oval 13"/>
          <p:cNvSpPr/>
          <p:nvPr/>
        </p:nvSpPr>
        <p:spPr>
          <a:xfrm>
            <a:off x="7101839" y="3886200"/>
            <a:ext cx="822960" cy="82296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3000" b="1" i="0">
                <a:solidFill>
                  <a:srgbClr val="FFFFFF"/>
                </a:solidFill>
                <a:latin typeface="Arial"/>
              </a:rPr>
              <a:t>2</a:t>
            </a:r>
          </a:p>
        </p:txBody>
      </p:sp>
      <p:sp>
        <p:nvSpPr>
          <p:cNvPr id="15" name="TextBox 14"/>
          <p:cNvSpPr txBox="1"/>
          <p:nvPr/>
        </p:nvSpPr>
        <p:spPr>
          <a:xfrm>
            <a:off x="8153399" y="3886200"/>
            <a:ext cx="3672839" cy="82296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Desfechos objetivos e biomarcadores</a:t>
            </a:r>
          </a:p>
        </p:txBody>
      </p:sp>
      <p:sp>
        <p:nvSpPr>
          <p:cNvPr id="16" name="TextBox 15"/>
          <p:cNvSpPr txBox="1"/>
          <p:nvPr/>
        </p:nvSpPr>
        <p:spPr>
          <a:xfrm>
            <a:off x="7101839" y="4846320"/>
            <a:ext cx="4724399" cy="1554480"/>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8B0000"/>
                </a:solidFill>
                <a:latin typeface="Arial"/>
              </a:rPr>
              <a:t>Síntese narrativa</a:t>
            </a:r>
          </a:p>
          <a:p>
            <a:pPr algn="l">
              <a:lnSpc>
                <a:spcPct val="100000"/>
              </a:lnSpc>
              <a:spcAft>
                <a:spcPts val="0"/>
              </a:spcAft>
              <a:buNone/>
            </a:pPr>
            <a:r>
              <a:rPr sz="2100" b="0" i="0">
                <a:solidFill>
                  <a:srgbClr val="1F2433"/>
                </a:solidFill>
                <a:latin typeface="Arial"/>
              </a:rPr>
              <a:t>função pulmonar, urina, mucosa nasal e HPV</a:t>
            </a:r>
          </a:p>
        </p:txBody>
      </p:sp>
      <p:sp>
        <p:nvSpPr>
          <p:cNvPr id="17" name="Rounded Rectangle 16"/>
          <p:cNvSpPr/>
          <p:nvPr/>
        </p:nvSpPr>
        <p:spPr>
          <a:xfrm>
            <a:off x="12420599" y="3566160"/>
            <a:ext cx="5364480" cy="3154680"/>
          </a:xfrm>
          <a:prstGeom prst="roundRect">
            <a:avLst>
              <a:gd name="adj" fmla="val 6000"/>
            </a:avLst>
          </a:prstGeom>
          <a:solidFill>
            <a:srgbClr val="F2F4F8"/>
          </a:solidFill>
          <a:ln>
            <a:noFill/>
          </a:ln>
          <a:effectLst/>
        </p:spPr>
        <p:txBody>
          <a:bodyPr rtlCol="0" anchor="ctr"/>
          <a:lstStyle/>
          <a:p/>
        </p:txBody>
      </p:sp>
      <p:sp>
        <p:nvSpPr>
          <p:cNvPr id="18" name="Oval 17"/>
          <p:cNvSpPr/>
          <p:nvPr/>
        </p:nvSpPr>
        <p:spPr>
          <a:xfrm>
            <a:off x="12740639" y="3886200"/>
            <a:ext cx="822960" cy="82296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3000" b="1" i="0">
                <a:solidFill>
                  <a:srgbClr val="FFFFFF"/>
                </a:solidFill>
                <a:latin typeface="Arial"/>
              </a:rPr>
              <a:t>3</a:t>
            </a:r>
          </a:p>
        </p:txBody>
      </p:sp>
      <p:sp>
        <p:nvSpPr>
          <p:cNvPr id="19" name="TextBox 18"/>
          <p:cNvSpPr txBox="1"/>
          <p:nvPr/>
        </p:nvSpPr>
        <p:spPr>
          <a:xfrm>
            <a:off x="13792199" y="3886200"/>
            <a:ext cx="3672839" cy="82296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Certeza da evidência</a:t>
            </a:r>
          </a:p>
        </p:txBody>
      </p:sp>
      <p:sp>
        <p:nvSpPr>
          <p:cNvPr id="20" name="TextBox 19"/>
          <p:cNvSpPr txBox="1"/>
          <p:nvPr/>
        </p:nvSpPr>
        <p:spPr>
          <a:xfrm>
            <a:off x="12740639" y="4846320"/>
            <a:ext cx="4724399" cy="1554480"/>
          </a:xfrm>
          <a:prstGeom prst="rect">
            <a:avLst/>
          </a:prstGeom>
          <a:noFill/>
        </p:spPr>
        <p:txBody>
          <a:bodyPr wrap="square" lIns="0" rIns="0" tIns="0" bIns="0" anchor="ctr">
            <a:noAutofit/>
          </a:bodyPr>
          <a:lstStyle/>
          <a:p>
            <a:pPr algn="l">
              <a:lnSpc>
                <a:spcPct val="100000"/>
              </a:lnSpc>
              <a:spcAft>
                <a:spcPts val="600"/>
              </a:spcAft>
              <a:buNone/>
            </a:pPr>
            <a:r>
              <a:rPr sz="2600" b="1" i="0">
                <a:solidFill>
                  <a:srgbClr val="8B0000"/>
                </a:solidFill>
                <a:latin typeface="Arial"/>
              </a:rPr>
              <a:t>GRADE</a:t>
            </a:r>
          </a:p>
          <a:p>
            <a:pPr algn="l">
              <a:lnSpc>
                <a:spcPct val="100000"/>
              </a:lnSpc>
              <a:spcAft>
                <a:spcPts val="0"/>
              </a:spcAft>
              <a:buNone/>
            </a:pPr>
            <a:r>
              <a:rPr sz="2100" b="0" i="0">
                <a:solidFill>
                  <a:srgbClr val="1F2433"/>
                </a:solidFill>
                <a:latin typeface="Arial"/>
              </a:rPr>
              <a:t>por desfecho, em cinco domínios</a:t>
            </a:r>
          </a:p>
        </p:txBody>
      </p:sp>
      <p:sp>
        <p:nvSpPr>
          <p:cNvPr id="21" name="TextBox 20"/>
          <p:cNvSpPr txBox="1"/>
          <p:nvPr/>
        </p:nvSpPr>
        <p:spPr>
          <a:xfrm>
            <a:off x="1143000" y="7040879"/>
            <a:ext cx="16642080" cy="36576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Pergunta estruturada (PECO)</a:t>
            </a:r>
          </a:p>
        </p:txBody>
      </p:sp>
      <p:sp>
        <p:nvSpPr>
          <p:cNvPr id="22" name="Rounded Rectangle 21"/>
          <p:cNvSpPr/>
          <p:nvPr/>
        </p:nvSpPr>
        <p:spPr>
          <a:xfrm>
            <a:off x="1143000" y="7498079"/>
            <a:ext cx="3954780" cy="2240280"/>
          </a:xfrm>
          <a:prstGeom prst="roundRect">
            <a:avLst>
              <a:gd name="adj" fmla="val 6000"/>
            </a:avLst>
          </a:prstGeom>
          <a:solidFill>
            <a:srgbClr val="E3F3F4"/>
          </a:solidFill>
          <a:ln>
            <a:noFill/>
          </a:ln>
          <a:effectLst/>
        </p:spPr>
        <p:txBody>
          <a:bodyPr rtlCol="0" anchor="ctr"/>
          <a:lstStyle/>
          <a:p/>
        </p:txBody>
      </p:sp>
      <p:sp>
        <p:nvSpPr>
          <p:cNvPr id="23" name="Oval 22"/>
          <p:cNvSpPr/>
          <p:nvPr/>
        </p:nvSpPr>
        <p:spPr>
          <a:xfrm>
            <a:off x="1463040" y="8206740"/>
            <a:ext cx="822960" cy="822960"/>
          </a:xfrm>
          <a:prstGeom prst="ellipse">
            <a:avLst/>
          </a:prstGeom>
          <a:solidFill>
            <a:srgbClr val="0E7C86"/>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P</a:t>
            </a:r>
          </a:p>
        </p:txBody>
      </p:sp>
      <p:sp>
        <p:nvSpPr>
          <p:cNvPr id="24" name="TextBox 23"/>
          <p:cNvSpPr txBox="1"/>
          <p:nvPr/>
        </p:nvSpPr>
        <p:spPr>
          <a:xfrm>
            <a:off x="2514600" y="7635240"/>
            <a:ext cx="2263140" cy="1965960"/>
          </a:xfrm>
          <a:prstGeom prst="rect">
            <a:avLst/>
          </a:prstGeom>
          <a:noFill/>
        </p:spPr>
        <p:txBody>
          <a:bodyPr wrap="square" lIns="0" rIns="0" tIns="0" bIns="0" anchor="ctr">
            <a:noAutofit/>
          </a:bodyPr>
          <a:lstStyle/>
          <a:p>
            <a:pPr algn="l">
              <a:lnSpc>
                <a:spcPct val="100000"/>
              </a:lnSpc>
              <a:spcAft>
                <a:spcPts val="200"/>
              </a:spcAft>
              <a:buNone/>
            </a:pPr>
            <a:r>
              <a:rPr sz="2000" b="1" i="0">
                <a:solidFill>
                  <a:srgbClr val="0E7C86"/>
                </a:solidFill>
                <a:latin typeface="Arial"/>
              </a:rPr>
              <a:t>População</a:t>
            </a:r>
          </a:p>
          <a:p>
            <a:pPr algn="l">
              <a:lnSpc>
                <a:spcPct val="100000"/>
              </a:lnSpc>
              <a:spcAft>
                <a:spcPts val="0"/>
              </a:spcAft>
              <a:buNone/>
            </a:pPr>
            <a:r>
              <a:rPr sz="1900" b="0" i="0">
                <a:solidFill>
                  <a:srgbClr val="1F2433"/>
                </a:solidFill>
                <a:latin typeface="Arial"/>
              </a:rPr>
              <a:t>Equipe de centro cirúrgico</a:t>
            </a:r>
          </a:p>
        </p:txBody>
      </p:sp>
      <p:sp>
        <p:nvSpPr>
          <p:cNvPr id="25" name="Rounded Rectangle 24"/>
          <p:cNvSpPr/>
          <p:nvPr/>
        </p:nvSpPr>
        <p:spPr>
          <a:xfrm>
            <a:off x="5372100" y="7498079"/>
            <a:ext cx="3954780" cy="2240280"/>
          </a:xfrm>
          <a:prstGeom prst="roundRect">
            <a:avLst>
              <a:gd name="adj" fmla="val 6000"/>
            </a:avLst>
          </a:prstGeom>
          <a:solidFill>
            <a:srgbClr val="E3F3F4"/>
          </a:solidFill>
          <a:ln>
            <a:noFill/>
          </a:ln>
          <a:effectLst/>
        </p:spPr>
        <p:txBody>
          <a:bodyPr rtlCol="0" anchor="ctr"/>
          <a:lstStyle/>
          <a:p/>
        </p:txBody>
      </p:sp>
      <p:sp>
        <p:nvSpPr>
          <p:cNvPr id="26" name="Oval 25"/>
          <p:cNvSpPr/>
          <p:nvPr/>
        </p:nvSpPr>
        <p:spPr>
          <a:xfrm>
            <a:off x="5692140" y="8206740"/>
            <a:ext cx="822960" cy="822960"/>
          </a:xfrm>
          <a:prstGeom prst="ellipse">
            <a:avLst/>
          </a:prstGeom>
          <a:solidFill>
            <a:srgbClr val="0E7C86"/>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E</a:t>
            </a:r>
          </a:p>
        </p:txBody>
      </p:sp>
      <p:sp>
        <p:nvSpPr>
          <p:cNvPr id="27" name="TextBox 26"/>
          <p:cNvSpPr txBox="1"/>
          <p:nvPr/>
        </p:nvSpPr>
        <p:spPr>
          <a:xfrm>
            <a:off x="6743700" y="7635240"/>
            <a:ext cx="2263140" cy="1965960"/>
          </a:xfrm>
          <a:prstGeom prst="rect">
            <a:avLst/>
          </a:prstGeom>
          <a:noFill/>
        </p:spPr>
        <p:txBody>
          <a:bodyPr wrap="square" lIns="0" rIns="0" tIns="0" bIns="0" anchor="ctr">
            <a:noAutofit/>
          </a:bodyPr>
          <a:lstStyle/>
          <a:p>
            <a:pPr algn="l">
              <a:lnSpc>
                <a:spcPct val="100000"/>
              </a:lnSpc>
              <a:spcAft>
                <a:spcPts val="200"/>
              </a:spcAft>
              <a:buNone/>
            </a:pPr>
            <a:r>
              <a:rPr sz="2000" b="1" i="0">
                <a:solidFill>
                  <a:srgbClr val="0E7C86"/>
                </a:solidFill>
                <a:latin typeface="Arial"/>
              </a:rPr>
              <a:t>Exposição</a:t>
            </a:r>
          </a:p>
          <a:p>
            <a:pPr algn="l">
              <a:lnSpc>
                <a:spcPct val="100000"/>
              </a:lnSpc>
              <a:spcAft>
                <a:spcPts val="0"/>
              </a:spcAft>
              <a:buNone/>
            </a:pPr>
            <a:r>
              <a:rPr sz="1900" b="0" i="0">
                <a:solidFill>
                  <a:srgbClr val="1F2433"/>
                </a:solidFill>
                <a:latin typeface="Arial"/>
              </a:rPr>
              <a:t>Fumaça de dispositivos de energia</a:t>
            </a:r>
          </a:p>
        </p:txBody>
      </p:sp>
      <p:sp>
        <p:nvSpPr>
          <p:cNvPr id="28" name="Rounded Rectangle 27"/>
          <p:cNvSpPr/>
          <p:nvPr/>
        </p:nvSpPr>
        <p:spPr>
          <a:xfrm>
            <a:off x="9601200" y="7498079"/>
            <a:ext cx="3954780" cy="2240280"/>
          </a:xfrm>
          <a:prstGeom prst="roundRect">
            <a:avLst>
              <a:gd name="adj" fmla="val 6000"/>
            </a:avLst>
          </a:prstGeom>
          <a:solidFill>
            <a:srgbClr val="E3F3F4"/>
          </a:solidFill>
          <a:ln>
            <a:noFill/>
          </a:ln>
          <a:effectLst/>
        </p:spPr>
        <p:txBody>
          <a:bodyPr rtlCol="0" anchor="ctr"/>
          <a:lstStyle/>
          <a:p/>
        </p:txBody>
      </p:sp>
      <p:sp>
        <p:nvSpPr>
          <p:cNvPr id="29" name="Oval 28"/>
          <p:cNvSpPr/>
          <p:nvPr/>
        </p:nvSpPr>
        <p:spPr>
          <a:xfrm>
            <a:off x="9921240" y="8206740"/>
            <a:ext cx="822960" cy="822960"/>
          </a:xfrm>
          <a:prstGeom prst="ellipse">
            <a:avLst/>
          </a:prstGeom>
          <a:solidFill>
            <a:srgbClr val="0E7C86"/>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C</a:t>
            </a:r>
          </a:p>
        </p:txBody>
      </p:sp>
      <p:sp>
        <p:nvSpPr>
          <p:cNvPr id="30" name="TextBox 29"/>
          <p:cNvSpPr txBox="1"/>
          <p:nvPr/>
        </p:nvSpPr>
        <p:spPr>
          <a:xfrm>
            <a:off x="10972800" y="7635240"/>
            <a:ext cx="2263140" cy="1965960"/>
          </a:xfrm>
          <a:prstGeom prst="rect">
            <a:avLst/>
          </a:prstGeom>
          <a:noFill/>
        </p:spPr>
        <p:txBody>
          <a:bodyPr wrap="square" lIns="0" rIns="0" tIns="0" bIns="0" anchor="ctr">
            <a:noAutofit/>
          </a:bodyPr>
          <a:lstStyle/>
          <a:p>
            <a:pPr algn="l">
              <a:lnSpc>
                <a:spcPct val="100000"/>
              </a:lnSpc>
              <a:spcAft>
                <a:spcPts val="200"/>
              </a:spcAft>
              <a:buNone/>
            </a:pPr>
            <a:r>
              <a:rPr sz="2000" b="1" i="0">
                <a:solidFill>
                  <a:srgbClr val="0E7C86"/>
                </a:solidFill>
                <a:latin typeface="Arial"/>
              </a:rPr>
              <a:t>Comparador</a:t>
            </a:r>
          </a:p>
          <a:p>
            <a:pPr algn="l">
              <a:lnSpc>
                <a:spcPct val="100000"/>
              </a:lnSpc>
              <a:spcAft>
                <a:spcPts val="0"/>
              </a:spcAft>
              <a:buNone/>
            </a:pPr>
            <a:r>
              <a:rPr sz="1900" b="0" i="0">
                <a:solidFill>
                  <a:srgbClr val="1F2433"/>
                </a:solidFill>
                <a:latin typeface="Arial"/>
              </a:rPr>
              <a:t>Não ou pouco expostos, ou protegidos</a:t>
            </a:r>
          </a:p>
        </p:txBody>
      </p:sp>
      <p:sp>
        <p:nvSpPr>
          <p:cNvPr id="31" name="Rounded Rectangle 30"/>
          <p:cNvSpPr/>
          <p:nvPr/>
        </p:nvSpPr>
        <p:spPr>
          <a:xfrm>
            <a:off x="13830300" y="7498079"/>
            <a:ext cx="3954780" cy="2240280"/>
          </a:xfrm>
          <a:prstGeom prst="roundRect">
            <a:avLst>
              <a:gd name="adj" fmla="val 6000"/>
            </a:avLst>
          </a:prstGeom>
          <a:solidFill>
            <a:srgbClr val="E3F3F4"/>
          </a:solidFill>
          <a:ln>
            <a:noFill/>
          </a:ln>
          <a:effectLst/>
        </p:spPr>
        <p:txBody>
          <a:bodyPr rtlCol="0" anchor="ctr"/>
          <a:lstStyle/>
          <a:p/>
        </p:txBody>
      </p:sp>
      <p:sp>
        <p:nvSpPr>
          <p:cNvPr id="32" name="Oval 31"/>
          <p:cNvSpPr/>
          <p:nvPr/>
        </p:nvSpPr>
        <p:spPr>
          <a:xfrm>
            <a:off x="14150340" y="8206740"/>
            <a:ext cx="822960" cy="822960"/>
          </a:xfrm>
          <a:prstGeom prst="ellipse">
            <a:avLst/>
          </a:prstGeom>
          <a:solidFill>
            <a:srgbClr val="0E7C86"/>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O</a:t>
            </a:r>
          </a:p>
        </p:txBody>
      </p:sp>
      <p:sp>
        <p:nvSpPr>
          <p:cNvPr id="33" name="TextBox 32"/>
          <p:cNvSpPr txBox="1"/>
          <p:nvPr/>
        </p:nvSpPr>
        <p:spPr>
          <a:xfrm>
            <a:off x="15201900" y="7635240"/>
            <a:ext cx="2263140" cy="1965960"/>
          </a:xfrm>
          <a:prstGeom prst="rect">
            <a:avLst/>
          </a:prstGeom>
          <a:noFill/>
        </p:spPr>
        <p:txBody>
          <a:bodyPr wrap="square" lIns="0" rIns="0" tIns="0" bIns="0" anchor="ctr">
            <a:noAutofit/>
          </a:bodyPr>
          <a:lstStyle/>
          <a:p>
            <a:pPr algn="l">
              <a:lnSpc>
                <a:spcPct val="100000"/>
              </a:lnSpc>
              <a:spcAft>
                <a:spcPts val="200"/>
              </a:spcAft>
              <a:buNone/>
            </a:pPr>
            <a:r>
              <a:rPr sz="2000" b="1" i="0">
                <a:solidFill>
                  <a:srgbClr val="0E7C86"/>
                </a:solidFill>
                <a:latin typeface="Arial"/>
              </a:rPr>
              <a:t>Desfecho</a:t>
            </a:r>
          </a:p>
          <a:p>
            <a:pPr algn="l">
              <a:lnSpc>
                <a:spcPct val="100000"/>
              </a:lnSpc>
              <a:spcAft>
                <a:spcPts val="0"/>
              </a:spcAft>
              <a:buNone/>
            </a:pPr>
            <a:r>
              <a:rPr sz="1900" b="0" i="0">
                <a:solidFill>
                  <a:srgbClr val="1F2433"/>
                </a:solidFill>
                <a:latin typeface="Arial"/>
              </a:rPr>
              <a:t>Efeitos à saúde</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Revisão sistemática em 7 passos, conforme o PRISMA 2020</a:t>
            </a:r>
          </a:p>
        </p:txBody>
      </p:sp>
      <p:cxnSp>
        <p:nvCxnSpPr>
          <p:cNvPr id="7" name="Connector 6"/>
          <p:cNvCxnSpPr/>
          <p:nvPr/>
        </p:nvCxnSpPr>
        <p:spPr>
          <a:xfrm>
            <a:off x="2253342" y="2377440"/>
            <a:ext cx="14421395" cy="0"/>
          </a:xfrm>
          <a:prstGeom prst="line">
            <a:avLst/>
          </a:prstGeom>
          <a:ln w="50800">
            <a:solidFill>
              <a:srgbClr val="C9CFDA"/>
            </a:solidFill>
          </a:ln>
        </p:spPr>
      </p:cxnSp>
      <p:sp>
        <p:nvSpPr>
          <p:cNvPr id="8" name="Oval 7"/>
          <p:cNvSpPr/>
          <p:nvPr/>
        </p:nvSpPr>
        <p:spPr>
          <a:xfrm>
            <a:off x="1796142" y="1920240"/>
            <a:ext cx="914400" cy="9144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1</a:t>
            </a:r>
          </a:p>
        </p:txBody>
      </p:sp>
      <p:sp>
        <p:nvSpPr>
          <p:cNvPr id="9" name="TextBox 8"/>
          <p:cNvSpPr txBox="1"/>
          <p:nvPr/>
        </p:nvSpPr>
        <p:spPr>
          <a:xfrm>
            <a:off x="1143000" y="3017520"/>
            <a:ext cx="2220685" cy="457200"/>
          </a:xfrm>
          <a:prstGeom prst="rect">
            <a:avLst/>
          </a:prstGeom>
          <a:noFill/>
        </p:spPr>
        <p:txBody>
          <a:bodyPr wrap="square" lIns="0" rIns="0" tIns="0" bIns="0" anchor="t">
            <a:noAutofit/>
          </a:bodyPr>
          <a:lstStyle/>
          <a:p>
            <a:pPr algn="ctr">
              <a:lnSpc>
                <a:spcPct val="100000"/>
              </a:lnSpc>
              <a:spcAft>
                <a:spcPts val="0"/>
              </a:spcAft>
              <a:buNone/>
            </a:pPr>
            <a:r>
              <a:rPr sz="2000" b="1" i="0">
                <a:solidFill>
                  <a:srgbClr val="002060"/>
                </a:solidFill>
                <a:latin typeface="Arial"/>
              </a:rPr>
              <a:t>Protocolo</a:t>
            </a:r>
          </a:p>
        </p:txBody>
      </p:sp>
      <p:sp>
        <p:nvSpPr>
          <p:cNvPr id="10" name="Rounded Rectangle 9"/>
          <p:cNvSpPr/>
          <p:nvPr/>
        </p:nvSpPr>
        <p:spPr>
          <a:xfrm>
            <a:off x="1143000" y="3611880"/>
            <a:ext cx="2220685" cy="2286000"/>
          </a:xfrm>
          <a:prstGeom prst="roundRect">
            <a:avLst>
              <a:gd name="adj" fmla="val 6000"/>
            </a:avLst>
          </a:prstGeom>
          <a:solidFill>
            <a:srgbClr val="F2F4F8"/>
          </a:solidFill>
          <a:ln>
            <a:noFill/>
          </a:ln>
          <a:effectLst/>
        </p:spPr>
        <p:txBody>
          <a:bodyPr rtlCol="0" anchor="ctr"/>
          <a:lstStyle/>
          <a:p/>
        </p:txBody>
      </p:sp>
      <p:sp>
        <p:nvSpPr>
          <p:cNvPr id="11" name="TextBox 10"/>
          <p:cNvSpPr txBox="1"/>
          <p:nvPr/>
        </p:nvSpPr>
        <p:spPr>
          <a:xfrm>
            <a:off x="1325880" y="3749040"/>
            <a:ext cx="1854925" cy="2011680"/>
          </a:xfrm>
          <a:prstGeom prst="rect">
            <a:avLst/>
          </a:prstGeom>
          <a:noFill/>
        </p:spPr>
        <p:txBody>
          <a:bodyPr wrap="square" lIns="0" rIns="0" tIns="0" bIns="0" anchor="ctr">
            <a:noAutofit/>
          </a:bodyPr>
          <a:lstStyle/>
          <a:p>
            <a:pPr algn="ctr">
              <a:lnSpc>
                <a:spcPct val="100000"/>
              </a:lnSpc>
              <a:spcAft>
                <a:spcPts val="800"/>
              </a:spcAft>
              <a:buNone/>
            </a:pPr>
            <a:r>
              <a:rPr sz="2400" b="1" i="0">
                <a:solidFill>
                  <a:srgbClr val="002060"/>
                </a:solidFill>
                <a:latin typeface="Arial"/>
              </a:rPr>
              <a:t>PROSPERO</a:t>
            </a:r>
          </a:p>
          <a:p>
            <a:pPr algn="ctr">
              <a:lnSpc>
                <a:spcPct val="100000"/>
              </a:lnSpc>
              <a:spcAft>
                <a:spcPts val="0"/>
              </a:spcAft>
              <a:buNone/>
            </a:pPr>
            <a:r>
              <a:rPr sz="1800" b="0" i="0">
                <a:solidFill>
                  <a:srgbClr val="1F2433"/>
                </a:solidFill>
                <a:latin typeface="Arial"/>
              </a:rPr>
              <a:t>registrado antes da extração</a:t>
            </a:r>
          </a:p>
        </p:txBody>
      </p:sp>
      <p:sp>
        <p:nvSpPr>
          <p:cNvPr id="12" name="Oval 11"/>
          <p:cNvSpPr/>
          <p:nvPr/>
        </p:nvSpPr>
        <p:spPr>
          <a:xfrm>
            <a:off x="4199708" y="1920240"/>
            <a:ext cx="914400" cy="9144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2</a:t>
            </a:r>
          </a:p>
        </p:txBody>
      </p:sp>
      <p:sp>
        <p:nvSpPr>
          <p:cNvPr id="13" name="TextBox 12"/>
          <p:cNvSpPr txBox="1"/>
          <p:nvPr/>
        </p:nvSpPr>
        <p:spPr>
          <a:xfrm>
            <a:off x="3546565" y="3017520"/>
            <a:ext cx="2220685" cy="457200"/>
          </a:xfrm>
          <a:prstGeom prst="rect">
            <a:avLst/>
          </a:prstGeom>
          <a:noFill/>
        </p:spPr>
        <p:txBody>
          <a:bodyPr wrap="square" lIns="0" rIns="0" tIns="0" bIns="0" anchor="t">
            <a:noAutofit/>
          </a:bodyPr>
          <a:lstStyle/>
          <a:p>
            <a:pPr algn="ctr">
              <a:lnSpc>
                <a:spcPct val="100000"/>
              </a:lnSpc>
              <a:spcAft>
                <a:spcPts val="0"/>
              </a:spcAft>
              <a:buNone/>
            </a:pPr>
            <a:r>
              <a:rPr sz="2000" b="1" i="0">
                <a:solidFill>
                  <a:srgbClr val="002060"/>
                </a:solidFill>
                <a:latin typeface="Arial"/>
              </a:rPr>
              <a:t>Busca</a:t>
            </a:r>
          </a:p>
        </p:txBody>
      </p:sp>
      <p:sp>
        <p:nvSpPr>
          <p:cNvPr id="14" name="Rounded Rectangle 13"/>
          <p:cNvSpPr/>
          <p:nvPr/>
        </p:nvSpPr>
        <p:spPr>
          <a:xfrm>
            <a:off x="3546565" y="3611880"/>
            <a:ext cx="2220685" cy="2286000"/>
          </a:xfrm>
          <a:prstGeom prst="roundRect">
            <a:avLst>
              <a:gd name="adj" fmla="val 6000"/>
            </a:avLst>
          </a:prstGeom>
          <a:solidFill>
            <a:srgbClr val="F2F4F8"/>
          </a:solidFill>
          <a:ln>
            <a:noFill/>
          </a:ln>
          <a:effectLst/>
        </p:spPr>
        <p:txBody>
          <a:bodyPr rtlCol="0" anchor="ctr"/>
          <a:lstStyle/>
          <a:p/>
        </p:txBody>
      </p:sp>
      <p:sp>
        <p:nvSpPr>
          <p:cNvPr id="15" name="TextBox 14"/>
          <p:cNvSpPr txBox="1"/>
          <p:nvPr/>
        </p:nvSpPr>
        <p:spPr>
          <a:xfrm>
            <a:off x="3729445" y="3749040"/>
            <a:ext cx="1854925" cy="2011680"/>
          </a:xfrm>
          <a:prstGeom prst="rect">
            <a:avLst/>
          </a:prstGeom>
          <a:noFill/>
        </p:spPr>
        <p:txBody>
          <a:bodyPr wrap="square" lIns="0" rIns="0" tIns="0" bIns="0" anchor="ctr">
            <a:noAutofit/>
          </a:bodyPr>
          <a:lstStyle/>
          <a:p>
            <a:pPr algn="ctr">
              <a:lnSpc>
                <a:spcPct val="100000"/>
              </a:lnSpc>
              <a:spcAft>
                <a:spcPts val="800"/>
              </a:spcAft>
              <a:buNone/>
            </a:pPr>
            <a:r>
              <a:rPr sz="2400" b="1" i="0">
                <a:solidFill>
                  <a:srgbClr val="002060"/>
                </a:solidFill>
                <a:latin typeface="Arial"/>
              </a:rPr>
              <a:t>7 bases</a:t>
            </a:r>
          </a:p>
          <a:p>
            <a:pPr algn="ctr">
              <a:lnSpc>
                <a:spcPct val="100000"/>
              </a:lnSpc>
              <a:spcAft>
                <a:spcPts val="0"/>
              </a:spcAft>
              <a:buNone/>
            </a:pPr>
            <a:r>
              <a:rPr sz="1800" b="0" i="0">
                <a:solidFill>
                  <a:srgbClr val="1F2433"/>
                </a:solidFill>
                <a:latin typeface="Arial"/>
              </a:rPr>
              <a:t>+ literatura cinzenta e citação, sem filtro de idioma</a:t>
            </a:r>
          </a:p>
        </p:txBody>
      </p:sp>
      <p:sp>
        <p:nvSpPr>
          <p:cNvPr id="16" name="Oval 15"/>
          <p:cNvSpPr/>
          <p:nvPr/>
        </p:nvSpPr>
        <p:spPr>
          <a:xfrm>
            <a:off x="6603274" y="1920240"/>
            <a:ext cx="914400" cy="9144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3</a:t>
            </a:r>
          </a:p>
        </p:txBody>
      </p:sp>
      <p:sp>
        <p:nvSpPr>
          <p:cNvPr id="17" name="TextBox 16"/>
          <p:cNvSpPr txBox="1"/>
          <p:nvPr/>
        </p:nvSpPr>
        <p:spPr>
          <a:xfrm>
            <a:off x="5950131" y="3017520"/>
            <a:ext cx="2220685" cy="457200"/>
          </a:xfrm>
          <a:prstGeom prst="rect">
            <a:avLst/>
          </a:prstGeom>
          <a:noFill/>
        </p:spPr>
        <p:txBody>
          <a:bodyPr wrap="square" lIns="0" rIns="0" tIns="0" bIns="0" anchor="t">
            <a:noAutofit/>
          </a:bodyPr>
          <a:lstStyle/>
          <a:p>
            <a:pPr algn="ctr">
              <a:lnSpc>
                <a:spcPct val="100000"/>
              </a:lnSpc>
              <a:spcAft>
                <a:spcPts val="0"/>
              </a:spcAft>
              <a:buNone/>
            </a:pPr>
            <a:r>
              <a:rPr sz="2000" b="1" i="0">
                <a:solidFill>
                  <a:srgbClr val="002060"/>
                </a:solidFill>
                <a:latin typeface="Arial"/>
              </a:rPr>
              <a:t>Seleção</a:t>
            </a:r>
          </a:p>
        </p:txBody>
      </p:sp>
      <p:sp>
        <p:nvSpPr>
          <p:cNvPr id="18" name="Rounded Rectangle 17"/>
          <p:cNvSpPr/>
          <p:nvPr/>
        </p:nvSpPr>
        <p:spPr>
          <a:xfrm>
            <a:off x="5950131" y="3611880"/>
            <a:ext cx="2220685" cy="2286000"/>
          </a:xfrm>
          <a:prstGeom prst="roundRect">
            <a:avLst>
              <a:gd name="adj" fmla="val 6000"/>
            </a:avLst>
          </a:prstGeom>
          <a:solidFill>
            <a:srgbClr val="F2F4F8"/>
          </a:solidFill>
          <a:ln>
            <a:noFill/>
          </a:ln>
          <a:effectLst/>
        </p:spPr>
        <p:txBody>
          <a:bodyPr rtlCol="0" anchor="ctr"/>
          <a:lstStyle/>
          <a:p/>
        </p:txBody>
      </p:sp>
      <p:sp>
        <p:nvSpPr>
          <p:cNvPr id="19" name="TextBox 18"/>
          <p:cNvSpPr txBox="1"/>
          <p:nvPr/>
        </p:nvSpPr>
        <p:spPr>
          <a:xfrm>
            <a:off x="6133011" y="3749040"/>
            <a:ext cx="1854925" cy="2011680"/>
          </a:xfrm>
          <a:prstGeom prst="rect">
            <a:avLst/>
          </a:prstGeom>
          <a:noFill/>
        </p:spPr>
        <p:txBody>
          <a:bodyPr wrap="square" lIns="0" rIns="0" tIns="0" bIns="0" anchor="ctr">
            <a:noAutofit/>
          </a:bodyPr>
          <a:lstStyle/>
          <a:p>
            <a:pPr algn="ctr">
              <a:lnSpc>
                <a:spcPct val="100000"/>
              </a:lnSpc>
              <a:spcAft>
                <a:spcPts val="800"/>
              </a:spcAft>
              <a:buNone/>
            </a:pPr>
            <a:r>
              <a:rPr sz="2800" b="1" i="0">
                <a:solidFill>
                  <a:srgbClr val="002060"/>
                </a:solidFill>
                <a:latin typeface="Arial"/>
              </a:rPr>
              <a:t>10.910</a:t>
            </a:r>
          </a:p>
          <a:p>
            <a:pPr algn="ctr">
              <a:lnSpc>
                <a:spcPct val="100000"/>
              </a:lnSpc>
              <a:spcAft>
                <a:spcPts val="0"/>
              </a:spcAft>
              <a:buNone/>
            </a:pPr>
            <a:r>
              <a:rPr sz="1800" b="0" i="0">
                <a:solidFill>
                  <a:srgbClr val="1F2433"/>
                </a:solidFill>
                <a:latin typeface="Arial"/>
              </a:rPr>
              <a:t>títulos e resumos lidos, um a um</a:t>
            </a:r>
          </a:p>
        </p:txBody>
      </p:sp>
      <p:sp>
        <p:nvSpPr>
          <p:cNvPr id="20" name="Oval 19"/>
          <p:cNvSpPr/>
          <p:nvPr/>
        </p:nvSpPr>
        <p:spPr>
          <a:xfrm>
            <a:off x="9006840" y="1920240"/>
            <a:ext cx="914400" cy="9144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4</a:t>
            </a:r>
          </a:p>
        </p:txBody>
      </p:sp>
      <p:sp>
        <p:nvSpPr>
          <p:cNvPr id="21" name="TextBox 20"/>
          <p:cNvSpPr txBox="1"/>
          <p:nvPr/>
        </p:nvSpPr>
        <p:spPr>
          <a:xfrm>
            <a:off x="8353697" y="3017520"/>
            <a:ext cx="2220685" cy="457200"/>
          </a:xfrm>
          <a:prstGeom prst="rect">
            <a:avLst/>
          </a:prstGeom>
          <a:noFill/>
        </p:spPr>
        <p:txBody>
          <a:bodyPr wrap="square" lIns="0" rIns="0" tIns="0" bIns="0" anchor="t">
            <a:noAutofit/>
          </a:bodyPr>
          <a:lstStyle/>
          <a:p>
            <a:pPr algn="ctr">
              <a:lnSpc>
                <a:spcPct val="100000"/>
              </a:lnSpc>
              <a:spcAft>
                <a:spcPts val="0"/>
              </a:spcAft>
              <a:buNone/>
            </a:pPr>
            <a:r>
              <a:rPr sz="2000" b="1" i="0">
                <a:solidFill>
                  <a:srgbClr val="002060"/>
                </a:solidFill>
                <a:latin typeface="Arial"/>
              </a:rPr>
              <a:t>Extração</a:t>
            </a:r>
          </a:p>
        </p:txBody>
      </p:sp>
      <p:sp>
        <p:nvSpPr>
          <p:cNvPr id="22" name="Rounded Rectangle 21"/>
          <p:cNvSpPr/>
          <p:nvPr/>
        </p:nvSpPr>
        <p:spPr>
          <a:xfrm>
            <a:off x="8353697" y="3611880"/>
            <a:ext cx="2220685" cy="2286000"/>
          </a:xfrm>
          <a:prstGeom prst="roundRect">
            <a:avLst>
              <a:gd name="adj" fmla="val 6000"/>
            </a:avLst>
          </a:prstGeom>
          <a:solidFill>
            <a:srgbClr val="F2F4F8"/>
          </a:solidFill>
          <a:ln>
            <a:noFill/>
          </a:ln>
          <a:effectLst/>
        </p:spPr>
        <p:txBody>
          <a:bodyPr rtlCol="0" anchor="ctr"/>
          <a:lstStyle/>
          <a:p/>
        </p:txBody>
      </p:sp>
      <p:sp>
        <p:nvSpPr>
          <p:cNvPr id="23" name="TextBox 22"/>
          <p:cNvSpPr txBox="1"/>
          <p:nvPr/>
        </p:nvSpPr>
        <p:spPr>
          <a:xfrm>
            <a:off x="8536577" y="3749040"/>
            <a:ext cx="1854925" cy="2011680"/>
          </a:xfrm>
          <a:prstGeom prst="rect">
            <a:avLst/>
          </a:prstGeom>
          <a:noFill/>
        </p:spPr>
        <p:txBody>
          <a:bodyPr wrap="square" lIns="0" rIns="0" tIns="0" bIns="0" anchor="ctr">
            <a:noAutofit/>
          </a:bodyPr>
          <a:lstStyle/>
          <a:p>
            <a:pPr algn="ctr">
              <a:lnSpc>
                <a:spcPct val="100000"/>
              </a:lnSpc>
              <a:spcAft>
                <a:spcPts val="800"/>
              </a:spcAft>
              <a:buNone/>
            </a:pPr>
            <a:r>
              <a:rPr sz="2400" b="1" i="0">
                <a:solidFill>
                  <a:srgbClr val="002060"/>
                </a:solidFill>
                <a:latin typeface="Arial"/>
              </a:rPr>
              <a:t>Planilha</a:t>
            </a:r>
          </a:p>
          <a:p>
            <a:pPr algn="ctr">
              <a:lnSpc>
                <a:spcPct val="100000"/>
              </a:lnSpc>
              <a:spcAft>
                <a:spcPts val="0"/>
              </a:spcAft>
              <a:buNone/>
            </a:pPr>
            <a:r>
              <a:rPr sz="1800" b="0" i="0">
                <a:solidFill>
                  <a:srgbClr val="1F2433"/>
                </a:solidFill>
                <a:latin typeface="Arial"/>
              </a:rPr>
              <a:t>padronizada: eventos e denominador</a:t>
            </a:r>
          </a:p>
        </p:txBody>
      </p:sp>
      <p:sp>
        <p:nvSpPr>
          <p:cNvPr id="24" name="Oval 23"/>
          <p:cNvSpPr/>
          <p:nvPr/>
        </p:nvSpPr>
        <p:spPr>
          <a:xfrm>
            <a:off x="11410405" y="1920240"/>
            <a:ext cx="914400" cy="9144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5</a:t>
            </a:r>
          </a:p>
        </p:txBody>
      </p:sp>
      <p:sp>
        <p:nvSpPr>
          <p:cNvPr id="25" name="TextBox 24"/>
          <p:cNvSpPr txBox="1"/>
          <p:nvPr/>
        </p:nvSpPr>
        <p:spPr>
          <a:xfrm>
            <a:off x="10757262" y="3017520"/>
            <a:ext cx="2220685" cy="457200"/>
          </a:xfrm>
          <a:prstGeom prst="rect">
            <a:avLst/>
          </a:prstGeom>
          <a:noFill/>
        </p:spPr>
        <p:txBody>
          <a:bodyPr wrap="square" lIns="0" rIns="0" tIns="0" bIns="0" anchor="t">
            <a:noAutofit/>
          </a:bodyPr>
          <a:lstStyle/>
          <a:p>
            <a:pPr algn="ctr">
              <a:lnSpc>
                <a:spcPct val="100000"/>
              </a:lnSpc>
              <a:spcAft>
                <a:spcPts val="0"/>
              </a:spcAft>
              <a:buNone/>
            </a:pPr>
            <a:r>
              <a:rPr sz="2000" b="1" i="0">
                <a:solidFill>
                  <a:srgbClr val="002060"/>
                </a:solidFill>
                <a:latin typeface="Arial"/>
              </a:rPr>
              <a:t>Risco de viés</a:t>
            </a:r>
          </a:p>
        </p:txBody>
      </p:sp>
      <p:sp>
        <p:nvSpPr>
          <p:cNvPr id="26" name="Rounded Rectangle 25"/>
          <p:cNvSpPr/>
          <p:nvPr/>
        </p:nvSpPr>
        <p:spPr>
          <a:xfrm>
            <a:off x="10757262" y="3611880"/>
            <a:ext cx="2220685" cy="2286000"/>
          </a:xfrm>
          <a:prstGeom prst="roundRect">
            <a:avLst>
              <a:gd name="adj" fmla="val 6000"/>
            </a:avLst>
          </a:prstGeom>
          <a:solidFill>
            <a:srgbClr val="F2F4F8"/>
          </a:solidFill>
          <a:ln>
            <a:noFill/>
          </a:ln>
          <a:effectLst/>
        </p:spPr>
        <p:txBody>
          <a:bodyPr rtlCol="0" anchor="ctr"/>
          <a:lstStyle/>
          <a:p/>
        </p:txBody>
      </p:sp>
      <p:sp>
        <p:nvSpPr>
          <p:cNvPr id="27" name="TextBox 26"/>
          <p:cNvSpPr txBox="1"/>
          <p:nvPr/>
        </p:nvSpPr>
        <p:spPr>
          <a:xfrm>
            <a:off x="10940142" y="3749040"/>
            <a:ext cx="1854925" cy="2011680"/>
          </a:xfrm>
          <a:prstGeom prst="rect">
            <a:avLst/>
          </a:prstGeom>
          <a:noFill/>
        </p:spPr>
        <p:txBody>
          <a:bodyPr wrap="square" lIns="0" rIns="0" tIns="0" bIns="0" anchor="ctr">
            <a:noAutofit/>
          </a:bodyPr>
          <a:lstStyle/>
          <a:p>
            <a:pPr algn="ctr">
              <a:lnSpc>
                <a:spcPct val="100000"/>
              </a:lnSpc>
              <a:spcAft>
                <a:spcPts val="800"/>
              </a:spcAft>
              <a:buNone/>
            </a:pPr>
            <a:r>
              <a:rPr sz="2400" b="1" i="0">
                <a:solidFill>
                  <a:srgbClr val="002060"/>
                </a:solidFill>
                <a:latin typeface="Arial"/>
              </a:rPr>
              <a:t>JBI</a:t>
            </a:r>
          </a:p>
          <a:p>
            <a:pPr algn="ctr">
              <a:lnSpc>
                <a:spcPct val="100000"/>
              </a:lnSpc>
              <a:spcAft>
                <a:spcPts val="0"/>
              </a:spcAft>
              <a:buNone/>
            </a:pPr>
            <a:r>
              <a:rPr sz="1800" b="0" i="0">
                <a:solidFill>
                  <a:srgbClr val="1F2433"/>
                </a:solidFill>
                <a:latin typeface="Arial"/>
              </a:rPr>
              <a:t>ferramenta conforme a função do estudo</a:t>
            </a:r>
          </a:p>
        </p:txBody>
      </p:sp>
      <p:sp>
        <p:nvSpPr>
          <p:cNvPr id="28" name="Oval 27"/>
          <p:cNvSpPr/>
          <p:nvPr/>
        </p:nvSpPr>
        <p:spPr>
          <a:xfrm>
            <a:off x="13813971" y="1920240"/>
            <a:ext cx="914400" cy="91440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6</a:t>
            </a:r>
          </a:p>
        </p:txBody>
      </p:sp>
      <p:sp>
        <p:nvSpPr>
          <p:cNvPr id="29" name="TextBox 28"/>
          <p:cNvSpPr txBox="1"/>
          <p:nvPr/>
        </p:nvSpPr>
        <p:spPr>
          <a:xfrm>
            <a:off x="13160828" y="3017520"/>
            <a:ext cx="2220685" cy="457200"/>
          </a:xfrm>
          <a:prstGeom prst="rect">
            <a:avLst/>
          </a:prstGeom>
          <a:noFill/>
        </p:spPr>
        <p:txBody>
          <a:bodyPr wrap="square" lIns="0" rIns="0" tIns="0" bIns="0" anchor="t">
            <a:noAutofit/>
          </a:bodyPr>
          <a:lstStyle/>
          <a:p>
            <a:pPr algn="ctr">
              <a:lnSpc>
                <a:spcPct val="100000"/>
              </a:lnSpc>
              <a:spcAft>
                <a:spcPts val="0"/>
              </a:spcAft>
              <a:buNone/>
            </a:pPr>
            <a:r>
              <a:rPr sz="2000" b="1" i="0">
                <a:solidFill>
                  <a:srgbClr val="002060"/>
                </a:solidFill>
                <a:latin typeface="Arial"/>
              </a:rPr>
              <a:t>Síntese</a:t>
            </a:r>
          </a:p>
        </p:txBody>
      </p:sp>
      <p:sp>
        <p:nvSpPr>
          <p:cNvPr id="30" name="Rounded Rectangle 29"/>
          <p:cNvSpPr/>
          <p:nvPr/>
        </p:nvSpPr>
        <p:spPr>
          <a:xfrm>
            <a:off x="13160828" y="3611880"/>
            <a:ext cx="2220685" cy="2286000"/>
          </a:xfrm>
          <a:prstGeom prst="roundRect">
            <a:avLst>
              <a:gd name="adj" fmla="val 6000"/>
            </a:avLst>
          </a:prstGeom>
          <a:solidFill>
            <a:srgbClr val="F9E9E9"/>
          </a:solidFill>
          <a:ln>
            <a:noFill/>
          </a:ln>
          <a:effectLst/>
        </p:spPr>
        <p:txBody>
          <a:bodyPr rtlCol="0" anchor="ctr"/>
          <a:lstStyle/>
          <a:p/>
        </p:txBody>
      </p:sp>
      <p:sp>
        <p:nvSpPr>
          <p:cNvPr id="31" name="TextBox 30"/>
          <p:cNvSpPr txBox="1"/>
          <p:nvPr/>
        </p:nvSpPr>
        <p:spPr>
          <a:xfrm>
            <a:off x="13343708" y="3749040"/>
            <a:ext cx="1854925" cy="2011680"/>
          </a:xfrm>
          <a:prstGeom prst="rect">
            <a:avLst/>
          </a:prstGeom>
          <a:noFill/>
        </p:spPr>
        <p:txBody>
          <a:bodyPr wrap="square" lIns="0" rIns="0" tIns="0" bIns="0" anchor="ctr">
            <a:noAutofit/>
          </a:bodyPr>
          <a:lstStyle/>
          <a:p>
            <a:pPr algn="ctr">
              <a:lnSpc>
                <a:spcPct val="100000"/>
              </a:lnSpc>
              <a:spcAft>
                <a:spcPts val="800"/>
              </a:spcAft>
              <a:buNone/>
            </a:pPr>
            <a:r>
              <a:rPr sz="2400" b="1" i="0">
                <a:solidFill>
                  <a:srgbClr val="8B0000"/>
                </a:solidFill>
                <a:latin typeface="Arial"/>
              </a:rPr>
              <a:t>Metanálise</a:t>
            </a:r>
          </a:p>
          <a:p>
            <a:pPr algn="ctr">
              <a:lnSpc>
                <a:spcPct val="100000"/>
              </a:lnSpc>
              <a:spcAft>
                <a:spcPts val="0"/>
              </a:spcAft>
              <a:buNone/>
            </a:pPr>
            <a:r>
              <a:rPr sz="1800" b="0" i="0">
                <a:solidFill>
                  <a:srgbClr val="1F2433"/>
                </a:solidFill>
                <a:latin typeface="Arial"/>
              </a:rPr>
              <a:t>de prevalência, com efeitos aleatórios</a:t>
            </a:r>
          </a:p>
        </p:txBody>
      </p:sp>
      <p:sp>
        <p:nvSpPr>
          <p:cNvPr id="32" name="Oval 31"/>
          <p:cNvSpPr/>
          <p:nvPr/>
        </p:nvSpPr>
        <p:spPr>
          <a:xfrm>
            <a:off x="16217537" y="1920240"/>
            <a:ext cx="914400" cy="9144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7</a:t>
            </a:r>
          </a:p>
        </p:txBody>
      </p:sp>
      <p:sp>
        <p:nvSpPr>
          <p:cNvPr id="33" name="TextBox 32"/>
          <p:cNvSpPr txBox="1"/>
          <p:nvPr/>
        </p:nvSpPr>
        <p:spPr>
          <a:xfrm>
            <a:off x="15564394" y="3017520"/>
            <a:ext cx="2220685" cy="457200"/>
          </a:xfrm>
          <a:prstGeom prst="rect">
            <a:avLst/>
          </a:prstGeom>
          <a:noFill/>
        </p:spPr>
        <p:txBody>
          <a:bodyPr wrap="square" lIns="0" rIns="0" tIns="0" bIns="0" anchor="t">
            <a:noAutofit/>
          </a:bodyPr>
          <a:lstStyle/>
          <a:p>
            <a:pPr algn="ctr">
              <a:lnSpc>
                <a:spcPct val="100000"/>
              </a:lnSpc>
              <a:spcAft>
                <a:spcPts val="0"/>
              </a:spcAft>
              <a:buNone/>
            </a:pPr>
            <a:r>
              <a:rPr sz="2000" b="1" i="0">
                <a:solidFill>
                  <a:srgbClr val="002060"/>
                </a:solidFill>
                <a:latin typeface="Arial"/>
              </a:rPr>
              <a:t>Certeza</a:t>
            </a:r>
          </a:p>
        </p:txBody>
      </p:sp>
      <p:sp>
        <p:nvSpPr>
          <p:cNvPr id="34" name="Rounded Rectangle 33"/>
          <p:cNvSpPr/>
          <p:nvPr/>
        </p:nvSpPr>
        <p:spPr>
          <a:xfrm>
            <a:off x="15564394" y="3611880"/>
            <a:ext cx="2220685" cy="2286000"/>
          </a:xfrm>
          <a:prstGeom prst="roundRect">
            <a:avLst>
              <a:gd name="adj" fmla="val 6000"/>
            </a:avLst>
          </a:prstGeom>
          <a:solidFill>
            <a:srgbClr val="F2F4F8"/>
          </a:solidFill>
          <a:ln>
            <a:noFill/>
          </a:ln>
          <a:effectLst/>
        </p:spPr>
        <p:txBody>
          <a:bodyPr rtlCol="0" anchor="ctr"/>
          <a:lstStyle/>
          <a:p/>
        </p:txBody>
      </p:sp>
      <p:sp>
        <p:nvSpPr>
          <p:cNvPr id="35" name="TextBox 34"/>
          <p:cNvSpPr txBox="1"/>
          <p:nvPr/>
        </p:nvSpPr>
        <p:spPr>
          <a:xfrm>
            <a:off x="15747274" y="3749040"/>
            <a:ext cx="1854925" cy="2011680"/>
          </a:xfrm>
          <a:prstGeom prst="rect">
            <a:avLst/>
          </a:prstGeom>
          <a:noFill/>
        </p:spPr>
        <p:txBody>
          <a:bodyPr wrap="square" lIns="0" rIns="0" tIns="0" bIns="0" anchor="ctr">
            <a:noAutofit/>
          </a:bodyPr>
          <a:lstStyle/>
          <a:p>
            <a:pPr algn="ctr">
              <a:lnSpc>
                <a:spcPct val="100000"/>
              </a:lnSpc>
              <a:spcAft>
                <a:spcPts val="800"/>
              </a:spcAft>
              <a:buNone/>
            </a:pPr>
            <a:r>
              <a:rPr sz="2400" b="1" i="0">
                <a:solidFill>
                  <a:srgbClr val="002060"/>
                </a:solidFill>
                <a:latin typeface="Arial"/>
              </a:rPr>
              <a:t>GRADE</a:t>
            </a:r>
          </a:p>
          <a:p>
            <a:pPr algn="ctr">
              <a:lnSpc>
                <a:spcPct val="100000"/>
              </a:lnSpc>
              <a:spcAft>
                <a:spcPts val="0"/>
              </a:spcAft>
              <a:buNone/>
            </a:pPr>
            <a:r>
              <a:rPr sz="1800" b="0" i="0">
                <a:solidFill>
                  <a:srgbClr val="1F2433"/>
                </a:solidFill>
                <a:latin typeface="Arial"/>
              </a:rPr>
              <a:t>por desfecho, em cinco domínios</a:t>
            </a:r>
          </a:p>
        </p:txBody>
      </p:sp>
      <p:sp>
        <p:nvSpPr>
          <p:cNvPr id="36" name="Rounded Rectangle 35"/>
          <p:cNvSpPr/>
          <p:nvPr/>
        </p:nvSpPr>
        <p:spPr>
          <a:xfrm>
            <a:off x="1143000" y="6217920"/>
            <a:ext cx="16642080" cy="1783080"/>
          </a:xfrm>
          <a:prstGeom prst="roundRect">
            <a:avLst>
              <a:gd name="adj" fmla="val 6000"/>
            </a:avLst>
          </a:prstGeom>
          <a:solidFill>
            <a:srgbClr val="002060"/>
          </a:solidFill>
          <a:ln>
            <a:noFill/>
          </a:ln>
          <a:effectLst/>
        </p:spPr>
        <p:txBody>
          <a:bodyPr rtlCol="0" anchor="ctr"/>
          <a:lstStyle/>
          <a:p/>
        </p:txBody>
      </p:sp>
      <p:sp>
        <p:nvSpPr>
          <p:cNvPr id="37" name="Oval 36"/>
          <p:cNvSpPr/>
          <p:nvPr/>
        </p:nvSpPr>
        <p:spPr>
          <a:xfrm>
            <a:off x="1463040" y="6697979"/>
            <a:ext cx="822960" cy="822960"/>
          </a:xfrm>
          <a:prstGeom prst="ellipse">
            <a:avLst/>
          </a:prstGeom>
          <a:solidFill>
            <a:srgbClr val="C8A951"/>
          </a:solidFill>
          <a:ln>
            <a:noFill/>
          </a:ln>
          <a:effectLst/>
        </p:spPr>
        <p:txBody>
          <a:bodyPr rtlCol="0" anchor="ctr" lIns="0" rIns="0" tIns="0" bIns="0"/>
          <a:lstStyle/>
          <a:p/>
        </p:txBody>
      </p:sp>
      <p:pic>
        <p:nvPicPr>
          <p:cNvPr id="38" name="icone clipboard" descr="clipboard_white.png"/>
          <p:cNvPicPr>
            <a:picLocks noChangeAspect="1"/>
          </p:cNvPicPr>
          <p:nvPr/>
        </p:nvPicPr>
        <p:blipFill>
          <a:blip r:embed="rId4"/>
          <a:stretch>
            <a:fillRect/>
          </a:stretch>
        </p:blipFill>
        <p:spPr>
          <a:xfrm>
            <a:off x="1668780" y="6903720"/>
            <a:ext cx="411480" cy="411480"/>
          </a:xfrm>
          <a:prstGeom prst="rect">
            <a:avLst/>
          </a:prstGeom>
        </p:spPr>
      </p:pic>
      <p:sp>
        <p:nvSpPr>
          <p:cNvPr id="39" name="TextBox 38"/>
          <p:cNvSpPr txBox="1"/>
          <p:nvPr/>
        </p:nvSpPr>
        <p:spPr>
          <a:xfrm>
            <a:off x="2423160" y="6492240"/>
            <a:ext cx="4130039" cy="1234440"/>
          </a:xfrm>
          <a:prstGeom prst="rect">
            <a:avLst/>
          </a:prstGeom>
          <a:noFill/>
        </p:spPr>
        <p:txBody>
          <a:bodyPr wrap="square" lIns="0" rIns="0" tIns="0" bIns="0" anchor="ctr">
            <a:noAutofit/>
          </a:bodyPr>
          <a:lstStyle/>
          <a:p>
            <a:pPr algn="l">
              <a:lnSpc>
                <a:spcPct val="100000"/>
              </a:lnSpc>
              <a:spcAft>
                <a:spcPts val="300"/>
              </a:spcAft>
              <a:buNone/>
            </a:pPr>
            <a:r>
              <a:rPr sz="2200" b="1" i="0">
                <a:solidFill>
                  <a:srgbClr val="C8A951"/>
                </a:solidFill>
                <a:latin typeface="Arial"/>
              </a:rPr>
              <a:t>Protocolo registrado</a:t>
            </a:r>
          </a:p>
          <a:p>
            <a:pPr algn="l">
              <a:lnSpc>
                <a:spcPct val="100000"/>
              </a:lnSpc>
              <a:spcAft>
                <a:spcPts val="0"/>
              </a:spcAft>
              <a:buNone/>
            </a:pPr>
            <a:r>
              <a:rPr sz="1900" b="0" i="0">
                <a:solidFill>
                  <a:srgbClr val="FFFFFF"/>
                </a:solidFill>
                <a:latin typeface="Arial"/>
              </a:rPr>
              <a:t>PROSPERO CRD420251238727</a:t>
            </a:r>
          </a:p>
        </p:txBody>
      </p:sp>
      <p:sp>
        <p:nvSpPr>
          <p:cNvPr id="40" name="Oval 39"/>
          <p:cNvSpPr/>
          <p:nvPr/>
        </p:nvSpPr>
        <p:spPr>
          <a:xfrm>
            <a:off x="6918959" y="6697979"/>
            <a:ext cx="822960" cy="822960"/>
          </a:xfrm>
          <a:prstGeom prst="ellipse">
            <a:avLst/>
          </a:prstGeom>
          <a:solidFill>
            <a:srgbClr val="C8A951"/>
          </a:solidFill>
          <a:ln>
            <a:noFill/>
          </a:ln>
          <a:effectLst/>
        </p:spPr>
        <p:txBody>
          <a:bodyPr rtlCol="0" anchor="ctr" lIns="0" rIns="0" tIns="0" bIns="0"/>
          <a:lstStyle/>
          <a:p/>
        </p:txBody>
      </p:sp>
      <p:pic>
        <p:nvPicPr>
          <p:cNvPr id="41" name="icone check" descr="check_white.png"/>
          <p:cNvPicPr>
            <a:picLocks noChangeAspect="1"/>
          </p:cNvPicPr>
          <p:nvPr/>
        </p:nvPicPr>
        <p:blipFill>
          <a:blip r:embed="rId5"/>
          <a:stretch>
            <a:fillRect/>
          </a:stretch>
        </p:blipFill>
        <p:spPr>
          <a:xfrm>
            <a:off x="7124699" y="6903720"/>
            <a:ext cx="411480" cy="411480"/>
          </a:xfrm>
          <a:prstGeom prst="rect">
            <a:avLst/>
          </a:prstGeom>
        </p:spPr>
      </p:pic>
      <p:sp>
        <p:nvSpPr>
          <p:cNvPr id="42" name="TextBox 41"/>
          <p:cNvSpPr txBox="1"/>
          <p:nvPr/>
        </p:nvSpPr>
        <p:spPr>
          <a:xfrm>
            <a:off x="7879080" y="6492240"/>
            <a:ext cx="4130039" cy="1234440"/>
          </a:xfrm>
          <a:prstGeom prst="rect">
            <a:avLst/>
          </a:prstGeom>
          <a:noFill/>
        </p:spPr>
        <p:txBody>
          <a:bodyPr wrap="square" lIns="0" rIns="0" tIns="0" bIns="0" anchor="ctr">
            <a:noAutofit/>
          </a:bodyPr>
          <a:lstStyle/>
          <a:p>
            <a:pPr algn="l">
              <a:lnSpc>
                <a:spcPct val="100000"/>
              </a:lnSpc>
              <a:spcAft>
                <a:spcPts val="300"/>
              </a:spcAft>
              <a:buNone/>
            </a:pPr>
            <a:r>
              <a:rPr sz="2200" b="1" i="0">
                <a:solidFill>
                  <a:srgbClr val="C8A951"/>
                </a:solidFill>
                <a:latin typeface="Arial"/>
              </a:rPr>
              <a:t>Relato completo</a:t>
            </a:r>
          </a:p>
          <a:p>
            <a:pPr algn="l">
              <a:lnSpc>
                <a:spcPct val="100000"/>
              </a:lnSpc>
              <a:spcAft>
                <a:spcPts val="0"/>
              </a:spcAft>
              <a:buNone/>
            </a:pPr>
            <a:r>
              <a:rPr sz="1900" b="0" i="0">
                <a:solidFill>
                  <a:srgbClr val="FFFFFF"/>
                </a:solidFill>
                <a:latin typeface="Arial"/>
              </a:rPr>
              <a:t>checklist PRISMA 2020, 27 itens</a:t>
            </a:r>
          </a:p>
        </p:txBody>
      </p:sp>
      <p:sp>
        <p:nvSpPr>
          <p:cNvPr id="43" name="Oval 42"/>
          <p:cNvSpPr/>
          <p:nvPr/>
        </p:nvSpPr>
        <p:spPr>
          <a:xfrm>
            <a:off x="12374879" y="6697979"/>
            <a:ext cx="822960" cy="822960"/>
          </a:xfrm>
          <a:prstGeom prst="ellipse">
            <a:avLst/>
          </a:prstGeom>
          <a:solidFill>
            <a:srgbClr val="C8A951"/>
          </a:solidFill>
          <a:ln>
            <a:noFill/>
          </a:ln>
          <a:effectLst/>
        </p:spPr>
        <p:txBody>
          <a:bodyPr rtlCol="0" anchor="ctr" lIns="0" rIns="0" tIns="0" bIns="0"/>
          <a:lstStyle/>
          <a:p/>
        </p:txBody>
      </p:sp>
      <p:pic>
        <p:nvPicPr>
          <p:cNvPr id="44" name="icone table" descr="table_white.png"/>
          <p:cNvPicPr>
            <a:picLocks noChangeAspect="1"/>
          </p:cNvPicPr>
          <p:nvPr/>
        </p:nvPicPr>
        <p:blipFill>
          <a:blip r:embed="rId6"/>
          <a:stretch>
            <a:fillRect/>
          </a:stretch>
        </p:blipFill>
        <p:spPr>
          <a:xfrm>
            <a:off x="12580619" y="6903720"/>
            <a:ext cx="411480" cy="411480"/>
          </a:xfrm>
          <a:prstGeom prst="rect">
            <a:avLst/>
          </a:prstGeom>
        </p:spPr>
      </p:pic>
      <p:sp>
        <p:nvSpPr>
          <p:cNvPr id="45" name="TextBox 44"/>
          <p:cNvSpPr txBox="1"/>
          <p:nvPr/>
        </p:nvSpPr>
        <p:spPr>
          <a:xfrm>
            <a:off x="13334999" y="6492240"/>
            <a:ext cx="4130039" cy="1234440"/>
          </a:xfrm>
          <a:prstGeom prst="rect">
            <a:avLst/>
          </a:prstGeom>
          <a:noFill/>
        </p:spPr>
        <p:txBody>
          <a:bodyPr wrap="square" lIns="0" rIns="0" tIns="0" bIns="0" anchor="ctr">
            <a:noAutofit/>
          </a:bodyPr>
          <a:lstStyle/>
          <a:p>
            <a:pPr algn="l">
              <a:lnSpc>
                <a:spcPct val="100000"/>
              </a:lnSpc>
              <a:spcAft>
                <a:spcPts val="300"/>
              </a:spcAft>
              <a:buNone/>
            </a:pPr>
            <a:r>
              <a:rPr sz="2200" b="1" i="0">
                <a:solidFill>
                  <a:srgbClr val="C8A951"/>
                </a:solidFill>
                <a:latin typeface="Arial"/>
              </a:rPr>
              <a:t>Ciência aberta</a:t>
            </a:r>
          </a:p>
          <a:p>
            <a:pPr algn="l">
              <a:lnSpc>
                <a:spcPct val="100000"/>
              </a:lnSpc>
              <a:spcAft>
                <a:spcPts val="0"/>
              </a:spcAft>
              <a:buNone/>
            </a:pPr>
            <a:r>
              <a:rPr sz="1900" b="0" i="0">
                <a:solidFill>
                  <a:srgbClr val="FFFFFF"/>
                </a:solidFill>
                <a:latin typeface="Arial"/>
              </a:rPr>
              <a:t>código, planilhas e figuras no OSF</a:t>
            </a:r>
          </a:p>
        </p:txBody>
      </p:sp>
      <p:sp>
        <p:nvSpPr>
          <p:cNvPr id="46" name="Rounded Rectangle 45"/>
          <p:cNvSpPr/>
          <p:nvPr/>
        </p:nvSpPr>
        <p:spPr>
          <a:xfrm>
            <a:off x="1143000" y="8275320"/>
            <a:ext cx="8183879" cy="1463039"/>
          </a:xfrm>
          <a:prstGeom prst="roundRect">
            <a:avLst>
              <a:gd name="adj" fmla="val 6000"/>
            </a:avLst>
          </a:prstGeom>
          <a:solidFill>
            <a:srgbClr val="E6EBF5"/>
          </a:solidFill>
          <a:ln>
            <a:noFill/>
          </a:ln>
          <a:effectLst/>
        </p:spPr>
        <p:txBody>
          <a:bodyPr rtlCol="0" anchor="ctr"/>
          <a:lstStyle/>
          <a:p/>
        </p:txBody>
      </p:sp>
      <p:sp>
        <p:nvSpPr>
          <p:cNvPr id="47" name="TextBox 46"/>
          <p:cNvSpPr txBox="1"/>
          <p:nvPr/>
        </p:nvSpPr>
        <p:spPr>
          <a:xfrm>
            <a:off x="1463040" y="8366760"/>
            <a:ext cx="7543800" cy="1280159"/>
          </a:xfrm>
          <a:prstGeom prst="rect">
            <a:avLst/>
          </a:prstGeom>
          <a:noFill/>
        </p:spPr>
        <p:txBody>
          <a:bodyPr wrap="square" lIns="0" rIns="0" tIns="0" bIns="0" anchor="ctr">
            <a:noAutofit/>
          </a:bodyPr>
          <a:lstStyle/>
          <a:p>
            <a:pPr algn="ctr">
              <a:lnSpc>
                <a:spcPct val="100000"/>
              </a:lnSpc>
              <a:spcAft>
                <a:spcPts val="0"/>
              </a:spcAft>
              <a:buNone/>
            </a:pPr>
            <a:r>
              <a:rPr sz="1900" b="1" i="0">
                <a:solidFill>
                  <a:srgbClr val="002060"/>
                </a:solidFill>
                <a:latin typeface="Arial"/>
              </a:rPr>
              <a:t>Ferramentas: </a:t>
            </a:r>
            <a:r>
              <a:rPr sz="1900" b="0" i="0">
                <a:solidFill>
                  <a:srgbClr val="1F2433"/>
                </a:solidFill>
                <a:latin typeface="Arial"/>
              </a:rPr>
              <a:t>Zotero · Rayyan · OpenAlex · Python</a:t>
            </a:r>
          </a:p>
        </p:txBody>
      </p:sp>
      <p:sp>
        <p:nvSpPr>
          <p:cNvPr id="48" name="Rounded Rectangle 47"/>
          <p:cNvSpPr/>
          <p:nvPr/>
        </p:nvSpPr>
        <p:spPr>
          <a:xfrm>
            <a:off x="9601200" y="8275320"/>
            <a:ext cx="8183879" cy="1463039"/>
          </a:xfrm>
          <a:prstGeom prst="roundRect">
            <a:avLst>
              <a:gd name="adj" fmla="val 6000"/>
            </a:avLst>
          </a:prstGeom>
          <a:solidFill>
            <a:srgbClr val="E6EBF5"/>
          </a:solidFill>
          <a:ln>
            <a:noFill/>
          </a:ln>
          <a:effectLst/>
        </p:spPr>
        <p:txBody>
          <a:bodyPr rtlCol="0" anchor="ctr"/>
          <a:lstStyle/>
          <a:p/>
        </p:txBody>
      </p:sp>
      <p:sp>
        <p:nvSpPr>
          <p:cNvPr id="49" name="TextBox 48"/>
          <p:cNvSpPr txBox="1"/>
          <p:nvPr/>
        </p:nvSpPr>
        <p:spPr>
          <a:xfrm>
            <a:off x="9921240" y="8366760"/>
            <a:ext cx="7543800" cy="1280159"/>
          </a:xfrm>
          <a:prstGeom prst="rect">
            <a:avLst/>
          </a:prstGeom>
          <a:noFill/>
        </p:spPr>
        <p:txBody>
          <a:bodyPr wrap="square" lIns="0" rIns="0" tIns="0" bIns="0" anchor="ctr">
            <a:noAutofit/>
          </a:bodyPr>
          <a:lstStyle/>
          <a:p>
            <a:pPr algn="ctr">
              <a:lnSpc>
                <a:spcPct val="100000"/>
              </a:lnSpc>
              <a:spcAft>
                <a:spcPts val="0"/>
              </a:spcAft>
              <a:buNone/>
            </a:pPr>
            <a:r>
              <a:rPr sz="1900" b="1" i="0">
                <a:solidFill>
                  <a:srgbClr val="002060"/>
                </a:solidFill>
                <a:latin typeface="Arial"/>
              </a:rPr>
              <a:t>IA: </a:t>
            </a:r>
            <a:r>
              <a:rPr sz="1900" b="0" i="0">
                <a:solidFill>
                  <a:srgbClr val="1F2433"/>
                </a:solidFill>
                <a:latin typeface="Arial"/>
              </a:rPr>
              <a:t>apoio operacional, declarado; </a:t>
            </a:r>
            <a:r>
              <a:rPr sz="1900" b="1" i="0">
                <a:solidFill>
                  <a:srgbClr val="1F2433"/>
                </a:solidFill>
                <a:latin typeface="Arial"/>
              </a:rPr>
              <a:t>as decisões foram humanas.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5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50"/>
                                        <p:tgtEl>
                                          <p:spTgt spid="11"/>
                                        </p:tgtEl>
                                      </p:cBhvr>
                                    </p:animEffect>
                                  </p:childTnLst>
                                </p:cTn>
                              </p:par>
                            </p:childTnLst>
                          </p:cTn>
                        </p:par>
                        <p:par>
                          <p:cTn id="17" fill="hold">
                            <p:stCondLst>
                              <p:cond delay="35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35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35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35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350"/>
                                        <p:tgtEl>
                                          <p:spTgt spid="15"/>
                                        </p:tgtEl>
                                      </p:cBhvr>
                                    </p:animEffect>
                                  </p:childTnLst>
                                </p:cTn>
                              </p:par>
                            </p:childTnLst>
                          </p:cTn>
                        </p:par>
                        <p:par>
                          <p:cTn id="30" fill="hold">
                            <p:stCondLst>
                              <p:cond delay="700"/>
                            </p:stCondLst>
                            <p:childTnLst>
                              <p:par>
                                <p:cTn id="31" presetID="10" presetClass="entr" presetSubtype="0"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35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5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5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50"/>
                                        <p:tgtEl>
                                          <p:spTgt spid="19"/>
                                        </p:tgtEl>
                                      </p:cBhvr>
                                    </p:animEffect>
                                  </p:childTnLst>
                                </p:cTn>
                              </p:par>
                            </p:childTnLst>
                          </p:cTn>
                        </p:par>
                        <p:par>
                          <p:cTn id="43" fill="hold">
                            <p:stCondLst>
                              <p:cond delay="1050"/>
                            </p:stCondLst>
                            <p:childTnLst>
                              <p:par>
                                <p:cTn id="44" presetID="10" presetClass="entr" presetSubtype="0"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5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35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35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50"/>
                                        <p:tgtEl>
                                          <p:spTgt spid="23"/>
                                        </p:tgtEl>
                                      </p:cBhvr>
                                    </p:animEffect>
                                  </p:childTnLst>
                                </p:cTn>
                              </p:par>
                            </p:childTnLst>
                          </p:cTn>
                        </p:par>
                        <p:par>
                          <p:cTn id="56" fill="hold">
                            <p:stCondLst>
                              <p:cond delay="1400"/>
                            </p:stCondLst>
                            <p:childTnLst>
                              <p:par>
                                <p:cTn id="57" presetID="10" presetClass="entr" presetSubtype="0"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5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35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35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350"/>
                                        <p:tgtEl>
                                          <p:spTgt spid="27"/>
                                        </p:tgtEl>
                                      </p:cBhvr>
                                    </p:animEffect>
                                  </p:childTnLst>
                                </p:cTn>
                              </p:par>
                            </p:childTnLst>
                          </p:cTn>
                        </p:par>
                        <p:par>
                          <p:cTn id="69" fill="hold">
                            <p:stCondLst>
                              <p:cond delay="1750"/>
                            </p:stCondLst>
                            <p:childTnLst>
                              <p:par>
                                <p:cTn id="70" presetID="10" presetClass="entr" presetSubtype="0" fill="hold" grpId="0" nodeType="after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35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35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35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350"/>
                                        <p:tgtEl>
                                          <p:spTgt spid="31"/>
                                        </p:tgtEl>
                                      </p:cBhvr>
                                    </p:animEffect>
                                  </p:childTnLst>
                                </p:cTn>
                              </p:par>
                            </p:childTnLst>
                          </p:cTn>
                        </p:par>
                        <p:par>
                          <p:cTn id="82" fill="hold">
                            <p:stCondLst>
                              <p:cond delay="2100"/>
                            </p:stCondLst>
                            <p:childTnLst>
                              <p:par>
                                <p:cTn id="83" presetID="10" presetClass="entr" presetSubtype="0" fill="hold" grpId="0" nodeType="after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35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35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35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350"/>
                                        <p:tgtEl>
                                          <p:spTgt spid="35"/>
                                        </p:tgtEl>
                                      </p:cBhvr>
                                    </p:animEffect>
                                  </p:childTnLst>
                                </p:cTn>
                              </p:par>
                            </p:childTnLst>
                          </p:cTn>
                        </p:par>
                        <p:par>
                          <p:cTn id="95" fill="hold">
                            <p:stCondLst>
                              <p:cond delay="2450"/>
                            </p:stCondLst>
                            <p:childTnLst>
                              <p:par>
                                <p:cTn id="96" presetID="10" presetClass="entr" presetSubtype="0" fill="hold" grpId="0" nodeType="after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35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35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35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350"/>
                                        <p:tgtEl>
                                          <p:spTgt spid="3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35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35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350"/>
                                        <p:tgtEl>
                                          <p:spTgt spid="4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350"/>
                                        <p:tgtEl>
                                          <p:spTgt spid="4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350"/>
                                        <p:tgtEl>
                                          <p:spTgt spid="4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350"/>
                                        <p:tgtEl>
                                          <p:spTgt spid="45"/>
                                        </p:tgtEl>
                                      </p:cBhvr>
                                    </p:animEffect>
                                  </p:childTnLst>
                                </p:cTn>
                              </p:par>
                            </p:childTnLst>
                          </p:cTn>
                        </p:par>
                        <p:par>
                          <p:cTn id="126" fill="hold">
                            <p:stCondLst>
                              <p:cond delay="2800"/>
                            </p:stCondLst>
                            <p:childTnLst>
                              <p:par>
                                <p:cTn id="127" presetID="10" presetClass="entr" presetSubtype="0" fill="hold" grpId="0" nodeType="after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35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35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350"/>
                                        <p:tgtEl>
                                          <p:spTgt spid="48"/>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3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0" grpId="0" animBg="1"/>
      <p:bldP spid="42" grpId="0" animBg="1"/>
      <p:bldP spid="43" grpId="0" animBg="1"/>
      <p:bldP spid="45" grpId="0" animBg="1"/>
      <p:bldP spid="46" grpId="0" animBg="1"/>
      <p:bldP spid="47" grpId="0" animBg="1"/>
      <p:bldP spid="48" grpId="0" animBg="1"/>
      <p:bldP spid="49"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Passos 2 e 3 · Da busca ampla aos 22 relatórios incluídos</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45505"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Protocolo</a:t>
            </a:r>
          </a:p>
        </p:txBody>
      </p:sp>
      <p:sp>
        <p:nvSpPr>
          <p:cNvPr id="10" name="Oval 9"/>
          <p:cNvSpPr/>
          <p:nvPr/>
        </p:nvSpPr>
        <p:spPr>
          <a:xfrm>
            <a:off x="4560243"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Busca</a:t>
            </a:r>
          </a:p>
        </p:txBody>
      </p:sp>
      <p:sp>
        <p:nvSpPr>
          <p:cNvPr id="12" name="Oval 11"/>
          <p:cNvSpPr/>
          <p:nvPr/>
        </p:nvSpPr>
        <p:spPr>
          <a:xfrm>
            <a:off x="6911557"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Seleção</a:t>
            </a:r>
          </a:p>
        </p:txBody>
      </p:sp>
      <p:sp>
        <p:nvSpPr>
          <p:cNvPr id="14" name="Oval 13"/>
          <p:cNvSpPr/>
          <p:nvPr/>
        </p:nvSpPr>
        <p:spPr>
          <a:xfrm>
            <a:off x="9299447"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Extração</a:t>
            </a:r>
          </a:p>
        </p:txBody>
      </p:sp>
      <p:sp>
        <p:nvSpPr>
          <p:cNvPr id="16" name="Oval 15"/>
          <p:cNvSpPr/>
          <p:nvPr/>
        </p:nvSpPr>
        <p:spPr>
          <a:xfrm>
            <a:off x="11650762"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Risco de viés</a:t>
            </a:r>
          </a:p>
        </p:txBody>
      </p:sp>
      <p:sp>
        <p:nvSpPr>
          <p:cNvPr id="18" name="Oval 17"/>
          <p:cNvSpPr/>
          <p:nvPr/>
        </p:nvSpPr>
        <p:spPr>
          <a:xfrm>
            <a:off x="14002076"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Síntese</a:t>
            </a:r>
          </a:p>
        </p:txBody>
      </p:sp>
      <p:sp>
        <p:nvSpPr>
          <p:cNvPr id="20" name="Oval 19"/>
          <p:cNvSpPr/>
          <p:nvPr/>
        </p:nvSpPr>
        <p:spPr>
          <a:xfrm>
            <a:off x="16353390"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Certeza (GRADE)</a:t>
            </a:r>
          </a:p>
        </p:txBody>
      </p:sp>
      <p:sp>
        <p:nvSpPr>
          <p:cNvPr id="22" name="Rounded Rectangle 21"/>
          <p:cNvSpPr/>
          <p:nvPr/>
        </p:nvSpPr>
        <p:spPr>
          <a:xfrm>
            <a:off x="1143000" y="1783080"/>
            <a:ext cx="2286000" cy="2651760"/>
          </a:xfrm>
          <a:prstGeom prst="roundRect">
            <a:avLst>
              <a:gd name="adj" fmla="val 6000"/>
            </a:avLst>
          </a:prstGeom>
          <a:solidFill>
            <a:srgbClr val="F2F4F8"/>
          </a:solidFill>
          <a:ln>
            <a:noFill/>
          </a:ln>
          <a:effectLst/>
        </p:spPr>
        <p:txBody>
          <a:bodyPr rtlCol="0" anchor="ctr"/>
          <a:lstStyle/>
          <a:p/>
        </p:txBody>
      </p:sp>
      <p:sp>
        <p:nvSpPr>
          <p:cNvPr id="23" name="TextBox 22"/>
          <p:cNvSpPr txBox="1"/>
          <p:nvPr/>
        </p:nvSpPr>
        <p:spPr>
          <a:xfrm>
            <a:off x="1252728" y="1920240"/>
            <a:ext cx="2066543" cy="2377440"/>
          </a:xfrm>
          <a:prstGeom prst="rect">
            <a:avLst/>
          </a:prstGeom>
          <a:noFill/>
        </p:spPr>
        <p:txBody>
          <a:bodyPr wrap="square" lIns="0" rIns="0" tIns="0" bIns="0" anchor="ctr">
            <a:noAutofit/>
          </a:bodyPr>
          <a:lstStyle/>
          <a:p>
            <a:pPr algn="ctr">
              <a:lnSpc>
                <a:spcPct val="100000"/>
              </a:lnSpc>
              <a:spcAft>
                <a:spcPts val="600"/>
              </a:spcAft>
              <a:buNone/>
            </a:pPr>
            <a:r>
              <a:rPr sz="4600" b="1" i="0">
                <a:solidFill>
                  <a:srgbClr val="002060"/>
                </a:solidFill>
                <a:latin typeface="Arial"/>
              </a:rPr>
              <a:t>16.757</a:t>
            </a:r>
          </a:p>
          <a:p>
            <a:pPr algn="ctr">
              <a:lnSpc>
                <a:spcPct val="100000"/>
              </a:lnSpc>
              <a:spcAft>
                <a:spcPts val="0"/>
              </a:spcAft>
              <a:buNone/>
            </a:pPr>
            <a:r>
              <a:rPr sz="2000" b="0" i="0">
                <a:solidFill>
                  <a:srgbClr val="1F2433"/>
                </a:solidFill>
                <a:latin typeface="Arial"/>
              </a:rPr>
              <a:t>registros identificados</a:t>
            </a:r>
          </a:p>
        </p:txBody>
      </p:sp>
      <p:cxnSp>
        <p:nvCxnSpPr>
          <p:cNvPr id="24" name="Connector 23"/>
          <p:cNvCxnSpPr/>
          <p:nvPr/>
        </p:nvCxnSpPr>
        <p:spPr>
          <a:xfrm>
            <a:off x="3520440" y="2651760"/>
            <a:ext cx="1120140" cy="0"/>
          </a:xfrm>
          <a:prstGeom prst="line">
            <a:avLst/>
          </a:prstGeom>
          <a:ln w="31750">
            <a:solidFill>
              <a:srgbClr val="002060"/>
            </a:solidFill>
            <a:tailEnd type="triangle" w="med" len="med"/>
          </a:ln>
        </p:spPr>
      </p:cxnSp>
      <p:sp>
        <p:nvSpPr>
          <p:cNvPr id="25" name="TextBox 24"/>
          <p:cNvSpPr txBox="1"/>
          <p:nvPr/>
        </p:nvSpPr>
        <p:spPr>
          <a:xfrm>
            <a:off x="3483864" y="2834639"/>
            <a:ext cx="1193291" cy="1280160"/>
          </a:xfrm>
          <a:prstGeom prst="rect">
            <a:avLst/>
          </a:prstGeom>
          <a:noFill/>
        </p:spPr>
        <p:txBody>
          <a:bodyPr wrap="square" lIns="0" rIns="0" tIns="0" bIns="0" anchor="t">
            <a:noAutofit/>
          </a:bodyPr>
          <a:lstStyle/>
          <a:p>
            <a:pPr algn="ctr">
              <a:lnSpc>
                <a:spcPct val="95000"/>
              </a:lnSpc>
              <a:spcAft>
                <a:spcPts val="0"/>
              </a:spcAft>
              <a:buNone/>
            </a:pPr>
            <a:r>
              <a:rPr sz="1500" b="0" i="0">
                <a:solidFill>
                  <a:srgbClr val="5A6270"/>
                </a:solidFill>
                <a:latin typeface="Arial"/>
              </a:rPr>
              <a:t>− 5.839</a:t>
            </a:r>
          </a:p>
          <a:p>
            <a:pPr algn="ctr">
              <a:lnSpc>
                <a:spcPct val="95000"/>
              </a:lnSpc>
              <a:spcAft>
                <a:spcPts val="0"/>
              </a:spcAft>
              <a:buNone/>
            </a:pPr>
            <a:r>
              <a:rPr sz="1500" b="0" i="0">
                <a:solidFill>
                  <a:srgbClr val="5A6270"/>
                </a:solidFill>
                <a:latin typeface="Arial"/>
              </a:rPr>
              <a:t>duplicatas</a:t>
            </a:r>
          </a:p>
          <a:p>
            <a:pPr algn="ctr">
              <a:lnSpc>
                <a:spcPct val="95000"/>
              </a:lnSpc>
              <a:spcAft>
                <a:spcPts val="0"/>
              </a:spcAft>
              <a:buNone/>
            </a:pPr>
            <a:r>
              <a:rPr sz="1500" b="0" i="0">
                <a:solidFill>
                  <a:srgbClr val="5A6270"/>
                </a:solidFill>
                <a:latin typeface="Arial"/>
              </a:rPr>
              <a:t>− 8 não</a:t>
            </a:r>
          </a:p>
          <a:p>
            <a:pPr algn="ctr">
              <a:lnSpc>
                <a:spcPct val="95000"/>
              </a:lnSpc>
              <a:spcAft>
                <a:spcPts val="0"/>
              </a:spcAft>
              <a:buNone/>
            </a:pPr>
            <a:r>
              <a:rPr sz="1500" b="0" i="0">
                <a:solidFill>
                  <a:srgbClr val="5A6270"/>
                </a:solidFill>
                <a:latin typeface="Arial"/>
              </a:rPr>
              <a:t>exportados</a:t>
            </a:r>
          </a:p>
        </p:txBody>
      </p:sp>
      <p:sp>
        <p:nvSpPr>
          <p:cNvPr id="26" name="Rounded Rectangle 25"/>
          <p:cNvSpPr/>
          <p:nvPr/>
        </p:nvSpPr>
        <p:spPr>
          <a:xfrm>
            <a:off x="4732020" y="1783080"/>
            <a:ext cx="2286000" cy="2651760"/>
          </a:xfrm>
          <a:prstGeom prst="roundRect">
            <a:avLst>
              <a:gd name="adj" fmla="val 6000"/>
            </a:avLst>
          </a:prstGeom>
          <a:solidFill>
            <a:srgbClr val="F2F4F8"/>
          </a:solidFill>
          <a:ln>
            <a:noFill/>
          </a:ln>
          <a:effectLst/>
        </p:spPr>
        <p:txBody>
          <a:bodyPr rtlCol="0" anchor="ctr"/>
          <a:lstStyle/>
          <a:p/>
        </p:txBody>
      </p:sp>
      <p:sp>
        <p:nvSpPr>
          <p:cNvPr id="27" name="TextBox 26"/>
          <p:cNvSpPr txBox="1"/>
          <p:nvPr/>
        </p:nvSpPr>
        <p:spPr>
          <a:xfrm>
            <a:off x="4841748" y="1920240"/>
            <a:ext cx="2066543" cy="2377440"/>
          </a:xfrm>
          <a:prstGeom prst="rect">
            <a:avLst/>
          </a:prstGeom>
          <a:noFill/>
        </p:spPr>
        <p:txBody>
          <a:bodyPr wrap="square" lIns="0" rIns="0" tIns="0" bIns="0" anchor="ctr">
            <a:noAutofit/>
          </a:bodyPr>
          <a:lstStyle/>
          <a:p>
            <a:pPr algn="ctr">
              <a:lnSpc>
                <a:spcPct val="100000"/>
              </a:lnSpc>
              <a:spcAft>
                <a:spcPts val="600"/>
              </a:spcAft>
              <a:buNone/>
            </a:pPr>
            <a:r>
              <a:rPr sz="4600" b="1" i="0">
                <a:solidFill>
                  <a:srgbClr val="002060"/>
                </a:solidFill>
                <a:latin typeface="Arial"/>
              </a:rPr>
              <a:t>10.910</a:t>
            </a:r>
          </a:p>
          <a:p>
            <a:pPr algn="ctr">
              <a:lnSpc>
                <a:spcPct val="100000"/>
              </a:lnSpc>
              <a:spcAft>
                <a:spcPts val="0"/>
              </a:spcAft>
              <a:buNone/>
            </a:pPr>
            <a:r>
              <a:rPr sz="2000" b="0" i="0">
                <a:solidFill>
                  <a:srgbClr val="1F2433"/>
                </a:solidFill>
                <a:latin typeface="Arial"/>
              </a:rPr>
              <a:t>títulos e resumos lidos</a:t>
            </a:r>
          </a:p>
        </p:txBody>
      </p:sp>
      <p:cxnSp>
        <p:nvCxnSpPr>
          <p:cNvPr id="28" name="Connector 27"/>
          <p:cNvCxnSpPr/>
          <p:nvPr/>
        </p:nvCxnSpPr>
        <p:spPr>
          <a:xfrm>
            <a:off x="7109459" y="2651760"/>
            <a:ext cx="1120141" cy="0"/>
          </a:xfrm>
          <a:prstGeom prst="line">
            <a:avLst/>
          </a:prstGeom>
          <a:ln w="31750">
            <a:solidFill>
              <a:srgbClr val="002060"/>
            </a:solidFill>
            <a:tailEnd type="triangle" w="med" len="med"/>
          </a:ln>
        </p:spPr>
      </p:cxnSp>
      <p:sp>
        <p:nvSpPr>
          <p:cNvPr id="29" name="TextBox 28"/>
          <p:cNvSpPr txBox="1"/>
          <p:nvPr/>
        </p:nvSpPr>
        <p:spPr>
          <a:xfrm>
            <a:off x="7072883" y="2834639"/>
            <a:ext cx="1193291" cy="1280160"/>
          </a:xfrm>
          <a:prstGeom prst="rect">
            <a:avLst/>
          </a:prstGeom>
          <a:noFill/>
        </p:spPr>
        <p:txBody>
          <a:bodyPr wrap="square" lIns="0" rIns="0" tIns="0" bIns="0" anchor="t">
            <a:noAutofit/>
          </a:bodyPr>
          <a:lstStyle/>
          <a:p>
            <a:pPr algn="ctr">
              <a:lnSpc>
                <a:spcPct val="95000"/>
              </a:lnSpc>
              <a:spcAft>
                <a:spcPts val="0"/>
              </a:spcAft>
              <a:buNone/>
            </a:pPr>
            <a:r>
              <a:rPr sz="1500" b="0" i="0">
                <a:solidFill>
                  <a:srgbClr val="5A6270"/>
                </a:solidFill>
                <a:latin typeface="Arial"/>
              </a:rPr>
              <a:t>− 10.882</a:t>
            </a:r>
          </a:p>
          <a:p>
            <a:pPr algn="ctr">
              <a:lnSpc>
                <a:spcPct val="95000"/>
              </a:lnSpc>
              <a:spcAft>
                <a:spcPts val="0"/>
              </a:spcAft>
              <a:buNone/>
            </a:pPr>
            <a:r>
              <a:rPr sz="1500" b="0" i="0">
                <a:solidFill>
                  <a:srgbClr val="5A6270"/>
                </a:solidFill>
                <a:latin typeface="Arial"/>
              </a:rPr>
              <a:t>excluídos</a:t>
            </a:r>
          </a:p>
          <a:p>
            <a:pPr algn="ctr">
              <a:lnSpc>
                <a:spcPct val="95000"/>
              </a:lnSpc>
              <a:spcAft>
                <a:spcPts val="0"/>
              </a:spcAft>
              <a:buNone/>
            </a:pPr>
            <a:r>
              <a:rPr sz="1500" b="0" i="0">
                <a:solidFill>
                  <a:srgbClr val="5A6270"/>
                </a:solidFill>
                <a:latin typeface="Arial"/>
              </a:rPr>
              <a:t>+ 4 por</a:t>
            </a:r>
          </a:p>
          <a:p>
            <a:pPr algn="ctr">
              <a:lnSpc>
                <a:spcPct val="95000"/>
              </a:lnSpc>
              <a:spcAft>
                <a:spcPts val="0"/>
              </a:spcAft>
              <a:buNone/>
            </a:pPr>
            <a:r>
              <a:rPr sz="1500" b="0" i="0">
                <a:solidFill>
                  <a:srgbClr val="5A6270"/>
                </a:solidFill>
                <a:latin typeface="Arial"/>
              </a:rPr>
              <a:t>citação</a:t>
            </a:r>
          </a:p>
        </p:txBody>
      </p:sp>
      <p:sp>
        <p:nvSpPr>
          <p:cNvPr id="30" name="Rounded Rectangle 29"/>
          <p:cNvSpPr/>
          <p:nvPr/>
        </p:nvSpPr>
        <p:spPr>
          <a:xfrm>
            <a:off x="8321040" y="1783080"/>
            <a:ext cx="2286000" cy="2651760"/>
          </a:xfrm>
          <a:prstGeom prst="roundRect">
            <a:avLst>
              <a:gd name="adj" fmla="val 6000"/>
            </a:avLst>
          </a:prstGeom>
          <a:solidFill>
            <a:srgbClr val="F2F4F8"/>
          </a:solidFill>
          <a:ln>
            <a:noFill/>
          </a:ln>
          <a:effectLst/>
        </p:spPr>
        <p:txBody>
          <a:bodyPr rtlCol="0" anchor="ctr"/>
          <a:lstStyle/>
          <a:p/>
        </p:txBody>
      </p:sp>
      <p:sp>
        <p:nvSpPr>
          <p:cNvPr id="31" name="TextBox 30"/>
          <p:cNvSpPr txBox="1"/>
          <p:nvPr/>
        </p:nvSpPr>
        <p:spPr>
          <a:xfrm>
            <a:off x="8430767" y="1920240"/>
            <a:ext cx="2066543" cy="2377440"/>
          </a:xfrm>
          <a:prstGeom prst="rect">
            <a:avLst/>
          </a:prstGeom>
          <a:noFill/>
        </p:spPr>
        <p:txBody>
          <a:bodyPr wrap="square" lIns="0" rIns="0" tIns="0" bIns="0" anchor="ctr">
            <a:noAutofit/>
          </a:bodyPr>
          <a:lstStyle/>
          <a:p>
            <a:pPr algn="ctr">
              <a:lnSpc>
                <a:spcPct val="100000"/>
              </a:lnSpc>
              <a:spcAft>
                <a:spcPts val="600"/>
              </a:spcAft>
              <a:buNone/>
            </a:pPr>
            <a:r>
              <a:rPr sz="4600" b="1" i="0">
                <a:solidFill>
                  <a:srgbClr val="002060"/>
                </a:solidFill>
                <a:latin typeface="Arial"/>
              </a:rPr>
              <a:t>32</a:t>
            </a:r>
          </a:p>
          <a:p>
            <a:pPr algn="ctr">
              <a:lnSpc>
                <a:spcPct val="100000"/>
              </a:lnSpc>
              <a:spcAft>
                <a:spcPts val="0"/>
              </a:spcAft>
              <a:buNone/>
            </a:pPr>
            <a:r>
              <a:rPr sz="2000" b="0" i="0">
                <a:solidFill>
                  <a:srgbClr val="1F2433"/>
                </a:solidFill>
                <a:latin typeface="Arial"/>
              </a:rPr>
              <a:t>buscados na íntegra</a:t>
            </a:r>
          </a:p>
        </p:txBody>
      </p:sp>
      <p:cxnSp>
        <p:nvCxnSpPr>
          <p:cNvPr id="32" name="Connector 31"/>
          <p:cNvCxnSpPr/>
          <p:nvPr/>
        </p:nvCxnSpPr>
        <p:spPr>
          <a:xfrm>
            <a:off x="10698479" y="2651760"/>
            <a:ext cx="1120140" cy="0"/>
          </a:xfrm>
          <a:prstGeom prst="line">
            <a:avLst/>
          </a:prstGeom>
          <a:ln w="31750">
            <a:solidFill>
              <a:srgbClr val="002060"/>
            </a:solidFill>
            <a:tailEnd type="triangle" w="med" len="med"/>
          </a:ln>
        </p:spPr>
      </p:cxnSp>
      <p:sp>
        <p:nvSpPr>
          <p:cNvPr id="33" name="TextBox 32"/>
          <p:cNvSpPr txBox="1"/>
          <p:nvPr/>
        </p:nvSpPr>
        <p:spPr>
          <a:xfrm>
            <a:off x="10661903" y="2834639"/>
            <a:ext cx="1193291" cy="1280160"/>
          </a:xfrm>
          <a:prstGeom prst="rect">
            <a:avLst/>
          </a:prstGeom>
          <a:noFill/>
        </p:spPr>
        <p:txBody>
          <a:bodyPr wrap="square" lIns="0" rIns="0" tIns="0" bIns="0" anchor="t">
            <a:noAutofit/>
          </a:bodyPr>
          <a:lstStyle/>
          <a:p>
            <a:pPr algn="ctr">
              <a:lnSpc>
                <a:spcPct val="95000"/>
              </a:lnSpc>
              <a:spcAft>
                <a:spcPts val="0"/>
              </a:spcAft>
              <a:buNone/>
            </a:pPr>
            <a:r>
              <a:rPr sz="1500" b="0" i="0">
                <a:solidFill>
                  <a:srgbClr val="5A6270"/>
                </a:solidFill>
                <a:latin typeface="Arial"/>
              </a:rPr>
              <a:t>− 6 não</a:t>
            </a:r>
          </a:p>
          <a:p>
            <a:pPr algn="ctr">
              <a:lnSpc>
                <a:spcPct val="95000"/>
              </a:lnSpc>
              <a:spcAft>
                <a:spcPts val="0"/>
              </a:spcAft>
              <a:buNone/>
            </a:pPr>
            <a:r>
              <a:rPr sz="1500" b="0" i="0">
                <a:solidFill>
                  <a:srgbClr val="5A6270"/>
                </a:solidFill>
                <a:latin typeface="Arial"/>
              </a:rPr>
              <a:t>recuperados</a:t>
            </a:r>
          </a:p>
        </p:txBody>
      </p:sp>
      <p:sp>
        <p:nvSpPr>
          <p:cNvPr id="34" name="Rounded Rectangle 33"/>
          <p:cNvSpPr/>
          <p:nvPr/>
        </p:nvSpPr>
        <p:spPr>
          <a:xfrm>
            <a:off x="11910059" y="1783080"/>
            <a:ext cx="2286000" cy="2651760"/>
          </a:xfrm>
          <a:prstGeom prst="roundRect">
            <a:avLst>
              <a:gd name="adj" fmla="val 6000"/>
            </a:avLst>
          </a:prstGeom>
          <a:solidFill>
            <a:srgbClr val="F2F4F8"/>
          </a:solidFill>
          <a:ln>
            <a:noFill/>
          </a:ln>
          <a:effectLst/>
        </p:spPr>
        <p:txBody>
          <a:bodyPr rtlCol="0" anchor="ctr"/>
          <a:lstStyle/>
          <a:p/>
        </p:txBody>
      </p:sp>
      <p:sp>
        <p:nvSpPr>
          <p:cNvPr id="35" name="TextBox 34"/>
          <p:cNvSpPr txBox="1"/>
          <p:nvPr/>
        </p:nvSpPr>
        <p:spPr>
          <a:xfrm>
            <a:off x="12019787" y="1920240"/>
            <a:ext cx="2066543" cy="2377440"/>
          </a:xfrm>
          <a:prstGeom prst="rect">
            <a:avLst/>
          </a:prstGeom>
          <a:noFill/>
        </p:spPr>
        <p:txBody>
          <a:bodyPr wrap="square" lIns="0" rIns="0" tIns="0" bIns="0" anchor="ctr">
            <a:noAutofit/>
          </a:bodyPr>
          <a:lstStyle/>
          <a:p>
            <a:pPr algn="ctr">
              <a:lnSpc>
                <a:spcPct val="100000"/>
              </a:lnSpc>
              <a:spcAft>
                <a:spcPts val="600"/>
              </a:spcAft>
              <a:buNone/>
            </a:pPr>
            <a:r>
              <a:rPr sz="4600" b="1" i="0">
                <a:solidFill>
                  <a:srgbClr val="002060"/>
                </a:solidFill>
                <a:latin typeface="Arial"/>
              </a:rPr>
              <a:t>26</a:t>
            </a:r>
          </a:p>
          <a:p>
            <a:pPr algn="ctr">
              <a:lnSpc>
                <a:spcPct val="100000"/>
              </a:lnSpc>
              <a:spcAft>
                <a:spcPts val="0"/>
              </a:spcAft>
              <a:buNone/>
            </a:pPr>
            <a:r>
              <a:rPr sz="2000" b="0" i="0">
                <a:solidFill>
                  <a:srgbClr val="1F2433"/>
                </a:solidFill>
                <a:latin typeface="Arial"/>
              </a:rPr>
              <a:t>avaliados na íntegra</a:t>
            </a:r>
          </a:p>
        </p:txBody>
      </p:sp>
      <p:cxnSp>
        <p:nvCxnSpPr>
          <p:cNvPr id="36" name="Connector 35"/>
          <p:cNvCxnSpPr/>
          <p:nvPr/>
        </p:nvCxnSpPr>
        <p:spPr>
          <a:xfrm>
            <a:off x="14287499" y="2651760"/>
            <a:ext cx="1120140" cy="0"/>
          </a:xfrm>
          <a:prstGeom prst="line">
            <a:avLst/>
          </a:prstGeom>
          <a:ln w="31750">
            <a:solidFill>
              <a:srgbClr val="002060"/>
            </a:solidFill>
            <a:tailEnd type="triangle" w="med" len="med"/>
          </a:ln>
        </p:spPr>
      </p:cxnSp>
      <p:sp>
        <p:nvSpPr>
          <p:cNvPr id="37" name="TextBox 36"/>
          <p:cNvSpPr txBox="1"/>
          <p:nvPr/>
        </p:nvSpPr>
        <p:spPr>
          <a:xfrm>
            <a:off x="14250924" y="2834639"/>
            <a:ext cx="1193291" cy="1280160"/>
          </a:xfrm>
          <a:prstGeom prst="rect">
            <a:avLst/>
          </a:prstGeom>
          <a:noFill/>
        </p:spPr>
        <p:txBody>
          <a:bodyPr wrap="square" lIns="0" rIns="0" tIns="0" bIns="0" anchor="t">
            <a:noAutofit/>
          </a:bodyPr>
          <a:lstStyle/>
          <a:p>
            <a:pPr algn="ctr">
              <a:lnSpc>
                <a:spcPct val="95000"/>
              </a:lnSpc>
              <a:spcAft>
                <a:spcPts val="0"/>
              </a:spcAft>
              <a:buNone/>
            </a:pPr>
            <a:r>
              <a:rPr sz="1500" b="0" i="0">
                <a:solidFill>
                  <a:srgbClr val="5A6270"/>
                </a:solidFill>
                <a:latin typeface="Arial"/>
              </a:rPr>
              <a:t>− 4</a:t>
            </a:r>
          </a:p>
          <a:p>
            <a:pPr algn="ctr">
              <a:lnSpc>
                <a:spcPct val="95000"/>
              </a:lnSpc>
              <a:spcAft>
                <a:spcPts val="0"/>
              </a:spcAft>
              <a:buNone/>
            </a:pPr>
            <a:r>
              <a:rPr sz="1500" b="0" i="0">
                <a:solidFill>
                  <a:srgbClr val="5A6270"/>
                </a:solidFill>
                <a:latin typeface="Arial"/>
              </a:rPr>
              <a:t>excluídos</a:t>
            </a:r>
          </a:p>
        </p:txBody>
      </p:sp>
      <p:sp>
        <p:nvSpPr>
          <p:cNvPr id="38" name="Rounded Rectangle 37"/>
          <p:cNvSpPr/>
          <p:nvPr/>
        </p:nvSpPr>
        <p:spPr>
          <a:xfrm>
            <a:off x="15499080" y="1783080"/>
            <a:ext cx="2286000" cy="2651760"/>
          </a:xfrm>
          <a:prstGeom prst="roundRect">
            <a:avLst>
              <a:gd name="adj" fmla="val 6000"/>
            </a:avLst>
          </a:prstGeom>
          <a:solidFill>
            <a:srgbClr val="F9E9E9"/>
          </a:solidFill>
          <a:ln>
            <a:noFill/>
          </a:ln>
          <a:effectLst/>
        </p:spPr>
        <p:txBody>
          <a:bodyPr rtlCol="0" anchor="ctr"/>
          <a:lstStyle/>
          <a:p/>
        </p:txBody>
      </p:sp>
      <p:sp>
        <p:nvSpPr>
          <p:cNvPr id="39" name="TextBox 38"/>
          <p:cNvSpPr txBox="1"/>
          <p:nvPr/>
        </p:nvSpPr>
        <p:spPr>
          <a:xfrm>
            <a:off x="15608808" y="1920240"/>
            <a:ext cx="2066543" cy="2377440"/>
          </a:xfrm>
          <a:prstGeom prst="rect">
            <a:avLst/>
          </a:prstGeom>
          <a:noFill/>
        </p:spPr>
        <p:txBody>
          <a:bodyPr wrap="square" lIns="0" rIns="0" tIns="0" bIns="0" anchor="ctr">
            <a:noAutofit/>
          </a:bodyPr>
          <a:lstStyle/>
          <a:p>
            <a:pPr algn="ctr">
              <a:lnSpc>
                <a:spcPct val="100000"/>
              </a:lnSpc>
              <a:spcAft>
                <a:spcPts val="600"/>
              </a:spcAft>
              <a:buNone/>
            </a:pPr>
            <a:r>
              <a:rPr sz="4600" b="1" i="0">
                <a:solidFill>
                  <a:srgbClr val="8B0000"/>
                </a:solidFill>
                <a:latin typeface="Arial"/>
              </a:rPr>
              <a:t>22</a:t>
            </a:r>
          </a:p>
          <a:p>
            <a:pPr algn="ctr">
              <a:lnSpc>
                <a:spcPct val="100000"/>
              </a:lnSpc>
              <a:spcAft>
                <a:spcPts val="0"/>
              </a:spcAft>
              <a:buNone/>
            </a:pPr>
            <a:r>
              <a:rPr sz="2000" b="0" i="0">
                <a:solidFill>
                  <a:srgbClr val="1F2433"/>
                </a:solidFill>
                <a:latin typeface="Arial"/>
              </a:rPr>
              <a:t>relatórios incluídos</a:t>
            </a:r>
          </a:p>
        </p:txBody>
      </p:sp>
      <p:sp>
        <p:nvSpPr>
          <p:cNvPr id="40" name="Rounded Rectangle 39"/>
          <p:cNvSpPr/>
          <p:nvPr/>
        </p:nvSpPr>
        <p:spPr>
          <a:xfrm>
            <a:off x="1143000" y="4846320"/>
            <a:ext cx="5364480" cy="4160520"/>
          </a:xfrm>
          <a:prstGeom prst="roundRect">
            <a:avLst>
              <a:gd name="adj" fmla="val 6000"/>
            </a:avLst>
          </a:prstGeom>
          <a:solidFill>
            <a:srgbClr val="F2F4F8"/>
          </a:solidFill>
          <a:ln>
            <a:noFill/>
          </a:ln>
          <a:effectLst/>
        </p:spPr>
        <p:txBody>
          <a:bodyPr rtlCol="0" anchor="ctr"/>
          <a:lstStyle/>
          <a:p/>
        </p:txBody>
      </p:sp>
      <p:sp>
        <p:nvSpPr>
          <p:cNvPr id="41" name="Oval 40"/>
          <p:cNvSpPr/>
          <p:nvPr/>
        </p:nvSpPr>
        <p:spPr>
          <a:xfrm>
            <a:off x="1463040" y="5166359"/>
            <a:ext cx="731520" cy="731520"/>
          </a:xfrm>
          <a:prstGeom prst="ellipse">
            <a:avLst/>
          </a:prstGeom>
          <a:solidFill>
            <a:srgbClr val="002060"/>
          </a:solidFill>
          <a:ln>
            <a:noFill/>
          </a:ln>
          <a:effectLst/>
        </p:spPr>
        <p:txBody>
          <a:bodyPr rtlCol="0" anchor="ctr" lIns="0" rIns="0" tIns="0" bIns="0"/>
          <a:lstStyle/>
          <a:p/>
        </p:txBody>
      </p:sp>
      <p:pic>
        <p:nvPicPr>
          <p:cNvPr id="42" name="icone search" descr="search_white.png"/>
          <p:cNvPicPr>
            <a:picLocks noChangeAspect="1"/>
          </p:cNvPicPr>
          <p:nvPr/>
        </p:nvPicPr>
        <p:blipFill>
          <a:blip r:embed="rId4"/>
          <a:stretch>
            <a:fillRect/>
          </a:stretch>
        </p:blipFill>
        <p:spPr>
          <a:xfrm>
            <a:off x="1645920" y="5349240"/>
            <a:ext cx="365760" cy="365760"/>
          </a:xfrm>
          <a:prstGeom prst="rect">
            <a:avLst/>
          </a:prstGeom>
        </p:spPr>
      </p:pic>
      <p:sp>
        <p:nvSpPr>
          <p:cNvPr id="43" name="TextBox 42"/>
          <p:cNvSpPr txBox="1"/>
          <p:nvPr/>
        </p:nvSpPr>
        <p:spPr>
          <a:xfrm>
            <a:off x="2423160" y="5166359"/>
            <a:ext cx="3764279" cy="73152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002060"/>
                </a:solidFill>
                <a:latin typeface="Arial"/>
              </a:rPr>
              <a:t>Busca de alta sensibilidade</a:t>
            </a:r>
          </a:p>
        </p:txBody>
      </p:sp>
      <p:sp>
        <p:nvSpPr>
          <p:cNvPr id="44" name="TextBox 43"/>
          <p:cNvSpPr txBox="1"/>
          <p:nvPr/>
        </p:nvSpPr>
        <p:spPr>
          <a:xfrm>
            <a:off x="1463040" y="6035040"/>
            <a:ext cx="4724399" cy="2651760"/>
          </a:xfrm>
          <a:prstGeom prst="rect">
            <a:avLst/>
          </a:prstGeom>
          <a:noFill/>
        </p:spPr>
        <p:txBody>
          <a:bodyPr wrap="square" lIns="0" rIns="0" tIns="0" bIns="0" anchor="ctr">
            <a:noAutofit/>
          </a:bodyPr>
          <a:lstStyle/>
          <a:p>
            <a:pPr algn="l" marL="274320" indent="-274320">
              <a:lnSpc>
                <a:spcPct val="100000"/>
              </a:lnSpc>
              <a:spcAft>
                <a:spcPts val="1000"/>
              </a:spcAft>
              <a:buFont typeface="Arial"/>
              <a:buChar char="•"/>
            </a:pPr>
            <a:r>
              <a:rPr sz="2100" b="1" i="0">
                <a:solidFill>
                  <a:srgbClr val="1F2433"/>
                </a:solidFill>
                <a:latin typeface="Arial"/>
              </a:rPr>
              <a:t>7 bases</a:t>
            </a:r>
            <a:r>
              <a:rPr sz="2100" b="0" i="0">
                <a:solidFill>
                  <a:srgbClr val="1F2433"/>
                </a:solidFill>
                <a:latin typeface="Arial"/>
              </a:rPr>
              <a:t>, literatura cinzenta e busca por citação</a:t>
            </a:r>
          </a:p>
          <a:p>
            <a:pPr algn="l" marL="274320" indent="-274320">
              <a:lnSpc>
                <a:spcPct val="100000"/>
              </a:lnSpc>
              <a:spcAft>
                <a:spcPts val="1000"/>
              </a:spcAft>
              <a:buFont typeface="Arial"/>
              <a:buChar char="•"/>
            </a:pPr>
            <a:r>
              <a:rPr sz="2100" b="1" i="0">
                <a:solidFill>
                  <a:srgbClr val="1F2433"/>
                </a:solidFill>
                <a:latin typeface="Arial"/>
              </a:rPr>
              <a:t>Sem filtro de idioma ou data</a:t>
            </a:r>
          </a:p>
          <a:p>
            <a:pPr algn="l" marL="274320" indent="-274320">
              <a:lnSpc>
                <a:spcPct val="100000"/>
              </a:lnSpc>
              <a:spcAft>
                <a:spcPts val="1000"/>
              </a:spcAft>
              <a:buFont typeface="Arial"/>
              <a:buChar char="•"/>
            </a:pPr>
            <a:r>
              <a:rPr sz="2100" b="0" i="0">
                <a:solidFill>
                  <a:srgbClr val="1F2433"/>
                </a:solidFill>
                <a:latin typeface="Arial"/>
              </a:rPr>
              <a:t>Última busca: 09/07/2026</a:t>
            </a:r>
          </a:p>
        </p:txBody>
      </p:sp>
      <p:sp>
        <p:nvSpPr>
          <p:cNvPr id="45" name="Rounded Rectangle 44"/>
          <p:cNvSpPr/>
          <p:nvPr/>
        </p:nvSpPr>
        <p:spPr>
          <a:xfrm>
            <a:off x="6781799" y="4846320"/>
            <a:ext cx="5364480" cy="4160520"/>
          </a:xfrm>
          <a:prstGeom prst="roundRect">
            <a:avLst>
              <a:gd name="adj" fmla="val 6000"/>
            </a:avLst>
          </a:prstGeom>
          <a:solidFill>
            <a:srgbClr val="F2F4F8"/>
          </a:solidFill>
          <a:ln>
            <a:noFill/>
          </a:ln>
          <a:effectLst/>
        </p:spPr>
        <p:txBody>
          <a:bodyPr rtlCol="0" anchor="ctr"/>
          <a:lstStyle/>
          <a:p/>
        </p:txBody>
      </p:sp>
      <p:sp>
        <p:nvSpPr>
          <p:cNvPr id="46" name="Oval 45"/>
          <p:cNvSpPr/>
          <p:nvPr/>
        </p:nvSpPr>
        <p:spPr>
          <a:xfrm>
            <a:off x="7101839" y="5166359"/>
            <a:ext cx="731520" cy="731520"/>
          </a:xfrm>
          <a:prstGeom prst="ellipse">
            <a:avLst/>
          </a:prstGeom>
          <a:solidFill>
            <a:srgbClr val="002060"/>
          </a:solidFill>
          <a:ln>
            <a:noFill/>
          </a:ln>
          <a:effectLst/>
        </p:spPr>
        <p:txBody>
          <a:bodyPr rtlCol="0" anchor="ctr" lIns="0" rIns="0" tIns="0" bIns="0"/>
          <a:lstStyle/>
          <a:p/>
        </p:txBody>
      </p:sp>
      <p:pic>
        <p:nvPicPr>
          <p:cNvPr id="47" name="icone people" descr="people_white.png"/>
          <p:cNvPicPr>
            <a:picLocks noChangeAspect="1"/>
          </p:cNvPicPr>
          <p:nvPr/>
        </p:nvPicPr>
        <p:blipFill>
          <a:blip r:embed="rId5"/>
          <a:stretch>
            <a:fillRect/>
          </a:stretch>
        </p:blipFill>
        <p:spPr>
          <a:xfrm>
            <a:off x="7284719" y="5349240"/>
            <a:ext cx="365760" cy="365760"/>
          </a:xfrm>
          <a:prstGeom prst="rect">
            <a:avLst/>
          </a:prstGeom>
        </p:spPr>
      </p:pic>
      <p:sp>
        <p:nvSpPr>
          <p:cNvPr id="48" name="TextBox 47"/>
          <p:cNvSpPr txBox="1"/>
          <p:nvPr/>
        </p:nvSpPr>
        <p:spPr>
          <a:xfrm>
            <a:off x="8061960" y="5166359"/>
            <a:ext cx="3764279" cy="73152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002060"/>
                </a:solidFill>
                <a:latin typeface="Arial"/>
              </a:rPr>
              <a:t>Ninguém contado duas vezes</a:t>
            </a:r>
          </a:p>
        </p:txBody>
      </p:sp>
      <p:sp>
        <p:nvSpPr>
          <p:cNvPr id="49" name="TextBox 48"/>
          <p:cNvSpPr txBox="1"/>
          <p:nvPr/>
        </p:nvSpPr>
        <p:spPr>
          <a:xfrm>
            <a:off x="7101839" y="6035040"/>
            <a:ext cx="4724399" cy="2651760"/>
          </a:xfrm>
          <a:prstGeom prst="rect">
            <a:avLst/>
          </a:prstGeom>
          <a:noFill/>
        </p:spPr>
        <p:txBody>
          <a:bodyPr wrap="square" lIns="0" rIns="0" tIns="0" bIns="0" anchor="ctr">
            <a:noAutofit/>
          </a:bodyPr>
          <a:lstStyle/>
          <a:p>
            <a:pPr algn="l" marL="274320" indent="-274320">
              <a:lnSpc>
                <a:spcPct val="100000"/>
              </a:lnSpc>
              <a:spcAft>
                <a:spcPts val="1000"/>
              </a:spcAft>
              <a:buFont typeface="Arial"/>
              <a:buChar char="•"/>
            </a:pPr>
            <a:r>
              <a:rPr sz="2100" b="0" i="0">
                <a:solidFill>
                  <a:srgbClr val="1F2433"/>
                </a:solidFill>
                <a:latin typeface="Arial"/>
              </a:rPr>
              <a:t>7 publicações do mesmo grupo, com amostras sobrepostas</a:t>
            </a:r>
          </a:p>
          <a:p>
            <a:pPr algn="l" marL="274320" indent="-274320">
              <a:lnSpc>
                <a:spcPct val="100000"/>
              </a:lnSpc>
              <a:spcAft>
                <a:spcPts val="1000"/>
              </a:spcAft>
              <a:buFont typeface="Arial"/>
              <a:buChar char="•"/>
            </a:pPr>
            <a:r>
              <a:rPr sz="2100" b="1" i="0">
                <a:solidFill>
                  <a:srgbClr val="1F2433"/>
                </a:solidFill>
                <a:latin typeface="Arial"/>
              </a:rPr>
              <a:t>1 representante por análise</a:t>
            </a:r>
            <a:r>
              <a:rPr sz="2100" b="0" i="0">
                <a:solidFill>
                  <a:srgbClr val="1F2433"/>
                </a:solidFill>
                <a:latin typeface="Arial"/>
              </a:rPr>
              <a:t>, definido antes da síntese</a:t>
            </a:r>
          </a:p>
        </p:txBody>
      </p:sp>
      <p:sp>
        <p:nvSpPr>
          <p:cNvPr id="50" name="Rounded Rectangle 49"/>
          <p:cNvSpPr/>
          <p:nvPr/>
        </p:nvSpPr>
        <p:spPr>
          <a:xfrm>
            <a:off x="12420599" y="4846320"/>
            <a:ext cx="5364480" cy="4160520"/>
          </a:xfrm>
          <a:prstGeom prst="roundRect">
            <a:avLst>
              <a:gd name="adj" fmla="val 6000"/>
            </a:avLst>
          </a:prstGeom>
          <a:solidFill>
            <a:srgbClr val="F9E9E9"/>
          </a:solidFill>
          <a:ln>
            <a:noFill/>
          </a:ln>
          <a:effectLst/>
        </p:spPr>
        <p:txBody>
          <a:bodyPr rtlCol="0" anchor="ctr"/>
          <a:lstStyle/>
          <a:p/>
        </p:txBody>
      </p:sp>
      <p:sp>
        <p:nvSpPr>
          <p:cNvPr id="51" name="TextBox 50"/>
          <p:cNvSpPr txBox="1"/>
          <p:nvPr/>
        </p:nvSpPr>
        <p:spPr>
          <a:xfrm>
            <a:off x="12740639" y="5166359"/>
            <a:ext cx="4724399" cy="3520439"/>
          </a:xfrm>
          <a:prstGeom prst="rect">
            <a:avLst/>
          </a:prstGeom>
          <a:noFill/>
        </p:spPr>
        <p:txBody>
          <a:bodyPr wrap="square" lIns="0" rIns="0" tIns="0" bIns="0" anchor="ctr">
            <a:noAutofit/>
          </a:bodyPr>
          <a:lstStyle/>
          <a:p>
            <a:pPr algn="l">
              <a:lnSpc>
                <a:spcPct val="100000"/>
              </a:lnSpc>
              <a:spcAft>
                <a:spcPts val="400"/>
              </a:spcAft>
              <a:buNone/>
            </a:pPr>
            <a:r>
              <a:rPr sz="5400" b="1" i="0">
                <a:solidFill>
                  <a:srgbClr val="8B0000"/>
                </a:solidFill>
                <a:latin typeface="Arial"/>
              </a:rPr>
              <a:t>6 | 7</a:t>
            </a:r>
          </a:p>
          <a:p>
            <a:pPr algn="l">
              <a:lnSpc>
                <a:spcPct val="100000"/>
              </a:lnSpc>
              <a:spcAft>
                <a:spcPts val="400"/>
              </a:spcAft>
              <a:buNone/>
            </a:pPr>
            <a:r>
              <a:rPr sz="2000" b="1" i="0">
                <a:solidFill>
                  <a:srgbClr val="1F2433"/>
                </a:solidFill>
                <a:latin typeface="Arial"/>
              </a:rPr>
              <a:t>amostras independentes nas metanálises</a:t>
            </a:r>
          </a:p>
          <a:p>
            <a:pPr algn="l">
              <a:lnSpc>
                <a:spcPct val="100000"/>
              </a:lnSpc>
              <a:spcAft>
                <a:spcPts val="0"/>
              </a:spcAft>
              <a:buNone/>
            </a:pPr>
            <a:r>
              <a:rPr sz="2000" b="0" i="0">
                <a:solidFill>
                  <a:srgbClr val="1F2433"/>
                </a:solidFill>
                <a:latin typeface="Arial"/>
              </a:rPr>
              <a:t>ocular: n = 756 · respiratório: n = 1.428</a:t>
            </a:r>
          </a:p>
          <a:p>
            <a:pPr algn="l">
              <a:lnSpc>
                <a:spcPct val="100000"/>
              </a:lnSpc>
              <a:spcBef>
                <a:spcPts val="1000"/>
              </a:spcBef>
              <a:spcAft>
                <a:spcPts val="0"/>
              </a:spcAft>
              <a:buNone/>
            </a:pPr>
            <a:r>
              <a:rPr sz="2000" b="0" i="0">
                <a:solidFill>
                  <a:srgbClr val="5A6270"/>
                </a:solidFill>
                <a:latin typeface="Arial"/>
              </a:rPr>
              <a:t>9 países · 19 transversais + 3 coortes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350"/>
                                        <p:tgtEl>
                                          <p:spTgt spid="23"/>
                                        </p:tgtEl>
                                      </p:cBhvr>
                                    </p:animEffect>
                                  </p:childTnLst>
                                </p:cTn>
                              </p:par>
                            </p:childTnLst>
                          </p:cTn>
                        </p:par>
                        <p:par>
                          <p:cTn id="11" fill="hold">
                            <p:stCondLst>
                              <p:cond delay="350"/>
                            </p:stCondLst>
                            <p:childTnLst>
                              <p:par>
                                <p:cTn id="12" presetID="10" presetClass="entr" presetSubtype="0" fill="hold" grpId="0"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35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35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35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50"/>
                                        <p:tgtEl>
                                          <p:spTgt spid="27"/>
                                        </p:tgtEl>
                                      </p:cBhvr>
                                    </p:animEffect>
                                  </p:childTnLst>
                                </p:cTn>
                              </p:par>
                            </p:childTnLst>
                          </p:cTn>
                        </p:par>
                        <p:par>
                          <p:cTn id="24" fill="hold">
                            <p:stCondLst>
                              <p:cond delay="70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350"/>
                                        <p:tgtEl>
                                          <p:spTgt spid="2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35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35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350"/>
                                        <p:tgtEl>
                                          <p:spTgt spid="31"/>
                                        </p:tgtEl>
                                      </p:cBhvr>
                                    </p:animEffect>
                                  </p:childTnLst>
                                </p:cTn>
                              </p:par>
                            </p:childTnLst>
                          </p:cTn>
                        </p:par>
                        <p:par>
                          <p:cTn id="37" fill="hold">
                            <p:stCondLst>
                              <p:cond delay="1050"/>
                            </p:stCondLst>
                            <p:childTnLst>
                              <p:par>
                                <p:cTn id="38" presetID="10" presetClass="entr" presetSubtype="0" fill="hold" grpId="0" nodeType="after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35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35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35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350"/>
                                        <p:tgtEl>
                                          <p:spTgt spid="35"/>
                                        </p:tgtEl>
                                      </p:cBhvr>
                                    </p:animEffect>
                                  </p:childTnLst>
                                </p:cTn>
                              </p:par>
                            </p:childTnLst>
                          </p:cTn>
                        </p:par>
                        <p:par>
                          <p:cTn id="50" fill="hold">
                            <p:stCondLst>
                              <p:cond delay="1400"/>
                            </p:stCondLst>
                            <p:childTnLst>
                              <p:par>
                                <p:cTn id="51" presetID="10" presetClass="entr" presetSubtype="0" fill="hold" grpId="0" nodeType="after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350"/>
                                        <p:tgtEl>
                                          <p:spTgt spid="3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350"/>
                                        <p:tgtEl>
                                          <p:spTgt spid="3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350"/>
                                        <p:tgtEl>
                                          <p:spTgt spid="3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350"/>
                                        <p:tgtEl>
                                          <p:spTgt spid="39"/>
                                        </p:tgtEl>
                                      </p:cBhvr>
                                    </p:animEffect>
                                  </p:childTnLst>
                                </p:cTn>
                              </p:par>
                            </p:childTnLst>
                          </p:cTn>
                        </p:par>
                        <p:par>
                          <p:cTn id="63" fill="hold">
                            <p:stCondLst>
                              <p:cond delay="1750"/>
                            </p:stCondLst>
                            <p:childTnLst>
                              <p:par>
                                <p:cTn id="64" presetID="10" presetClass="entr" presetSubtype="0" fill="hold" grpId="0" nodeType="after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35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35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35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35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350"/>
                                        <p:tgtEl>
                                          <p:spTgt spid="44"/>
                                        </p:tgtEl>
                                      </p:cBhvr>
                                    </p:animEffect>
                                  </p:childTnLst>
                                </p:cTn>
                              </p:par>
                            </p:childTnLst>
                          </p:cTn>
                        </p:par>
                        <p:par>
                          <p:cTn id="79" fill="hold">
                            <p:stCondLst>
                              <p:cond delay="2100"/>
                            </p:stCondLst>
                            <p:childTnLst>
                              <p:par>
                                <p:cTn id="80" presetID="10" presetClass="entr" presetSubtype="0" fill="hold" grpId="0" nodeType="after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fade">
                                      <p:cBhvr>
                                        <p:cTn id="82" dur="350"/>
                                        <p:tgtEl>
                                          <p:spTgt spid="4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6"/>
                                        </p:tgtEl>
                                        <p:attrNameLst>
                                          <p:attrName>style.visibility</p:attrName>
                                        </p:attrNameLst>
                                      </p:cBhvr>
                                      <p:to>
                                        <p:strVal val="visible"/>
                                      </p:to>
                                    </p:set>
                                    <p:animEffect transition="in" filter="fade">
                                      <p:cBhvr>
                                        <p:cTn id="85" dur="350"/>
                                        <p:tgtEl>
                                          <p:spTgt spid="4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7"/>
                                        </p:tgtEl>
                                        <p:attrNameLst>
                                          <p:attrName>style.visibility</p:attrName>
                                        </p:attrNameLst>
                                      </p:cBhvr>
                                      <p:to>
                                        <p:strVal val="visible"/>
                                      </p:to>
                                    </p:set>
                                    <p:animEffect transition="in" filter="fade">
                                      <p:cBhvr>
                                        <p:cTn id="88" dur="350"/>
                                        <p:tgtEl>
                                          <p:spTgt spid="4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fade">
                                      <p:cBhvr>
                                        <p:cTn id="91" dur="350"/>
                                        <p:tgtEl>
                                          <p:spTgt spid="4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fade">
                                      <p:cBhvr>
                                        <p:cTn id="94" dur="350"/>
                                        <p:tgtEl>
                                          <p:spTgt spid="49"/>
                                        </p:tgtEl>
                                      </p:cBhvr>
                                    </p:animEffect>
                                  </p:childTnLst>
                                </p:cTn>
                              </p:par>
                            </p:childTnLst>
                          </p:cTn>
                        </p:par>
                        <p:par>
                          <p:cTn id="95" fill="hold">
                            <p:stCondLst>
                              <p:cond delay="2450"/>
                            </p:stCondLst>
                            <p:childTnLst>
                              <p:par>
                                <p:cTn id="96" presetID="10" presetClass="entr" presetSubtype="0" fill="hold" grpId="0" nodeType="after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35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3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P spid="35" grpId="0" animBg="1"/>
      <p:bldP spid="37" grpId="0" animBg="1"/>
      <p:bldP spid="38" grpId="0" animBg="1"/>
      <p:bldP spid="39" grpId="0" animBg="1"/>
      <p:bldP spid="40" grpId="0" animBg="1"/>
      <p:bldP spid="41" grpId="0" animBg="1"/>
      <p:bldP spid="43" grpId="0" animBg="1"/>
      <p:bldP spid="44" grpId="0" animBg="1"/>
      <p:bldP spid="45" grpId="0" animBg="1"/>
      <p:bldP spid="46" grpId="0" animBg="1"/>
      <p:bldP spid="48" grpId="0" animBg="1"/>
      <p:bldP spid="49" grpId="0" animBg="1"/>
      <p:bldP spid="50" grpId="0" animBg="1"/>
      <p:bldP spid="51"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Passos 5 a 7 · Como os estudos foram avaliados e combinados</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45505"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Protocolo</a:t>
            </a:r>
          </a:p>
        </p:txBody>
      </p:sp>
      <p:sp>
        <p:nvSpPr>
          <p:cNvPr id="10" name="Oval 9"/>
          <p:cNvSpPr/>
          <p:nvPr/>
        </p:nvSpPr>
        <p:spPr>
          <a:xfrm>
            <a:off x="4596819"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Busca</a:t>
            </a:r>
          </a:p>
        </p:txBody>
      </p:sp>
      <p:sp>
        <p:nvSpPr>
          <p:cNvPr id="12" name="Oval 11"/>
          <p:cNvSpPr/>
          <p:nvPr/>
        </p:nvSpPr>
        <p:spPr>
          <a:xfrm>
            <a:off x="6948133"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Seleção</a:t>
            </a:r>
          </a:p>
        </p:txBody>
      </p:sp>
      <p:sp>
        <p:nvSpPr>
          <p:cNvPr id="14" name="Oval 13"/>
          <p:cNvSpPr/>
          <p:nvPr/>
        </p:nvSpPr>
        <p:spPr>
          <a:xfrm>
            <a:off x="9299447"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Extração</a:t>
            </a:r>
          </a:p>
        </p:txBody>
      </p:sp>
      <p:sp>
        <p:nvSpPr>
          <p:cNvPr id="16" name="Oval 15"/>
          <p:cNvSpPr/>
          <p:nvPr/>
        </p:nvSpPr>
        <p:spPr>
          <a:xfrm>
            <a:off x="11614186"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Risco de viés</a:t>
            </a:r>
          </a:p>
        </p:txBody>
      </p:sp>
      <p:sp>
        <p:nvSpPr>
          <p:cNvPr id="18" name="Oval 17"/>
          <p:cNvSpPr/>
          <p:nvPr/>
        </p:nvSpPr>
        <p:spPr>
          <a:xfrm>
            <a:off x="13965500"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Síntese</a:t>
            </a:r>
          </a:p>
        </p:txBody>
      </p:sp>
      <p:sp>
        <p:nvSpPr>
          <p:cNvPr id="20" name="Oval 19"/>
          <p:cNvSpPr/>
          <p:nvPr/>
        </p:nvSpPr>
        <p:spPr>
          <a:xfrm>
            <a:off x="16316814"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Certeza (GRADE)</a:t>
            </a:r>
          </a:p>
        </p:txBody>
      </p:sp>
      <p:sp>
        <p:nvSpPr>
          <p:cNvPr id="22" name="Rounded Rectangle 21"/>
          <p:cNvSpPr/>
          <p:nvPr/>
        </p:nvSpPr>
        <p:spPr>
          <a:xfrm>
            <a:off x="1143000" y="1783080"/>
            <a:ext cx="3954780" cy="3840480"/>
          </a:xfrm>
          <a:prstGeom prst="roundRect">
            <a:avLst>
              <a:gd name="adj" fmla="val 6000"/>
            </a:avLst>
          </a:prstGeom>
          <a:solidFill>
            <a:srgbClr val="F2F4F8"/>
          </a:solidFill>
          <a:ln>
            <a:noFill/>
          </a:ln>
          <a:effectLst/>
        </p:spPr>
        <p:txBody>
          <a:bodyPr rtlCol="0" anchor="ctr"/>
          <a:lstStyle/>
          <a:p/>
        </p:txBody>
      </p:sp>
      <p:sp>
        <p:nvSpPr>
          <p:cNvPr id="23" name="Oval 22"/>
          <p:cNvSpPr/>
          <p:nvPr/>
        </p:nvSpPr>
        <p:spPr>
          <a:xfrm>
            <a:off x="1463040" y="2103120"/>
            <a:ext cx="685800" cy="68580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400" b="1" i="0">
                <a:solidFill>
                  <a:srgbClr val="FFFFFF"/>
                </a:solidFill>
                <a:latin typeface="Arial"/>
              </a:rPr>
              <a:t>1</a:t>
            </a:r>
          </a:p>
        </p:txBody>
      </p:sp>
      <p:sp>
        <p:nvSpPr>
          <p:cNvPr id="24" name="TextBox 23"/>
          <p:cNvSpPr txBox="1"/>
          <p:nvPr/>
        </p:nvSpPr>
        <p:spPr>
          <a:xfrm>
            <a:off x="2331720" y="2057400"/>
            <a:ext cx="2446020" cy="77724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002060"/>
                </a:solidFill>
                <a:latin typeface="Arial"/>
              </a:rPr>
              <a:t>Proporção de cada estudo</a:t>
            </a:r>
          </a:p>
        </p:txBody>
      </p:sp>
      <p:sp>
        <p:nvSpPr>
          <p:cNvPr id="25" name="Rounded Rectangle 24"/>
          <p:cNvSpPr/>
          <p:nvPr/>
        </p:nvSpPr>
        <p:spPr>
          <a:xfrm>
            <a:off x="1371600" y="3017520"/>
            <a:ext cx="3497580" cy="1097280"/>
          </a:xfrm>
          <a:prstGeom prst="roundRect">
            <a:avLst>
              <a:gd name="adj" fmla="val 6000"/>
            </a:avLst>
          </a:prstGeom>
          <a:solidFill>
            <a:srgbClr val="FFFFFF"/>
          </a:solidFill>
          <a:ln w="12700">
            <a:solidFill>
              <a:srgbClr val="C9CFDA"/>
            </a:solidFill>
          </a:ln>
          <a:effectLst/>
        </p:spPr>
        <p:txBody>
          <a:bodyPr rtlCol="0" anchor="ctr"/>
          <a:lstStyle/>
          <a:p/>
        </p:txBody>
      </p:sp>
      <p:sp>
        <p:nvSpPr>
          <p:cNvPr id="26" name="TextBox 25"/>
          <p:cNvSpPr txBox="1"/>
          <p:nvPr/>
        </p:nvSpPr>
        <p:spPr>
          <a:xfrm>
            <a:off x="1417320" y="3017520"/>
            <a:ext cx="3406140" cy="1097280"/>
          </a:xfrm>
          <a:prstGeom prst="rect">
            <a:avLst/>
          </a:prstGeom>
          <a:noFill/>
        </p:spPr>
        <p:txBody>
          <a:bodyPr wrap="square" lIns="0" rIns="0" tIns="0" bIns="0" anchor="ctr">
            <a:noAutofit/>
          </a:bodyPr>
          <a:lstStyle/>
          <a:p>
            <a:pPr algn="ctr">
              <a:lnSpc>
                <a:spcPct val="100000"/>
              </a:lnSpc>
              <a:spcAft>
                <a:spcPts val="0"/>
              </a:spcAft>
              <a:buNone/>
            </a:pPr>
            <a:r>
              <a:rPr sz="2200" b="1" i="0">
                <a:solidFill>
                  <a:srgbClr val="8B0000"/>
                </a:solidFill>
                <a:latin typeface="Arial"/>
              </a:rPr>
              <a:t>33 / 81 = 40,7%</a:t>
            </a:r>
          </a:p>
        </p:txBody>
      </p:sp>
      <p:sp>
        <p:nvSpPr>
          <p:cNvPr id="27" name="TextBox 26"/>
          <p:cNvSpPr txBox="1"/>
          <p:nvPr/>
        </p:nvSpPr>
        <p:spPr>
          <a:xfrm>
            <a:off x="1463040" y="4251960"/>
            <a:ext cx="3314700" cy="1051560"/>
          </a:xfrm>
          <a:prstGeom prst="rect">
            <a:avLst/>
          </a:prstGeom>
          <a:noFill/>
        </p:spPr>
        <p:txBody>
          <a:bodyPr wrap="square" lIns="0" rIns="0" tIns="0" bIns="0" anchor="ctr">
            <a:noAutofit/>
          </a:bodyPr>
          <a:lstStyle/>
          <a:p>
            <a:pPr algn="ctr">
              <a:lnSpc>
                <a:spcPct val="100000"/>
              </a:lnSpc>
              <a:spcAft>
                <a:spcPts val="0"/>
              </a:spcAft>
              <a:buNone/>
            </a:pPr>
            <a:r>
              <a:rPr sz="2000" b="0" i="0">
                <a:solidFill>
                  <a:srgbClr val="1F2433"/>
                </a:solidFill>
                <a:latin typeface="Arial"/>
              </a:rPr>
              <a:t>eventos ÷ participantes (ex.: İlçe et al., 2017)</a:t>
            </a:r>
          </a:p>
        </p:txBody>
      </p:sp>
      <p:cxnSp>
        <p:nvCxnSpPr>
          <p:cNvPr id="28" name="Connector 27"/>
          <p:cNvCxnSpPr/>
          <p:nvPr/>
        </p:nvCxnSpPr>
        <p:spPr>
          <a:xfrm>
            <a:off x="5125212" y="3520439"/>
            <a:ext cx="219456" cy="0"/>
          </a:xfrm>
          <a:prstGeom prst="line">
            <a:avLst/>
          </a:prstGeom>
          <a:ln w="31750">
            <a:solidFill>
              <a:srgbClr val="002060"/>
            </a:solidFill>
            <a:tailEnd type="triangle" w="med" len="med"/>
          </a:ln>
        </p:spPr>
      </p:cxnSp>
      <p:sp>
        <p:nvSpPr>
          <p:cNvPr id="29" name="Rounded Rectangle 28"/>
          <p:cNvSpPr/>
          <p:nvPr/>
        </p:nvSpPr>
        <p:spPr>
          <a:xfrm>
            <a:off x="5372100" y="1783080"/>
            <a:ext cx="3954780" cy="3840480"/>
          </a:xfrm>
          <a:prstGeom prst="roundRect">
            <a:avLst>
              <a:gd name="adj" fmla="val 6000"/>
            </a:avLst>
          </a:prstGeom>
          <a:solidFill>
            <a:srgbClr val="F2F4F8"/>
          </a:solidFill>
          <a:ln>
            <a:noFill/>
          </a:ln>
          <a:effectLst/>
        </p:spPr>
        <p:txBody>
          <a:bodyPr rtlCol="0" anchor="ctr"/>
          <a:lstStyle/>
          <a:p/>
        </p:txBody>
      </p:sp>
      <p:sp>
        <p:nvSpPr>
          <p:cNvPr id="30" name="Oval 29"/>
          <p:cNvSpPr/>
          <p:nvPr/>
        </p:nvSpPr>
        <p:spPr>
          <a:xfrm>
            <a:off x="5692140" y="2103120"/>
            <a:ext cx="685800" cy="68580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400" b="1" i="0">
                <a:solidFill>
                  <a:srgbClr val="FFFFFF"/>
                </a:solidFill>
                <a:latin typeface="Arial"/>
              </a:rPr>
              <a:t>2</a:t>
            </a:r>
          </a:p>
        </p:txBody>
      </p:sp>
      <p:sp>
        <p:nvSpPr>
          <p:cNvPr id="31" name="TextBox 30"/>
          <p:cNvSpPr txBox="1"/>
          <p:nvPr/>
        </p:nvSpPr>
        <p:spPr>
          <a:xfrm>
            <a:off x="6560820" y="2057400"/>
            <a:ext cx="2446020" cy="77724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002060"/>
                </a:solidFill>
                <a:latin typeface="Arial"/>
              </a:rPr>
              <a:t>Escala logito</a:t>
            </a:r>
          </a:p>
        </p:txBody>
      </p:sp>
      <p:sp>
        <p:nvSpPr>
          <p:cNvPr id="32" name="Rounded Rectangle 31"/>
          <p:cNvSpPr/>
          <p:nvPr/>
        </p:nvSpPr>
        <p:spPr>
          <a:xfrm>
            <a:off x="5600700" y="3017520"/>
            <a:ext cx="3497580" cy="1097280"/>
          </a:xfrm>
          <a:prstGeom prst="roundRect">
            <a:avLst>
              <a:gd name="adj" fmla="val 6000"/>
            </a:avLst>
          </a:prstGeom>
          <a:solidFill>
            <a:srgbClr val="FFFFFF"/>
          </a:solidFill>
          <a:ln w="12700">
            <a:solidFill>
              <a:srgbClr val="C9CFDA"/>
            </a:solidFill>
          </a:ln>
          <a:effectLst/>
        </p:spPr>
        <p:txBody>
          <a:bodyPr rtlCol="0" anchor="ctr"/>
          <a:lstStyle/>
          <a:p/>
        </p:txBody>
      </p:sp>
      <p:sp>
        <p:nvSpPr>
          <p:cNvPr id="33" name="TextBox 32"/>
          <p:cNvSpPr txBox="1"/>
          <p:nvPr/>
        </p:nvSpPr>
        <p:spPr>
          <a:xfrm>
            <a:off x="5646420" y="3017520"/>
            <a:ext cx="3406140" cy="1097280"/>
          </a:xfrm>
          <a:prstGeom prst="rect">
            <a:avLst/>
          </a:prstGeom>
          <a:noFill/>
        </p:spPr>
        <p:txBody>
          <a:bodyPr wrap="square" lIns="0" rIns="0" tIns="0" bIns="0" anchor="ctr">
            <a:noAutofit/>
          </a:bodyPr>
          <a:lstStyle/>
          <a:p>
            <a:pPr algn="ctr">
              <a:lnSpc>
                <a:spcPct val="100000"/>
              </a:lnSpc>
              <a:spcAft>
                <a:spcPts val="0"/>
              </a:spcAft>
              <a:buNone/>
            </a:pPr>
            <a:r>
              <a:rPr sz="2200" b="1" i="0">
                <a:solidFill>
                  <a:srgbClr val="8B0000"/>
                </a:solidFill>
                <a:latin typeface="Arial"/>
              </a:rPr>
              <a:t>ln [ p ÷ (1 − p) ]</a:t>
            </a:r>
          </a:p>
        </p:txBody>
      </p:sp>
      <p:sp>
        <p:nvSpPr>
          <p:cNvPr id="34" name="TextBox 33"/>
          <p:cNvSpPr txBox="1"/>
          <p:nvPr/>
        </p:nvSpPr>
        <p:spPr>
          <a:xfrm>
            <a:off x="5692140" y="4251960"/>
            <a:ext cx="3314700" cy="1051560"/>
          </a:xfrm>
          <a:prstGeom prst="rect">
            <a:avLst/>
          </a:prstGeom>
          <a:noFill/>
        </p:spPr>
        <p:txBody>
          <a:bodyPr wrap="square" lIns="0" rIns="0" tIns="0" bIns="0" anchor="ctr">
            <a:noAutofit/>
          </a:bodyPr>
          <a:lstStyle/>
          <a:p>
            <a:pPr algn="ctr">
              <a:lnSpc>
                <a:spcPct val="100000"/>
              </a:lnSpc>
              <a:spcAft>
                <a:spcPts val="0"/>
              </a:spcAft>
              <a:buNone/>
            </a:pPr>
            <a:r>
              <a:rPr sz="2000" b="0" i="0">
                <a:solidFill>
                  <a:srgbClr val="1F2433"/>
                </a:solidFill>
                <a:latin typeface="Arial"/>
              </a:rPr>
              <a:t>mantém estimativa e IC entre 0 e 100%</a:t>
            </a:r>
          </a:p>
        </p:txBody>
      </p:sp>
      <p:cxnSp>
        <p:nvCxnSpPr>
          <p:cNvPr id="35" name="Connector 34"/>
          <p:cNvCxnSpPr/>
          <p:nvPr/>
        </p:nvCxnSpPr>
        <p:spPr>
          <a:xfrm>
            <a:off x="9354311" y="3520439"/>
            <a:ext cx="219457" cy="0"/>
          </a:xfrm>
          <a:prstGeom prst="line">
            <a:avLst/>
          </a:prstGeom>
          <a:ln w="31750">
            <a:solidFill>
              <a:srgbClr val="002060"/>
            </a:solidFill>
            <a:tailEnd type="triangle" w="med" len="med"/>
          </a:ln>
        </p:spPr>
      </p:cxnSp>
      <p:sp>
        <p:nvSpPr>
          <p:cNvPr id="36" name="Rounded Rectangle 35"/>
          <p:cNvSpPr/>
          <p:nvPr/>
        </p:nvSpPr>
        <p:spPr>
          <a:xfrm>
            <a:off x="9601200" y="1783080"/>
            <a:ext cx="3954780" cy="3840480"/>
          </a:xfrm>
          <a:prstGeom prst="roundRect">
            <a:avLst>
              <a:gd name="adj" fmla="val 6000"/>
            </a:avLst>
          </a:prstGeom>
          <a:solidFill>
            <a:srgbClr val="F2F4F8"/>
          </a:solidFill>
          <a:ln>
            <a:noFill/>
          </a:ln>
          <a:effectLst/>
        </p:spPr>
        <p:txBody>
          <a:bodyPr rtlCol="0" anchor="ctr"/>
          <a:lstStyle/>
          <a:p/>
        </p:txBody>
      </p:sp>
      <p:sp>
        <p:nvSpPr>
          <p:cNvPr id="37" name="Oval 36"/>
          <p:cNvSpPr/>
          <p:nvPr/>
        </p:nvSpPr>
        <p:spPr>
          <a:xfrm>
            <a:off x="9921240" y="2103120"/>
            <a:ext cx="685800" cy="68580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400" b="1" i="0">
                <a:solidFill>
                  <a:srgbClr val="FFFFFF"/>
                </a:solidFill>
                <a:latin typeface="Arial"/>
              </a:rPr>
              <a:t>3</a:t>
            </a:r>
          </a:p>
        </p:txBody>
      </p:sp>
      <p:sp>
        <p:nvSpPr>
          <p:cNvPr id="38" name="TextBox 37"/>
          <p:cNvSpPr txBox="1"/>
          <p:nvPr/>
        </p:nvSpPr>
        <p:spPr>
          <a:xfrm>
            <a:off x="10789919" y="2057400"/>
            <a:ext cx="2446020" cy="77724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002060"/>
                </a:solidFill>
                <a:latin typeface="Arial"/>
              </a:rPr>
              <a:t>Efeitos aleatórios</a:t>
            </a:r>
          </a:p>
        </p:txBody>
      </p:sp>
      <p:sp>
        <p:nvSpPr>
          <p:cNvPr id="39" name="Rounded Rectangle 38"/>
          <p:cNvSpPr/>
          <p:nvPr/>
        </p:nvSpPr>
        <p:spPr>
          <a:xfrm>
            <a:off x="9829800" y="3017520"/>
            <a:ext cx="3497580" cy="1097280"/>
          </a:xfrm>
          <a:prstGeom prst="roundRect">
            <a:avLst>
              <a:gd name="adj" fmla="val 6000"/>
            </a:avLst>
          </a:prstGeom>
          <a:solidFill>
            <a:srgbClr val="FFFFFF"/>
          </a:solidFill>
          <a:ln w="12700">
            <a:solidFill>
              <a:srgbClr val="C9CFDA"/>
            </a:solidFill>
          </a:ln>
          <a:effectLst/>
        </p:spPr>
        <p:txBody>
          <a:bodyPr rtlCol="0" anchor="ctr"/>
          <a:lstStyle/>
          <a:p/>
        </p:txBody>
      </p:sp>
      <p:sp>
        <p:nvSpPr>
          <p:cNvPr id="40" name="TextBox 39"/>
          <p:cNvSpPr txBox="1"/>
          <p:nvPr/>
        </p:nvSpPr>
        <p:spPr>
          <a:xfrm>
            <a:off x="9875520" y="3017520"/>
            <a:ext cx="3406140" cy="1097280"/>
          </a:xfrm>
          <a:prstGeom prst="rect">
            <a:avLst/>
          </a:prstGeom>
          <a:noFill/>
        </p:spPr>
        <p:txBody>
          <a:bodyPr wrap="square" lIns="0" rIns="0" tIns="0" bIns="0" anchor="ctr">
            <a:noAutofit/>
          </a:bodyPr>
          <a:lstStyle/>
          <a:p>
            <a:pPr algn="ctr">
              <a:lnSpc>
                <a:spcPct val="100000"/>
              </a:lnSpc>
              <a:spcAft>
                <a:spcPts val="0"/>
              </a:spcAft>
              <a:buNone/>
            </a:pPr>
            <a:r>
              <a:rPr sz="1900" b="1" i="0">
                <a:solidFill>
                  <a:srgbClr val="8B0000"/>
                </a:solidFill>
                <a:latin typeface="Arial"/>
              </a:rPr>
              <a:t>Paule-Mandel</a:t>
            </a:r>
          </a:p>
          <a:p>
            <a:pPr algn="ctr">
              <a:lnSpc>
                <a:spcPct val="100000"/>
              </a:lnSpc>
              <a:spcAft>
                <a:spcPts val="0"/>
              </a:spcAft>
              <a:buNone/>
            </a:pPr>
            <a:r>
              <a:rPr sz="1900" b="1" i="0">
                <a:solidFill>
                  <a:srgbClr val="8B0000"/>
                </a:solidFill>
                <a:latin typeface="Arial"/>
              </a:rPr>
              <a:t>+ Hartung-Knapp</a:t>
            </a:r>
          </a:p>
        </p:txBody>
      </p:sp>
      <p:sp>
        <p:nvSpPr>
          <p:cNvPr id="41" name="TextBox 40"/>
          <p:cNvSpPr txBox="1"/>
          <p:nvPr/>
        </p:nvSpPr>
        <p:spPr>
          <a:xfrm>
            <a:off x="9921240" y="4251960"/>
            <a:ext cx="3314700" cy="1051560"/>
          </a:xfrm>
          <a:prstGeom prst="rect">
            <a:avLst/>
          </a:prstGeom>
          <a:noFill/>
        </p:spPr>
        <p:txBody>
          <a:bodyPr wrap="square" lIns="0" rIns="0" tIns="0" bIns="0" anchor="ctr">
            <a:noAutofit/>
          </a:bodyPr>
          <a:lstStyle/>
          <a:p>
            <a:pPr algn="ctr">
              <a:lnSpc>
                <a:spcPct val="100000"/>
              </a:lnSpc>
              <a:spcAft>
                <a:spcPts val="0"/>
              </a:spcAft>
              <a:buNone/>
            </a:pPr>
            <a:r>
              <a:rPr sz="2000" b="0" i="0">
                <a:solidFill>
                  <a:srgbClr val="1F2433"/>
                </a:solidFill>
                <a:latin typeface="Arial"/>
              </a:rPr>
              <a:t>a prevalência verdadeira varia entre hospitais; IC honesto com poucos estudos</a:t>
            </a:r>
          </a:p>
        </p:txBody>
      </p:sp>
      <p:cxnSp>
        <p:nvCxnSpPr>
          <p:cNvPr id="42" name="Connector 41"/>
          <p:cNvCxnSpPr/>
          <p:nvPr/>
        </p:nvCxnSpPr>
        <p:spPr>
          <a:xfrm>
            <a:off x="13583411" y="3520439"/>
            <a:ext cx="219457" cy="0"/>
          </a:xfrm>
          <a:prstGeom prst="line">
            <a:avLst/>
          </a:prstGeom>
          <a:ln w="31750">
            <a:solidFill>
              <a:srgbClr val="002060"/>
            </a:solidFill>
            <a:tailEnd type="triangle" w="med" len="med"/>
          </a:ln>
        </p:spPr>
      </p:cxnSp>
      <p:sp>
        <p:nvSpPr>
          <p:cNvPr id="43" name="Rounded Rectangle 42"/>
          <p:cNvSpPr/>
          <p:nvPr/>
        </p:nvSpPr>
        <p:spPr>
          <a:xfrm>
            <a:off x="13830300" y="1783080"/>
            <a:ext cx="3954780" cy="3840480"/>
          </a:xfrm>
          <a:prstGeom prst="roundRect">
            <a:avLst>
              <a:gd name="adj" fmla="val 6000"/>
            </a:avLst>
          </a:prstGeom>
          <a:solidFill>
            <a:srgbClr val="F2F4F8"/>
          </a:solidFill>
          <a:ln>
            <a:noFill/>
          </a:ln>
          <a:effectLst/>
        </p:spPr>
        <p:txBody>
          <a:bodyPr rtlCol="0" anchor="ctr"/>
          <a:lstStyle/>
          <a:p/>
        </p:txBody>
      </p:sp>
      <p:sp>
        <p:nvSpPr>
          <p:cNvPr id="44" name="Oval 43"/>
          <p:cNvSpPr/>
          <p:nvPr/>
        </p:nvSpPr>
        <p:spPr>
          <a:xfrm>
            <a:off x="14150340" y="2103120"/>
            <a:ext cx="685800" cy="68580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400" b="1" i="0">
                <a:solidFill>
                  <a:srgbClr val="FFFFFF"/>
                </a:solidFill>
                <a:latin typeface="Arial"/>
              </a:rPr>
              <a:t>4</a:t>
            </a:r>
          </a:p>
        </p:txBody>
      </p:sp>
      <p:sp>
        <p:nvSpPr>
          <p:cNvPr id="45" name="TextBox 44"/>
          <p:cNvSpPr txBox="1"/>
          <p:nvPr/>
        </p:nvSpPr>
        <p:spPr>
          <a:xfrm>
            <a:off x="15019020" y="2057400"/>
            <a:ext cx="2446020" cy="77724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002060"/>
                </a:solidFill>
                <a:latin typeface="Arial"/>
              </a:rPr>
              <a:t>Heterogeneidade e predição</a:t>
            </a:r>
          </a:p>
        </p:txBody>
      </p:sp>
      <p:sp>
        <p:nvSpPr>
          <p:cNvPr id="46" name="Rounded Rectangle 45"/>
          <p:cNvSpPr/>
          <p:nvPr/>
        </p:nvSpPr>
        <p:spPr>
          <a:xfrm>
            <a:off x="14058900" y="3017520"/>
            <a:ext cx="3497580" cy="1097280"/>
          </a:xfrm>
          <a:prstGeom prst="roundRect">
            <a:avLst>
              <a:gd name="adj" fmla="val 6000"/>
            </a:avLst>
          </a:prstGeom>
          <a:solidFill>
            <a:srgbClr val="FFFFFF"/>
          </a:solidFill>
          <a:ln w="12700">
            <a:solidFill>
              <a:srgbClr val="C9CFDA"/>
            </a:solidFill>
          </a:ln>
          <a:effectLst/>
        </p:spPr>
        <p:txBody>
          <a:bodyPr rtlCol="0" anchor="ctr"/>
          <a:lstStyle/>
          <a:p/>
        </p:txBody>
      </p:sp>
      <p:sp>
        <p:nvSpPr>
          <p:cNvPr id="47" name="TextBox 46"/>
          <p:cNvSpPr txBox="1"/>
          <p:nvPr/>
        </p:nvSpPr>
        <p:spPr>
          <a:xfrm>
            <a:off x="14104620" y="3017520"/>
            <a:ext cx="3406140" cy="1097280"/>
          </a:xfrm>
          <a:prstGeom prst="rect">
            <a:avLst/>
          </a:prstGeom>
          <a:noFill/>
        </p:spPr>
        <p:txBody>
          <a:bodyPr wrap="square" lIns="0" rIns="0" tIns="0" bIns="0" anchor="ctr">
            <a:noAutofit/>
          </a:bodyPr>
          <a:lstStyle/>
          <a:p>
            <a:pPr algn="ctr">
              <a:lnSpc>
                <a:spcPct val="100000"/>
              </a:lnSpc>
              <a:spcAft>
                <a:spcPts val="0"/>
              </a:spcAft>
              <a:buNone/>
            </a:pPr>
            <a:r>
              <a:rPr sz="1900" b="1" i="0">
                <a:solidFill>
                  <a:srgbClr val="8B0000"/>
                </a:solidFill>
                <a:latin typeface="Arial"/>
              </a:rPr>
              <a:t>I²  +  intervalo</a:t>
            </a:r>
          </a:p>
          <a:p>
            <a:pPr algn="ctr">
              <a:lnSpc>
                <a:spcPct val="100000"/>
              </a:lnSpc>
              <a:spcAft>
                <a:spcPts val="0"/>
              </a:spcAft>
              <a:buNone/>
            </a:pPr>
            <a:r>
              <a:rPr sz="1900" b="1" i="0">
                <a:solidFill>
                  <a:srgbClr val="8B0000"/>
                </a:solidFill>
                <a:latin typeface="Arial"/>
              </a:rPr>
              <a:t>de predição</a:t>
            </a:r>
          </a:p>
        </p:txBody>
      </p:sp>
      <p:sp>
        <p:nvSpPr>
          <p:cNvPr id="48" name="TextBox 47"/>
          <p:cNvSpPr txBox="1"/>
          <p:nvPr/>
        </p:nvSpPr>
        <p:spPr>
          <a:xfrm>
            <a:off x="14150340" y="4251960"/>
            <a:ext cx="3314700" cy="1051560"/>
          </a:xfrm>
          <a:prstGeom prst="rect">
            <a:avLst/>
          </a:prstGeom>
          <a:noFill/>
        </p:spPr>
        <p:txBody>
          <a:bodyPr wrap="square" lIns="0" rIns="0" tIns="0" bIns="0" anchor="ctr">
            <a:noAutofit/>
          </a:bodyPr>
          <a:lstStyle/>
          <a:p>
            <a:pPr algn="ctr">
              <a:lnSpc>
                <a:spcPct val="100000"/>
              </a:lnSpc>
              <a:spcAft>
                <a:spcPts val="0"/>
              </a:spcAft>
              <a:buNone/>
            </a:pPr>
            <a:r>
              <a:rPr sz="2000" b="0" i="0">
                <a:solidFill>
                  <a:srgbClr val="1F2433"/>
                </a:solidFill>
                <a:latin typeface="Arial"/>
              </a:rPr>
              <a:t>quanto os estudos diferem e o que esperar num novo hospital</a:t>
            </a:r>
          </a:p>
        </p:txBody>
      </p:sp>
      <p:sp>
        <p:nvSpPr>
          <p:cNvPr id="49" name="Rounded Rectangle 48"/>
          <p:cNvSpPr/>
          <p:nvPr/>
        </p:nvSpPr>
        <p:spPr>
          <a:xfrm>
            <a:off x="1143000" y="5943600"/>
            <a:ext cx="5364480" cy="3063239"/>
          </a:xfrm>
          <a:prstGeom prst="roundRect">
            <a:avLst>
              <a:gd name="adj" fmla="val 6000"/>
            </a:avLst>
          </a:prstGeom>
          <a:solidFill>
            <a:srgbClr val="E6EBF5"/>
          </a:solidFill>
          <a:ln>
            <a:noFill/>
          </a:ln>
          <a:effectLst/>
        </p:spPr>
        <p:txBody>
          <a:bodyPr rtlCol="0" anchor="ctr"/>
          <a:lstStyle/>
          <a:p/>
        </p:txBody>
      </p:sp>
      <p:sp>
        <p:nvSpPr>
          <p:cNvPr id="50" name="Oval 49"/>
          <p:cNvSpPr/>
          <p:nvPr/>
        </p:nvSpPr>
        <p:spPr>
          <a:xfrm>
            <a:off x="1463040" y="6263640"/>
            <a:ext cx="731520" cy="731520"/>
          </a:xfrm>
          <a:prstGeom prst="ellipse">
            <a:avLst/>
          </a:prstGeom>
          <a:solidFill>
            <a:srgbClr val="002060"/>
          </a:solidFill>
          <a:ln>
            <a:noFill/>
          </a:ln>
          <a:effectLst/>
        </p:spPr>
        <p:txBody>
          <a:bodyPr rtlCol="0" anchor="ctr" lIns="0" rIns="0" tIns="0" bIns="0"/>
          <a:lstStyle/>
          <a:p/>
        </p:txBody>
      </p:sp>
      <p:pic>
        <p:nvPicPr>
          <p:cNvPr id="51" name="icone balance" descr="balance_white.png"/>
          <p:cNvPicPr>
            <a:picLocks noChangeAspect="1"/>
          </p:cNvPicPr>
          <p:nvPr/>
        </p:nvPicPr>
        <p:blipFill>
          <a:blip r:embed="rId4"/>
          <a:stretch>
            <a:fillRect/>
          </a:stretch>
        </p:blipFill>
        <p:spPr>
          <a:xfrm>
            <a:off x="1645920" y="6446520"/>
            <a:ext cx="365760" cy="365760"/>
          </a:xfrm>
          <a:prstGeom prst="rect">
            <a:avLst/>
          </a:prstGeom>
        </p:spPr>
      </p:pic>
      <p:sp>
        <p:nvSpPr>
          <p:cNvPr id="52" name="TextBox 51"/>
          <p:cNvSpPr txBox="1"/>
          <p:nvPr/>
        </p:nvSpPr>
        <p:spPr>
          <a:xfrm>
            <a:off x="2423160" y="6263640"/>
            <a:ext cx="3764279" cy="73152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002060"/>
                </a:solidFill>
                <a:latin typeface="Arial"/>
              </a:rPr>
              <a:t>Passo 5 · Risco de viés</a:t>
            </a:r>
          </a:p>
        </p:txBody>
      </p:sp>
      <p:sp>
        <p:nvSpPr>
          <p:cNvPr id="53" name="TextBox 52"/>
          <p:cNvSpPr txBox="1"/>
          <p:nvPr/>
        </p:nvSpPr>
        <p:spPr>
          <a:xfrm>
            <a:off x="1463040" y="7132320"/>
            <a:ext cx="4724399" cy="1554480"/>
          </a:xfrm>
          <a:prstGeom prst="rect">
            <a:avLst/>
          </a:prstGeom>
          <a:noFill/>
        </p:spPr>
        <p:txBody>
          <a:bodyPr wrap="square" lIns="0" rIns="0" tIns="0" bIns="0" anchor="ctr">
            <a:noAutofit/>
          </a:bodyPr>
          <a:lstStyle/>
          <a:p>
            <a:pPr algn="l">
              <a:lnSpc>
                <a:spcPct val="100000"/>
              </a:lnSpc>
              <a:spcAft>
                <a:spcPts val="800"/>
              </a:spcAft>
              <a:buNone/>
            </a:pPr>
            <a:r>
              <a:rPr sz="2100" b="1" i="0">
                <a:solidFill>
                  <a:srgbClr val="1F2433"/>
                </a:solidFill>
                <a:latin typeface="Arial"/>
              </a:rPr>
              <a:t>Ferramentas JBI</a:t>
            </a:r>
            <a:r>
              <a:rPr sz="2100" b="0" i="0">
                <a:solidFill>
                  <a:srgbClr val="1F2433"/>
                </a:solidFill>
                <a:latin typeface="Arial"/>
              </a:rPr>
              <a:t> por função: prevalência (9 itens), transversal analítico (8) e coorte (11)</a:t>
            </a:r>
          </a:p>
        </p:txBody>
      </p:sp>
      <p:sp>
        <p:nvSpPr>
          <p:cNvPr id="54" name="Rounded Rectangle 53"/>
          <p:cNvSpPr/>
          <p:nvPr/>
        </p:nvSpPr>
        <p:spPr>
          <a:xfrm>
            <a:off x="6781799" y="5943600"/>
            <a:ext cx="5364480" cy="3063239"/>
          </a:xfrm>
          <a:prstGeom prst="roundRect">
            <a:avLst>
              <a:gd name="adj" fmla="val 6000"/>
            </a:avLst>
          </a:prstGeom>
          <a:solidFill>
            <a:srgbClr val="E3F3F4"/>
          </a:solidFill>
          <a:ln>
            <a:noFill/>
          </a:ln>
          <a:effectLst/>
        </p:spPr>
        <p:txBody>
          <a:bodyPr rtlCol="0" anchor="ctr"/>
          <a:lstStyle/>
          <a:p/>
        </p:txBody>
      </p:sp>
      <p:sp>
        <p:nvSpPr>
          <p:cNvPr id="55" name="Oval 54"/>
          <p:cNvSpPr/>
          <p:nvPr/>
        </p:nvSpPr>
        <p:spPr>
          <a:xfrm>
            <a:off x="7101839" y="6263640"/>
            <a:ext cx="731520" cy="731520"/>
          </a:xfrm>
          <a:prstGeom prst="ellipse">
            <a:avLst/>
          </a:prstGeom>
          <a:solidFill>
            <a:srgbClr val="0E7C86"/>
          </a:solidFill>
          <a:ln>
            <a:noFill/>
          </a:ln>
          <a:effectLst/>
        </p:spPr>
        <p:txBody>
          <a:bodyPr rtlCol="0" anchor="ctr" lIns="0" rIns="0" tIns="0" bIns="0"/>
          <a:lstStyle/>
          <a:p/>
        </p:txBody>
      </p:sp>
      <p:pic>
        <p:nvPicPr>
          <p:cNvPr id="56" name="icone check" descr="check_white.png"/>
          <p:cNvPicPr>
            <a:picLocks noChangeAspect="1"/>
          </p:cNvPicPr>
          <p:nvPr/>
        </p:nvPicPr>
        <p:blipFill>
          <a:blip r:embed="rId5"/>
          <a:stretch>
            <a:fillRect/>
          </a:stretch>
        </p:blipFill>
        <p:spPr>
          <a:xfrm>
            <a:off x="7284719" y="6446520"/>
            <a:ext cx="365760" cy="365760"/>
          </a:xfrm>
          <a:prstGeom prst="rect">
            <a:avLst/>
          </a:prstGeom>
        </p:spPr>
      </p:pic>
      <p:sp>
        <p:nvSpPr>
          <p:cNvPr id="57" name="TextBox 56"/>
          <p:cNvSpPr txBox="1"/>
          <p:nvPr/>
        </p:nvSpPr>
        <p:spPr>
          <a:xfrm>
            <a:off x="8061960" y="6263640"/>
            <a:ext cx="3764279" cy="73152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002060"/>
                </a:solidFill>
                <a:latin typeface="Arial"/>
              </a:rPr>
              <a:t>Robustez da metanálise</a:t>
            </a:r>
          </a:p>
        </p:txBody>
      </p:sp>
      <p:sp>
        <p:nvSpPr>
          <p:cNvPr id="58" name="TextBox 57"/>
          <p:cNvSpPr txBox="1"/>
          <p:nvPr/>
        </p:nvSpPr>
        <p:spPr>
          <a:xfrm>
            <a:off x="7101839" y="7132320"/>
            <a:ext cx="4724399" cy="1554480"/>
          </a:xfrm>
          <a:prstGeom prst="rect">
            <a:avLst/>
          </a:prstGeom>
          <a:noFill/>
        </p:spPr>
        <p:txBody>
          <a:bodyPr wrap="square" lIns="0" rIns="0" tIns="0" bIns="0" anchor="ctr">
            <a:noAutofit/>
          </a:bodyPr>
          <a:lstStyle/>
          <a:p>
            <a:pPr algn="l">
              <a:lnSpc>
                <a:spcPct val="100000"/>
              </a:lnSpc>
              <a:spcAft>
                <a:spcPts val="800"/>
              </a:spcAft>
              <a:buNone/>
            </a:pPr>
            <a:r>
              <a:rPr sz="2100" b="1" i="0">
                <a:solidFill>
                  <a:srgbClr val="1F2433"/>
                </a:solidFill>
                <a:latin typeface="Arial"/>
              </a:rPr>
              <a:t>3 modelos</a:t>
            </a:r>
            <a:r>
              <a:rPr sz="2100" b="0" i="0">
                <a:solidFill>
                  <a:srgbClr val="1F2433"/>
                </a:solidFill>
                <a:latin typeface="Arial"/>
              </a:rPr>
              <a:t>, leave-one-out, Baujat e subgrupo por país</a:t>
            </a:r>
          </a:p>
        </p:txBody>
      </p:sp>
      <p:sp>
        <p:nvSpPr>
          <p:cNvPr id="59" name="Rounded Rectangle 58"/>
          <p:cNvSpPr/>
          <p:nvPr/>
        </p:nvSpPr>
        <p:spPr>
          <a:xfrm>
            <a:off x="12420599" y="5943600"/>
            <a:ext cx="5364480" cy="3063239"/>
          </a:xfrm>
          <a:prstGeom prst="roundRect">
            <a:avLst>
              <a:gd name="adj" fmla="val 6000"/>
            </a:avLst>
          </a:prstGeom>
          <a:solidFill>
            <a:srgbClr val="FBF5E3"/>
          </a:solidFill>
          <a:ln>
            <a:noFill/>
          </a:ln>
          <a:effectLst/>
        </p:spPr>
        <p:txBody>
          <a:bodyPr rtlCol="0" anchor="ctr"/>
          <a:lstStyle/>
          <a:p/>
        </p:txBody>
      </p:sp>
      <p:sp>
        <p:nvSpPr>
          <p:cNvPr id="60" name="Oval 59"/>
          <p:cNvSpPr/>
          <p:nvPr/>
        </p:nvSpPr>
        <p:spPr>
          <a:xfrm>
            <a:off x="12740639" y="6263640"/>
            <a:ext cx="731520" cy="731520"/>
          </a:xfrm>
          <a:prstGeom prst="ellipse">
            <a:avLst/>
          </a:prstGeom>
          <a:solidFill>
            <a:srgbClr val="8A6D1F"/>
          </a:solidFill>
          <a:ln>
            <a:noFill/>
          </a:ln>
          <a:effectLst/>
        </p:spPr>
        <p:txBody>
          <a:bodyPr rtlCol="0" anchor="ctr" lIns="0" rIns="0" tIns="0" bIns="0"/>
          <a:lstStyle/>
          <a:p/>
        </p:txBody>
      </p:sp>
      <p:pic>
        <p:nvPicPr>
          <p:cNvPr id="61" name="icone target" descr="target_white.png"/>
          <p:cNvPicPr>
            <a:picLocks noChangeAspect="1"/>
          </p:cNvPicPr>
          <p:nvPr/>
        </p:nvPicPr>
        <p:blipFill>
          <a:blip r:embed="rId6"/>
          <a:stretch>
            <a:fillRect/>
          </a:stretch>
        </p:blipFill>
        <p:spPr>
          <a:xfrm>
            <a:off x="12923520" y="6446520"/>
            <a:ext cx="365760" cy="365760"/>
          </a:xfrm>
          <a:prstGeom prst="rect">
            <a:avLst/>
          </a:prstGeom>
        </p:spPr>
      </p:pic>
      <p:sp>
        <p:nvSpPr>
          <p:cNvPr id="62" name="TextBox 61"/>
          <p:cNvSpPr txBox="1"/>
          <p:nvPr/>
        </p:nvSpPr>
        <p:spPr>
          <a:xfrm>
            <a:off x="13700760" y="6263640"/>
            <a:ext cx="3764279" cy="73152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002060"/>
                </a:solidFill>
                <a:latin typeface="Arial"/>
              </a:rPr>
              <a:t>Passo 7 · Certeza (GRADE)</a:t>
            </a:r>
          </a:p>
        </p:txBody>
      </p:sp>
      <p:sp>
        <p:nvSpPr>
          <p:cNvPr id="63" name="TextBox 62"/>
          <p:cNvSpPr txBox="1"/>
          <p:nvPr/>
        </p:nvSpPr>
        <p:spPr>
          <a:xfrm>
            <a:off x="12740639" y="7132320"/>
            <a:ext cx="4724399" cy="1554480"/>
          </a:xfrm>
          <a:prstGeom prst="rect">
            <a:avLst/>
          </a:prstGeom>
          <a:noFill/>
        </p:spPr>
        <p:txBody>
          <a:bodyPr wrap="square" lIns="0" rIns="0" tIns="0" bIns="0" anchor="ctr">
            <a:noAutofit/>
          </a:bodyPr>
          <a:lstStyle/>
          <a:p>
            <a:pPr algn="l">
              <a:lnSpc>
                <a:spcPct val="100000"/>
              </a:lnSpc>
              <a:spcAft>
                <a:spcPts val="800"/>
              </a:spcAft>
              <a:buNone/>
            </a:pPr>
            <a:r>
              <a:rPr sz="2100" b="1" i="0">
                <a:solidFill>
                  <a:srgbClr val="1F2433"/>
                </a:solidFill>
                <a:latin typeface="Arial"/>
              </a:rPr>
              <a:t>5 domínios por desfecho</a:t>
            </a:r>
            <a:r>
              <a:rPr sz="2100" b="0" i="0">
                <a:solidFill>
                  <a:srgbClr val="1F2433"/>
                </a:solidFill>
                <a:latin typeface="Arial"/>
              </a:rPr>
              <a:t>; parte de certeza baixa (estudos observacionais)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3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3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3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3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350"/>
                                        <p:tgtEl>
                                          <p:spTgt spid="27"/>
                                        </p:tgtEl>
                                      </p:cBhvr>
                                    </p:animEffect>
                                  </p:childTnLst>
                                </p:cTn>
                              </p:par>
                            </p:childTnLst>
                          </p:cTn>
                        </p:par>
                        <p:par>
                          <p:cTn id="23" fill="hold">
                            <p:stCondLst>
                              <p:cond delay="350"/>
                            </p:stCondLst>
                            <p:childTnLst>
                              <p:par>
                                <p:cTn id="24" presetID="10" presetClass="entr" presetSubtype="0" fill="hold" grpId="0" nodeType="after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35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350"/>
                                        <p:tgtEl>
                                          <p:spTgt spid="2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35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350"/>
                                        <p:tgtEl>
                                          <p:spTgt spid="3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35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350"/>
                                        <p:tgtEl>
                                          <p:spTgt spid="3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350"/>
                                        <p:tgtEl>
                                          <p:spTgt spid="34"/>
                                        </p:tgtEl>
                                      </p:cBhvr>
                                    </p:animEffect>
                                  </p:childTnLst>
                                </p:cTn>
                              </p:par>
                            </p:childTnLst>
                          </p:cTn>
                        </p:par>
                        <p:par>
                          <p:cTn id="45" fill="hold">
                            <p:stCondLst>
                              <p:cond delay="700"/>
                            </p:stCondLst>
                            <p:childTnLst>
                              <p:par>
                                <p:cTn id="46" presetID="10" presetClass="entr" presetSubtype="0"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35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35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35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35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350"/>
                                        <p:tgtEl>
                                          <p:spTgt spid="3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350"/>
                                        <p:tgtEl>
                                          <p:spTgt spid="4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350"/>
                                        <p:tgtEl>
                                          <p:spTgt spid="41"/>
                                        </p:tgtEl>
                                      </p:cBhvr>
                                    </p:animEffect>
                                  </p:childTnLst>
                                </p:cTn>
                              </p:par>
                            </p:childTnLst>
                          </p:cTn>
                        </p:par>
                        <p:par>
                          <p:cTn id="67" fill="hold">
                            <p:stCondLst>
                              <p:cond delay="1050"/>
                            </p:stCondLst>
                            <p:childTnLst>
                              <p:par>
                                <p:cTn id="68" presetID="10" presetClass="entr" presetSubtype="0" fill="hold" grpId="0" nodeType="after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350"/>
                                        <p:tgtEl>
                                          <p:spTgt spid="4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350"/>
                                        <p:tgtEl>
                                          <p:spTgt spid="4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350"/>
                                        <p:tgtEl>
                                          <p:spTgt spid="4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350"/>
                                        <p:tgtEl>
                                          <p:spTgt spid="4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350"/>
                                        <p:tgtEl>
                                          <p:spTgt spid="4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350"/>
                                        <p:tgtEl>
                                          <p:spTgt spid="4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350"/>
                                        <p:tgtEl>
                                          <p:spTgt spid="48"/>
                                        </p:tgtEl>
                                      </p:cBhvr>
                                    </p:animEffect>
                                  </p:childTnLst>
                                </p:cTn>
                              </p:par>
                            </p:childTnLst>
                          </p:cTn>
                        </p:par>
                        <p:par>
                          <p:cTn id="89" fill="hold">
                            <p:stCondLst>
                              <p:cond delay="1400"/>
                            </p:stCondLst>
                            <p:childTnLst>
                              <p:par>
                                <p:cTn id="90" presetID="10" presetClass="entr" presetSubtype="0" fill="hold" grpId="0" nodeType="after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350"/>
                                        <p:tgtEl>
                                          <p:spTgt spid="4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350"/>
                                        <p:tgtEl>
                                          <p:spTgt spid="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350"/>
                                        <p:tgtEl>
                                          <p:spTgt spid="5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fade">
                                      <p:cBhvr>
                                        <p:cTn id="101" dur="350"/>
                                        <p:tgtEl>
                                          <p:spTgt spid="5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3"/>
                                        </p:tgtEl>
                                        <p:attrNameLst>
                                          <p:attrName>style.visibility</p:attrName>
                                        </p:attrNameLst>
                                      </p:cBhvr>
                                      <p:to>
                                        <p:strVal val="visible"/>
                                      </p:to>
                                    </p:set>
                                    <p:animEffect transition="in" filter="fade">
                                      <p:cBhvr>
                                        <p:cTn id="104" dur="350"/>
                                        <p:tgtEl>
                                          <p:spTgt spid="53"/>
                                        </p:tgtEl>
                                      </p:cBhvr>
                                    </p:animEffect>
                                  </p:childTnLst>
                                </p:cTn>
                              </p:par>
                            </p:childTnLst>
                          </p:cTn>
                        </p:par>
                        <p:par>
                          <p:cTn id="105" fill="hold">
                            <p:stCondLst>
                              <p:cond delay="1750"/>
                            </p:stCondLst>
                            <p:childTnLst>
                              <p:par>
                                <p:cTn id="106" presetID="10" presetClass="entr" presetSubtype="0" fill="hold" grpId="0" nodeType="after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350"/>
                                        <p:tgtEl>
                                          <p:spTgt spid="54"/>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350"/>
                                        <p:tgtEl>
                                          <p:spTgt spid="5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fade">
                                      <p:cBhvr>
                                        <p:cTn id="114" dur="350"/>
                                        <p:tgtEl>
                                          <p:spTgt spid="5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7"/>
                                        </p:tgtEl>
                                        <p:attrNameLst>
                                          <p:attrName>style.visibility</p:attrName>
                                        </p:attrNameLst>
                                      </p:cBhvr>
                                      <p:to>
                                        <p:strVal val="visible"/>
                                      </p:to>
                                    </p:set>
                                    <p:animEffect transition="in" filter="fade">
                                      <p:cBhvr>
                                        <p:cTn id="117" dur="350"/>
                                        <p:tgtEl>
                                          <p:spTgt spid="5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8"/>
                                        </p:tgtEl>
                                        <p:attrNameLst>
                                          <p:attrName>style.visibility</p:attrName>
                                        </p:attrNameLst>
                                      </p:cBhvr>
                                      <p:to>
                                        <p:strVal val="visible"/>
                                      </p:to>
                                    </p:set>
                                    <p:animEffect transition="in" filter="fade">
                                      <p:cBhvr>
                                        <p:cTn id="120" dur="350"/>
                                        <p:tgtEl>
                                          <p:spTgt spid="58"/>
                                        </p:tgtEl>
                                      </p:cBhvr>
                                    </p:animEffect>
                                  </p:childTnLst>
                                </p:cTn>
                              </p:par>
                            </p:childTnLst>
                          </p:cTn>
                        </p:par>
                        <p:par>
                          <p:cTn id="121" fill="hold">
                            <p:stCondLst>
                              <p:cond delay="2100"/>
                            </p:stCondLst>
                            <p:childTnLst>
                              <p:par>
                                <p:cTn id="122" presetID="10" presetClass="entr" presetSubtype="0" fill="hold" grpId="0" nodeType="afterEffect">
                                  <p:stCondLst>
                                    <p:cond delay="0"/>
                                  </p:stCondLst>
                                  <p:childTnLst>
                                    <p:set>
                                      <p:cBhvr>
                                        <p:cTn id="123" dur="1" fill="hold">
                                          <p:stCondLst>
                                            <p:cond delay="0"/>
                                          </p:stCondLst>
                                        </p:cTn>
                                        <p:tgtEl>
                                          <p:spTgt spid="59"/>
                                        </p:tgtEl>
                                        <p:attrNameLst>
                                          <p:attrName>style.visibility</p:attrName>
                                        </p:attrNameLst>
                                      </p:cBhvr>
                                      <p:to>
                                        <p:strVal val="visible"/>
                                      </p:to>
                                    </p:set>
                                    <p:animEffect transition="in" filter="fade">
                                      <p:cBhvr>
                                        <p:cTn id="124" dur="350"/>
                                        <p:tgtEl>
                                          <p:spTgt spid="59"/>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60"/>
                                        </p:tgtEl>
                                        <p:attrNameLst>
                                          <p:attrName>style.visibility</p:attrName>
                                        </p:attrNameLst>
                                      </p:cBhvr>
                                      <p:to>
                                        <p:strVal val="visible"/>
                                      </p:to>
                                    </p:set>
                                    <p:animEffect transition="in" filter="fade">
                                      <p:cBhvr>
                                        <p:cTn id="127" dur="350"/>
                                        <p:tgtEl>
                                          <p:spTgt spid="60"/>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61"/>
                                        </p:tgtEl>
                                        <p:attrNameLst>
                                          <p:attrName>style.visibility</p:attrName>
                                        </p:attrNameLst>
                                      </p:cBhvr>
                                      <p:to>
                                        <p:strVal val="visible"/>
                                      </p:to>
                                    </p:set>
                                    <p:animEffect transition="in" filter="fade">
                                      <p:cBhvr>
                                        <p:cTn id="130" dur="350"/>
                                        <p:tgtEl>
                                          <p:spTgt spid="61"/>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62"/>
                                        </p:tgtEl>
                                        <p:attrNameLst>
                                          <p:attrName>style.visibility</p:attrName>
                                        </p:attrNameLst>
                                      </p:cBhvr>
                                      <p:to>
                                        <p:strVal val="visible"/>
                                      </p:to>
                                    </p:set>
                                    <p:animEffect transition="in" filter="fade">
                                      <p:cBhvr>
                                        <p:cTn id="133" dur="350"/>
                                        <p:tgtEl>
                                          <p:spTgt spid="62"/>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63"/>
                                        </p:tgtEl>
                                        <p:attrNameLst>
                                          <p:attrName>style.visibility</p:attrName>
                                        </p:attrNameLst>
                                      </p:cBhvr>
                                      <p:to>
                                        <p:strVal val="visible"/>
                                      </p:to>
                                    </p:set>
                                    <p:animEffect transition="in" filter="fade">
                                      <p:cBhvr>
                                        <p:cTn id="136" dur="3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1" grpId="0" animBg="1"/>
      <p:bldP spid="43" grpId="0" animBg="1"/>
      <p:bldP spid="44" grpId="0" animBg="1"/>
      <p:bldP spid="45" grpId="0" animBg="1"/>
      <p:bldP spid="46" grpId="0" animBg="1"/>
      <p:bldP spid="47" grpId="0" animBg="1"/>
      <p:bldP spid="48" grpId="0" animBg="1"/>
      <p:bldP spid="49" grpId="0" animBg="1"/>
      <p:bldP spid="50" grpId="0" animBg="1"/>
      <p:bldP spid="52" grpId="0" animBg="1"/>
      <p:bldP spid="53" grpId="0" animBg="1"/>
      <p:bldP spid="54" grpId="0" animBg="1"/>
      <p:bldP spid="55" grpId="0" animBg="1"/>
      <p:bldP spid="57" grpId="0" animBg="1"/>
      <p:bldP spid="58" grpId="0" animBg="1"/>
      <p:bldP spid="59" grpId="0" animBg="1"/>
      <p:bldP spid="60" grpId="0" animBg="1"/>
      <p:bldP spid="62" grpId="0" animBg="1"/>
      <p:bldP spid="63"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Desfecho principal · Cerca de 4 em cada 10 profissionais relataram sintoma ocular</a:t>
            </a:r>
          </a:p>
        </p:txBody>
      </p:sp>
      <p:pic>
        <p:nvPicPr>
          <p:cNvPr id="7" name="Figura 2 forest plot ocular" descr="fig2_forest_ocular_slide.png"/>
          <p:cNvPicPr>
            <a:picLocks noChangeAspect="1"/>
          </p:cNvPicPr>
          <p:nvPr/>
        </p:nvPicPr>
        <p:blipFill>
          <a:blip r:embed="rId4"/>
          <a:stretch>
            <a:fillRect/>
          </a:stretch>
        </p:blipFill>
        <p:spPr>
          <a:xfrm>
            <a:off x="1143000" y="1783080"/>
            <a:ext cx="11247120" cy="5577840"/>
          </a:xfrm>
          <a:prstGeom prst="rect">
            <a:avLst/>
          </a:prstGeom>
        </p:spPr>
      </p:pic>
      <p:sp>
        <p:nvSpPr>
          <p:cNvPr id="8" name="TextBox 7"/>
          <p:cNvSpPr txBox="1"/>
          <p:nvPr/>
        </p:nvSpPr>
        <p:spPr>
          <a:xfrm>
            <a:off x="1143000" y="7434071"/>
            <a:ext cx="11247120" cy="548640"/>
          </a:xfrm>
          <a:prstGeom prst="rect">
            <a:avLst/>
          </a:prstGeom>
          <a:noFill/>
        </p:spPr>
        <p:txBody>
          <a:bodyPr wrap="square" lIns="0" rIns="0" tIns="0" bIns="0" anchor="t">
            <a:noAutofit/>
          </a:bodyPr>
          <a:lstStyle/>
          <a:p>
            <a:pPr algn="l">
              <a:lnSpc>
                <a:spcPct val="100000"/>
              </a:lnSpc>
              <a:spcAft>
                <a:spcPts val="0"/>
              </a:spcAft>
              <a:buNone/>
            </a:pPr>
            <a:r>
              <a:rPr sz="1400" b="1" i="0">
                <a:solidFill>
                  <a:srgbClr val="5A6270"/>
                </a:solidFill>
                <a:latin typeface="Arial"/>
              </a:rPr>
              <a:t>Figura 2. </a:t>
            </a:r>
            <a:r>
              <a:rPr sz="1400" b="0" i="0">
                <a:solidFill>
                  <a:srgbClr val="5A6270"/>
                </a:solidFill>
                <a:latin typeface="Arial"/>
              </a:rPr>
              <a:t>Quadrado = estudo (tamanho ∝ peso) · losango = estimativa combinada · linha vermelha = intervalo de predição.</a:t>
            </a:r>
          </a:p>
        </p:txBody>
      </p:sp>
      <p:sp>
        <p:nvSpPr>
          <p:cNvPr id="9" name="Rounded Rectangle 8"/>
          <p:cNvSpPr/>
          <p:nvPr/>
        </p:nvSpPr>
        <p:spPr>
          <a:xfrm>
            <a:off x="12664440" y="1783080"/>
            <a:ext cx="5120639" cy="3429000"/>
          </a:xfrm>
          <a:prstGeom prst="roundRect">
            <a:avLst>
              <a:gd name="adj" fmla="val 6000"/>
            </a:avLst>
          </a:prstGeom>
          <a:solidFill>
            <a:srgbClr val="F9E9E9"/>
          </a:solidFill>
          <a:ln>
            <a:noFill/>
          </a:ln>
          <a:effectLst/>
        </p:spPr>
        <p:txBody>
          <a:bodyPr rtlCol="0" anchor="ctr"/>
          <a:lstStyle/>
          <a:p/>
        </p:txBody>
      </p:sp>
      <p:sp>
        <p:nvSpPr>
          <p:cNvPr id="10" name="TextBox 9"/>
          <p:cNvSpPr txBox="1"/>
          <p:nvPr/>
        </p:nvSpPr>
        <p:spPr>
          <a:xfrm>
            <a:off x="12984480" y="1965960"/>
            <a:ext cx="4480559" cy="1234440"/>
          </a:xfrm>
          <a:prstGeom prst="rect">
            <a:avLst/>
          </a:prstGeom>
          <a:noFill/>
        </p:spPr>
        <p:txBody>
          <a:bodyPr wrap="square" lIns="0" rIns="0" tIns="0" bIns="0" anchor="t">
            <a:noAutofit/>
          </a:bodyPr>
          <a:lstStyle/>
          <a:p>
            <a:pPr algn="l">
              <a:lnSpc>
                <a:spcPct val="100000"/>
              </a:lnSpc>
              <a:spcAft>
                <a:spcPts val="0"/>
              </a:spcAft>
              <a:buNone/>
            </a:pPr>
            <a:r>
              <a:rPr sz="8000" b="1" i="0">
                <a:solidFill>
                  <a:srgbClr val="8B0000"/>
                </a:solidFill>
                <a:latin typeface="Arial"/>
              </a:rPr>
              <a:t>37,6%</a:t>
            </a:r>
          </a:p>
        </p:txBody>
      </p:sp>
      <p:sp>
        <p:nvSpPr>
          <p:cNvPr id="11" name="TextBox 10"/>
          <p:cNvSpPr txBox="1"/>
          <p:nvPr/>
        </p:nvSpPr>
        <p:spPr>
          <a:xfrm>
            <a:off x="12984480" y="3246120"/>
            <a:ext cx="4480559" cy="365760"/>
          </a:xfrm>
          <a:prstGeom prst="rect">
            <a:avLst/>
          </a:prstGeom>
          <a:noFill/>
        </p:spPr>
        <p:txBody>
          <a:bodyPr wrap="square" lIns="0" rIns="0" tIns="0" bIns="0" anchor="t">
            <a:noAutofit/>
          </a:bodyPr>
          <a:lstStyle/>
          <a:p>
            <a:pPr algn="l">
              <a:lnSpc>
                <a:spcPct val="100000"/>
              </a:lnSpc>
              <a:spcAft>
                <a:spcPts val="0"/>
              </a:spcAft>
              <a:buNone/>
            </a:pPr>
            <a:r>
              <a:rPr sz="1900" b="0" i="0">
                <a:solidFill>
                  <a:srgbClr val="5A6270"/>
                </a:solidFill>
                <a:latin typeface="Arial"/>
              </a:rPr>
              <a:t>prevalência combinada</a:t>
            </a:r>
          </a:p>
        </p:txBody>
      </p:sp>
      <p:sp>
        <p:nvSpPr>
          <p:cNvPr id="12" name="TextBox 11"/>
          <p:cNvSpPr txBox="1"/>
          <p:nvPr/>
        </p:nvSpPr>
        <p:spPr>
          <a:xfrm>
            <a:off x="12984480" y="3749039"/>
            <a:ext cx="4480559" cy="1143000"/>
          </a:xfrm>
          <a:prstGeom prst="rect">
            <a:avLst/>
          </a:prstGeom>
          <a:noFill/>
        </p:spPr>
        <p:txBody>
          <a:bodyPr wrap="square" lIns="0" rIns="0" tIns="0" bIns="0" anchor="t">
            <a:noAutofit/>
          </a:bodyPr>
          <a:lstStyle/>
          <a:p>
            <a:pPr algn="l">
              <a:lnSpc>
                <a:spcPct val="100000"/>
              </a:lnSpc>
              <a:spcAft>
                <a:spcPts val="400"/>
              </a:spcAft>
              <a:buNone/>
            </a:pPr>
            <a:r>
              <a:rPr sz="2000" b="1" i="0">
                <a:solidFill>
                  <a:srgbClr val="1F2433"/>
                </a:solidFill>
                <a:latin typeface="Arial"/>
              </a:rPr>
              <a:t>IC95% </a:t>
            </a:r>
            <a:r>
              <a:rPr sz="2000" b="0" i="0">
                <a:solidFill>
                  <a:srgbClr val="1F2433"/>
                </a:solidFill>
                <a:latin typeface="Arial"/>
              </a:rPr>
              <a:t>21,9–56,5</a:t>
            </a:r>
          </a:p>
          <a:p>
            <a:pPr algn="l">
              <a:lnSpc>
                <a:spcPct val="100000"/>
              </a:lnSpc>
              <a:spcAft>
                <a:spcPts val="400"/>
              </a:spcAft>
              <a:buNone/>
            </a:pPr>
            <a:r>
              <a:rPr sz="2000" b="1" i="0">
                <a:solidFill>
                  <a:srgbClr val="1F2433"/>
                </a:solidFill>
                <a:latin typeface="Arial"/>
              </a:rPr>
              <a:t>6 estudos · 756 profissionais</a:t>
            </a:r>
          </a:p>
        </p:txBody>
      </p:sp>
      <p:sp>
        <p:nvSpPr>
          <p:cNvPr id="13" name="Rounded Rectangle 12"/>
          <p:cNvSpPr/>
          <p:nvPr/>
        </p:nvSpPr>
        <p:spPr>
          <a:xfrm>
            <a:off x="12664440" y="5486400"/>
            <a:ext cx="5120639" cy="4251960"/>
          </a:xfrm>
          <a:prstGeom prst="roundRect">
            <a:avLst>
              <a:gd name="adj" fmla="val 6000"/>
            </a:avLst>
          </a:prstGeom>
          <a:solidFill>
            <a:srgbClr val="FBF5E3"/>
          </a:solidFill>
          <a:ln>
            <a:noFill/>
          </a:ln>
          <a:effectLst/>
        </p:spPr>
        <p:txBody>
          <a:bodyPr rtlCol="0" anchor="ctr"/>
          <a:lstStyle/>
          <a:p/>
        </p:txBody>
      </p:sp>
      <p:sp>
        <p:nvSpPr>
          <p:cNvPr id="14" name="TextBox 13"/>
          <p:cNvSpPr txBox="1"/>
          <p:nvPr/>
        </p:nvSpPr>
        <p:spPr>
          <a:xfrm>
            <a:off x="12984480" y="5806440"/>
            <a:ext cx="4480559" cy="3611880"/>
          </a:xfrm>
          <a:prstGeom prst="rect">
            <a:avLst/>
          </a:prstGeom>
          <a:noFill/>
        </p:spPr>
        <p:txBody>
          <a:bodyPr wrap="square" lIns="0" rIns="0" tIns="0" bIns="0" anchor="ctr">
            <a:noAutofit/>
          </a:bodyPr>
          <a:lstStyle/>
          <a:p>
            <a:pPr algn="l">
              <a:lnSpc>
                <a:spcPct val="100000"/>
              </a:lnSpc>
              <a:spcAft>
                <a:spcPts val="200"/>
              </a:spcAft>
              <a:buNone/>
            </a:pPr>
            <a:r>
              <a:rPr sz="2200" b="1" i="0">
                <a:solidFill>
                  <a:srgbClr val="002060"/>
                </a:solidFill>
                <a:latin typeface="Arial"/>
              </a:rPr>
              <a:t>Intervalo de predição</a:t>
            </a:r>
          </a:p>
          <a:p>
            <a:pPr algn="l">
              <a:lnSpc>
                <a:spcPct val="100000"/>
              </a:lnSpc>
              <a:spcAft>
                <a:spcPts val="600"/>
              </a:spcAft>
              <a:buNone/>
            </a:pPr>
            <a:r>
              <a:rPr sz="6600" b="1" i="0">
                <a:solidFill>
                  <a:srgbClr val="8B0000"/>
                </a:solidFill>
                <a:latin typeface="Arial"/>
              </a:rPr>
              <a:t>7–83%</a:t>
            </a:r>
          </a:p>
          <a:p>
            <a:pPr algn="l">
              <a:lnSpc>
                <a:spcPct val="100000"/>
              </a:lnSpc>
              <a:spcAft>
                <a:spcPts val="0"/>
              </a:spcAft>
              <a:buNone/>
            </a:pPr>
            <a:r>
              <a:rPr sz="2000" b="0" i="0">
                <a:solidFill>
                  <a:srgbClr val="1F2433"/>
                </a:solidFill>
                <a:latin typeface="Arial"/>
              </a:rPr>
              <a:t>o que esperar num novo hospital: </a:t>
            </a:r>
            <a:r>
              <a:rPr sz="2000" b="1" i="0">
                <a:solidFill>
                  <a:srgbClr val="1F2433"/>
                </a:solidFill>
                <a:highlight>
                  <a:srgbClr val="FFEB99"/>
                </a:highlight>
                <a:latin typeface="Arial"/>
              </a:rPr>
              <a:t>depende do contexto</a:t>
            </a:r>
          </a:p>
        </p:txBody>
      </p:sp>
      <p:sp>
        <p:nvSpPr>
          <p:cNvPr id="15" name="Rounded Rectangle 14"/>
          <p:cNvSpPr/>
          <p:nvPr/>
        </p:nvSpPr>
        <p:spPr>
          <a:xfrm>
            <a:off x="1143000" y="8183879"/>
            <a:ext cx="11247120" cy="1554480"/>
          </a:xfrm>
          <a:prstGeom prst="roundRect">
            <a:avLst>
              <a:gd name="adj" fmla="val 6000"/>
            </a:avLst>
          </a:prstGeom>
          <a:solidFill>
            <a:srgbClr val="E6EBF5"/>
          </a:solidFill>
          <a:ln>
            <a:noFill/>
          </a:ln>
          <a:effectLst/>
        </p:spPr>
        <p:txBody>
          <a:bodyPr rtlCol="0" anchor="ctr"/>
          <a:lstStyle/>
          <a:p/>
        </p:txBody>
      </p:sp>
      <p:sp>
        <p:nvSpPr>
          <p:cNvPr id="16" name="TextBox 15"/>
          <p:cNvSpPr txBox="1"/>
          <p:nvPr/>
        </p:nvSpPr>
        <p:spPr>
          <a:xfrm>
            <a:off x="1463040" y="8321040"/>
            <a:ext cx="10607040" cy="1280160"/>
          </a:xfrm>
          <a:prstGeom prst="rect">
            <a:avLst/>
          </a:prstGeom>
          <a:noFill/>
        </p:spPr>
        <p:txBody>
          <a:bodyPr wrap="square" lIns="0" rIns="0" tIns="0" bIns="0" anchor="ctr">
            <a:noAutofit/>
          </a:bodyPr>
          <a:lstStyle/>
          <a:p>
            <a:pPr algn="l">
              <a:lnSpc>
                <a:spcPct val="100000"/>
              </a:lnSpc>
              <a:spcAft>
                <a:spcPts val="0"/>
              </a:spcAft>
              <a:buNone/>
            </a:pPr>
            <a:r>
              <a:rPr sz="1900" b="1" i="0">
                <a:solidFill>
                  <a:srgbClr val="002060"/>
                </a:solidFill>
                <a:latin typeface="Arial"/>
              </a:rPr>
              <a:t>Como ler: </a:t>
            </a:r>
            <a:r>
              <a:rPr sz="1900" b="0" i="0">
                <a:solidFill>
                  <a:srgbClr val="1F2433"/>
                </a:solidFill>
                <a:latin typeface="Arial"/>
              </a:rPr>
              <a:t>os estudos vão de 19% (Malásia) a 56% (Turquia); </a:t>
            </a:r>
            <a:r>
              <a:rPr sz="1900" b="1" i="0">
                <a:solidFill>
                  <a:srgbClr val="1F2433"/>
                </a:solidFill>
                <a:latin typeface="Arial"/>
              </a:rPr>
              <a:t>I² = 93%: a variação entre estudos vai além do acaso.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childTnLst>
                          </p:cTn>
                        </p:par>
                        <p:par>
                          <p:cTn id="11" fill="hold">
                            <p:stCondLst>
                              <p:cond delay="350"/>
                            </p:stCondLst>
                            <p:childTnLst>
                              <p:par>
                                <p:cTn id="12" presetID="10"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5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childTnLst>
                          </p:cTn>
                        </p:par>
                        <p:par>
                          <p:cTn id="24" fill="hold">
                            <p:stCondLst>
                              <p:cond delay="7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5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50"/>
                                        <p:tgtEl>
                                          <p:spTgt spid="14"/>
                                        </p:tgtEl>
                                      </p:cBhvr>
                                    </p:animEffect>
                                  </p:childTnLst>
                                </p:cTn>
                              </p:par>
                            </p:childTnLst>
                          </p:cTn>
                        </p:par>
                        <p:par>
                          <p:cTn id="31" fill="hold">
                            <p:stCondLst>
                              <p:cond delay="1050"/>
                            </p:stCondLst>
                            <p:childTnLst>
                              <p:par>
                                <p:cTn id="32" presetID="10" presetClass="entr" presetSubtype="0"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5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Desfecho exploratório · Sintoma respiratório em 41,7%, estável entre modelos</a:t>
            </a:r>
          </a:p>
        </p:txBody>
      </p:sp>
      <p:pic>
        <p:nvPicPr>
          <p:cNvPr id="7" name="Figura 3 forest plot respiratório" descr="fig3_forest_resp_slide.png"/>
          <p:cNvPicPr>
            <a:picLocks noChangeAspect="1"/>
          </p:cNvPicPr>
          <p:nvPr/>
        </p:nvPicPr>
        <p:blipFill>
          <a:blip r:embed="rId4"/>
          <a:stretch>
            <a:fillRect/>
          </a:stretch>
        </p:blipFill>
        <p:spPr>
          <a:xfrm>
            <a:off x="1143000" y="1783080"/>
            <a:ext cx="9326880" cy="5255971"/>
          </a:xfrm>
          <a:prstGeom prst="rect">
            <a:avLst/>
          </a:prstGeom>
        </p:spPr>
      </p:pic>
      <p:sp>
        <p:nvSpPr>
          <p:cNvPr id="8" name="TextBox 7"/>
          <p:cNvSpPr txBox="1"/>
          <p:nvPr/>
        </p:nvSpPr>
        <p:spPr>
          <a:xfrm>
            <a:off x="1143000" y="7112203"/>
            <a:ext cx="9326880" cy="548640"/>
          </a:xfrm>
          <a:prstGeom prst="rect">
            <a:avLst/>
          </a:prstGeom>
          <a:noFill/>
        </p:spPr>
        <p:txBody>
          <a:bodyPr wrap="square" lIns="0" rIns="0" tIns="0" bIns="0" anchor="t">
            <a:noAutofit/>
          </a:bodyPr>
          <a:lstStyle/>
          <a:p>
            <a:pPr algn="l">
              <a:lnSpc>
                <a:spcPct val="100000"/>
              </a:lnSpc>
              <a:spcAft>
                <a:spcPts val="0"/>
              </a:spcAft>
              <a:buNone/>
            </a:pPr>
            <a:r>
              <a:rPr sz="1400" b="1" i="0">
                <a:solidFill>
                  <a:srgbClr val="5A6270"/>
                </a:solidFill>
                <a:latin typeface="Arial"/>
              </a:rPr>
              <a:t>Figura 3. </a:t>
            </a:r>
            <a:r>
              <a:rPr sz="1400" b="0" i="0">
                <a:solidFill>
                  <a:srgbClr val="5A6270"/>
                </a:solidFill>
                <a:latin typeface="Arial"/>
              </a:rPr>
              <a:t>Sete amostras independentes; definições variam (tosse, ardência de garganta, vias aéreas superiores).</a:t>
            </a:r>
          </a:p>
        </p:txBody>
      </p:sp>
      <p:sp>
        <p:nvSpPr>
          <p:cNvPr id="9" name="Rounded Rectangle 8"/>
          <p:cNvSpPr/>
          <p:nvPr/>
        </p:nvSpPr>
        <p:spPr>
          <a:xfrm>
            <a:off x="1143000" y="7818120"/>
            <a:ext cx="9326880" cy="1920239"/>
          </a:xfrm>
          <a:prstGeom prst="roundRect">
            <a:avLst>
              <a:gd name="adj" fmla="val 6000"/>
            </a:avLst>
          </a:prstGeom>
          <a:solidFill>
            <a:srgbClr val="FBF5E3"/>
          </a:solidFill>
          <a:ln>
            <a:noFill/>
          </a:ln>
          <a:effectLst/>
        </p:spPr>
        <p:txBody>
          <a:bodyPr rtlCol="0" anchor="ctr"/>
          <a:lstStyle/>
          <a:p/>
        </p:txBody>
      </p:sp>
      <p:sp>
        <p:nvSpPr>
          <p:cNvPr id="10" name="TextBox 9"/>
          <p:cNvSpPr txBox="1"/>
          <p:nvPr/>
        </p:nvSpPr>
        <p:spPr>
          <a:xfrm>
            <a:off x="1463040" y="7955280"/>
            <a:ext cx="8686800" cy="1645919"/>
          </a:xfrm>
          <a:prstGeom prst="rect">
            <a:avLst/>
          </a:prstGeom>
          <a:noFill/>
        </p:spPr>
        <p:txBody>
          <a:bodyPr wrap="square" lIns="0" rIns="0" tIns="0" bIns="0" anchor="ctr">
            <a:noAutofit/>
          </a:bodyPr>
          <a:lstStyle/>
          <a:p>
            <a:pPr algn="l">
              <a:lnSpc>
                <a:spcPct val="100000"/>
              </a:lnSpc>
              <a:spcAft>
                <a:spcPts val="0"/>
              </a:spcAft>
              <a:buNone/>
            </a:pPr>
            <a:r>
              <a:rPr sz="2000" b="1" i="0">
                <a:solidFill>
                  <a:srgbClr val="002060"/>
                </a:solidFill>
                <a:latin typeface="Arial"/>
              </a:rPr>
              <a:t>A definição importa: </a:t>
            </a:r>
            <a:r>
              <a:rPr sz="2000" b="0" i="0">
                <a:solidFill>
                  <a:srgbClr val="1F2433"/>
                </a:solidFill>
                <a:latin typeface="Arial"/>
              </a:rPr>
              <a:t>só com definições específicas, o I² respiratório cai de </a:t>
            </a:r>
            <a:r>
              <a:rPr sz="2000" b="1" i="0">
                <a:solidFill>
                  <a:srgbClr val="1F2433"/>
                </a:solidFill>
                <a:highlight>
                  <a:srgbClr val="FFEB99"/>
                </a:highlight>
                <a:latin typeface="Arial"/>
              </a:rPr>
              <a:t>91% para 61%</a:t>
            </a:r>
          </a:p>
        </p:txBody>
      </p:sp>
      <p:sp>
        <p:nvSpPr>
          <p:cNvPr id="11" name="Rounded Rectangle 10"/>
          <p:cNvSpPr/>
          <p:nvPr/>
        </p:nvSpPr>
        <p:spPr>
          <a:xfrm>
            <a:off x="10744200" y="1783080"/>
            <a:ext cx="7040879" cy="2514600"/>
          </a:xfrm>
          <a:prstGeom prst="roundRect">
            <a:avLst>
              <a:gd name="adj" fmla="val 6000"/>
            </a:avLst>
          </a:prstGeom>
          <a:solidFill>
            <a:srgbClr val="F9E9E9"/>
          </a:solidFill>
          <a:ln>
            <a:noFill/>
          </a:ln>
          <a:effectLst/>
        </p:spPr>
        <p:txBody>
          <a:bodyPr rtlCol="0" anchor="ctr"/>
          <a:lstStyle/>
          <a:p/>
        </p:txBody>
      </p:sp>
      <p:sp>
        <p:nvSpPr>
          <p:cNvPr id="12" name="TextBox 11"/>
          <p:cNvSpPr txBox="1"/>
          <p:nvPr/>
        </p:nvSpPr>
        <p:spPr>
          <a:xfrm>
            <a:off x="11064240" y="1920240"/>
            <a:ext cx="6400799" cy="1051560"/>
          </a:xfrm>
          <a:prstGeom prst="rect">
            <a:avLst/>
          </a:prstGeom>
          <a:noFill/>
        </p:spPr>
        <p:txBody>
          <a:bodyPr wrap="square" lIns="0" rIns="0" tIns="0" bIns="0" anchor="t">
            <a:noAutofit/>
          </a:bodyPr>
          <a:lstStyle/>
          <a:p>
            <a:pPr algn="l">
              <a:lnSpc>
                <a:spcPct val="100000"/>
              </a:lnSpc>
              <a:spcAft>
                <a:spcPts val="0"/>
              </a:spcAft>
              <a:buNone/>
            </a:pPr>
            <a:r>
              <a:rPr sz="6600" b="1" i="0">
                <a:solidFill>
                  <a:srgbClr val="8B0000"/>
                </a:solidFill>
                <a:latin typeface="Arial"/>
              </a:rPr>
              <a:t>41,7%</a:t>
            </a:r>
          </a:p>
        </p:txBody>
      </p:sp>
      <p:sp>
        <p:nvSpPr>
          <p:cNvPr id="13" name="TextBox 12"/>
          <p:cNvSpPr txBox="1"/>
          <p:nvPr/>
        </p:nvSpPr>
        <p:spPr>
          <a:xfrm>
            <a:off x="11064240" y="3017520"/>
            <a:ext cx="6400799" cy="960119"/>
          </a:xfrm>
          <a:prstGeom prst="rect">
            <a:avLst/>
          </a:prstGeom>
          <a:noFill/>
        </p:spPr>
        <p:txBody>
          <a:bodyPr wrap="square" lIns="0" rIns="0" tIns="0" bIns="0" anchor="t">
            <a:noAutofit/>
          </a:bodyPr>
          <a:lstStyle/>
          <a:p>
            <a:pPr algn="l">
              <a:lnSpc>
                <a:spcPct val="100000"/>
              </a:lnSpc>
              <a:spcAft>
                <a:spcPts val="400"/>
              </a:spcAft>
              <a:buNone/>
            </a:pPr>
            <a:r>
              <a:rPr sz="1800" b="0" i="0">
                <a:solidFill>
                  <a:srgbClr val="5A6270"/>
                </a:solidFill>
                <a:latin typeface="Arial"/>
              </a:rPr>
              <a:t>prevalência combinada</a:t>
            </a:r>
          </a:p>
          <a:p>
            <a:pPr algn="l">
              <a:lnSpc>
                <a:spcPct val="100000"/>
              </a:lnSpc>
              <a:spcAft>
                <a:spcPts val="200"/>
              </a:spcAft>
              <a:buNone/>
            </a:pPr>
            <a:r>
              <a:rPr sz="1800" b="1" i="0">
                <a:solidFill>
                  <a:srgbClr val="1F2433"/>
                </a:solidFill>
                <a:latin typeface="Arial"/>
              </a:rPr>
              <a:t>IC95% </a:t>
            </a:r>
            <a:r>
              <a:rPr sz="1800" b="0" i="0">
                <a:solidFill>
                  <a:srgbClr val="1F2433"/>
                </a:solidFill>
                <a:latin typeface="Arial"/>
              </a:rPr>
              <a:t>30,4–53,9  ·  </a:t>
            </a:r>
            <a:r>
              <a:rPr sz="1800" b="1" i="0">
                <a:solidFill>
                  <a:srgbClr val="1F2433"/>
                </a:solidFill>
                <a:latin typeface="Arial"/>
              </a:rPr>
              <a:t>IP </a:t>
            </a:r>
            <a:r>
              <a:rPr sz="1800" b="0" i="0">
                <a:solidFill>
                  <a:srgbClr val="1F2433"/>
                </a:solidFill>
                <a:latin typeface="Arial"/>
              </a:rPr>
              <a:t>15–74%</a:t>
            </a:r>
          </a:p>
          <a:p>
            <a:pPr algn="l">
              <a:lnSpc>
                <a:spcPct val="100000"/>
              </a:lnSpc>
              <a:spcAft>
                <a:spcPts val="200"/>
              </a:spcAft>
              <a:buNone/>
            </a:pPr>
            <a:r>
              <a:rPr sz="1800" b="1" i="0">
                <a:solidFill>
                  <a:srgbClr val="1F2433"/>
                </a:solidFill>
                <a:latin typeface="Arial"/>
              </a:rPr>
              <a:t>7 estudos · 1.428 profissionais</a:t>
            </a:r>
          </a:p>
        </p:txBody>
      </p:sp>
      <p:sp>
        <p:nvSpPr>
          <p:cNvPr id="14" name="Rounded Rectangle 13"/>
          <p:cNvSpPr/>
          <p:nvPr/>
        </p:nvSpPr>
        <p:spPr>
          <a:xfrm>
            <a:off x="10744200" y="4572000"/>
            <a:ext cx="7040879" cy="5166360"/>
          </a:xfrm>
          <a:prstGeom prst="roundRect">
            <a:avLst>
              <a:gd name="adj" fmla="val 6000"/>
            </a:avLst>
          </a:prstGeom>
          <a:solidFill>
            <a:srgbClr val="F2F4F8"/>
          </a:solidFill>
          <a:ln>
            <a:noFill/>
          </a:ln>
          <a:effectLst/>
        </p:spPr>
        <p:txBody>
          <a:bodyPr rtlCol="0" anchor="ctr"/>
          <a:lstStyle/>
          <a:p/>
        </p:txBody>
      </p:sp>
      <p:sp>
        <p:nvSpPr>
          <p:cNvPr id="15" name="TextBox 14"/>
          <p:cNvSpPr txBox="1"/>
          <p:nvPr/>
        </p:nvSpPr>
        <p:spPr>
          <a:xfrm>
            <a:off x="11064240" y="4846320"/>
            <a:ext cx="6400799" cy="411480"/>
          </a:xfrm>
          <a:prstGeom prst="rect">
            <a:avLst/>
          </a:prstGeom>
          <a:noFill/>
        </p:spPr>
        <p:txBody>
          <a:bodyPr wrap="square" lIns="0" rIns="0" tIns="0" bIns="0" anchor="t">
            <a:noAutofit/>
          </a:bodyPr>
          <a:lstStyle/>
          <a:p>
            <a:pPr algn="l">
              <a:lnSpc>
                <a:spcPct val="100000"/>
              </a:lnSpc>
              <a:spcAft>
                <a:spcPts val="0"/>
              </a:spcAft>
              <a:buNone/>
            </a:pPr>
            <a:r>
              <a:rPr sz="2100" b="1" i="0">
                <a:solidFill>
                  <a:srgbClr val="002060"/>
                </a:solidFill>
                <a:latin typeface="Arial"/>
              </a:rPr>
              <a:t>Muda o modelo, não muda o resultado</a:t>
            </a:r>
          </a:p>
        </p:txBody>
      </p:sp>
      <p:graphicFrame>
        <p:nvGraphicFramePr>
          <p:cNvPr id="16" name="Table 15"/>
          <p:cNvGraphicFramePr>
            <a:graphicFrameLocks noGrp="1"/>
          </p:cNvGraphicFramePr>
          <p:nvPr/>
        </p:nvGraphicFramePr>
        <p:xfrm>
          <a:off x="11064240" y="5440680"/>
          <a:ext cx="6400799" cy="3072384"/>
        </p:xfrm>
        <a:graphic>
          <a:graphicData uri="http://schemas.openxmlformats.org/drawingml/2006/table">
            <a:tbl>
              <a:tblPr firstRow="0" bandRow="0"/>
              <a:tblGrid>
                <a:gridCol w="3108959"/>
                <a:gridCol w="1554480"/>
                <a:gridCol w="1737360"/>
              </a:tblGrid>
              <a:tr h="512064">
                <a:tc>
                  <a:txBody>
                    <a:bodyPr wrap="square">
                      <a:noAutofit/>
                    </a:bodyPr>
                    <a:lstStyle/>
                    <a:p>
                      <a:pPr algn="l">
                        <a:lnSpc>
                          <a:spcPct val="100000"/>
                        </a:lnSpc>
                        <a:spcAft>
                          <a:spcPts val="0"/>
                        </a:spcAft>
                        <a:buNone/>
                      </a:pPr>
                      <a:r>
                        <a:rPr sz="1700" b="1" i="0">
                          <a:solidFill>
                            <a:srgbClr val="FFFFFF"/>
                          </a:solidFill>
                          <a:latin typeface="Arial"/>
                        </a:rPr>
                        <a:t>Análise</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700" b="1" i="0">
                          <a:solidFill>
                            <a:srgbClr val="FFFFFF"/>
                          </a:solidFill>
                          <a:latin typeface="Arial"/>
                        </a:rPr>
                        <a:t>Ocular</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700" b="1" i="0">
                          <a:solidFill>
                            <a:srgbClr val="FFFFFF"/>
                          </a:solidFill>
                          <a:latin typeface="Arial"/>
                        </a:rPr>
                        <a:t>Respiratório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r>
              <a:tr h="512064">
                <a:tc>
                  <a:txBody>
                    <a:bodyPr wrap="square">
                      <a:noAutofit/>
                    </a:bodyPr>
                    <a:lstStyle/>
                    <a:p>
                      <a:pPr algn="l">
                        <a:lnSpc>
                          <a:spcPct val="100000"/>
                        </a:lnSpc>
                        <a:spcAft>
                          <a:spcPts val="0"/>
                        </a:spcAft>
                        <a:buNone/>
                      </a:pPr>
                      <a:r>
                        <a:rPr sz="1700" b="1" i="0">
                          <a:solidFill>
                            <a:srgbClr val="1F2433"/>
                          </a:solidFill>
                          <a:latin typeface="Arial"/>
                        </a:rPr>
                        <a:t>Logito + Hartung-Knapp</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700" b="1" i="0">
                          <a:solidFill>
                            <a:srgbClr val="1F2433"/>
                          </a:solidFill>
                          <a:latin typeface="Arial"/>
                        </a:rPr>
                        <a:t>37,6%</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700" b="1" i="0">
                          <a:solidFill>
                            <a:srgbClr val="1F2433"/>
                          </a:solidFill>
                          <a:latin typeface="Arial"/>
                        </a:rPr>
                        <a:t>41,7%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512064">
                <a:tc>
                  <a:txBody>
                    <a:bodyPr wrap="square">
                      <a:noAutofit/>
                    </a:bodyPr>
                    <a:lstStyle/>
                    <a:p>
                      <a:pPr algn="l">
                        <a:lnSpc>
                          <a:spcPct val="100000"/>
                        </a:lnSpc>
                        <a:spcAft>
                          <a:spcPts val="0"/>
                        </a:spcAft>
                        <a:buNone/>
                      </a:pPr>
                      <a:r>
                        <a:rPr sz="1700" b="0" i="0">
                          <a:solidFill>
                            <a:srgbClr val="1F2433"/>
                          </a:solidFill>
                          <a:latin typeface="Arial"/>
                        </a:rPr>
                        <a:t>Freeman-Tukey</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700" b="0" i="0">
                          <a:solidFill>
                            <a:srgbClr val="1F2433"/>
                          </a:solidFill>
                          <a:latin typeface="Arial"/>
                        </a:rPr>
                        <a:t>38,1%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700" b="0" i="0">
                          <a:solidFill>
                            <a:srgbClr val="1F2433"/>
                          </a:solidFill>
                          <a:latin typeface="Arial"/>
                        </a:rPr>
                        <a:t>41,7%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r h="512064">
                <a:tc>
                  <a:txBody>
                    <a:bodyPr wrap="square">
                      <a:noAutofit/>
                    </a:bodyPr>
                    <a:lstStyle/>
                    <a:p>
                      <a:pPr algn="l">
                        <a:lnSpc>
                          <a:spcPct val="100000"/>
                        </a:lnSpc>
                        <a:spcAft>
                          <a:spcPts val="0"/>
                        </a:spcAft>
                        <a:buNone/>
                      </a:pPr>
                      <a:r>
                        <a:rPr sz="1700" b="0" i="0">
                          <a:solidFill>
                            <a:srgbClr val="1F2433"/>
                          </a:solidFill>
                          <a:latin typeface="Arial"/>
                        </a:rPr>
                        <a:t>GLMM logístico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700" b="0" i="0">
                          <a:solidFill>
                            <a:srgbClr val="1F2433"/>
                          </a:solidFill>
                          <a:latin typeface="Arial"/>
                        </a:rPr>
                        <a:t>37,5%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700" b="0" i="0">
                          <a:solidFill>
                            <a:srgbClr val="1F2433"/>
                          </a:solidFill>
                          <a:latin typeface="Arial"/>
                        </a:rPr>
                        <a:t>42,0%</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512064">
                <a:tc>
                  <a:txBody>
                    <a:bodyPr wrap="square">
                      <a:noAutofit/>
                    </a:bodyPr>
                    <a:lstStyle/>
                    <a:p>
                      <a:pPr algn="l">
                        <a:lnSpc>
                          <a:spcPct val="100000"/>
                        </a:lnSpc>
                        <a:spcAft>
                          <a:spcPts val="0"/>
                        </a:spcAft>
                        <a:buNone/>
                      </a:pPr>
                      <a:r>
                        <a:rPr sz="1700" b="0" i="0">
                          <a:solidFill>
                            <a:srgbClr val="1F2433"/>
                          </a:solidFill>
                          <a:latin typeface="Arial"/>
                        </a:rPr>
                        <a:t>Leave-one-out (faixa)</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700" b="0" i="0">
                          <a:solidFill>
                            <a:srgbClr val="1F2433"/>
                          </a:solidFill>
                          <a:latin typeface="Arial"/>
                        </a:rPr>
                        <a:t>34,3–42,1%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700" b="0" i="0">
                          <a:solidFill>
                            <a:srgbClr val="1F2433"/>
                          </a:solidFill>
                          <a:latin typeface="Arial"/>
                        </a:rPr>
                        <a:t>38,9–45,5%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r h="512064">
                <a:tc>
                  <a:txBody>
                    <a:bodyPr wrap="square">
                      <a:noAutofit/>
                    </a:bodyPr>
                    <a:lstStyle/>
                    <a:p>
                      <a:pPr algn="l">
                        <a:lnSpc>
                          <a:spcPct val="100000"/>
                        </a:lnSpc>
                        <a:spcAft>
                          <a:spcPts val="0"/>
                        </a:spcAft>
                        <a:buNone/>
                      </a:pPr>
                      <a:r>
                        <a:rPr sz="1700" b="0" i="0">
                          <a:solidFill>
                            <a:srgbClr val="1F2433"/>
                          </a:solidFill>
                          <a:latin typeface="Arial"/>
                        </a:rPr>
                        <a:t>Sem o resumo de congresso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700" b="0" i="0">
                          <a:solidFill>
                            <a:srgbClr val="1F2433"/>
                          </a:solidFill>
                          <a:latin typeface="Arial"/>
                        </a:rPr>
                        <a:t>42,1%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700" b="0" i="0">
                          <a:solidFill>
                            <a:srgbClr val="1F2433"/>
                          </a:solidFill>
                          <a:latin typeface="Arial"/>
                        </a:rPr>
                        <a:t>42,4%</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bl>
          </a:graphicData>
        </a:graphic>
      </p:graphicFrame>
      <p:sp>
        <p:nvSpPr>
          <p:cNvPr id="17" name="TextBox 16"/>
          <p:cNvSpPr txBox="1"/>
          <p:nvPr/>
        </p:nvSpPr>
        <p:spPr>
          <a:xfrm>
            <a:off x="11064240" y="9006840"/>
            <a:ext cx="6400799" cy="41148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Modelo principal em negrito.</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Medidas objetivas apontam na mesma direção: alterações além do incômodo agudo</a:t>
            </a:r>
          </a:p>
        </p:txBody>
      </p:sp>
      <p:sp>
        <p:nvSpPr>
          <p:cNvPr id="7" name="TextBox 6"/>
          <p:cNvSpPr txBox="1"/>
          <p:nvPr/>
        </p:nvSpPr>
        <p:spPr>
          <a:xfrm>
            <a:off x="1143000" y="1783080"/>
            <a:ext cx="16642080" cy="36576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Expostos vs não expostos</a:t>
            </a:r>
            <a:r>
              <a:rPr sz="1800" b="0" i="0">
                <a:solidFill>
                  <a:srgbClr val="5A6270"/>
                </a:solidFill>
                <a:latin typeface="Arial"/>
              </a:rPr>
              <a:t>  ·  um estudo por desfecho</a:t>
            </a:r>
          </a:p>
        </p:txBody>
      </p:sp>
      <p:sp>
        <p:nvSpPr>
          <p:cNvPr id="8" name="Rounded Rectangle 7"/>
          <p:cNvSpPr/>
          <p:nvPr/>
        </p:nvSpPr>
        <p:spPr>
          <a:xfrm>
            <a:off x="1143000" y="2286000"/>
            <a:ext cx="3954780" cy="5349240"/>
          </a:xfrm>
          <a:prstGeom prst="roundRect">
            <a:avLst>
              <a:gd name="adj" fmla="val 6000"/>
            </a:avLst>
          </a:prstGeom>
          <a:solidFill>
            <a:srgbClr val="F2F4F8"/>
          </a:solidFill>
          <a:ln>
            <a:noFill/>
          </a:ln>
          <a:effectLst/>
        </p:spPr>
        <p:txBody>
          <a:bodyPr rtlCol="0" anchor="ctr"/>
          <a:lstStyle/>
          <a:p/>
        </p:txBody>
      </p:sp>
      <p:sp>
        <p:nvSpPr>
          <p:cNvPr id="9" name="Oval 8"/>
          <p:cNvSpPr/>
          <p:nvPr/>
        </p:nvSpPr>
        <p:spPr>
          <a:xfrm>
            <a:off x="2617470" y="2606040"/>
            <a:ext cx="1005840" cy="1005840"/>
          </a:xfrm>
          <a:prstGeom prst="ellipse">
            <a:avLst/>
          </a:prstGeom>
          <a:solidFill>
            <a:srgbClr val="002060"/>
          </a:solidFill>
          <a:ln>
            <a:noFill/>
          </a:ln>
          <a:effectLst/>
        </p:spPr>
        <p:txBody>
          <a:bodyPr rtlCol="0" anchor="ctr" lIns="0" rIns="0" tIns="0" bIns="0"/>
          <a:lstStyle/>
          <a:p/>
        </p:txBody>
      </p:sp>
      <p:pic>
        <p:nvPicPr>
          <p:cNvPr id="10" name="icone lungs" descr="lungs_white.png"/>
          <p:cNvPicPr>
            <a:picLocks noChangeAspect="1"/>
          </p:cNvPicPr>
          <p:nvPr/>
        </p:nvPicPr>
        <p:blipFill>
          <a:blip r:embed="rId4"/>
          <a:stretch>
            <a:fillRect/>
          </a:stretch>
        </p:blipFill>
        <p:spPr>
          <a:xfrm>
            <a:off x="2868930" y="2857500"/>
            <a:ext cx="502920" cy="502920"/>
          </a:xfrm>
          <a:prstGeom prst="rect">
            <a:avLst/>
          </a:prstGeom>
        </p:spPr>
      </p:pic>
      <p:sp>
        <p:nvSpPr>
          <p:cNvPr id="11" name="TextBox 10"/>
          <p:cNvSpPr txBox="1"/>
          <p:nvPr/>
        </p:nvSpPr>
        <p:spPr>
          <a:xfrm>
            <a:off x="1463040" y="3794760"/>
            <a:ext cx="3314700" cy="457200"/>
          </a:xfrm>
          <a:prstGeom prst="rect">
            <a:avLst/>
          </a:prstGeom>
          <a:noFill/>
        </p:spPr>
        <p:txBody>
          <a:bodyPr wrap="square" lIns="0" rIns="0" tIns="0" bIns="0" anchor="t">
            <a:noAutofit/>
          </a:bodyPr>
          <a:lstStyle/>
          <a:p>
            <a:pPr algn="ctr">
              <a:lnSpc>
                <a:spcPct val="100000"/>
              </a:lnSpc>
              <a:spcAft>
                <a:spcPts val="0"/>
              </a:spcAft>
              <a:buNone/>
            </a:pPr>
            <a:r>
              <a:rPr sz="2200" b="1" i="0">
                <a:solidFill>
                  <a:srgbClr val="002060"/>
                </a:solidFill>
                <a:latin typeface="Arial"/>
              </a:rPr>
              <a:t>Função pulmonar</a:t>
            </a:r>
          </a:p>
        </p:txBody>
      </p:sp>
      <p:sp>
        <p:nvSpPr>
          <p:cNvPr id="12" name="TextBox 11"/>
          <p:cNvSpPr txBox="1"/>
          <p:nvPr/>
        </p:nvSpPr>
        <p:spPr>
          <a:xfrm>
            <a:off x="1252728" y="4389120"/>
            <a:ext cx="3735324" cy="685800"/>
          </a:xfrm>
          <a:prstGeom prst="rect">
            <a:avLst/>
          </a:prstGeom>
          <a:noFill/>
        </p:spPr>
        <p:txBody>
          <a:bodyPr wrap="square" lIns="0" rIns="0" tIns="0" bIns="0" anchor="t">
            <a:noAutofit/>
          </a:bodyPr>
          <a:lstStyle/>
          <a:p>
            <a:pPr algn="ctr">
              <a:lnSpc>
                <a:spcPct val="100000"/>
              </a:lnSpc>
              <a:spcAft>
                <a:spcPts val="0"/>
              </a:spcAft>
              <a:buNone/>
            </a:pPr>
            <a:r>
              <a:rPr sz="3600" b="1" i="0">
                <a:solidFill>
                  <a:srgbClr val="8B0000"/>
                </a:solidFill>
                <a:latin typeface="Arial"/>
              </a:rPr>
              <a:t>2,78 vs 3,14 L</a:t>
            </a:r>
          </a:p>
        </p:txBody>
      </p:sp>
      <p:sp>
        <p:nvSpPr>
          <p:cNvPr id="13" name="TextBox 12"/>
          <p:cNvSpPr txBox="1"/>
          <p:nvPr/>
        </p:nvSpPr>
        <p:spPr>
          <a:xfrm>
            <a:off x="1463040" y="5166360"/>
            <a:ext cx="3314700" cy="960120"/>
          </a:xfrm>
          <a:prstGeom prst="rect">
            <a:avLst/>
          </a:prstGeom>
          <a:noFill/>
        </p:spPr>
        <p:txBody>
          <a:bodyPr wrap="square" lIns="0" rIns="0" tIns="0" bIns="0" anchor="t">
            <a:noAutofit/>
          </a:bodyPr>
          <a:lstStyle/>
          <a:p>
            <a:pPr algn="ctr">
              <a:lnSpc>
                <a:spcPct val="100000"/>
              </a:lnSpc>
              <a:spcAft>
                <a:spcPts val="0"/>
              </a:spcAft>
              <a:buNone/>
            </a:pPr>
            <a:r>
              <a:rPr sz="1900" b="0" i="0">
                <a:solidFill>
                  <a:srgbClr val="1F2433"/>
                </a:solidFill>
                <a:latin typeface="Arial"/>
              </a:rPr>
              <a:t>VEF1 (mediana); menor com mais tempo de centro cirúrgico</a:t>
            </a:r>
          </a:p>
        </p:txBody>
      </p:sp>
      <p:sp>
        <p:nvSpPr>
          <p:cNvPr id="14" name="TextBox 13"/>
          <p:cNvSpPr txBox="1"/>
          <p:nvPr/>
        </p:nvSpPr>
        <p:spPr>
          <a:xfrm>
            <a:off x="1463040" y="6766560"/>
            <a:ext cx="3314700" cy="548640"/>
          </a:xfrm>
          <a:prstGeom prst="rect">
            <a:avLst/>
          </a:prstGeom>
          <a:noFill/>
        </p:spPr>
        <p:txBody>
          <a:bodyPr wrap="square" lIns="0" rIns="0" tIns="0" bIns="0" anchor="b">
            <a:noAutofit/>
          </a:bodyPr>
          <a:lstStyle/>
          <a:p>
            <a:pPr algn="ctr">
              <a:lnSpc>
                <a:spcPct val="100000"/>
              </a:lnSpc>
              <a:spcAft>
                <a:spcPts val="0"/>
              </a:spcAft>
              <a:buNone/>
            </a:pPr>
            <a:r>
              <a:rPr sz="1500" b="0" i="0">
                <a:solidFill>
                  <a:srgbClr val="5A6270"/>
                </a:solidFill>
                <a:latin typeface="Arial"/>
              </a:rPr>
              <a:t>Ibrahim et al., 2025 · Sudão · 92 vs 92</a:t>
            </a:r>
          </a:p>
        </p:txBody>
      </p:sp>
      <p:sp>
        <p:nvSpPr>
          <p:cNvPr id="15" name="Rounded Rectangle 14"/>
          <p:cNvSpPr/>
          <p:nvPr/>
        </p:nvSpPr>
        <p:spPr>
          <a:xfrm>
            <a:off x="5372100" y="2286000"/>
            <a:ext cx="3954780" cy="5349240"/>
          </a:xfrm>
          <a:prstGeom prst="roundRect">
            <a:avLst>
              <a:gd name="adj" fmla="val 6000"/>
            </a:avLst>
          </a:prstGeom>
          <a:solidFill>
            <a:srgbClr val="F2F4F8"/>
          </a:solidFill>
          <a:ln>
            <a:noFill/>
          </a:ln>
          <a:effectLst/>
        </p:spPr>
        <p:txBody>
          <a:bodyPr rtlCol="0" anchor="ctr"/>
          <a:lstStyle/>
          <a:p/>
        </p:txBody>
      </p:sp>
      <p:sp>
        <p:nvSpPr>
          <p:cNvPr id="16" name="Oval 15"/>
          <p:cNvSpPr/>
          <p:nvPr/>
        </p:nvSpPr>
        <p:spPr>
          <a:xfrm>
            <a:off x="6846570" y="2606040"/>
            <a:ext cx="1005840" cy="1005840"/>
          </a:xfrm>
          <a:prstGeom prst="ellipse">
            <a:avLst/>
          </a:prstGeom>
          <a:solidFill>
            <a:srgbClr val="002060"/>
          </a:solidFill>
          <a:ln>
            <a:noFill/>
          </a:ln>
          <a:effectLst/>
        </p:spPr>
        <p:txBody>
          <a:bodyPr rtlCol="0" anchor="ctr" lIns="0" rIns="0" tIns="0" bIns="0"/>
          <a:lstStyle/>
          <a:p/>
        </p:txBody>
      </p:sp>
      <p:pic>
        <p:nvPicPr>
          <p:cNvPr id="17" name="icone vial" descr="vial_white.png"/>
          <p:cNvPicPr>
            <a:picLocks noChangeAspect="1"/>
          </p:cNvPicPr>
          <p:nvPr/>
        </p:nvPicPr>
        <p:blipFill>
          <a:blip r:embed="rId5"/>
          <a:stretch>
            <a:fillRect/>
          </a:stretch>
        </p:blipFill>
        <p:spPr>
          <a:xfrm>
            <a:off x="7098029" y="2857500"/>
            <a:ext cx="502920" cy="502920"/>
          </a:xfrm>
          <a:prstGeom prst="rect">
            <a:avLst/>
          </a:prstGeom>
        </p:spPr>
      </p:pic>
      <p:sp>
        <p:nvSpPr>
          <p:cNvPr id="18" name="TextBox 17"/>
          <p:cNvSpPr txBox="1"/>
          <p:nvPr/>
        </p:nvSpPr>
        <p:spPr>
          <a:xfrm>
            <a:off x="5692140" y="3794760"/>
            <a:ext cx="3314700" cy="457200"/>
          </a:xfrm>
          <a:prstGeom prst="rect">
            <a:avLst/>
          </a:prstGeom>
          <a:noFill/>
        </p:spPr>
        <p:txBody>
          <a:bodyPr wrap="square" lIns="0" rIns="0" tIns="0" bIns="0" anchor="t">
            <a:noAutofit/>
          </a:bodyPr>
          <a:lstStyle/>
          <a:p>
            <a:pPr algn="ctr">
              <a:lnSpc>
                <a:spcPct val="100000"/>
              </a:lnSpc>
              <a:spcAft>
                <a:spcPts val="0"/>
              </a:spcAft>
              <a:buNone/>
            </a:pPr>
            <a:r>
              <a:rPr sz="2200" b="1" i="0">
                <a:solidFill>
                  <a:srgbClr val="002060"/>
                </a:solidFill>
                <a:latin typeface="Arial"/>
              </a:rPr>
              <a:t>Metabólito do benzeno</a:t>
            </a:r>
          </a:p>
        </p:txBody>
      </p:sp>
      <p:sp>
        <p:nvSpPr>
          <p:cNvPr id="19" name="TextBox 18"/>
          <p:cNvSpPr txBox="1"/>
          <p:nvPr/>
        </p:nvSpPr>
        <p:spPr>
          <a:xfrm>
            <a:off x="5481828" y="4389120"/>
            <a:ext cx="3735324" cy="685800"/>
          </a:xfrm>
          <a:prstGeom prst="rect">
            <a:avLst/>
          </a:prstGeom>
          <a:noFill/>
        </p:spPr>
        <p:txBody>
          <a:bodyPr wrap="square" lIns="0" rIns="0" tIns="0" bIns="0" anchor="t">
            <a:noAutofit/>
          </a:bodyPr>
          <a:lstStyle/>
          <a:p>
            <a:pPr algn="ctr">
              <a:lnSpc>
                <a:spcPct val="100000"/>
              </a:lnSpc>
              <a:spcAft>
                <a:spcPts val="0"/>
              </a:spcAft>
              <a:buNone/>
            </a:pPr>
            <a:r>
              <a:rPr sz="3600" b="1" i="0">
                <a:solidFill>
                  <a:srgbClr val="8B0000"/>
                </a:solidFill>
                <a:latin typeface="Arial"/>
              </a:rPr>
              <a:t>202,9 vs 46,1</a:t>
            </a:r>
          </a:p>
        </p:txBody>
      </p:sp>
      <p:sp>
        <p:nvSpPr>
          <p:cNvPr id="20" name="TextBox 19"/>
          <p:cNvSpPr txBox="1"/>
          <p:nvPr/>
        </p:nvSpPr>
        <p:spPr>
          <a:xfrm>
            <a:off x="5692140" y="5166360"/>
            <a:ext cx="3314700" cy="960120"/>
          </a:xfrm>
          <a:prstGeom prst="rect">
            <a:avLst/>
          </a:prstGeom>
          <a:noFill/>
        </p:spPr>
        <p:txBody>
          <a:bodyPr wrap="square" lIns="0" rIns="0" tIns="0" bIns="0" anchor="t">
            <a:noAutofit/>
          </a:bodyPr>
          <a:lstStyle/>
          <a:p>
            <a:pPr algn="ctr">
              <a:lnSpc>
                <a:spcPct val="100000"/>
              </a:lnSpc>
              <a:spcAft>
                <a:spcPts val="0"/>
              </a:spcAft>
              <a:buNone/>
            </a:pPr>
            <a:r>
              <a:rPr sz="1900" b="0" i="0">
                <a:solidFill>
                  <a:srgbClr val="1F2433"/>
                </a:solidFill>
                <a:latin typeface="Arial"/>
              </a:rPr>
              <a:t>µg/L de ácido t,t-mucônico, metabólito do benzeno</a:t>
            </a:r>
          </a:p>
        </p:txBody>
      </p:sp>
      <p:sp>
        <p:nvSpPr>
          <p:cNvPr id="21" name="TextBox 20"/>
          <p:cNvSpPr txBox="1"/>
          <p:nvPr/>
        </p:nvSpPr>
        <p:spPr>
          <a:xfrm>
            <a:off x="5692140" y="6766560"/>
            <a:ext cx="3314700" cy="548640"/>
          </a:xfrm>
          <a:prstGeom prst="rect">
            <a:avLst/>
          </a:prstGeom>
          <a:noFill/>
        </p:spPr>
        <p:txBody>
          <a:bodyPr wrap="square" lIns="0" rIns="0" tIns="0" bIns="0" anchor="b">
            <a:noAutofit/>
          </a:bodyPr>
          <a:lstStyle/>
          <a:p>
            <a:pPr algn="ctr">
              <a:lnSpc>
                <a:spcPct val="100000"/>
              </a:lnSpc>
              <a:spcAft>
                <a:spcPts val="0"/>
              </a:spcAft>
              <a:buNone/>
            </a:pPr>
            <a:r>
              <a:rPr sz="1500" b="0" i="0">
                <a:solidFill>
                  <a:srgbClr val="5A6270"/>
                </a:solidFill>
                <a:latin typeface="Arial"/>
              </a:rPr>
              <a:t>Canicoba, 2025 · Brasil · 52 vs 49</a:t>
            </a:r>
          </a:p>
        </p:txBody>
      </p:sp>
      <p:sp>
        <p:nvSpPr>
          <p:cNvPr id="22" name="Rounded Rectangle 21"/>
          <p:cNvSpPr/>
          <p:nvPr/>
        </p:nvSpPr>
        <p:spPr>
          <a:xfrm>
            <a:off x="9601200" y="2286000"/>
            <a:ext cx="3954780" cy="5349240"/>
          </a:xfrm>
          <a:prstGeom prst="roundRect">
            <a:avLst>
              <a:gd name="adj" fmla="val 6000"/>
            </a:avLst>
          </a:prstGeom>
          <a:solidFill>
            <a:srgbClr val="F2F4F8"/>
          </a:solidFill>
          <a:ln>
            <a:noFill/>
          </a:ln>
          <a:effectLst/>
        </p:spPr>
        <p:txBody>
          <a:bodyPr rtlCol="0" anchor="ctr"/>
          <a:lstStyle/>
          <a:p/>
        </p:txBody>
      </p:sp>
      <p:sp>
        <p:nvSpPr>
          <p:cNvPr id="23" name="Oval 22"/>
          <p:cNvSpPr/>
          <p:nvPr/>
        </p:nvSpPr>
        <p:spPr>
          <a:xfrm>
            <a:off x="11075669" y="2606040"/>
            <a:ext cx="1005840" cy="1005840"/>
          </a:xfrm>
          <a:prstGeom prst="ellipse">
            <a:avLst/>
          </a:prstGeom>
          <a:solidFill>
            <a:srgbClr val="002060"/>
          </a:solidFill>
          <a:ln>
            <a:noFill/>
          </a:ln>
          <a:effectLst/>
        </p:spPr>
        <p:txBody>
          <a:bodyPr rtlCol="0" anchor="ctr" lIns="0" rIns="0" tIns="0" bIns="0"/>
          <a:lstStyle/>
          <a:p/>
        </p:txBody>
      </p:sp>
      <p:pic>
        <p:nvPicPr>
          <p:cNvPr id="24" name="icone biotech" descr="biotech_white.png"/>
          <p:cNvPicPr>
            <a:picLocks noChangeAspect="1"/>
          </p:cNvPicPr>
          <p:nvPr/>
        </p:nvPicPr>
        <p:blipFill>
          <a:blip r:embed="rId6"/>
          <a:stretch>
            <a:fillRect/>
          </a:stretch>
        </p:blipFill>
        <p:spPr>
          <a:xfrm>
            <a:off x="11251692" y="2782062"/>
            <a:ext cx="653796" cy="653796"/>
          </a:xfrm>
          <a:prstGeom prst="rect">
            <a:avLst/>
          </a:prstGeom>
        </p:spPr>
      </p:pic>
      <p:sp>
        <p:nvSpPr>
          <p:cNvPr id="25" name="TextBox 24"/>
          <p:cNvSpPr txBox="1"/>
          <p:nvPr/>
        </p:nvSpPr>
        <p:spPr>
          <a:xfrm>
            <a:off x="9921240" y="3794760"/>
            <a:ext cx="3314700" cy="457200"/>
          </a:xfrm>
          <a:prstGeom prst="rect">
            <a:avLst/>
          </a:prstGeom>
          <a:noFill/>
        </p:spPr>
        <p:txBody>
          <a:bodyPr wrap="square" lIns="0" rIns="0" tIns="0" bIns="0" anchor="t">
            <a:noAutofit/>
          </a:bodyPr>
          <a:lstStyle/>
          <a:p>
            <a:pPr algn="ctr">
              <a:lnSpc>
                <a:spcPct val="100000"/>
              </a:lnSpc>
              <a:spcAft>
                <a:spcPts val="0"/>
              </a:spcAft>
              <a:buNone/>
            </a:pPr>
            <a:r>
              <a:rPr sz="2200" b="1" i="0">
                <a:solidFill>
                  <a:srgbClr val="002060"/>
                </a:solidFill>
                <a:latin typeface="Arial"/>
              </a:rPr>
              <a:t>Mucosa nasal</a:t>
            </a:r>
          </a:p>
        </p:txBody>
      </p:sp>
      <p:sp>
        <p:nvSpPr>
          <p:cNvPr id="26" name="TextBox 25"/>
          <p:cNvSpPr txBox="1"/>
          <p:nvPr/>
        </p:nvSpPr>
        <p:spPr>
          <a:xfrm>
            <a:off x="9710928" y="4389120"/>
            <a:ext cx="3735324" cy="685800"/>
          </a:xfrm>
          <a:prstGeom prst="rect">
            <a:avLst/>
          </a:prstGeom>
          <a:noFill/>
        </p:spPr>
        <p:txBody>
          <a:bodyPr wrap="square" lIns="0" rIns="0" tIns="0" bIns="0" anchor="t">
            <a:noAutofit/>
          </a:bodyPr>
          <a:lstStyle/>
          <a:p>
            <a:pPr algn="ctr">
              <a:lnSpc>
                <a:spcPct val="100000"/>
              </a:lnSpc>
              <a:spcAft>
                <a:spcPts val="0"/>
              </a:spcAft>
              <a:buNone/>
            </a:pPr>
            <a:r>
              <a:rPr sz="3600" b="1" i="0">
                <a:solidFill>
                  <a:srgbClr val="8B0000"/>
                </a:solidFill>
                <a:latin typeface="Arial"/>
              </a:rPr>
              <a:t>70% vs 5%</a:t>
            </a:r>
          </a:p>
        </p:txBody>
      </p:sp>
      <p:sp>
        <p:nvSpPr>
          <p:cNvPr id="27" name="TextBox 26"/>
          <p:cNvSpPr txBox="1"/>
          <p:nvPr/>
        </p:nvSpPr>
        <p:spPr>
          <a:xfrm>
            <a:off x="9921240" y="5166360"/>
            <a:ext cx="3314700" cy="960120"/>
          </a:xfrm>
          <a:prstGeom prst="rect">
            <a:avLst/>
          </a:prstGeom>
          <a:noFill/>
        </p:spPr>
        <p:txBody>
          <a:bodyPr wrap="square" lIns="0" rIns="0" tIns="0" bIns="0" anchor="t">
            <a:noAutofit/>
          </a:bodyPr>
          <a:lstStyle/>
          <a:p>
            <a:pPr algn="ctr">
              <a:lnSpc>
                <a:spcPct val="100000"/>
              </a:lnSpc>
              <a:spcAft>
                <a:spcPts val="0"/>
              </a:spcAft>
              <a:buNone/>
            </a:pPr>
            <a:r>
              <a:rPr sz="1900" b="0" i="0">
                <a:solidFill>
                  <a:srgbClr val="1F2433"/>
                </a:solidFill>
                <a:latin typeface="Arial"/>
              </a:rPr>
              <a:t>metaplasia ou hiperplasia na biópsia · RR 13,9</a:t>
            </a:r>
          </a:p>
        </p:txBody>
      </p:sp>
      <p:sp>
        <p:nvSpPr>
          <p:cNvPr id="28" name="TextBox 27"/>
          <p:cNvSpPr txBox="1"/>
          <p:nvPr/>
        </p:nvSpPr>
        <p:spPr>
          <a:xfrm>
            <a:off x="9921240" y="6766560"/>
            <a:ext cx="3314700" cy="548640"/>
          </a:xfrm>
          <a:prstGeom prst="rect">
            <a:avLst/>
          </a:prstGeom>
          <a:noFill/>
        </p:spPr>
        <p:txBody>
          <a:bodyPr wrap="square" lIns="0" rIns="0" tIns="0" bIns="0" anchor="b">
            <a:noAutofit/>
          </a:bodyPr>
          <a:lstStyle/>
          <a:p>
            <a:pPr algn="ctr">
              <a:lnSpc>
                <a:spcPct val="100000"/>
              </a:lnSpc>
              <a:spcAft>
                <a:spcPts val="0"/>
              </a:spcAft>
              <a:buNone/>
            </a:pPr>
            <a:r>
              <a:rPr sz="1500" b="0" i="0">
                <a:solidFill>
                  <a:srgbClr val="5A6270"/>
                </a:solidFill>
                <a:latin typeface="Arial"/>
              </a:rPr>
              <a:t>Navarro et al., 2016 · México · 23 vs 20</a:t>
            </a:r>
          </a:p>
        </p:txBody>
      </p:sp>
      <p:sp>
        <p:nvSpPr>
          <p:cNvPr id="29" name="Rounded Rectangle 28"/>
          <p:cNvSpPr/>
          <p:nvPr/>
        </p:nvSpPr>
        <p:spPr>
          <a:xfrm>
            <a:off x="13830300" y="2286000"/>
            <a:ext cx="3954780" cy="5349240"/>
          </a:xfrm>
          <a:prstGeom prst="roundRect">
            <a:avLst>
              <a:gd name="adj" fmla="val 6000"/>
            </a:avLst>
          </a:prstGeom>
          <a:solidFill>
            <a:srgbClr val="F2F4F8"/>
          </a:solidFill>
          <a:ln>
            <a:noFill/>
          </a:ln>
          <a:effectLst/>
        </p:spPr>
        <p:txBody>
          <a:bodyPr rtlCol="0" anchor="ctr"/>
          <a:lstStyle/>
          <a:p/>
        </p:txBody>
      </p:sp>
      <p:sp>
        <p:nvSpPr>
          <p:cNvPr id="30" name="Oval 29"/>
          <p:cNvSpPr/>
          <p:nvPr/>
        </p:nvSpPr>
        <p:spPr>
          <a:xfrm>
            <a:off x="15304770" y="2606040"/>
            <a:ext cx="1005840" cy="1005840"/>
          </a:xfrm>
          <a:prstGeom prst="ellipse">
            <a:avLst/>
          </a:prstGeom>
          <a:solidFill>
            <a:srgbClr val="002060"/>
          </a:solidFill>
          <a:ln>
            <a:noFill/>
          </a:ln>
          <a:effectLst/>
        </p:spPr>
        <p:txBody>
          <a:bodyPr rtlCol="0" anchor="ctr" lIns="0" rIns="0" tIns="0" bIns="0"/>
          <a:lstStyle/>
          <a:p/>
        </p:txBody>
      </p:sp>
      <p:pic>
        <p:nvPicPr>
          <p:cNvPr id="31" name="icone virus" descr="virus_white.png"/>
          <p:cNvPicPr>
            <a:picLocks noChangeAspect="1"/>
          </p:cNvPicPr>
          <p:nvPr/>
        </p:nvPicPr>
        <p:blipFill>
          <a:blip r:embed="rId7"/>
          <a:stretch>
            <a:fillRect/>
          </a:stretch>
        </p:blipFill>
        <p:spPr>
          <a:xfrm>
            <a:off x="15556230" y="2857500"/>
            <a:ext cx="502920" cy="502920"/>
          </a:xfrm>
          <a:prstGeom prst="rect">
            <a:avLst/>
          </a:prstGeom>
        </p:spPr>
      </p:pic>
      <p:sp>
        <p:nvSpPr>
          <p:cNvPr id="32" name="TextBox 31"/>
          <p:cNvSpPr txBox="1"/>
          <p:nvPr/>
        </p:nvSpPr>
        <p:spPr>
          <a:xfrm>
            <a:off x="14150340" y="3794760"/>
            <a:ext cx="3314700" cy="457200"/>
          </a:xfrm>
          <a:prstGeom prst="rect">
            <a:avLst/>
          </a:prstGeom>
          <a:noFill/>
        </p:spPr>
        <p:txBody>
          <a:bodyPr wrap="square" lIns="0" rIns="0" tIns="0" bIns="0" anchor="t">
            <a:noAutofit/>
          </a:bodyPr>
          <a:lstStyle/>
          <a:p>
            <a:pPr algn="ctr">
              <a:lnSpc>
                <a:spcPct val="100000"/>
              </a:lnSpc>
              <a:spcAft>
                <a:spcPts val="0"/>
              </a:spcAft>
              <a:buNone/>
            </a:pPr>
            <a:r>
              <a:rPr sz="2200" b="1" i="0">
                <a:solidFill>
                  <a:srgbClr val="002060"/>
                </a:solidFill>
                <a:latin typeface="Arial"/>
              </a:rPr>
              <a:t>HPV na mucosa nasal</a:t>
            </a:r>
          </a:p>
        </p:txBody>
      </p:sp>
      <p:sp>
        <p:nvSpPr>
          <p:cNvPr id="33" name="TextBox 32"/>
          <p:cNvSpPr txBox="1"/>
          <p:nvPr/>
        </p:nvSpPr>
        <p:spPr>
          <a:xfrm>
            <a:off x="13940028" y="4389120"/>
            <a:ext cx="3735324" cy="685800"/>
          </a:xfrm>
          <a:prstGeom prst="rect">
            <a:avLst/>
          </a:prstGeom>
          <a:noFill/>
        </p:spPr>
        <p:txBody>
          <a:bodyPr wrap="square" lIns="0" rIns="0" tIns="0" bIns="0" anchor="t">
            <a:noAutofit/>
          </a:bodyPr>
          <a:lstStyle/>
          <a:p>
            <a:pPr algn="ctr">
              <a:lnSpc>
                <a:spcPct val="100000"/>
              </a:lnSpc>
              <a:spcAft>
                <a:spcPts val="0"/>
              </a:spcAft>
              <a:buNone/>
            </a:pPr>
            <a:r>
              <a:rPr sz="3600" b="1" i="0">
                <a:solidFill>
                  <a:srgbClr val="8B0000"/>
                </a:solidFill>
                <a:latin typeface="Arial"/>
              </a:rPr>
              <a:t>8,96% vs 1,73%</a:t>
            </a:r>
          </a:p>
        </p:txBody>
      </p:sp>
      <p:sp>
        <p:nvSpPr>
          <p:cNvPr id="34" name="TextBox 33"/>
          <p:cNvSpPr txBox="1"/>
          <p:nvPr/>
        </p:nvSpPr>
        <p:spPr>
          <a:xfrm>
            <a:off x="14150340" y="5166360"/>
            <a:ext cx="3314700" cy="960120"/>
          </a:xfrm>
          <a:prstGeom prst="rect">
            <a:avLst/>
          </a:prstGeom>
          <a:noFill/>
        </p:spPr>
        <p:txBody>
          <a:bodyPr wrap="square" lIns="0" rIns="0" tIns="0" bIns="0" anchor="t">
            <a:noAutofit/>
          </a:bodyPr>
          <a:lstStyle/>
          <a:p>
            <a:pPr algn="ctr">
              <a:lnSpc>
                <a:spcPct val="100000"/>
              </a:lnSpc>
              <a:spcAft>
                <a:spcPts val="0"/>
              </a:spcAft>
              <a:buNone/>
            </a:pPr>
            <a:r>
              <a:rPr sz="1900" b="0" i="0">
                <a:solidFill>
                  <a:srgbClr val="1F2433"/>
                </a:solidFill>
                <a:latin typeface="Arial"/>
              </a:rPr>
              <a:t>DNA de HPV detectado · RR 5,2</a:t>
            </a:r>
          </a:p>
        </p:txBody>
      </p:sp>
      <p:sp>
        <p:nvSpPr>
          <p:cNvPr id="35" name="TextBox 34"/>
          <p:cNvSpPr txBox="1"/>
          <p:nvPr/>
        </p:nvSpPr>
        <p:spPr>
          <a:xfrm>
            <a:off x="14150340" y="6766560"/>
            <a:ext cx="3314700" cy="548640"/>
          </a:xfrm>
          <a:prstGeom prst="rect">
            <a:avLst/>
          </a:prstGeom>
          <a:noFill/>
        </p:spPr>
        <p:txBody>
          <a:bodyPr wrap="square" lIns="0" rIns="0" tIns="0" bIns="0" anchor="b">
            <a:noAutofit/>
          </a:bodyPr>
          <a:lstStyle/>
          <a:p>
            <a:pPr algn="ctr">
              <a:lnSpc>
                <a:spcPct val="100000"/>
              </a:lnSpc>
              <a:spcAft>
                <a:spcPts val="0"/>
              </a:spcAft>
              <a:buNone/>
            </a:pPr>
            <a:r>
              <a:rPr sz="1500" b="0" i="0">
                <a:solidFill>
                  <a:srgbClr val="5A6270"/>
                </a:solidFill>
                <a:latin typeface="Arial"/>
              </a:rPr>
              <a:t>Hu et al., 2021 · China · 469 vs 231</a:t>
            </a:r>
          </a:p>
        </p:txBody>
      </p:sp>
      <p:sp>
        <p:nvSpPr>
          <p:cNvPr id="36" name="Rounded Rectangle 35"/>
          <p:cNvSpPr/>
          <p:nvPr/>
        </p:nvSpPr>
        <p:spPr>
          <a:xfrm>
            <a:off x="1143000" y="7909560"/>
            <a:ext cx="16642080" cy="1828800"/>
          </a:xfrm>
          <a:prstGeom prst="roundRect">
            <a:avLst>
              <a:gd name="adj" fmla="val 6000"/>
            </a:avLst>
          </a:prstGeom>
          <a:solidFill>
            <a:srgbClr val="002060"/>
          </a:solidFill>
          <a:ln>
            <a:noFill/>
          </a:ln>
          <a:effectLst/>
        </p:spPr>
        <p:txBody>
          <a:bodyPr rtlCol="0" anchor="ctr"/>
          <a:lstStyle/>
          <a:p/>
        </p:txBody>
      </p:sp>
      <p:sp>
        <p:nvSpPr>
          <p:cNvPr id="37" name="TextBox 36"/>
          <p:cNvSpPr txBox="1"/>
          <p:nvPr/>
        </p:nvSpPr>
        <p:spPr>
          <a:xfrm>
            <a:off x="1463040" y="8092440"/>
            <a:ext cx="731520" cy="1463040"/>
          </a:xfrm>
          <a:prstGeom prst="rect">
            <a:avLst/>
          </a:prstGeom>
          <a:noFill/>
        </p:spPr>
        <p:txBody>
          <a:bodyPr wrap="square" lIns="0" rIns="0" tIns="0" bIns="0" anchor="ctr">
            <a:noAutofit/>
          </a:bodyPr>
          <a:lstStyle/>
          <a:p>
            <a:pPr algn="l">
              <a:lnSpc>
                <a:spcPct val="100000"/>
              </a:lnSpc>
              <a:spcAft>
                <a:spcPts val="0"/>
              </a:spcAft>
              <a:buNone/>
            </a:pPr>
            <a:r>
              <a:rPr sz="4400" b="1" i="0">
                <a:solidFill>
                  <a:srgbClr val="C8A951"/>
                </a:solidFill>
                <a:latin typeface="Arial"/>
              </a:rPr>
              <a:t>1</a:t>
            </a:r>
          </a:p>
        </p:txBody>
      </p:sp>
      <p:sp>
        <p:nvSpPr>
          <p:cNvPr id="38" name="TextBox 37"/>
          <p:cNvSpPr txBox="1"/>
          <p:nvPr/>
        </p:nvSpPr>
        <p:spPr>
          <a:xfrm>
            <a:off x="2331720" y="8092440"/>
            <a:ext cx="4160519" cy="1463040"/>
          </a:xfrm>
          <a:prstGeom prst="rect">
            <a:avLst/>
          </a:prstGeom>
          <a:noFill/>
        </p:spPr>
        <p:txBody>
          <a:bodyPr wrap="square" lIns="0" rIns="0" tIns="0" bIns="0" anchor="ctr">
            <a:noAutofit/>
          </a:bodyPr>
          <a:lstStyle/>
          <a:p>
            <a:pPr algn="l">
              <a:lnSpc>
                <a:spcPct val="100000"/>
              </a:lnSpc>
              <a:spcAft>
                <a:spcPts val="0"/>
              </a:spcAft>
              <a:buNone/>
            </a:pPr>
            <a:r>
              <a:rPr sz="2000" b="0" i="0">
                <a:solidFill>
                  <a:srgbClr val="FFFFFF"/>
                </a:solidFill>
                <a:latin typeface="Arial"/>
              </a:rPr>
              <a:t>estudo por desfecho: sinais, não prova de doença</a:t>
            </a:r>
          </a:p>
        </p:txBody>
      </p:sp>
      <p:sp>
        <p:nvSpPr>
          <p:cNvPr id="39" name="Oval 38"/>
          <p:cNvSpPr/>
          <p:nvPr/>
        </p:nvSpPr>
        <p:spPr>
          <a:xfrm>
            <a:off x="7004303" y="8650224"/>
            <a:ext cx="347472" cy="347472"/>
          </a:xfrm>
          <a:prstGeom prst="ellipse">
            <a:avLst/>
          </a:prstGeom>
          <a:solidFill>
            <a:srgbClr val="C8A951"/>
          </a:solidFill>
          <a:ln w="19050">
            <a:solidFill>
              <a:srgbClr val="C8A951"/>
            </a:solidFill>
          </a:ln>
          <a:effectLst/>
        </p:spPr>
        <p:txBody>
          <a:bodyPr rtlCol="0" anchor="ctr" lIns="0" rIns="0" tIns="0" bIns="0"/>
          <a:lstStyle/>
          <a:p/>
        </p:txBody>
      </p:sp>
      <p:sp>
        <p:nvSpPr>
          <p:cNvPr id="40" name="Oval 39"/>
          <p:cNvSpPr/>
          <p:nvPr/>
        </p:nvSpPr>
        <p:spPr>
          <a:xfrm>
            <a:off x="7461504" y="8650224"/>
            <a:ext cx="347472" cy="347472"/>
          </a:xfrm>
          <a:prstGeom prst="ellipse">
            <a:avLst/>
          </a:prstGeom>
          <a:solidFill>
            <a:srgbClr val="002060"/>
          </a:solidFill>
          <a:ln w="19050">
            <a:solidFill>
              <a:srgbClr val="C8A951"/>
            </a:solidFill>
          </a:ln>
          <a:effectLst/>
        </p:spPr>
        <p:txBody>
          <a:bodyPr rtlCol="0" anchor="ctr" lIns="0" rIns="0" tIns="0" bIns="0"/>
          <a:lstStyle/>
          <a:p/>
        </p:txBody>
      </p:sp>
      <p:sp>
        <p:nvSpPr>
          <p:cNvPr id="41" name="Oval 40"/>
          <p:cNvSpPr/>
          <p:nvPr/>
        </p:nvSpPr>
        <p:spPr>
          <a:xfrm>
            <a:off x="7918704" y="8650224"/>
            <a:ext cx="347472" cy="347472"/>
          </a:xfrm>
          <a:prstGeom prst="ellipse">
            <a:avLst/>
          </a:prstGeom>
          <a:solidFill>
            <a:srgbClr val="002060"/>
          </a:solidFill>
          <a:ln w="19050">
            <a:solidFill>
              <a:srgbClr val="C8A951"/>
            </a:solidFill>
          </a:ln>
          <a:effectLst/>
        </p:spPr>
        <p:txBody>
          <a:bodyPr rtlCol="0" anchor="ctr" lIns="0" rIns="0" tIns="0" bIns="0"/>
          <a:lstStyle/>
          <a:p/>
        </p:txBody>
      </p:sp>
      <p:sp>
        <p:nvSpPr>
          <p:cNvPr id="42" name="Oval 41"/>
          <p:cNvSpPr/>
          <p:nvPr/>
        </p:nvSpPr>
        <p:spPr>
          <a:xfrm>
            <a:off x="8375904" y="8650224"/>
            <a:ext cx="347472" cy="347472"/>
          </a:xfrm>
          <a:prstGeom prst="ellipse">
            <a:avLst/>
          </a:prstGeom>
          <a:solidFill>
            <a:srgbClr val="002060"/>
          </a:solidFill>
          <a:ln w="19050">
            <a:solidFill>
              <a:srgbClr val="C8A951"/>
            </a:solidFill>
          </a:ln>
          <a:effectLst/>
        </p:spPr>
        <p:txBody>
          <a:bodyPr rtlCol="0" anchor="ctr" lIns="0" rIns="0" tIns="0" bIns="0"/>
          <a:lstStyle/>
          <a:p/>
        </p:txBody>
      </p:sp>
      <p:sp>
        <p:nvSpPr>
          <p:cNvPr id="43" name="TextBox 42"/>
          <p:cNvSpPr txBox="1"/>
          <p:nvPr/>
        </p:nvSpPr>
        <p:spPr>
          <a:xfrm>
            <a:off x="8915400" y="8092440"/>
            <a:ext cx="3063239" cy="1463040"/>
          </a:xfrm>
          <a:prstGeom prst="rect">
            <a:avLst/>
          </a:prstGeom>
          <a:noFill/>
        </p:spPr>
        <p:txBody>
          <a:bodyPr wrap="square" lIns="0" rIns="0" tIns="0" bIns="0" anchor="ctr">
            <a:noAutofit/>
          </a:bodyPr>
          <a:lstStyle/>
          <a:p>
            <a:pPr algn="l">
              <a:lnSpc>
                <a:spcPct val="100000"/>
              </a:lnSpc>
              <a:spcAft>
                <a:spcPts val="0"/>
              </a:spcAft>
              <a:buNone/>
            </a:pPr>
            <a:r>
              <a:rPr sz="2000" b="0" i="0">
                <a:solidFill>
                  <a:srgbClr val="FFFFFF"/>
                </a:solidFill>
                <a:latin typeface="Arial"/>
              </a:rPr>
              <a:t>certeza muito baixa em todos os desfechos (GRADE)</a:t>
            </a:r>
          </a:p>
        </p:txBody>
      </p:sp>
      <p:sp>
        <p:nvSpPr>
          <p:cNvPr id="44" name="TextBox 43"/>
          <p:cNvSpPr txBox="1"/>
          <p:nvPr/>
        </p:nvSpPr>
        <p:spPr>
          <a:xfrm>
            <a:off x="12435839" y="8092440"/>
            <a:ext cx="731520" cy="1463040"/>
          </a:xfrm>
          <a:prstGeom prst="rect">
            <a:avLst/>
          </a:prstGeom>
          <a:noFill/>
        </p:spPr>
        <p:txBody>
          <a:bodyPr wrap="square" lIns="0" rIns="0" tIns="0" bIns="0" anchor="ctr">
            <a:noAutofit/>
          </a:bodyPr>
          <a:lstStyle/>
          <a:p>
            <a:pPr algn="l">
              <a:lnSpc>
                <a:spcPct val="100000"/>
              </a:lnSpc>
              <a:spcAft>
                <a:spcPts val="0"/>
              </a:spcAft>
              <a:buNone/>
            </a:pPr>
            <a:r>
              <a:rPr sz="4400" b="1" i="0">
                <a:solidFill>
                  <a:srgbClr val="C8A951"/>
                </a:solidFill>
                <a:latin typeface="Arial"/>
              </a:rPr>
              <a:t>0</a:t>
            </a:r>
          </a:p>
        </p:txBody>
      </p:sp>
      <p:sp>
        <p:nvSpPr>
          <p:cNvPr id="45" name="TextBox 44"/>
          <p:cNvSpPr txBox="1"/>
          <p:nvPr/>
        </p:nvSpPr>
        <p:spPr>
          <a:xfrm>
            <a:off x="13304519" y="8092440"/>
            <a:ext cx="4160519" cy="1463040"/>
          </a:xfrm>
          <a:prstGeom prst="rect">
            <a:avLst/>
          </a:prstGeom>
          <a:noFill/>
        </p:spPr>
        <p:txBody>
          <a:bodyPr wrap="square" lIns="0" rIns="0" tIns="0" bIns="0" anchor="ctr">
            <a:noAutofit/>
          </a:bodyPr>
          <a:lstStyle/>
          <a:p>
            <a:pPr algn="l">
              <a:lnSpc>
                <a:spcPct val="100000"/>
              </a:lnSpc>
              <a:spcAft>
                <a:spcPts val="0"/>
              </a:spcAft>
              <a:buNone/>
            </a:pPr>
            <a:r>
              <a:rPr sz="2000" b="0" i="0">
                <a:solidFill>
                  <a:srgbClr val="FFFFFF"/>
                </a:solidFill>
                <a:latin typeface="Arial"/>
              </a:rPr>
              <a:t>estudos elegíveis estimaram câncer ou DPOC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5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5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5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5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50"/>
                                        <p:tgtEl>
                                          <p:spTgt spid="14"/>
                                        </p:tgtEl>
                                      </p:cBhvr>
                                    </p:animEffect>
                                  </p:childTnLst>
                                </p:cTn>
                              </p:par>
                            </p:childTnLst>
                          </p:cTn>
                        </p:par>
                        <p:par>
                          <p:cTn id="26" fill="hold">
                            <p:stCondLst>
                              <p:cond delay="350"/>
                            </p:stCondLst>
                            <p:childTnLst>
                              <p:par>
                                <p:cTn id="27" presetID="10"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35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35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35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35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35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350"/>
                                        <p:tgtEl>
                                          <p:spTgt spid="21"/>
                                        </p:tgtEl>
                                      </p:cBhvr>
                                    </p:animEffect>
                                  </p:childTnLst>
                                </p:cTn>
                              </p:par>
                            </p:childTnLst>
                          </p:cTn>
                        </p:par>
                        <p:par>
                          <p:cTn id="48" fill="hold">
                            <p:stCondLst>
                              <p:cond delay="700"/>
                            </p:stCondLst>
                            <p:childTnLst>
                              <p:par>
                                <p:cTn id="49" presetID="10" presetClass="entr" presetSubtype="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35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350"/>
                                        <p:tgtEl>
                                          <p:spTgt spid="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350"/>
                                        <p:tgtEl>
                                          <p:spTgt spid="2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350"/>
                                        <p:tgtEl>
                                          <p:spTgt spid="2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35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35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350"/>
                                        <p:tgtEl>
                                          <p:spTgt spid="28"/>
                                        </p:tgtEl>
                                      </p:cBhvr>
                                    </p:animEffect>
                                  </p:childTnLst>
                                </p:cTn>
                              </p:par>
                            </p:childTnLst>
                          </p:cTn>
                        </p:par>
                        <p:par>
                          <p:cTn id="70" fill="hold">
                            <p:stCondLst>
                              <p:cond delay="1050"/>
                            </p:stCondLst>
                            <p:childTnLst>
                              <p:par>
                                <p:cTn id="71" presetID="10" presetClass="entr" presetSubtype="0" fill="hold" grpId="0" nodeType="after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350"/>
                                        <p:tgtEl>
                                          <p:spTgt spid="2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350"/>
                                        <p:tgtEl>
                                          <p:spTgt spid="3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350"/>
                                        <p:tgtEl>
                                          <p:spTgt spid="3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350"/>
                                        <p:tgtEl>
                                          <p:spTgt spid="3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350"/>
                                        <p:tgtEl>
                                          <p:spTgt spid="3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350"/>
                                        <p:tgtEl>
                                          <p:spTgt spid="3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350"/>
                                        <p:tgtEl>
                                          <p:spTgt spid="35"/>
                                        </p:tgtEl>
                                      </p:cBhvr>
                                    </p:animEffect>
                                  </p:childTnLst>
                                </p:cTn>
                              </p:par>
                            </p:childTnLst>
                          </p:cTn>
                        </p:par>
                        <p:par>
                          <p:cTn id="92" fill="hold">
                            <p:stCondLst>
                              <p:cond delay="1400"/>
                            </p:stCondLst>
                            <p:childTnLst>
                              <p:par>
                                <p:cTn id="93" presetID="10" presetClass="entr" presetSubtype="0" fill="hold" grpId="0" nodeType="after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350"/>
                                        <p:tgtEl>
                                          <p:spTgt spid="3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fade">
                                      <p:cBhvr>
                                        <p:cTn id="98" dur="350"/>
                                        <p:tgtEl>
                                          <p:spTgt spid="3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350"/>
                                        <p:tgtEl>
                                          <p:spTgt spid="3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4" dur="350"/>
                                        <p:tgtEl>
                                          <p:spTgt spid="39"/>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350"/>
                                        <p:tgtEl>
                                          <p:spTgt spid="40"/>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0" dur="350"/>
                                        <p:tgtEl>
                                          <p:spTgt spid="41"/>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3" dur="350"/>
                                        <p:tgtEl>
                                          <p:spTgt spid="42"/>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350"/>
                                        <p:tgtEl>
                                          <p:spTgt spid="4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350"/>
                                        <p:tgtEl>
                                          <p:spTgt spid="4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3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DISCUSSÃO</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O que o trabalho acrescenta, como ler os resultados e seus limites</a:t>
            </a:r>
          </a:p>
        </p:txBody>
      </p:sp>
      <p:sp>
        <p:nvSpPr>
          <p:cNvPr id="7" name="Rounded Rectangle 6"/>
          <p:cNvSpPr/>
          <p:nvPr/>
        </p:nvSpPr>
        <p:spPr>
          <a:xfrm>
            <a:off x="1143000" y="1783080"/>
            <a:ext cx="5364480" cy="6217920"/>
          </a:xfrm>
          <a:prstGeom prst="roundRect">
            <a:avLst>
              <a:gd name="adj" fmla="val 6000"/>
            </a:avLst>
          </a:prstGeom>
          <a:solidFill>
            <a:srgbClr val="E7F3E8"/>
          </a:solidFill>
          <a:ln>
            <a:noFill/>
          </a:ln>
          <a:effectLst/>
        </p:spPr>
        <p:txBody>
          <a:bodyPr rtlCol="0" anchor="ctr"/>
          <a:lstStyle/>
          <a:p/>
        </p:txBody>
      </p:sp>
      <p:sp>
        <p:nvSpPr>
          <p:cNvPr id="8" name="Oval 7"/>
          <p:cNvSpPr/>
          <p:nvPr/>
        </p:nvSpPr>
        <p:spPr>
          <a:xfrm>
            <a:off x="1463040" y="2103120"/>
            <a:ext cx="822960" cy="822960"/>
          </a:xfrm>
          <a:prstGeom prst="ellipse">
            <a:avLst/>
          </a:prstGeom>
          <a:solidFill>
            <a:srgbClr val="2E7D32"/>
          </a:solidFill>
          <a:ln>
            <a:noFill/>
          </a:ln>
          <a:effectLst/>
        </p:spPr>
        <p:txBody>
          <a:bodyPr rtlCol="0" anchor="ctr" lIns="0" rIns="0" tIns="0" bIns="0"/>
          <a:lstStyle/>
          <a:p/>
        </p:txBody>
      </p:sp>
      <p:pic>
        <p:nvPicPr>
          <p:cNvPr id="9" name="icone thumbsup" descr="thumbsup_white.png"/>
          <p:cNvPicPr>
            <a:picLocks noChangeAspect="1"/>
          </p:cNvPicPr>
          <p:nvPr/>
        </p:nvPicPr>
        <p:blipFill>
          <a:blip r:embed="rId4"/>
          <a:stretch>
            <a:fillRect/>
          </a:stretch>
        </p:blipFill>
        <p:spPr>
          <a:xfrm>
            <a:off x="1668780" y="2308860"/>
            <a:ext cx="411480" cy="411480"/>
          </a:xfrm>
          <a:prstGeom prst="rect">
            <a:avLst/>
          </a:prstGeom>
        </p:spPr>
      </p:pic>
      <p:sp>
        <p:nvSpPr>
          <p:cNvPr id="10" name="TextBox 9"/>
          <p:cNvSpPr txBox="1"/>
          <p:nvPr/>
        </p:nvSpPr>
        <p:spPr>
          <a:xfrm>
            <a:off x="2514600" y="2103120"/>
            <a:ext cx="3672839" cy="822960"/>
          </a:xfrm>
          <a:prstGeom prst="rect">
            <a:avLst/>
          </a:prstGeom>
          <a:noFill/>
        </p:spPr>
        <p:txBody>
          <a:bodyPr wrap="square" lIns="0" rIns="0" tIns="0" bIns="0" anchor="ctr">
            <a:noAutofit/>
          </a:bodyPr>
          <a:lstStyle/>
          <a:p>
            <a:pPr algn="l">
              <a:lnSpc>
                <a:spcPct val="100000"/>
              </a:lnSpc>
              <a:spcAft>
                <a:spcPts val="0"/>
              </a:spcAft>
              <a:buNone/>
            </a:pPr>
            <a:r>
              <a:rPr sz="2300" b="1" i="0">
                <a:solidFill>
                  <a:srgbClr val="002060"/>
                </a:solidFill>
                <a:latin typeface="Arial"/>
              </a:rPr>
              <a:t>O que acrescenta</a:t>
            </a:r>
          </a:p>
        </p:txBody>
      </p:sp>
      <p:sp>
        <p:nvSpPr>
          <p:cNvPr id="11" name="TextBox 10"/>
          <p:cNvSpPr txBox="1"/>
          <p:nvPr/>
        </p:nvSpPr>
        <p:spPr>
          <a:xfrm>
            <a:off x="1463040" y="3063239"/>
            <a:ext cx="4724399" cy="4617720"/>
          </a:xfrm>
          <a:prstGeom prst="rect">
            <a:avLst/>
          </a:prstGeom>
          <a:noFill/>
        </p:spPr>
        <p:txBody>
          <a:bodyPr wrap="square" lIns="0" rIns="0" tIns="0" bIns="0" anchor="ctr">
            <a:noAutofit/>
          </a:bodyPr>
          <a:lstStyle/>
          <a:p>
            <a:pPr algn="l" marL="274320" indent="-274320">
              <a:lnSpc>
                <a:spcPct val="100000"/>
              </a:lnSpc>
              <a:spcAft>
                <a:spcPts val="2600"/>
              </a:spcAft>
              <a:buFont typeface="Arial"/>
              <a:buChar char="•"/>
            </a:pPr>
            <a:r>
              <a:rPr sz="2200" b="0" i="0">
                <a:solidFill>
                  <a:srgbClr val="1F2433"/>
                </a:solidFill>
                <a:latin typeface="Arial"/>
              </a:rPr>
              <a:t>Estimativa combinada, com intervalo de predição</a:t>
            </a:r>
          </a:p>
          <a:p>
            <a:pPr algn="l" marL="274320" indent="-274320">
              <a:lnSpc>
                <a:spcPct val="100000"/>
              </a:lnSpc>
              <a:spcAft>
                <a:spcPts val="2600"/>
              </a:spcAft>
              <a:buFont typeface="Arial"/>
              <a:buChar char="•"/>
            </a:pPr>
            <a:r>
              <a:rPr sz="2200" b="0" i="0">
                <a:solidFill>
                  <a:srgbClr val="1F2433"/>
                </a:solidFill>
                <a:latin typeface="Arial"/>
              </a:rPr>
              <a:t>Certeza graduada (GRADE) por desfecho</a:t>
            </a:r>
          </a:p>
          <a:p>
            <a:pPr algn="l" marL="274320" indent="-274320">
              <a:lnSpc>
                <a:spcPct val="100000"/>
              </a:lnSpc>
              <a:spcAft>
                <a:spcPts val="2600"/>
              </a:spcAft>
              <a:buFont typeface="Arial"/>
              <a:buChar char="•"/>
            </a:pPr>
            <a:r>
              <a:rPr sz="2200" b="0" i="0">
                <a:solidFill>
                  <a:srgbClr val="1F2433"/>
                </a:solidFill>
                <a:latin typeface="Arial"/>
              </a:rPr>
              <a:t>Protocolo registrado e análise aberta no OSF</a:t>
            </a:r>
          </a:p>
        </p:txBody>
      </p:sp>
      <p:sp>
        <p:nvSpPr>
          <p:cNvPr id="12" name="Rounded Rectangle 11"/>
          <p:cNvSpPr/>
          <p:nvPr/>
        </p:nvSpPr>
        <p:spPr>
          <a:xfrm>
            <a:off x="6781799" y="1783080"/>
            <a:ext cx="5364480" cy="6217920"/>
          </a:xfrm>
          <a:prstGeom prst="roundRect">
            <a:avLst>
              <a:gd name="adj" fmla="val 6000"/>
            </a:avLst>
          </a:prstGeom>
          <a:solidFill>
            <a:srgbClr val="E6EBF5"/>
          </a:solidFill>
          <a:ln>
            <a:noFill/>
          </a:ln>
          <a:effectLst/>
        </p:spPr>
        <p:txBody>
          <a:bodyPr rtlCol="0" anchor="ctr"/>
          <a:lstStyle/>
          <a:p/>
        </p:txBody>
      </p:sp>
      <p:sp>
        <p:nvSpPr>
          <p:cNvPr id="13" name="Oval 12"/>
          <p:cNvSpPr/>
          <p:nvPr/>
        </p:nvSpPr>
        <p:spPr>
          <a:xfrm>
            <a:off x="7101839" y="2103120"/>
            <a:ext cx="822960" cy="822960"/>
          </a:xfrm>
          <a:prstGeom prst="ellipse">
            <a:avLst/>
          </a:prstGeom>
          <a:solidFill>
            <a:srgbClr val="002060"/>
          </a:solidFill>
          <a:ln>
            <a:noFill/>
          </a:ln>
          <a:effectLst/>
        </p:spPr>
        <p:txBody>
          <a:bodyPr rtlCol="0" anchor="ctr" lIns="0" rIns="0" tIns="0" bIns="0"/>
          <a:lstStyle/>
          <a:p/>
        </p:txBody>
      </p:sp>
      <p:pic>
        <p:nvPicPr>
          <p:cNvPr id="14" name="icone compass" descr="compass_white.png"/>
          <p:cNvPicPr>
            <a:picLocks noChangeAspect="1"/>
          </p:cNvPicPr>
          <p:nvPr/>
        </p:nvPicPr>
        <p:blipFill>
          <a:blip r:embed="rId5"/>
          <a:stretch>
            <a:fillRect/>
          </a:stretch>
        </p:blipFill>
        <p:spPr>
          <a:xfrm>
            <a:off x="7307579" y="2308860"/>
            <a:ext cx="411480" cy="411480"/>
          </a:xfrm>
          <a:prstGeom prst="rect">
            <a:avLst/>
          </a:prstGeom>
        </p:spPr>
      </p:pic>
      <p:sp>
        <p:nvSpPr>
          <p:cNvPr id="15" name="TextBox 14"/>
          <p:cNvSpPr txBox="1"/>
          <p:nvPr/>
        </p:nvSpPr>
        <p:spPr>
          <a:xfrm>
            <a:off x="8153399" y="2103120"/>
            <a:ext cx="3672839" cy="822960"/>
          </a:xfrm>
          <a:prstGeom prst="rect">
            <a:avLst/>
          </a:prstGeom>
          <a:noFill/>
        </p:spPr>
        <p:txBody>
          <a:bodyPr wrap="square" lIns="0" rIns="0" tIns="0" bIns="0" anchor="ctr">
            <a:noAutofit/>
          </a:bodyPr>
          <a:lstStyle/>
          <a:p>
            <a:pPr algn="l">
              <a:lnSpc>
                <a:spcPct val="100000"/>
              </a:lnSpc>
              <a:spcAft>
                <a:spcPts val="0"/>
              </a:spcAft>
              <a:buNone/>
            </a:pPr>
            <a:r>
              <a:rPr sz="2300" b="1" i="0">
                <a:solidFill>
                  <a:srgbClr val="002060"/>
                </a:solidFill>
                <a:latin typeface="Arial"/>
              </a:rPr>
              <a:t>Como ler</a:t>
            </a:r>
          </a:p>
        </p:txBody>
      </p:sp>
      <p:sp>
        <p:nvSpPr>
          <p:cNvPr id="16" name="TextBox 15"/>
          <p:cNvSpPr txBox="1"/>
          <p:nvPr/>
        </p:nvSpPr>
        <p:spPr>
          <a:xfrm>
            <a:off x="7101839" y="3063239"/>
            <a:ext cx="4724399" cy="4617720"/>
          </a:xfrm>
          <a:prstGeom prst="rect">
            <a:avLst/>
          </a:prstGeom>
          <a:noFill/>
        </p:spPr>
        <p:txBody>
          <a:bodyPr wrap="square" lIns="0" rIns="0" tIns="0" bIns="0" anchor="ctr">
            <a:noAutofit/>
          </a:bodyPr>
          <a:lstStyle/>
          <a:p>
            <a:pPr algn="l" marL="274320" indent="-274320">
              <a:lnSpc>
                <a:spcPct val="100000"/>
              </a:lnSpc>
              <a:spcAft>
                <a:spcPts val="2600"/>
              </a:spcAft>
              <a:buFont typeface="Arial"/>
              <a:buChar char="•"/>
            </a:pPr>
            <a:r>
              <a:rPr sz="2200" b="1" i="0">
                <a:solidFill>
                  <a:srgbClr val="1F2433"/>
                </a:solidFill>
                <a:latin typeface="Arial"/>
              </a:rPr>
              <a:t>Prevalência em expostos: </a:t>
            </a:r>
            <a:r>
              <a:rPr sz="2200" b="0" i="0">
                <a:solidFill>
                  <a:srgbClr val="1F2433"/>
                </a:solidFill>
                <a:latin typeface="Arial"/>
              </a:rPr>
              <a:t>carga de sintomas, não efeito causal</a:t>
            </a:r>
          </a:p>
          <a:p>
            <a:pPr algn="l" marL="274320" indent="-274320">
              <a:lnSpc>
                <a:spcPct val="100000"/>
              </a:lnSpc>
              <a:spcAft>
                <a:spcPts val="2600"/>
              </a:spcAft>
              <a:buFont typeface="Arial"/>
              <a:buChar char="•"/>
            </a:pPr>
            <a:r>
              <a:rPr sz="2200" b="1" i="0">
                <a:solidFill>
                  <a:srgbClr val="1F2433"/>
                </a:solidFill>
                <a:latin typeface="Arial"/>
              </a:rPr>
              <a:t>I² &gt; 90% é esperado: </a:t>
            </a:r>
            <a:r>
              <a:rPr sz="2200" b="0" i="0">
                <a:solidFill>
                  <a:srgbClr val="1F2433"/>
                </a:solidFill>
                <a:latin typeface="Arial"/>
              </a:rPr>
              <a:t>ler pelo intervalo de predição</a:t>
            </a:r>
          </a:p>
          <a:p>
            <a:pPr algn="l" marL="274320" indent="-274320">
              <a:lnSpc>
                <a:spcPct val="100000"/>
              </a:lnSpc>
              <a:spcAft>
                <a:spcPts val="2600"/>
              </a:spcAft>
              <a:buFont typeface="Arial"/>
              <a:buChar char="•"/>
            </a:pPr>
            <a:r>
              <a:rPr sz="2200" b="0" i="0">
                <a:solidFill>
                  <a:srgbClr val="1F2433"/>
                </a:solidFill>
                <a:latin typeface="Arial"/>
              </a:rPr>
              <a:t>Marcadores objetivos não demonstram doença crônica</a:t>
            </a:r>
          </a:p>
        </p:txBody>
      </p:sp>
      <p:sp>
        <p:nvSpPr>
          <p:cNvPr id="17" name="Rounded Rectangle 16"/>
          <p:cNvSpPr/>
          <p:nvPr/>
        </p:nvSpPr>
        <p:spPr>
          <a:xfrm>
            <a:off x="12420599" y="1783080"/>
            <a:ext cx="5364480" cy="6217920"/>
          </a:xfrm>
          <a:prstGeom prst="roundRect">
            <a:avLst>
              <a:gd name="adj" fmla="val 6000"/>
            </a:avLst>
          </a:prstGeom>
          <a:solidFill>
            <a:srgbClr val="F9E9E9"/>
          </a:solidFill>
          <a:ln>
            <a:noFill/>
          </a:ln>
          <a:effectLst/>
        </p:spPr>
        <p:txBody>
          <a:bodyPr rtlCol="0" anchor="ctr"/>
          <a:lstStyle/>
          <a:p/>
        </p:txBody>
      </p:sp>
      <p:sp>
        <p:nvSpPr>
          <p:cNvPr id="18" name="Oval 17"/>
          <p:cNvSpPr/>
          <p:nvPr/>
        </p:nvSpPr>
        <p:spPr>
          <a:xfrm>
            <a:off x="12740639" y="2103120"/>
            <a:ext cx="822960" cy="822960"/>
          </a:xfrm>
          <a:prstGeom prst="ellipse">
            <a:avLst/>
          </a:prstGeom>
          <a:solidFill>
            <a:srgbClr val="8B0000"/>
          </a:solidFill>
          <a:ln>
            <a:noFill/>
          </a:ln>
          <a:effectLst/>
        </p:spPr>
        <p:txBody>
          <a:bodyPr rtlCol="0" anchor="ctr" lIns="0" rIns="0" tIns="0" bIns="0"/>
          <a:lstStyle/>
          <a:p/>
        </p:txBody>
      </p:sp>
      <p:pic>
        <p:nvPicPr>
          <p:cNvPr id="19" name="icone warning" descr="warning_white.png"/>
          <p:cNvPicPr>
            <a:picLocks noChangeAspect="1"/>
          </p:cNvPicPr>
          <p:nvPr/>
        </p:nvPicPr>
        <p:blipFill>
          <a:blip r:embed="rId6"/>
          <a:stretch>
            <a:fillRect/>
          </a:stretch>
        </p:blipFill>
        <p:spPr>
          <a:xfrm>
            <a:off x="12946379" y="2308860"/>
            <a:ext cx="411480" cy="411480"/>
          </a:xfrm>
          <a:prstGeom prst="rect">
            <a:avLst/>
          </a:prstGeom>
        </p:spPr>
      </p:pic>
      <p:sp>
        <p:nvSpPr>
          <p:cNvPr id="20" name="TextBox 19"/>
          <p:cNvSpPr txBox="1"/>
          <p:nvPr/>
        </p:nvSpPr>
        <p:spPr>
          <a:xfrm>
            <a:off x="13792199" y="2103120"/>
            <a:ext cx="3672839" cy="822960"/>
          </a:xfrm>
          <a:prstGeom prst="rect">
            <a:avLst/>
          </a:prstGeom>
          <a:noFill/>
        </p:spPr>
        <p:txBody>
          <a:bodyPr wrap="square" lIns="0" rIns="0" tIns="0" bIns="0" anchor="ctr">
            <a:noAutofit/>
          </a:bodyPr>
          <a:lstStyle/>
          <a:p>
            <a:pPr algn="l">
              <a:lnSpc>
                <a:spcPct val="100000"/>
              </a:lnSpc>
              <a:spcAft>
                <a:spcPts val="0"/>
              </a:spcAft>
              <a:buNone/>
            </a:pPr>
            <a:r>
              <a:rPr sz="2300" b="1" i="0">
                <a:solidFill>
                  <a:srgbClr val="002060"/>
                </a:solidFill>
                <a:latin typeface="Arial"/>
              </a:rPr>
              <a:t>Limitações (declaradas)</a:t>
            </a:r>
          </a:p>
        </p:txBody>
      </p:sp>
      <p:sp>
        <p:nvSpPr>
          <p:cNvPr id="21" name="TextBox 20"/>
          <p:cNvSpPr txBox="1"/>
          <p:nvPr/>
        </p:nvSpPr>
        <p:spPr>
          <a:xfrm>
            <a:off x="12740639" y="3063239"/>
            <a:ext cx="4724399" cy="4617720"/>
          </a:xfrm>
          <a:prstGeom prst="rect">
            <a:avLst/>
          </a:prstGeom>
          <a:noFill/>
        </p:spPr>
        <p:txBody>
          <a:bodyPr wrap="square" lIns="0" rIns="0" tIns="0" bIns="0" anchor="ctr">
            <a:noAutofit/>
          </a:bodyPr>
          <a:lstStyle/>
          <a:p>
            <a:pPr algn="l" marL="274320" indent="-274320">
              <a:lnSpc>
                <a:spcPct val="100000"/>
              </a:lnSpc>
              <a:spcAft>
                <a:spcPts val="2600"/>
              </a:spcAft>
              <a:buFont typeface="Arial"/>
              <a:buChar char="•"/>
            </a:pPr>
            <a:r>
              <a:rPr sz="2200" b="0" i="0">
                <a:solidFill>
                  <a:srgbClr val="1F2433"/>
                </a:solidFill>
                <a:latin typeface="Arial"/>
              </a:rPr>
              <a:t>Estudos transversais e sintomas autorrelatados</a:t>
            </a:r>
          </a:p>
          <a:p>
            <a:pPr algn="l" marL="274320" indent="-274320">
              <a:lnSpc>
                <a:spcPct val="100000"/>
              </a:lnSpc>
              <a:spcAft>
                <a:spcPts val="2600"/>
              </a:spcAft>
              <a:buFont typeface="Arial"/>
              <a:buChar char="•"/>
            </a:pPr>
            <a:r>
              <a:rPr sz="2200" b="0" i="0">
                <a:solidFill>
                  <a:srgbClr val="1F2433"/>
                </a:solidFill>
                <a:latin typeface="Arial"/>
              </a:rPr>
              <a:t>Sem grupo não exposto nas metanálises</a:t>
            </a:r>
          </a:p>
          <a:p>
            <a:pPr algn="l" marL="274320" indent="-274320">
              <a:lnSpc>
                <a:spcPct val="100000"/>
              </a:lnSpc>
              <a:spcAft>
                <a:spcPts val="2600"/>
              </a:spcAft>
              <a:buFont typeface="Arial"/>
              <a:buChar char="•"/>
            </a:pPr>
            <a:r>
              <a:rPr sz="2200" b="0" i="0">
                <a:solidFill>
                  <a:srgbClr val="1F2433"/>
                </a:solidFill>
                <a:latin typeface="Arial"/>
              </a:rPr>
              <a:t>Revisor único; 6 relatórios não recuperados</a:t>
            </a:r>
          </a:p>
        </p:txBody>
      </p:sp>
      <p:sp>
        <p:nvSpPr>
          <p:cNvPr id="22" name="Rounded Rectangle 21"/>
          <p:cNvSpPr/>
          <p:nvPr/>
        </p:nvSpPr>
        <p:spPr>
          <a:xfrm>
            <a:off x="1143000" y="8275320"/>
            <a:ext cx="16642080" cy="1463040"/>
          </a:xfrm>
          <a:prstGeom prst="roundRect">
            <a:avLst>
              <a:gd name="adj" fmla="val 6000"/>
            </a:avLst>
          </a:prstGeom>
          <a:solidFill>
            <a:srgbClr val="002060"/>
          </a:solidFill>
          <a:ln>
            <a:noFill/>
          </a:ln>
          <a:effectLst/>
        </p:spPr>
        <p:txBody>
          <a:bodyPr rtlCol="0" anchor="ctr"/>
          <a:lstStyle/>
          <a:p/>
        </p:txBody>
      </p:sp>
      <p:pic>
        <p:nvPicPr>
          <p:cNvPr id="23" name="icone question" descr="question_gold.png"/>
          <p:cNvPicPr>
            <a:picLocks noChangeAspect="1"/>
          </p:cNvPicPr>
          <p:nvPr/>
        </p:nvPicPr>
        <p:blipFill>
          <a:blip r:embed="rId7"/>
          <a:stretch>
            <a:fillRect/>
          </a:stretch>
        </p:blipFill>
        <p:spPr>
          <a:xfrm>
            <a:off x="1463040" y="8686800"/>
            <a:ext cx="640080" cy="640080"/>
          </a:xfrm>
          <a:prstGeom prst="rect">
            <a:avLst/>
          </a:prstGeom>
        </p:spPr>
      </p:pic>
      <p:sp>
        <p:nvSpPr>
          <p:cNvPr id="24" name="TextBox 23"/>
          <p:cNvSpPr txBox="1"/>
          <p:nvPr/>
        </p:nvSpPr>
        <p:spPr>
          <a:xfrm>
            <a:off x="2377440" y="8412480"/>
            <a:ext cx="15087600" cy="118872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C8A951"/>
                </a:solidFill>
                <a:latin typeface="Arial"/>
              </a:rPr>
              <a:t>Vazio de evidência: </a:t>
            </a:r>
            <a:r>
              <a:rPr sz="2100" b="0" i="0">
                <a:solidFill>
                  <a:srgbClr val="FFFFFF"/>
                </a:solidFill>
                <a:latin typeface="Arial"/>
              </a:rPr>
              <a:t>nenhum estudo elegível estimou câncer ou DPOC. </a:t>
            </a:r>
            <a:r>
              <a:rPr sz="2100" b="1" i="0">
                <a:solidFill>
                  <a:srgbClr val="FFFFFF"/>
                </a:solidFill>
                <a:latin typeface="Arial"/>
              </a:rPr>
              <a:t>Ausência de estudos não é ausência de risco.</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CONCLUSÃO</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Resposta ao objetivo</a:t>
            </a:r>
          </a:p>
        </p:txBody>
      </p:sp>
      <p:sp>
        <p:nvSpPr>
          <p:cNvPr id="7" name="Rounded Rectangle 6"/>
          <p:cNvSpPr/>
          <p:nvPr/>
        </p:nvSpPr>
        <p:spPr>
          <a:xfrm>
            <a:off x="1143000" y="1783080"/>
            <a:ext cx="10058400" cy="1844040"/>
          </a:xfrm>
          <a:prstGeom prst="roundRect">
            <a:avLst>
              <a:gd name="adj" fmla="val 6000"/>
            </a:avLst>
          </a:prstGeom>
          <a:solidFill>
            <a:srgbClr val="F2F4F8"/>
          </a:solidFill>
          <a:ln>
            <a:noFill/>
          </a:ln>
          <a:effectLst/>
        </p:spPr>
        <p:txBody>
          <a:bodyPr rtlCol="0" anchor="ctr"/>
          <a:lstStyle/>
          <a:p/>
        </p:txBody>
      </p:sp>
      <p:sp>
        <p:nvSpPr>
          <p:cNvPr id="8" name="Oval 7"/>
          <p:cNvSpPr/>
          <p:nvPr/>
        </p:nvSpPr>
        <p:spPr>
          <a:xfrm>
            <a:off x="1463040" y="2293619"/>
            <a:ext cx="822960" cy="82296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3000" b="1" i="0">
                <a:solidFill>
                  <a:srgbClr val="FFFFFF"/>
                </a:solidFill>
                <a:latin typeface="Arial"/>
              </a:rPr>
              <a:t>1</a:t>
            </a:r>
          </a:p>
        </p:txBody>
      </p:sp>
      <p:sp>
        <p:nvSpPr>
          <p:cNvPr id="9" name="TextBox 8"/>
          <p:cNvSpPr txBox="1"/>
          <p:nvPr/>
        </p:nvSpPr>
        <p:spPr>
          <a:xfrm>
            <a:off x="2560320" y="1892807"/>
            <a:ext cx="8321040" cy="1624584"/>
          </a:xfrm>
          <a:prstGeom prst="rect">
            <a:avLst/>
          </a:prstGeom>
          <a:noFill/>
        </p:spPr>
        <p:txBody>
          <a:bodyPr wrap="square" lIns="0" rIns="0" tIns="0" bIns="0" anchor="ctr">
            <a:noAutofit/>
          </a:bodyPr>
          <a:lstStyle/>
          <a:p>
            <a:pPr algn="l">
              <a:lnSpc>
                <a:spcPct val="100000"/>
              </a:lnSpc>
              <a:spcAft>
                <a:spcPts val="400"/>
              </a:spcAft>
              <a:buNone/>
            </a:pPr>
            <a:r>
              <a:rPr sz="2100" b="1" i="0">
                <a:solidFill>
                  <a:srgbClr val="002060"/>
                </a:solidFill>
                <a:latin typeface="Arial"/>
              </a:rPr>
              <a:t>Prevalência de sintomas</a:t>
            </a:r>
          </a:p>
          <a:p>
            <a:pPr algn="l">
              <a:lnSpc>
                <a:spcPct val="100000"/>
              </a:lnSpc>
              <a:spcAft>
                <a:spcPts val="0"/>
              </a:spcAft>
              <a:buNone/>
            </a:pPr>
            <a:r>
              <a:rPr sz="1900" b="0" i="0">
                <a:solidFill>
                  <a:srgbClr val="1F2433"/>
                </a:solidFill>
                <a:latin typeface="Arial"/>
              </a:rPr>
              <a:t>Frequentemente relatados: </a:t>
            </a:r>
            <a:r>
              <a:rPr sz="1900" b="1" i="0">
                <a:solidFill>
                  <a:srgbClr val="1F2433"/>
                </a:solidFill>
                <a:latin typeface="Arial"/>
              </a:rPr>
              <a:t>ocular 37,6% e respiratório 41,7%</a:t>
            </a:r>
            <a:r>
              <a:rPr sz="1900" b="0" i="0">
                <a:solidFill>
                  <a:srgbClr val="1F2433"/>
                </a:solidFill>
                <a:latin typeface="Arial"/>
              </a:rPr>
              <a:t>, com grande variação entre contextos.</a:t>
            </a:r>
          </a:p>
        </p:txBody>
      </p:sp>
      <p:sp>
        <p:nvSpPr>
          <p:cNvPr id="10" name="Rounded Rectangle 9"/>
          <p:cNvSpPr/>
          <p:nvPr/>
        </p:nvSpPr>
        <p:spPr>
          <a:xfrm>
            <a:off x="1143000" y="3901440"/>
            <a:ext cx="10058400" cy="1844040"/>
          </a:xfrm>
          <a:prstGeom prst="roundRect">
            <a:avLst>
              <a:gd name="adj" fmla="val 6000"/>
            </a:avLst>
          </a:prstGeom>
          <a:solidFill>
            <a:srgbClr val="F2F4F8"/>
          </a:solidFill>
          <a:ln>
            <a:noFill/>
          </a:ln>
          <a:effectLst/>
        </p:spPr>
        <p:txBody>
          <a:bodyPr rtlCol="0" anchor="ctr"/>
          <a:lstStyle/>
          <a:p/>
        </p:txBody>
      </p:sp>
      <p:sp>
        <p:nvSpPr>
          <p:cNvPr id="11" name="Oval 10"/>
          <p:cNvSpPr/>
          <p:nvPr/>
        </p:nvSpPr>
        <p:spPr>
          <a:xfrm>
            <a:off x="1463040" y="4411980"/>
            <a:ext cx="822960" cy="82296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3000" b="1" i="0">
                <a:solidFill>
                  <a:srgbClr val="FFFFFF"/>
                </a:solidFill>
                <a:latin typeface="Arial"/>
              </a:rPr>
              <a:t>2</a:t>
            </a:r>
          </a:p>
        </p:txBody>
      </p:sp>
      <p:sp>
        <p:nvSpPr>
          <p:cNvPr id="12" name="TextBox 11"/>
          <p:cNvSpPr txBox="1"/>
          <p:nvPr/>
        </p:nvSpPr>
        <p:spPr>
          <a:xfrm>
            <a:off x="2560320" y="4011168"/>
            <a:ext cx="8321040" cy="1624584"/>
          </a:xfrm>
          <a:prstGeom prst="rect">
            <a:avLst/>
          </a:prstGeom>
          <a:noFill/>
        </p:spPr>
        <p:txBody>
          <a:bodyPr wrap="square" lIns="0" rIns="0" tIns="0" bIns="0" anchor="ctr">
            <a:noAutofit/>
          </a:bodyPr>
          <a:lstStyle/>
          <a:p>
            <a:pPr algn="l">
              <a:lnSpc>
                <a:spcPct val="100000"/>
              </a:lnSpc>
              <a:spcAft>
                <a:spcPts val="400"/>
              </a:spcAft>
              <a:buNone/>
            </a:pPr>
            <a:r>
              <a:rPr sz="2100" b="1" i="0">
                <a:solidFill>
                  <a:srgbClr val="002060"/>
                </a:solidFill>
                <a:latin typeface="Arial"/>
              </a:rPr>
              <a:t>Desfechos objetivos e biomarcadores</a:t>
            </a:r>
          </a:p>
          <a:p>
            <a:pPr algn="l">
              <a:lnSpc>
                <a:spcPct val="100000"/>
              </a:lnSpc>
              <a:spcAft>
                <a:spcPts val="0"/>
              </a:spcAft>
              <a:buNone/>
            </a:pPr>
            <a:r>
              <a:rPr sz="1900" b="0" i="0">
                <a:solidFill>
                  <a:srgbClr val="1F2433"/>
                </a:solidFill>
                <a:latin typeface="Arial"/>
              </a:rPr>
              <a:t>Estudos isolados sugerem </a:t>
            </a:r>
            <a:r>
              <a:rPr sz="1900" b="1" i="0">
                <a:solidFill>
                  <a:srgbClr val="1F2433"/>
                </a:solidFill>
                <a:latin typeface="Arial"/>
              </a:rPr>
              <a:t>alterações além do incômodo agudo</a:t>
            </a:r>
            <a:r>
              <a:rPr sz="1900" b="0" i="0">
                <a:solidFill>
                  <a:srgbClr val="1F2433"/>
                </a:solidFill>
                <a:latin typeface="Arial"/>
              </a:rPr>
              <a:t>, sem demonstrar doença crônica atribuível.</a:t>
            </a:r>
          </a:p>
        </p:txBody>
      </p:sp>
      <p:sp>
        <p:nvSpPr>
          <p:cNvPr id="13" name="Rounded Rectangle 12"/>
          <p:cNvSpPr/>
          <p:nvPr/>
        </p:nvSpPr>
        <p:spPr>
          <a:xfrm>
            <a:off x="1143000" y="6019800"/>
            <a:ext cx="10058400" cy="1844040"/>
          </a:xfrm>
          <a:prstGeom prst="roundRect">
            <a:avLst>
              <a:gd name="adj" fmla="val 6000"/>
            </a:avLst>
          </a:prstGeom>
          <a:solidFill>
            <a:srgbClr val="F2F4F8"/>
          </a:solidFill>
          <a:ln>
            <a:noFill/>
          </a:ln>
          <a:effectLst/>
        </p:spPr>
        <p:txBody>
          <a:bodyPr rtlCol="0" anchor="ctr"/>
          <a:lstStyle/>
          <a:p/>
        </p:txBody>
      </p:sp>
      <p:sp>
        <p:nvSpPr>
          <p:cNvPr id="14" name="Oval 13"/>
          <p:cNvSpPr/>
          <p:nvPr/>
        </p:nvSpPr>
        <p:spPr>
          <a:xfrm>
            <a:off x="1463040" y="6530340"/>
            <a:ext cx="822960" cy="82296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3000" b="1" i="0">
                <a:solidFill>
                  <a:srgbClr val="FFFFFF"/>
                </a:solidFill>
                <a:latin typeface="Arial"/>
              </a:rPr>
              <a:t>3</a:t>
            </a:r>
          </a:p>
        </p:txBody>
      </p:sp>
      <p:sp>
        <p:nvSpPr>
          <p:cNvPr id="15" name="TextBox 14"/>
          <p:cNvSpPr txBox="1"/>
          <p:nvPr/>
        </p:nvSpPr>
        <p:spPr>
          <a:xfrm>
            <a:off x="2560320" y="6129528"/>
            <a:ext cx="8321040" cy="1624584"/>
          </a:xfrm>
          <a:prstGeom prst="rect">
            <a:avLst/>
          </a:prstGeom>
          <a:noFill/>
        </p:spPr>
        <p:txBody>
          <a:bodyPr wrap="square" lIns="0" rIns="0" tIns="0" bIns="0" anchor="ctr">
            <a:noAutofit/>
          </a:bodyPr>
          <a:lstStyle/>
          <a:p>
            <a:pPr algn="l">
              <a:lnSpc>
                <a:spcPct val="100000"/>
              </a:lnSpc>
              <a:spcAft>
                <a:spcPts val="400"/>
              </a:spcAft>
              <a:buNone/>
            </a:pPr>
            <a:r>
              <a:rPr sz="2100" b="1" i="0">
                <a:solidFill>
                  <a:srgbClr val="002060"/>
                </a:solidFill>
                <a:latin typeface="Arial"/>
              </a:rPr>
              <a:t>Certeza da evidência</a:t>
            </a:r>
          </a:p>
          <a:p>
            <a:pPr algn="l">
              <a:lnSpc>
                <a:spcPct val="100000"/>
              </a:lnSpc>
              <a:spcAft>
                <a:spcPts val="0"/>
              </a:spcAft>
              <a:buNone/>
            </a:pPr>
            <a:r>
              <a:rPr sz="1900" b="1" i="0">
                <a:solidFill>
                  <a:srgbClr val="8B0000"/>
                </a:solidFill>
                <a:latin typeface="Arial"/>
              </a:rPr>
              <a:t>Muito baixa</a:t>
            </a:r>
            <a:r>
              <a:rPr sz="1900" b="0" i="0">
                <a:solidFill>
                  <a:srgbClr val="1F2433"/>
                </a:solidFill>
                <a:latin typeface="Arial"/>
              </a:rPr>
              <a:t> em todos os desfechos; nenhum estudo elegível sobre câncer ou DPOC.</a:t>
            </a:r>
          </a:p>
        </p:txBody>
      </p:sp>
      <p:pic>
        <p:nvPicPr>
          <p:cNvPr id="16" name="Foto exaustão e N95" descr="exaustao_n95.png"/>
          <p:cNvPicPr>
            <a:picLocks noChangeAspect="1"/>
          </p:cNvPicPr>
          <p:nvPr/>
        </p:nvPicPr>
        <p:blipFill>
          <a:blip r:embed="rId4"/>
          <a:stretch>
            <a:fillRect/>
          </a:stretch>
        </p:blipFill>
        <p:spPr>
          <a:xfrm>
            <a:off x="11475720" y="1783080"/>
            <a:ext cx="6309359" cy="3530237"/>
          </a:xfrm>
          <a:prstGeom prst="rect">
            <a:avLst/>
          </a:prstGeom>
        </p:spPr>
      </p:pic>
      <p:sp>
        <p:nvSpPr>
          <p:cNvPr id="17" name="TextBox 16"/>
          <p:cNvSpPr txBox="1"/>
          <p:nvPr/>
        </p:nvSpPr>
        <p:spPr>
          <a:xfrm>
            <a:off x="11475720" y="5368181"/>
            <a:ext cx="6309359" cy="32004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Imagem ilustrativa (gerada por IA).</a:t>
            </a:r>
          </a:p>
        </p:txBody>
      </p:sp>
      <p:sp>
        <p:nvSpPr>
          <p:cNvPr id="18" name="Rounded Rectangle 17"/>
          <p:cNvSpPr/>
          <p:nvPr/>
        </p:nvSpPr>
        <p:spPr>
          <a:xfrm>
            <a:off x="11475720" y="6019800"/>
            <a:ext cx="6309359" cy="1844040"/>
          </a:xfrm>
          <a:prstGeom prst="roundRect">
            <a:avLst>
              <a:gd name="adj" fmla="val 6000"/>
            </a:avLst>
          </a:prstGeom>
          <a:solidFill>
            <a:srgbClr val="E6EBF5"/>
          </a:solidFill>
          <a:ln>
            <a:noFill/>
          </a:ln>
          <a:effectLst/>
        </p:spPr>
        <p:txBody>
          <a:bodyPr rtlCol="0" anchor="ctr"/>
          <a:lstStyle/>
          <a:p/>
        </p:txBody>
      </p:sp>
      <p:sp>
        <p:nvSpPr>
          <p:cNvPr id="19" name="TextBox 18"/>
          <p:cNvSpPr txBox="1"/>
          <p:nvPr/>
        </p:nvSpPr>
        <p:spPr>
          <a:xfrm>
            <a:off x="11795760" y="6202680"/>
            <a:ext cx="5669279" cy="365760"/>
          </a:xfrm>
          <a:prstGeom prst="rect">
            <a:avLst/>
          </a:prstGeom>
          <a:noFill/>
        </p:spPr>
        <p:txBody>
          <a:bodyPr wrap="square" lIns="0" rIns="0" tIns="0" bIns="0" anchor="t">
            <a:noAutofit/>
          </a:bodyPr>
          <a:lstStyle/>
          <a:p>
            <a:pPr algn="l">
              <a:lnSpc>
                <a:spcPct val="100000"/>
              </a:lnSpc>
              <a:spcAft>
                <a:spcPts val="0"/>
              </a:spcAft>
              <a:buNone/>
            </a:pPr>
            <a:r>
              <a:rPr sz="1700" b="1" i="0">
                <a:solidFill>
                  <a:srgbClr val="002060"/>
                </a:solidFill>
                <a:latin typeface="Arial"/>
              </a:rPr>
              <a:t>Proteção recomendada (NIOSH, 1996)</a:t>
            </a:r>
          </a:p>
        </p:txBody>
      </p:sp>
      <p:sp>
        <p:nvSpPr>
          <p:cNvPr id="20" name="Oval 19"/>
          <p:cNvSpPr/>
          <p:nvPr/>
        </p:nvSpPr>
        <p:spPr>
          <a:xfrm>
            <a:off x="12420599" y="6745224"/>
            <a:ext cx="548640" cy="548640"/>
          </a:xfrm>
          <a:prstGeom prst="ellipse">
            <a:avLst/>
          </a:prstGeom>
          <a:solidFill>
            <a:srgbClr val="002060"/>
          </a:solidFill>
          <a:ln>
            <a:noFill/>
          </a:ln>
          <a:effectLst/>
        </p:spPr>
        <p:txBody>
          <a:bodyPr rtlCol="0" anchor="ctr" lIns="0" rIns="0" tIns="0" bIns="0"/>
          <a:lstStyle/>
          <a:p/>
        </p:txBody>
      </p:sp>
      <p:pic>
        <p:nvPicPr>
          <p:cNvPr id="21" name="icone fan" descr="fan_white.png"/>
          <p:cNvPicPr>
            <a:picLocks noChangeAspect="1"/>
          </p:cNvPicPr>
          <p:nvPr/>
        </p:nvPicPr>
        <p:blipFill>
          <a:blip r:embed="rId5"/>
          <a:stretch>
            <a:fillRect/>
          </a:stretch>
        </p:blipFill>
        <p:spPr>
          <a:xfrm>
            <a:off x="12557760" y="6882384"/>
            <a:ext cx="274320" cy="274320"/>
          </a:xfrm>
          <a:prstGeom prst="rect">
            <a:avLst/>
          </a:prstGeom>
        </p:spPr>
      </p:pic>
      <p:sp>
        <p:nvSpPr>
          <p:cNvPr id="22" name="TextBox 21"/>
          <p:cNvSpPr txBox="1"/>
          <p:nvPr/>
        </p:nvSpPr>
        <p:spPr>
          <a:xfrm>
            <a:off x="11795760" y="7367016"/>
            <a:ext cx="1798319" cy="365760"/>
          </a:xfrm>
          <a:prstGeom prst="rect">
            <a:avLst/>
          </a:prstGeom>
          <a:noFill/>
        </p:spPr>
        <p:txBody>
          <a:bodyPr wrap="square" lIns="0" rIns="0" tIns="0" bIns="0" anchor="t">
            <a:noAutofit/>
          </a:bodyPr>
          <a:lstStyle/>
          <a:p>
            <a:pPr algn="ctr">
              <a:lnSpc>
                <a:spcPct val="100000"/>
              </a:lnSpc>
              <a:spcAft>
                <a:spcPts val="0"/>
              </a:spcAft>
              <a:buNone/>
            </a:pPr>
            <a:r>
              <a:rPr sz="1700" b="0" i="0">
                <a:solidFill>
                  <a:srgbClr val="1F2433"/>
                </a:solidFill>
                <a:latin typeface="Arial"/>
              </a:rPr>
              <a:t>Exaustão na fonte</a:t>
            </a:r>
          </a:p>
        </p:txBody>
      </p:sp>
      <p:sp>
        <p:nvSpPr>
          <p:cNvPr id="23" name="Oval 22"/>
          <p:cNvSpPr/>
          <p:nvPr/>
        </p:nvSpPr>
        <p:spPr>
          <a:xfrm>
            <a:off x="14356079" y="6745224"/>
            <a:ext cx="548640" cy="548640"/>
          </a:xfrm>
          <a:prstGeom prst="ellipse">
            <a:avLst/>
          </a:prstGeom>
          <a:solidFill>
            <a:srgbClr val="002060"/>
          </a:solidFill>
          <a:ln>
            <a:noFill/>
          </a:ln>
          <a:effectLst/>
        </p:spPr>
        <p:txBody>
          <a:bodyPr rtlCol="0" anchor="ctr" lIns="0" rIns="0" tIns="0" bIns="0"/>
          <a:lstStyle/>
          <a:p/>
        </p:txBody>
      </p:sp>
      <p:pic>
        <p:nvPicPr>
          <p:cNvPr id="24" name="icone shield" descr="shield_white.png"/>
          <p:cNvPicPr>
            <a:picLocks noChangeAspect="1"/>
          </p:cNvPicPr>
          <p:nvPr/>
        </p:nvPicPr>
        <p:blipFill>
          <a:blip r:embed="rId6"/>
          <a:stretch>
            <a:fillRect/>
          </a:stretch>
        </p:blipFill>
        <p:spPr>
          <a:xfrm>
            <a:off x="14493239" y="6882384"/>
            <a:ext cx="274320" cy="274320"/>
          </a:xfrm>
          <a:prstGeom prst="rect">
            <a:avLst/>
          </a:prstGeom>
        </p:spPr>
      </p:pic>
      <p:sp>
        <p:nvSpPr>
          <p:cNvPr id="25" name="TextBox 24"/>
          <p:cNvSpPr txBox="1"/>
          <p:nvPr/>
        </p:nvSpPr>
        <p:spPr>
          <a:xfrm>
            <a:off x="13731240" y="7367016"/>
            <a:ext cx="1798319" cy="365760"/>
          </a:xfrm>
          <a:prstGeom prst="rect">
            <a:avLst/>
          </a:prstGeom>
          <a:noFill/>
        </p:spPr>
        <p:txBody>
          <a:bodyPr wrap="square" lIns="0" rIns="0" tIns="0" bIns="0" anchor="t">
            <a:noAutofit/>
          </a:bodyPr>
          <a:lstStyle/>
          <a:p>
            <a:pPr algn="ctr">
              <a:lnSpc>
                <a:spcPct val="100000"/>
              </a:lnSpc>
              <a:spcAft>
                <a:spcPts val="0"/>
              </a:spcAft>
              <a:buNone/>
            </a:pPr>
            <a:r>
              <a:rPr sz="1700" b="0" i="0">
                <a:solidFill>
                  <a:srgbClr val="1F2433"/>
                </a:solidFill>
                <a:latin typeface="Arial"/>
              </a:rPr>
              <a:t>N95/PFF2</a:t>
            </a:r>
          </a:p>
        </p:txBody>
      </p:sp>
      <p:sp>
        <p:nvSpPr>
          <p:cNvPr id="26" name="Oval 25"/>
          <p:cNvSpPr/>
          <p:nvPr/>
        </p:nvSpPr>
        <p:spPr>
          <a:xfrm>
            <a:off x="16291560" y="6745224"/>
            <a:ext cx="548640" cy="548640"/>
          </a:xfrm>
          <a:prstGeom prst="ellipse">
            <a:avLst/>
          </a:prstGeom>
          <a:solidFill>
            <a:srgbClr val="002060"/>
          </a:solidFill>
          <a:ln>
            <a:noFill/>
          </a:ln>
          <a:effectLst/>
        </p:spPr>
        <p:txBody>
          <a:bodyPr rtlCol="0" anchor="ctr" lIns="0" rIns="0" tIns="0" bIns="0"/>
          <a:lstStyle/>
          <a:p/>
        </p:txBody>
      </p:sp>
      <p:pic>
        <p:nvPicPr>
          <p:cNvPr id="27" name="icone graduation" descr="graduation_white.png"/>
          <p:cNvPicPr>
            <a:picLocks noChangeAspect="1"/>
          </p:cNvPicPr>
          <p:nvPr/>
        </p:nvPicPr>
        <p:blipFill>
          <a:blip r:embed="rId7"/>
          <a:stretch>
            <a:fillRect/>
          </a:stretch>
        </p:blipFill>
        <p:spPr>
          <a:xfrm>
            <a:off x="16428720" y="6882384"/>
            <a:ext cx="274320" cy="274320"/>
          </a:xfrm>
          <a:prstGeom prst="rect">
            <a:avLst/>
          </a:prstGeom>
        </p:spPr>
      </p:pic>
      <p:sp>
        <p:nvSpPr>
          <p:cNvPr id="28" name="TextBox 27"/>
          <p:cNvSpPr txBox="1"/>
          <p:nvPr/>
        </p:nvSpPr>
        <p:spPr>
          <a:xfrm>
            <a:off x="15666720" y="7367016"/>
            <a:ext cx="1798319" cy="365760"/>
          </a:xfrm>
          <a:prstGeom prst="rect">
            <a:avLst/>
          </a:prstGeom>
          <a:noFill/>
        </p:spPr>
        <p:txBody>
          <a:bodyPr wrap="square" lIns="0" rIns="0" tIns="0" bIns="0" anchor="t">
            <a:noAutofit/>
          </a:bodyPr>
          <a:lstStyle/>
          <a:p>
            <a:pPr algn="ctr">
              <a:lnSpc>
                <a:spcPct val="100000"/>
              </a:lnSpc>
              <a:spcAft>
                <a:spcPts val="0"/>
              </a:spcAft>
              <a:buNone/>
            </a:pPr>
            <a:r>
              <a:rPr sz="1700" b="0" i="0">
                <a:solidFill>
                  <a:srgbClr val="1F2433"/>
                </a:solidFill>
                <a:latin typeface="Arial"/>
              </a:rPr>
              <a:t>Educação</a:t>
            </a:r>
          </a:p>
        </p:txBody>
      </p:sp>
      <p:sp>
        <p:nvSpPr>
          <p:cNvPr id="29" name="Rounded Rectangle 28"/>
          <p:cNvSpPr/>
          <p:nvPr/>
        </p:nvSpPr>
        <p:spPr>
          <a:xfrm>
            <a:off x="1143000" y="8138160"/>
            <a:ext cx="16642080" cy="1600200"/>
          </a:xfrm>
          <a:prstGeom prst="roundRect">
            <a:avLst>
              <a:gd name="adj" fmla="val 6000"/>
            </a:avLst>
          </a:prstGeom>
          <a:solidFill>
            <a:srgbClr val="002060"/>
          </a:solidFill>
          <a:ln>
            <a:noFill/>
          </a:ln>
          <a:effectLst/>
        </p:spPr>
        <p:txBody>
          <a:bodyPr rtlCol="0" anchor="ctr"/>
          <a:lstStyle/>
          <a:p/>
        </p:txBody>
      </p:sp>
      <p:sp>
        <p:nvSpPr>
          <p:cNvPr id="30" name="TextBox 29"/>
          <p:cNvSpPr txBox="1"/>
          <p:nvPr/>
        </p:nvSpPr>
        <p:spPr>
          <a:xfrm>
            <a:off x="1554480" y="8275320"/>
            <a:ext cx="15819120" cy="132588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C8A951"/>
                </a:solidFill>
                <a:latin typeface="Arial"/>
              </a:rPr>
              <a:t>Implicação: </a:t>
            </a:r>
            <a:r>
              <a:rPr sz="2100" b="0" i="0">
                <a:solidFill>
                  <a:srgbClr val="FFFFFF"/>
                </a:solidFill>
                <a:latin typeface="Arial"/>
              </a:rPr>
              <a:t>pela carga de sintomas e pelo princípio da precaução, </a:t>
            </a:r>
            <a:r>
              <a:rPr sz="2100" b="1" i="0">
                <a:solidFill>
                  <a:srgbClr val="FFFFFF"/>
                </a:solidFill>
                <a:latin typeface="Arial"/>
              </a:rPr>
              <a:t>proteger a equipe parece justificado</a:t>
            </a:r>
            <a:r>
              <a:rPr sz="2100" b="0" i="0">
                <a:solidFill>
                  <a:srgbClr val="FFFFFF"/>
                </a:solidFill>
                <a:latin typeface="Arial"/>
              </a:rPr>
              <a:t>; o risco de longo prazo depende de estudos longitudinais.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5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childTnLst>
                          </p:cTn>
                        </p:par>
                        <p:par>
                          <p:cTn id="24" fill="hold">
                            <p:stCondLst>
                              <p:cond delay="7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5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childTnLst>
                          </p:cTn>
                        </p:par>
                        <p:par>
                          <p:cTn id="34" fill="hold">
                            <p:stCondLst>
                              <p:cond delay="105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5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35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35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35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5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5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5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35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5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5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35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350"/>
                                        <p:tgtEl>
                                          <p:spTgt spid="28"/>
                                        </p:tgtEl>
                                      </p:cBhvr>
                                    </p:animEffect>
                                  </p:childTnLst>
                                </p:cTn>
                              </p:par>
                            </p:childTnLst>
                          </p:cTn>
                        </p:par>
                        <p:par>
                          <p:cTn id="74" fill="hold">
                            <p:stCondLst>
                              <p:cond delay="1400"/>
                            </p:stCondLst>
                            <p:childTnLst>
                              <p:par>
                                <p:cTn id="75" presetID="10" presetClass="entr" presetSubtype="0"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35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3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5" grpId="0" animBg="1"/>
      <p:bldP spid="26" grpId="0" animBg="1"/>
      <p:bldP spid="28" grpId="0" animBg="1"/>
      <p:bldP spid="29" grpId="0" animBg="1"/>
      <p:bldP spid="30"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PERSPECTIVAS FUTURAS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O que falta para responder ao risco de longo prazo</a:t>
            </a:r>
          </a:p>
        </p:txBody>
      </p:sp>
      <p:sp>
        <p:nvSpPr>
          <p:cNvPr id="7" name="Rounded Rectangle 6"/>
          <p:cNvSpPr/>
          <p:nvPr/>
        </p:nvSpPr>
        <p:spPr>
          <a:xfrm>
            <a:off x="1143000" y="1783080"/>
            <a:ext cx="3954780" cy="5074920"/>
          </a:xfrm>
          <a:prstGeom prst="roundRect">
            <a:avLst>
              <a:gd name="adj" fmla="val 6000"/>
            </a:avLst>
          </a:prstGeom>
          <a:solidFill>
            <a:srgbClr val="F2F4F8"/>
          </a:solidFill>
          <a:ln>
            <a:noFill/>
          </a:ln>
          <a:effectLst/>
        </p:spPr>
        <p:txBody>
          <a:bodyPr rtlCol="0" anchor="ctr"/>
          <a:lstStyle/>
          <a:p/>
        </p:txBody>
      </p:sp>
      <p:sp>
        <p:nvSpPr>
          <p:cNvPr id="8" name="Oval 7"/>
          <p:cNvSpPr/>
          <p:nvPr/>
        </p:nvSpPr>
        <p:spPr>
          <a:xfrm>
            <a:off x="2480310" y="2103120"/>
            <a:ext cx="1280160" cy="1280160"/>
          </a:xfrm>
          <a:prstGeom prst="ellipse">
            <a:avLst/>
          </a:prstGeom>
          <a:solidFill>
            <a:srgbClr val="002060"/>
          </a:solidFill>
          <a:ln>
            <a:noFill/>
          </a:ln>
          <a:effectLst/>
        </p:spPr>
        <p:txBody>
          <a:bodyPr rtlCol="0" anchor="ctr" lIns="0" rIns="0" tIns="0" bIns="0"/>
          <a:lstStyle/>
          <a:p/>
        </p:txBody>
      </p:sp>
      <p:pic>
        <p:nvPicPr>
          <p:cNvPr id="9" name="icone hourglass" descr="hourglass_white.png"/>
          <p:cNvPicPr>
            <a:picLocks noChangeAspect="1"/>
          </p:cNvPicPr>
          <p:nvPr/>
        </p:nvPicPr>
        <p:blipFill>
          <a:blip r:embed="rId4"/>
          <a:stretch>
            <a:fillRect/>
          </a:stretch>
        </p:blipFill>
        <p:spPr>
          <a:xfrm>
            <a:off x="2800350" y="2423160"/>
            <a:ext cx="640080" cy="640080"/>
          </a:xfrm>
          <a:prstGeom prst="rect">
            <a:avLst/>
          </a:prstGeom>
        </p:spPr>
      </p:pic>
      <p:sp>
        <p:nvSpPr>
          <p:cNvPr id="10" name="TextBox 9"/>
          <p:cNvSpPr txBox="1"/>
          <p:nvPr/>
        </p:nvSpPr>
        <p:spPr>
          <a:xfrm>
            <a:off x="1463040" y="3657600"/>
            <a:ext cx="3314700" cy="2880360"/>
          </a:xfrm>
          <a:prstGeom prst="rect">
            <a:avLst/>
          </a:prstGeom>
          <a:noFill/>
        </p:spPr>
        <p:txBody>
          <a:bodyPr wrap="square" lIns="0" rIns="0" tIns="0" bIns="0" anchor="ctr">
            <a:noAutofit/>
          </a:bodyPr>
          <a:lstStyle/>
          <a:p>
            <a:pPr algn="ctr">
              <a:lnSpc>
                <a:spcPct val="100000"/>
              </a:lnSpc>
              <a:spcAft>
                <a:spcPts val="1200"/>
              </a:spcAft>
              <a:buNone/>
            </a:pPr>
            <a:r>
              <a:rPr sz="2300" b="1" i="0">
                <a:solidFill>
                  <a:srgbClr val="002060"/>
                </a:solidFill>
                <a:latin typeface="Arial"/>
              </a:rPr>
              <a:t>Coortes</a:t>
            </a:r>
          </a:p>
          <a:p>
            <a:pPr algn="ctr">
              <a:lnSpc>
                <a:spcPct val="100000"/>
              </a:lnSpc>
              <a:spcAft>
                <a:spcPts val="0"/>
              </a:spcAft>
              <a:buNone/>
            </a:pPr>
            <a:r>
              <a:rPr sz="2100" b="0" i="0">
                <a:solidFill>
                  <a:srgbClr val="1F2433"/>
                </a:solidFill>
                <a:latin typeface="Arial"/>
              </a:rPr>
              <a:t>com medida objetiva da exposição (PM2,5, voláteis)</a:t>
            </a:r>
          </a:p>
        </p:txBody>
      </p:sp>
      <p:sp>
        <p:nvSpPr>
          <p:cNvPr id="11" name="Rounded Rectangle 10"/>
          <p:cNvSpPr/>
          <p:nvPr/>
        </p:nvSpPr>
        <p:spPr>
          <a:xfrm>
            <a:off x="5372100" y="1783080"/>
            <a:ext cx="3954780" cy="5074920"/>
          </a:xfrm>
          <a:prstGeom prst="roundRect">
            <a:avLst>
              <a:gd name="adj" fmla="val 6000"/>
            </a:avLst>
          </a:prstGeom>
          <a:solidFill>
            <a:srgbClr val="F2F4F8"/>
          </a:solidFill>
          <a:ln>
            <a:noFill/>
          </a:ln>
          <a:effectLst/>
        </p:spPr>
        <p:txBody>
          <a:bodyPr rtlCol="0" anchor="ctr"/>
          <a:lstStyle/>
          <a:p/>
        </p:txBody>
      </p:sp>
      <p:sp>
        <p:nvSpPr>
          <p:cNvPr id="12" name="Oval 11"/>
          <p:cNvSpPr/>
          <p:nvPr/>
        </p:nvSpPr>
        <p:spPr>
          <a:xfrm>
            <a:off x="6709409" y="2103120"/>
            <a:ext cx="1280160" cy="1280160"/>
          </a:xfrm>
          <a:prstGeom prst="ellipse">
            <a:avLst/>
          </a:prstGeom>
          <a:solidFill>
            <a:srgbClr val="002060"/>
          </a:solidFill>
          <a:ln>
            <a:noFill/>
          </a:ln>
          <a:effectLst/>
        </p:spPr>
        <p:txBody>
          <a:bodyPr rtlCol="0" anchor="ctr" lIns="0" rIns="0" tIns="0" bIns="0"/>
          <a:lstStyle/>
          <a:p/>
        </p:txBody>
      </p:sp>
      <p:pic>
        <p:nvPicPr>
          <p:cNvPr id="13" name="icone list" descr="list_white.png"/>
          <p:cNvPicPr>
            <a:picLocks noChangeAspect="1"/>
          </p:cNvPicPr>
          <p:nvPr/>
        </p:nvPicPr>
        <p:blipFill>
          <a:blip r:embed="rId5"/>
          <a:stretch>
            <a:fillRect/>
          </a:stretch>
        </p:blipFill>
        <p:spPr>
          <a:xfrm>
            <a:off x="7029450" y="2423160"/>
            <a:ext cx="640080" cy="640080"/>
          </a:xfrm>
          <a:prstGeom prst="rect">
            <a:avLst/>
          </a:prstGeom>
        </p:spPr>
      </p:pic>
      <p:sp>
        <p:nvSpPr>
          <p:cNvPr id="14" name="TextBox 13"/>
          <p:cNvSpPr txBox="1"/>
          <p:nvPr/>
        </p:nvSpPr>
        <p:spPr>
          <a:xfrm>
            <a:off x="5692140" y="3657600"/>
            <a:ext cx="3314700" cy="2880360"/>
          </a:xfrm>
          <a:prstGeom prst="rect">
            <a:avLst/>
          </a:prstGeom>
          <a:noFill/>
        </p:spPr>
        <p:txBody>
          <a:bodyPr wrap="square" lIns="0" rIns="0" tIns="0" bIns="0" anchor="ctr">
            <a:noAutofit/>
          </a:bodyPr>
          <a:lstStyle/>
          <a:p>
            <a:pPr algn="ctr">
              <a:lnSpc>
                <a:spcPct val="100000"/>
              </a:lnSpc>
              <a:spcAft>
                <a:spcPts val="1200"/>
              </a:spcAft>
              <a:buNone/>
            </a:pPr>
            <a:r>
              <a:rPr sz="2300" b="1" i="0">
                <a:solidFill>
                  <a:srgbClr val="002060"/>
                </a:solidFill>
                <a:latin typeface="Arial"/>
              </a:rPr>
              <a:t>Definições padrão</a:t>
            </a:r>
          </a:p>
          <a:p>
            <a:pPr algn="ctr">
              <a:lnSpc>
                <a:spcPct val="100000"/>
              </a:lnSpc>
              <a:spcAft>
                <a:spcPts val="0"/>
              </a:spcAft>
              <a:buNone/>
            </a:pPr>
            <a:r>
              <a:rPr sz="2100" b="0" i="0">
                <a:solidFill>
                  <a:srgbClr val="1F2433"/>
                </a:solidFill>
                <a:latin typeface="Arial"/>
              </a:rPr>
              <a:t>sintoma, recordatório e instrumentos validados</a:t>
            </a:r>
          </a:p>
        </p:txBody>
      </p:sp>
      <p:sp>
        <p:nvSpPr>
          <p:cNvPr id="15" name="Rounded Rectangle 14"/>
          <p:cNvSpPr/>
          <p:nvPr/>
        </p:nvSpPr>
        <p:spPr>
          <a:xfrm>
            <a:off x="9601200" y="1783080"/>
            <a:ext cx="3954780" cy="5074920"/>
          </a:xfrm>
          <a:prstGeom prst="roundRect">
            <a:avLst>
              <a:gd name="adj" fmla="val 6000"/>
            </a:avLst>
          </a:prstGeom>
          <a:solidFill>
            <a:srgbClr val="F2F4F8"/>
          </a:solidFill>
          <a:ln>
            <a:noFill/>
          </a:ln>
          <a:effectLst/>
        </p:spPr>
        <p:txBody>
          <a:bodyPr rtlCol="0" anchor="ctr"/>
          <a:lstStyle/>
          <a:p/>
        </p:txBody>
      </p:sp>
      <p:sp>
        <p:nvSpPr>
          <p:cNvPr id="16" name="Oval 15"/>
          <p:cNvSpPr/>
          <p:nvPr/>
        </p:nvSpPr>
        <p:spPr>
          <a:xfrm>
            <a:off x="10938510" y="2103120"/>
            <a:ext cx="1280160" cy="1280160"/>
          </a:xfrm>
          <a:prstGeom prst="ellipse">
            <a:avLst/>
          </a:prstGeom>
          <a:solidFill>
            <a:srgbClr val="002060"/>
          </a:solidFill>
          <a:ln>
            <a:noFill/>
          </a:ln>
          <a:effectLst/>
        </p:spPr>
        <p:txBody>
          <a:bodyPr rtlCol="0" anchor="ctr" lIns="0" rIns="0" tIns="0" bIns="0"/>
          <a:lstStyle/>
          <a:p/>
        </p:txBody>
      </p:sp>
      <p:pic>
        <p:nvPicPr>
          <p:cNvPr id="17" name="icone lungs" descr="lungs_white.png"/>
          <p:cNvPicPr>
            <a:picLocks noChangeAspect="1"/>
          </p:cNvPicPr>
          <p:nvPr/>
        </p:nvPicPr>
        <p:blipFill>
          <a:blip r:embed="rId6"/>
          <a:stretch>
            <a:fillRect/>
          </a:stretch>
        </p:blipFill>
        <p:spPr>
          <a:xfrm>
            <a:off x="11258550" y="2423160"/>
            <a:ext cx="640080" cy="640080"/>
          </a:xfrm>
          <a:prstGeom prst="rect">
            <a:avLst/>
          </a:prstGeom>
        </p:spPr>
      </p:pic>
      <p:sp>
        <p:nvSpPr>
          <p:cNvPr id="18" name="TextBox 17"/>
          <p:cNvSpPr txBox="1"/>
          <p:nvPr/>
        </p:nvSpPr>
        <p:spPr>
          <a:xfrm>
            <a:off x="9921240" y="3657600"/>
            <a:ext cx="3314700" cy="2880360"/>
          </a:xfrm>
          <a:prstGeom prst="rect">
            <a:avLst/>
          </a:prstGeom>
          <a:noFill/>
        </p:spPr>
        <p:txBody>
          <a:bodyPr wrap="square" lIns="0" rIns="0" tIns="0" bIns="0" anchor="ctr">
            <a:noAutofit/>
          </a:bodyPr>
          <a:lstStyle/>
          <a:p>
            <a:pPr algn="ctr">
              <a:lnSpc>
                <a:spcPct val="100000"/>
              </a:lnSpc>
              <a:spcAft>
                <a:spcPts val="1200"/>
              </a:spcAft>
              <a:buNone/>
            </a:pPr>
            <a:r>
              <a:rPr sz="2300" b="1" i="0">
                <a:solidFill>
                  <a:srgbClr val="002060"/>
                </a:solidFill>
                <a:latin typeface="Arial"/>
              </a:rPr>
              <a:t>Desfechos crônicos</a:t>
            </a:r>
          </a:p>
          <a:p>
            <a:pPr algn="ctr">
              <a:lnSpc>
                <a:spcPct val="100000"/>
              </a:lnSpc>
              <a:spcAft>
                <a:spcPts val="0"/>
              </a:spcAft>
              <a:buNone/>
            </a:pPr>
            <a:r>
              <a:rPr sz="2100" b="0" i="0">
                <a:solidFill>
                  <a:srgbClr val="1F2433"/>
                </a:solidFill>
                <a:latin typeface="Arial"/>
              </a:rPr>
              <a:t>incidência de câncer e DPOC</a:t>
            </a:r>
          </a:p>
        </p:txBody>
      </p:sp>
      <p:sp>
        <p:nvSpPr>
          <p:cNvPr id="19" name="Rounded Rectangle 18"/>
          <p:cNvSpPr/>
          <p:nvPr/>
        </p:nvSpPr>
        <p:spPr>
          <a:xfrm>
            <a:off x="13830300" y="1783080"/>
            <a:ext cx="3954780" cy="5074920"/>
          </a:xfrm>
          <a:prstGeom prst="roundRect">
            <a:avLst>
              <a:gd name="adj" fmla="val 6000"/>
            </a:avLst>
          </a:prstGeom>
          <a:solidFill>
            <a:srgbClr val="F2F4F8"/>
          </a:solidFill>
          <a:ln>
            <a:noFill/>
          </a:ln>
          <a:effectLst/>
        </p:spPr>
        <p:txBody>
          <a:bodyPr rtlCol="0" anchor="ctr"/>
          <a:lstStyle/>
          <a:p/>
        </p:txBody>
      </p:sp>
      <p:sp>
        <p:nvSpPr>
          <p:cNvPr id="20" name="Oval 19"/>
          <p:cNvSpPr/>
          <p:nvPr/>
        </p:nvSpPr>
        <p:spPr>
          <a:xfrm>
            <a:off x="15167610" y="2103120"/>
            <a:ext cx="1280160" cy="1280160"/>
          </a:xfrm>
          <a:prstGeom prst="ellipse">
            <a:avLst/>
          </a:prstGeom>
          <a:solidFill>
            <a:srgbClr val="002060"/>
          </a:solidFill>
          <a:ln>
            <a:noFill/>
          </a:ln>
          <a:effectLst/>
        </p:spPr>
        <p:txBody>
          <a:bodyPr rtlCol="0" anchor="ctr" lIns="0" rIns="0" tIns="0" bIns="0"/>
          <a:lstStyle/>
          <a:p/>
        </p:txBody>
      </p:sp>
      <p:pic>
        <p:nvPicPr>
          <p:cNvPr id="21" name="icone fan" descr="fan_white.png"/>
          <p:cNvPicPr>
            <a:picLocks noChangeAspect="1"/>
          </p:cNvPicPr>
          <p:nvPr/>
        </p:nvPicPr>
        <p:blipFill>
          <a:blip r:embed="rId7"/>
          <a:stretch>
            <a:fillRect/>
          </a:stretch>
        </p:blipFill>
        <p:spPr>
          <a:xfrm>
            <a:off x="15487650" y="2423160"/>
            <a:ext cx="640080" cy="640080"/>
          </a:xfrm>
          <a:prstGeom prst="rect">
            <a:avLst/>
          </a:prstGeom>
        </p:spPr>
      </p:pic>
      <p:sp>
        <p:nvSpPr>
          <p:cNvPr id="22" name="TextBox 21"/>
          <p:cNvSpPr txBox="1"/>
          <p:nvPr/>
        </p:nvSpPr>
        <p:spPr>
          <a:xfrm>
            <a:off x="14150340" y="3657600"/>
            <a:ext cx="3314700" cy="2880360"/>
          </a:xfrm>
          <a:prstGeom prst="rect">
            <a:avLst/>
          </a:prstGeom>
          <a:noFill/>
        </p:spPr>
        <p:txBody>
          <a:bodyPr wrap="square" lIns="0" rIns="0" tIns="0" bIns="0" anchor="ctr">
            <a:noAutofit/>
          </a:bodyPr>
          <a:lstStyle/>
          <a:p>
            <a:pPr algn="ctr">
              <a:lnSpc>
                <a:spcPct val="100000"/>
              </a:lnSpc>
              <a:spcAft>
                <a:spcPts val="1200"/>
              </a:spcAft>
              <a:buNone/>
            </a:pPr>
            <a:r>
              <a:rPr sz="2300" b="1" i="0">
                <a:solidFill>
                  <a:srgbClr val="002060"/>
                </a:solidFill>
                <a:latin typeface="Arial"/>
              </a:rPr>
              <a:t>Efetividade da proteção</a:t>
            </a:r>
          </a:p>
          <a:p>
            <a:pPr algn="ctr">
              <a:lnSpc>
                <a:spcPct val="100000"/>
              </a:lnSpc>
              <a:spcAft>
                <a:spcPts val="0"/>
              </a:spcAft>
              <a:buNone/>
            </a:pPr>
            <a:r>
              <a:rPr sz="2100" b="0" i="0">
                <a:solidFill>
                  <a:srgbClr val="1F2433"/>
                </a:solidFill>
                <a:latin typeface="Arial"/>
              </a:rPr>
              <a:t>exaustão, N95/PFF2 e educação, antes e depois</a:t>
            </a:r>
          </a:p>
        </p:txBody>
      </p:sp>
      <p:sp>
        <p:nvSpPr>
          <p:cNvPr id="23" name="Rounded Rectangle 22"/>
          <p:cNvSpPr/>
          <p:nvPr/>
        </p:nvSpPr>
        <p:spPr>
          <a:xfrm>
            <a:off x="1143000" y="7132320"/>
            <a:ext cx="16642080" cy="2606040"/>
          </a:xfrm>
          <a:prstGeom prst="roundRect">
            <a:avLst>
              <a:gd name="adj" fmla="val 6000"/>
            </a:avLst>
          </a:prstGeom>
          <a:solidFill>
            <a:srgbClr val="FBF5E3"/>
          </a:solidFill>
          <a:ln>
            <a:noFill/>
          </a:ln>
          <a:effectLst/>
        </p:spPr>
        <p:txBody>
          <a:bodyPr rtlCol="0" anchor="ctr"/>
          <a:lstStyle/>
          <a:p/>
        </p:txBody>
      </p:sp>
      <p:sp>
        <p:nvSpPr>
          <p:cNvPr id="24" name="TextBox 23"/>
          <p:cNvSpPr txBox="1"/>
          <p:nvPr/>
        </p:nvSpPr>
        <p:spPr>
          <a:xfrm>
            <a:off x="1463040" y="7406640"/>
            <a:ext cx="16002000" cy="411480"/>
          </a:xfrm>
          <a:prstGeom prst="rect">
            <a:avLst/>
          </a:prstGeom>
          <a:noFill/>
        </p:spPr>
        <p:txBody>
          <a:bodyPr wrap="square" lIns="0" rIns="0" tIns="0" bIns="0" anchor="t">
            <a:noAutofit/>
          </a:bodyPr>
          <a:lstStyle/>
          <a:p>
            <a:pPr algn="l">
              <a:lnSpc>
                <a:spcPct val="100000"/>
              </a:lnSpc>
              <a:spcAft>
                <a:spcPts val="0"/>
              </a:spcAft>
              <a:buNone/>
            </a:pPr>
            <a:r>
              <a:rPr sz="2200" b="1" i="0">
                <a:solidFill>
                  <a:srgbClr val="002060"/>
                </a:solidFill>
                <a:latin typeface="Arial"/>
              </a:rPr>
              <a:t>Para este trabalho</a:t>
            </a:r>
          </a:p>
        </p:txBody>
      </p:sp>
      <p:pic>
        <p:nvPicPr>
          <p:cNvPr id="25" name="icone upload" descr="upload_navy.png"/>
          <p:cNvPicPr>
            <a:picLocks noChangeAspect="1"/>
          </p:cNvPicPr>
          <p:nvPr/>
        </p:nvPicPr>
        <p:blipFill>
          <a:blip r:embed="rId8"/>
          <a:stretch>
            <a:fillRect/>
          </a:stretch>
        </p:blipFill>
        <p:spPr>
          <a:xfrm>
            <a:off x="1463040" y="8366760"/>
            <a:ext cx="594360" cy="594360"/>
          </a:xfrm>
          <a:prstGeom prst="rect">
            <a:avLst/>
          </a:prstGeom>
        </p:spPr>
      </p:pic>
      <p:sp>
        <p:nvSpPr>
          <p:cNvPr id="26" name="TextBox 25"/>
          <p:cNvSpPr txBox="1"/>
          <p:nvPr/>
        </p:nvSpPr>
        <p:spPr>
          <a:xfrm>
            <a:off x="2286000" y="7909560"/>
            <a:ext cx="4206239" cy="150876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1F2433"/>
                </a:solidFill>
                <a:latin typeface="Arial"/>
              </a:rPr>
              <a:t>Submissão </a:t>
            </a:r>
            <a:r>
              <a:rPr sz="2100" b="0" i="0">
                <a:solidFill>
                  <a:srgbClr val="1F2433"/>
                </a:solidFill>
                <a:latin typeface="Arial"/>
              </a:rPr>
              <a:t>do manuscrito a periódico indexado</a:t>
            </a:r>
          </a:p>
        </p:txBody>
      </p:sp>
      <p:pic>
        <p:nvPicPr>
          <p:cNvPr id="27" name="icone people" descr="people_navy.png"/>
          <p:cNvPicPr>
            <a:picLocks noChangeAspect="1"/>
          </p:cNvPicPr>
          <p:nvPr/>
        </p:nvPicPr>
        <p:blipFill>
          <a:blip r:embed="rId9"/>
          <a:stretch>
            <a:fillRect/>
          </a:stretch>
        </p:blipFill>
        <p:spPr>
          <a:xfrm>
            <a:off x="6949440" y="8366760"/>
            <a:ext cx="594360" cy="594360"/>
          </a:xfrm>
          <a:prstGeom prst="rect">
            <a:avLst/>
          </a:prstGeom>
        </p:spPr>
      </p:pic>
      <p:sp>
        <p:nvSpPr>
          <p:cNvPr id="28" name="TextBox 27"/>
          <p:cNvSpPr txBox="1"/>
          <p:nvPr/>
        </p:nvSpPr>
        <p:spPr>
          <a:xfrm>
            <a:off x="7772400" y="7909560"/>
            <a:ext cx="4206239" cy="150876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1F2433"/>
                </a:solidFill>
                <a:latin typeface="Arial"/>
              </a:rPr>
              <a:t>Triagem e extração </a:t>
            </a:r>
            <a:r>
              <a:rPr sz="2100" b="0" i="0">
                <a:solidFill>
                  <a:srgbClr val="1F2433"/>
                </a:solidFill>
                <a:latin typeface="Arial"/>
              </a:rPr>
              <a:t>com segundo revisor independente</a:t>
            </a:r>
          </a:p>
        </p:txBody>
      </p:sp>
      <p:pic>
        <p:nvPicPr>
          <p:cNvPr id="29" name="icone calendar" descr="calendar_navy.png"/>
          <p:cNvPicPr>
            <a:picLocks noChangeAspect="1"/>
          </p:cNvPicPr>
          <p:nvPr/>
        </p:nvPicPr>
        <p:blipFill>
          <a:blip r:embed="rId10"/>
          <a:stretch>
            <a:fillRect/>
          </a:stretch>
        </p:blipFill>
        <p:spPr>
          <a:xfrm>
            <a:off x="12435839" y="8366760"/>
            <a:ext cx="594360" cy="594360"/>
          </a:xfrm>
          <a:prstGeom prst="rect">
            <a:avLst/>
          </a:prstGeom>
        </p:spPr>
      </p:pic>
      <p:sp>
        <p:nvSpPr>
          <p:cNvPr id="30" name="TextBox 29"/>
          <p:cNvSpPr txBox="1"/>
          <p:nvPr/>
        </p:nvSpPr>
        <p:spPr>
          <a:xfrm>
            <a:off x="13258799" y="7909560"/>
            <a:ext cx="4206239" cy="150876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1F2433"/>
                </a:solidFill>
                <a:latin typeface="Arial"/>
              </a:rPr>
              <a:t>Atualização da busca </a:t>
            </a:r>
            <a:r>
              <a:rPr sz="2100" b="0" i="0">
                <a:solidFill>
                  <a:srgbClr val="1F2433"/>
                </a:solidFill>
                <a:latin typeface="Arial"/>
              </a:rPr>
              <a:t>e dos 6 relatórios não recuperados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REFERÊNCIAS BIBLIOGRÁFICAS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Principais referências metodológicas e dos estudos incluídos (lista completa no manuscrito)</a:t>
            </a:r>
          </a:p>
        </p:txBody>
      </p:sp>
      <p:sp>
        <p:nvSpPr>
          <p:cNvPr id="7" name="TextBox 6"/>
          <p:cNvSpPr txBox="1"/>
          <p:nvPr/>
        </p:nvSpPr>
        <p:spPr>
          <a:xfrm>
            <a:off x="1143000" y="1783080"/>
            <a:ext cx="8046719" cy="5486400"/>
          </a:xfrm>
          <a:prstGeom prst="rect">
            <a:avLst/>
          </a:prstGeom>
          <a:noFill/>
        </p:spPr>
        <p:txBody>
          <a:bodyPr wrap="square" lIns="0" rIns="0" tIns="0" bIns="0" anchor="t">
            <a:noAutofit/>
          </a:bodyPr>
          <a:lstStyle/>
          <a:p>
            <a:pPr algn="l">
              <a:lnSpc>
                <a:spcPct val="100000"/>
              </a:lnSpc>
              <a:spcAft>
                <a:spcPts val="800"/>
              </a:spcAft>
              <a:buNone/>
            </a:pPr>
            <a:r>
              <a:rPr sz="1500" b="0" i="0">
                <a:solidFill>
                  <a:srgbClr val="1F2433"/>
                </a:solidFill>
                <a:latin typeface="Arial"/>
              </a:rPr>
              <a:t>AROMATARIS, E.; MUNN, Z. (Ed.). </a:t>
            </a:r>
            <a:r>
              <a:rPr sz="1500" b="1" i="0">
                <a:solidFill>
                  <a:srgbClr val="1F2433"/>
                </a:solidFill>
                <a:latin typeface="Arial"/>
              </a:rPr>
              <a:t>JBI Manual for Evidence Synthesis</a:t>
            </a:r>
            <a:r>
              <a:rPr sz="1500" b="0" i="0">
                <a:solidFill>
                  <a:srgbClr val="1F2433"/>
                </a:solidFill>
                <a:latin typeface="Arial"/>
              </a:rPr>
              <a:t>. Adelaide: JBI, 2020.</a:t>
            </a:r>
          </a:p>
          <a:p>
            <a:pPr algn="l">
              <a:lnSpc>
                <a:spcPct val="100000"/>
              </a:lnSpc>
              <a:spcAft>
                <a:spcPts val="800"/>
              </a:spcAft>
              <a:buNone/>
            </a:pPr>
            <a:r>
              <a:rPr sz="1500" b="0" i="0">
                <a:solidFill>
                  <a:srgbClr val="1F2433"/>
                </a:solidFill>
                <a:latin typeface="Arial"/>
              </a:rPr>
              <a:t>BARKER, T. H. et al. Conducting proportional meta-analysis in different types of systematic reviews: a guide for synthesisers of evidence. </a:t>
            </a:r>
            <a:r>
              <a:rPr sz="1500" b="1" i="0">
                <a:solidFill>
                  <a:srgbClr val="1F2433"/>
                </a:solidFill>
                <a:latin typeface="Arial"/>
              </a:rPr>
              <a:t>BMC Med Res Methodol</a:t>
            </a:r>
            <a:r>
              <a:rPr sz="1500" b="0" i="0">
                <a:solidFill>
                  <a:srgbClr val="1F2433"/>
                </a:solidFill>
                <a:latin typeface="Arial"/>
              </a:rPr>
              <a:t>, v. 21, p. 189, 2021.</a:t>
            </a:r>
          </a:p>
          <a:p>
            <a:pPr algn="l">
              <a:lnSpc>
                <a:spcPct val="100000"/>
              </a:lnSpc>
              <a:spcAft>
                <a:spcPts val="800"/>
              </a:spcAft>
              <a:buNone/>
            </a:pPr>
            <a:r>
              <a:rPr sz="1500" b="0" i="0">
                <a:solidFill>
                  <a:srgbClr val="1F2433"/>
                </a:solidFill>
                <a:latin typeface="Arial"/>
              </a:rPr>
              <a:t>BENAIM, E. H.; JASPERS, I. Surgical smoke and its components, effects, and mitigation: a contemporary review. </a:t>
            </a:r>
            <a:r>
              <a:rPr sz="1500" b="1" i="0">
                <a:solidFill>
                  <a:srgbClr val="1F2433"/>
                </a:solidFill>
                <a:latin typeface="Arial"/>
              </a:rPr>
              <a:t>Toxicol Sci</a:t>
            </a:r>
            <a:r>
              <a:rPr sz="1500" b="0" i="0">
                <a:solidFill>
                  <a:srgbClr val="1F2433"/>
                </a:solidFill>
                <a:latin typeface="Arial"/>
              </a:rPr>
              <a:t>, v. 198, n. 2, p. 157-168, 2024.</a:t>
            </a:r>
          </a:p>
          <a:p>
            <a:pPr algn="l">
              <a:lnSpc>
                <a:spcPct val="100000"/>
              </a:lnSpc>
              <a:spcAft>
                <a:spcPts val="800"/>
              </a:spcAft>
              <a:buNone/>
            </a:pPr>
            <a:r>
              <a:rPr sz="1500" b="0" i="0">
                <a:solidFill>
                  <a:srgbClr val="1F2433"/>
                </a:solidFill>
                <a:latin typeface="Arial"/>
              </a:rPr>
              <a:t>BIENIEK, A. A. et al. Risco ocupacional: sinais e sintomas relacionados à exposição à fumaça cirúrgica. </a:t>
            </a:r>
            <a:r>
              <a:rPr sz="1500" b="1" i="0">
                <a:solidFill>
                  <a:srgbClr val="1F2433"/>
                </a:solidFill>
                <a:latin typeface="Arial"/>
              </a:rPr>
              <a:t>Rev SOBECC</a:t>
            </a:r>
            <a:r>
              <a:rPr sz="1500" b="0" i="0">
                <a:solidFill>
                  <a:srgbClr val="1F2433"/>
                </a:solidFill>
                <a:latin typeface="Arial"/>
              </a:rPr>
              <a:t>, v. 27, 2022.</a:t>
            </a:r>
          </a:p>
          <a:p>
            <a:pPr algn="l">
              <a:lnSpc>
                <a:spcPct val="100000"/>
              </a:lnSpc>
              <a:spcAft>
                <a:spcPts val="800"/>
              </a:spcAft>
              <a:buNone/>
            </a:pPr>
            <a:r>
              <a:rPr sz="1500" b="0" i="0">
                <a:solidFill>
                  <a:srgbClr val="1F2433"/>
                </a:solidFill>
                <a:latin typeface="Arial"/>
              </a:rPr>
              <a:t>BRASIL. Ministério da Saúde. </a:t>
            </a:r>
            <a:r>
              <a:rPr sz="1500" b="1" i="0">
                <a:solidFill>
                  <a:srgbClr val="1F2433"/>
                </a:solidFill>
                <a:latin typeface="Arial"/>
              </a:rPr>
              <a:t>Diretrizes metodológicas: Sistema GRADE</a:t>
            </a:r>
            <a:r>
              <a:rPr sz="1500" b="0" i="0">
                <a:solidFill>
                  <a:srgbClr val="1F2433"/>
                </a:solidFill>
                <a:latin typeface="Arial"/>
              </a:rPr>
              <a:t>. Brasília: Ministério da Saúde, 2014.</a:t>
            </a:r>
          </a:p>
          <a:p>
            <a:pPr algn="l">
              <a:lnSpc>
                <a:spcPct val="100000"/>
              </a:lnSpc>
              <a:spcAft>
                <a:spcPts val="800"/>
              </a:spcAft>
              <a:buNone/>
            </a:pPr>
            <a:r>
              <a:rPr sz="1500" b="0" i="0">
                <a:solidFill>
                  <a:srgbClr val="1F2433"/>
                </a:solidFill>
                <a:latin typeface="Arial"/>
              </a:rPr>
              <a:t>CANICOBA, A. R. B. </a:t>
            </a:r>
            <a:r>
              <a:rPr sz="1500" b="1" i="0">
                <a:solidFill>
                  <a:srgbClr val="1F2433"/>
                </a:solidFill>
                <a:latin typeface="Arial"/>
              </a:rPr>
              <a:t>Impacto da exposição ocupacional à fumaça cirúrgica sobre os marcadores biológicos de profissionais de saúde da sala operatória</a:t>
            </a:r>
            <a:r>
              <a:rPr sz="1500" b="0" i="0">
                <a:solidFill>
                  <a:srgbClr val="1F2433"/>
                </a:solidFill>
                <a:latin typeface="Arial"/>
              </a:rPr>
              <a:t>. Tese (Doutorado). EEUSP, 2025.</a:t>
            </a:r>
          </a:p>
          <a:p>
            <a:pPr algn="l">
              <a:lnSpc>
                <a:spcPct val="100000"/>
              </a:lnSpc>
              <a:spcAft>
                <a:spcPts val="800"/>
              </a:spcAft>
              <a:buNone/>
            </a:pPr>
            <a:r>
              <a:rPr sz="1500" b="0" i="0">
                <a:solidFill>
                  <a:srgbClr val="1F2433"/>
                </a:solidFill>
                <a:latin typeface="Arial"/>
              </a:rPr>
              <a:t>DIXON, K.; DASGUPTA, P.; VASDEV, N. A systematic review of the harmful effects of surgical smoke inhalation on operating room personnel. </a:t>
            </a:r>
            <a:r>
              <a:rPr sz="1500" b="1" i="0">
                <a:solidFill>
                  <a:srgbClr val="1F2433"/>
                </a:solidFill>
                <a:latin typeface="Arial"/>
              </a:rPr>
              <a:t>Health Sci Rev</a:t>
            </a:r>
            <a:r>
              <a:rPr sz="1500" b="0" i="0">
                <a:solidFill>
                  <a:srgbClr val="1F2433"/>
                </a:solidFill>
                <a:latin typeface="Arial"/>
              </a:rPr>
              <a:t>, v. 6, 100077, 2023.</a:t>
            </a:r>
          </a:p>
          <a:p>
            <a:pPr algn="l">
              <a:lnSpc>
                <a:spcPct val="100000"/>
              </a:lnSpc>
              <a:spcAft>
                <a:spcPts val="800"/>
              </a:spcAft>
              <a:buNone/>
            </a:pPr>
            <a:r>
              <a:rPr sz="1500" b="0" i="0">
                <a:solidFill>
                  <a:srgbClr val="1F2433"/>
                </a:solidFill>
                <a:latin typeface="Arial"/>
              </a:rPr>
              <a:t>HU, X. et al. Prevalence of HPV infections in surgical smoke exposed gynecologists. </a:t>
            </a:r>
            <a:r>
              <a:rPr sz="1500" b="1" i="0">
                <a:solidFill>
                  <a:srgbClr val="1F2433"/>
                </a:solidFill>
                <a:latin typeface="Arial"/>
              </a:rPr>
              <a:t>Int Arch Occup Environ Health</a:t>
            </a:r>
            <a:r>
              <a:rPr sz="1500" b="0" i="0">
                <a:solidFill>
                  <a:srgbClr val="1F2433"/>
                </a:solidFill>
                <a:latin typeface="Arial"/>
              </a:rPr>
              <a:t>, v. 94, n. 1, p. 107-115, 2021.</a:t>
            </a:r>
          </a:p>
          <a:p>
            <a:pPr algn="l">
              <a:lnSpc>
                <a:spcPct val="100000"/>
              </a:lnSpc>
              <a:spcAft>
                <a:spcPts val="800"/>
              </a:spcAft>
              <a:buNone/>
            </a:pPr>
            <a:r>
              <a:rPr sz="1500" b="0" i="0">
                <a:solidFill>
                  <a:srgbClr val="1F2433"/>
                </a:solidFill>
                <a:latin typeface="Arial"/>
              </a:rPr>
              <a:t>HURST, R. D.; STEWART, C. L. Hazards of surgical smoke from electrocautery: a critical review of the data. </a:t>
            </a:r>
            <a:r>
              <a:rPr sz="1500" b="1" i="0">
                <a:solidFill>
                  <a:srgbClr val="1F2433"/>
                </a:solidFill>
                <a:latin typeface="Arial"/>
              </a:rPr>
              <a:t>Am J Surg</a:t>
            </a:r>
            <a:r>
              <a:rPr sz="1500" b="0" i="0">
                <a:solidFill>
                  <a:srgbClr val="1F2433"/>
                </a:solidFill>
                <a:latin typeface="Arial"/>
              </a:rPr>
              <a:t>, v. 233, p. 29-36, 2024.</a:t>
            </a:r>
          </a:p>
        </p:txBody>
      </p:sp>
      <p:sp>
        <p:nvSpPr>
          <p:cNvPr id="8" name="TextBox 7"/>
          <p:cNvSpPr txBox="1"/>
          <p:nvPr/>
        </p:nvSpPr>
        <p:spPr>
          <a:xfrm>
            <a:off x="9738359" y="1783080"/>
            <a:ext cx="8046719" cy="5486400"/>
          </a:xfrm>
          <a:prstGeom prst="rect">
            <a:avLst/>
          </a:prstGeom>
          <a:noFill/>
        </p:spPr>
        <p:txBody>
          <a:bodyPr wrap="square" lIns="0" rIns="0" tIns="0" bIns="0" anchor="t">
            <a:noAutofit/>
          </a:bodyPr>
          <a:lstStyle/>
          <a:p>
            <a:pPr algn="l">
              <a:lnSpc>
                <a:spcPct val="100000"/>
              </a:lnSpc>
              <a:spcAft>
                <a:spcPts val="800"/>
              </a:spcAft>
              <a:buNone/>
            </a:pPr>
            <a:r>
              <a:rPr sz="1500" b="0" i="0">
                <a:solidFill>
                  <a:srgbClr val="1F2433"/>
                </a:solidFill>
                <a:latin typeface="Arial"/>
              </a:rPr>
              <a:t>IBRAHIM, J. B. et al. Evaluation of spirometric lung function among healthcare professionals working in operating theatres: a comparative cross-sectional study. </a:t>
            </a:r>
            <a:r>
              <a:rPr sz="1500" b="1" i="0">
                <a:solidFill>
                  <a:srgbClr val="1F2433"/>
                </a:solidFill>
                <a:latin typeface="Arial"/>
              </a:rPr>
              <a:t>Afr J Thorac Crit Care Med</a:t>
            </a:r>
            <a:r>
              <a:rPr sz="1500" b="0" i="0">
                <a:solidFill>
                  <a:srgbClr val="1F2433"/>
                </a:solidFill>
                <a:latin typeface="Arial"/>
              </a:rPr>
              <a:t>, v. 31, n. 2, e2639, 2025.</a:t>
            </a:r>
          </a:p>
          <a:p>
            <a:pPr algn="l">
              <a:lnSpc>
                <a:spcPct val="100000"/>
              </a:lnSpc>
              <a:spcAft>
                <a:spcPts val="800"/>
              </a:spcAft>
              <a:buNone/>
            </a:pPr>
            <a:r>
              <a:rPr sz="1500" b="0" i="0">
                <a:solidFill>
                  <a:srgbClr val="1F2433"/>
                </a:solidFill>
                <a:latin typeface="Arial"/>
              </a:rPr>
              <a:t>İLÇE, A.; YUZDEN, G. E.; VAN GIERSBERGEN, M. Y. The examination of problems experienced by nurses and doctors associated with exposure to surgical smoke and the necessary precautions. </a:t>
            </a:r>
            <a:r>
              <a:rPr sz="1500" b="1" i="0">
                <a:solidFill>
                  <a:srgbClr val="1F2433"/>
                </a:solidFill>
                <a:latin typeface="Arial"/>
              </a:rPr>
              <a:t>J Clin Nurs</a:t>
            </a:r>
            <a:r>
              <a:rPr sz="1500" b="0" i="0">
                <a:solidFill>
                  <a:srgbClr val="1F2433"/>
                </a:solidFill>
                <a:latin typeface="Arial"/>
              </a:rPr>
              <a:t>, v. 26, n. 11-12, p. 1555-1561, 2017.</a:t>
            </a:r>
          </a:p>
          <a:p>
            <a:pPr algn="l">
              <a:lnSpc>
                <a:spcPct val="100000"/>
              </a:lnSpc>
              <a:spcAft>
                <a:spcPts val="800"/>
              </a:spcAft>
              <a:buNone/>
            </a:pPr>
            <a:r>
              <a:rPr sz="1500" b="0" i="0">
                <a:solidFill>
                  <a:srgbClr val="1F2433"/>
                </a:solidFill>
                <a:latin typeface="Arial"/>
              </a:rPr>
              <a:t>INTHOUT, J.; IOANNIDIS, J. P. A.; BORM, G. F. The Hartung-Knapp-Sidik-Jonkman method for random effects meta-analysis is straightforward and considerably outperforms the standard DerSimonian-Laird method. </a:t>
            </a:r>
            <a:r>
              <a:rPr sz="1500" b="1" i="0">
                <a:solidFill>
                  <a:srgbClr val="1F2433"/>
                </a:solidFill>
                <a:latin typeface="Arial"/>
              </a:rPr>
              <a:t>BMC Med Res Methodol</a:t>
            </a:r>
            <a:r>
              <a:rPr sz="1500" b="0" i="0">
                <a:solidFill>
                  <a:srgbClr val="1F2433"/>
                </a:solidFill>
                <a:latin typeface="Arial"/>
              </a:rPr>
              <a:t>, v. 14, p. 25, 2014.</a:t>
            </a:r>
          </a:p>
          <a:p>
            <a:pPr algn="l">
              <a:lnSpc>
                <a:spcPct val="100000"/>
              </a:lnSpc>
              <a:spcAft>
                <a:spcPts val="800"/>
              </a:spcAft>
              <a:buNone/>
            </a:pPr>
            <a:r>
              <a:rPr sz="1500" b="0" i="0">
                <a:solidFill>
                  <a:srgbClr val="1F2433"/>
                </a:solidFill>
                <a:latin typeface="Arial"/>
              </a:rPr>
              <a:t>MUNN, Z. et al. Methodological guidance for systematic reviews of observational epidemiological studies reporting prevalence and cumulative incidence data. </a:t>
            </a:r>
            <a:r>
              <a:rPr sz="1500" b="1" i="0">
                <a:solidFill>
                  <a:srgbClr val="1F2433"/>
                </a:solidFill>
                <a:latin typeface="Arial"/>
              </a:rPr>
              <a:t>Int J Evid Based Healthc</a:t>
            </a:r>
            <a:r>
              <a:rPr sz="1500" b="0" i="0">
                <a:solidFill>
                  <a:srgbClr val="1F2433"/>
                </a:solidFill>
                <a:latin typeface="Arial"/>
              </a:rPr>
              <a:t>, v. 13, n. 3, p. 147-153, 2015.</a:t>
            </a:r>
          </a:p>
          <a:p>
            <a:pPr algn="l">
              <a:lnSpc>
                <a:spcPct val="100000"/>
              </a:lnSpc>
              <a:spcAft>
                <a:spcPts val="800"/>
              </a:spcAft>
              <a:buNone/>
            </a:pPr>
            <a:r>
              <a:rPr sz="1500" b="0" i="0">
                <a:solidFill>
                  <a:srgbClr val="1F2433"/>
                </a:solidFill>
                <a:latin typeface="Arial"/>
              </a:rPr>
              <a:t>NAVARRO, M. C. et al. Cambios en la mucosa nasal de los médicos por exposición al humo por electrocoagulación. </a:t>
            </a:r>
            <a:r>
              <a:rPr sz="1500" b="1" i="0">
                <a:solidFill>
                  <a:srgbClr val="1F2433"/>
                </a:solidFill>
                <a:latin typeface="Arial"/>
              </a:rPr>
              <a:t>Rev Fac Nac Salud Pública</a:t>
            </a:r>
            <a:r>
              <a:rPr sz="1500" b="0" i="0">
                <a:solidFill>
                  <a:srgbClr val="1F2433"/>
                </a:solidFill>
                <a:latin typeface="Arial"/>
              </a:rPr>
              <a:t>, v. 34, n. 2, p. 135-144, 2016.</a:t>
            </a:r>
          </a:p>
          <a:p>
            <a:pPr algn="l">
              <a:lnSpc>
                <a:spcPct val="100000"/>
              </a:lnSpc>
              <a:spcAft>
                <a:spcPts val="800"/>
              </a:spcAft>
              <a:buNone/>
            </a:pPr>
            <a:r>
              <a:rPr sz="1500" b="0" i="0">
                <a:solidFill>
                  <a:srgbClr val="1F2433"/>
                </a:solidFill>
                <a:latin typeface="Arial"/>
              </a:rPr>
              <a:t>PAGE, M. J. et al. The PRISMA 2020 statement: an updated guideline for reporting systematic reviews. </a:t>
            </a:r>
            <a:r>
              <a:rPr sz="1500" b="1" i="0">
                <a:solidFill>
                  <a:srgbClr val="1F2433"/>
                </a:solidFill>
                <a:latin typeface="Arial"/>
              </a:rPr>
              <a:t>BMJ</a:t>
            </a:r>
            <a:r>
              <a:rPr sz="1500" b="0" i="0">
                <a:solidFill>
                  <a:srgbClr val="1F2433"/>
                </a:solidFill>
                <a:latin typeface="Arial"/>
              </a:rPr>
              <a:t>, v. 372, n71, 2021.</a:t>
            </a:r>
          </a:p>
          <a:p>
            <a:pPr algn="l">
              <a:lnSpc>
                <a:spcPct val="100000"/>
              </a:lnSpc>
              <a:spcAft>
                <a:spcPts val="800"/>
              </a:spcAft>
              <a:buNone/>
            </a:pPr>
            <a:r>
              <a:rPr sz="1500" b="0" i="0">
                <a:solidFill>
                  <a:srgbClr val="1F2433"/>
                </a:solidFill>
                <a:latin typeface="Arial"/>
              </a:rPr>
              <a:t>RILEY, R. D.; HIGGINS, J. P. T.; DEEKS, J. J. Interpretation of random effects meta-analyses. </a:t>
            </a:r>
            <a:r>
              <a:rPr sz="1500" b="1" i="0">
                <a:solidFill>
                  <a:srgbClr val="1F2433"/>
                </a:solidFill>
                <a:latin typeface="Arial"/>
              </a:rPr>
              <a:t>BMJ</a:t>
            </a:r>
            <a:r>
              <a:rPr sz="1500" b="0" i="0">
                <a:solidFill>
                  <a:srgbClr val="1F2433"/>
                </a:solidFill>
                <a:latin typeface="Arial"/>
              </a:rPr>
              <a:t>, v. 342, d549, 2011.</a:t>
            </a:r>
          </a:p>
        </p:txBody>
      </p:sp>
      <p:sp>
        <p:nvSpPr>
          <p:cNvPr id="9" name="Rounded Rectangle 8"/>
          <p:cNvSpPr/>
          <p:nvPr/>
        </p:nvSpPr>
        <p:spPr>
          <a:xfrm>
            <a:off x="1143000" y="7543800"/>
            <a:ext cx="16642080" cy="2194560"/>
          </a:xfrm>
          <a:prstGeom prst="roundRect">
            <a:avLst>
              <a:gd name="adj" fmla="val 6000"/>
            </a:avLst>
          </a:prstGeom>
          <a:solidFill>
            <a:srgbClr val="E6EBF5"/>
          </a:solidFill>
          <a:ln>
            <a:noFill/>
          </a:ln>
          <a:effectLst/>
        </p:spPr>
        <p:txBody>
          <a:bodyPr rtlCol="0" anchor="ctr"/>
          <a:lstStyle/>
          <a:p/>
        </p:txBody>
      </p:sp>
      <p:pic>
        <p:nvPicPr>
          <p:cNvPr id="10" name="QR code OSF" descr="qr_osf_jktmn.png"/>
          <p:cNvPicPr>
            <a:picLocks noChangeAspect="1"/>
          </p:cNvPicPr>
          <p:nvPr/>
        </p:nvPicPr>
        <p:blipFill>
          <a:blip r:embed="rId4"/>
          <a:stretch>
            <a:fillRect/>
          </a:stretch>
        </p:blipFill>
        <p:spPr>
          <a:xfrm>
            <a:off x="15910559" y="7863840"/>
            <a:ext cx="1554480" cy="1554480"/>
          </a:xfrm>
          <a:prstGeom prst="rect">
            <a:avLst/>
          </a:prstGeom>
        </p:spPr>
      </p:pic>
      <p:pic>
        <p:nvPicPr>
          <p:cNvPr id="11" name="icone file" descr="file_navy.png"/>
          <p:cNvPicPr>
            <a:picLocks noChangeAspect="1"/>
          </p:cNvPicPr>
          <p:nvPr/>
        </p:nvPicPr>
        <p:blipFill>
          <a:blip r:embed="rId5"/>
          <a:stretch>
            <a:fillRect/>
          </a:stretch>
        </p:blipFill>
        <p:spPr>
          <a:xfrm>
            <a:off x="1463040" y="8321040"/>
            <a:ext cx="640080" cy="640080"/>
          </a:xfrm>
          <a:prstGeom prst="rect">
            <a:avLst/>
          </a:prstGeom>
        </p:spPr>
      </p:pic>
      <p:sp>
        <p:nvSpPr>
          <p:cNvPr id="12" name="TextBox 11"/>
          <p:cNvSpPr txBox="1"/>
          <p:nvPr/>
        </p:nvSpPr>
        <p:spPr>
          <a:xfrm>
            <a:off x="2377440" y="7772400"/>
            <a:ext cx="13258800" cy="1737360"/>
          </a:xfrm>
          <a:prstGeom prst="rect">
            <a:avLst/>
          </a:prstGeom>
          <a:noFill/>
        </p:spPr>
        <p:txBody>
          <a:bodyPr wrap="square" lIns="0" rIns="0" tIns="0" bIns="0" anchor="ctr">
            <a:noAutofit/>
          </a:bodyPr>
          <a:lstStyle/>
          <a:p>
            <a:pPr algn="l">
              <a:lnSpc>
                <a:spcPct val="100000"/>
              </a:lnSpc>
              <a:spcAft>
                <a:spcPts val="600"/>
              </a:spcAft>
              <a:buNone/>
            </a:pPr>
            <a:r>
              <a:rPr sz="2200" b="1" i="0">
                <a:solidFill>
                  <a:srgbClr val="002060"/>
                </a:solidFill>
                <a:latin typeface="Arial"/>
              </a:rPr>
              <a:t>Suplementos, código e planilhas</a:t>
            </a:r>
          </a:p>
          <a:p>
            <a:pPr algn="l">
              <a:lnSpc>
                <a:spcPct val="100000"/>
              </a:lnSpc>
              <a:spcAft>
                <a:spcPts val="300"/>
              </a:spcAft>
              <a:buNone/>
            </a:pPr>
            <a:r>
              <a:rPr sz="1700" b="0" i="0">
                <a:solidFill>
                  <a:srgbClr val="1F2433"/>
                </a:solidFill>
                <a:latin typeface="Arial"/>
              </a:rPr>
              <a:t>Aponte a câmera do celular para o QR code  ·  </a:t>
            </a:r>
            <a:r>
              <a:rPr sz="1700" b="1" i="0">
                <a:solidFill>
                  <a:srgbClr val="002060"/>
                </a:solidFill>
                <a:latin typeface="Arial"/>
              </a:rPr>
              <a:t>osf.io/jktmn</a:t>
            </a:r>
          </a:p>
          <a:p>
            <a:pPr algn="l">
              <a:lnSpc>
                <a:spcPct val="100000"/>
              </a:lnSpc>
              <a:spcAft>
                <a:spcPts val="300"/>
              </a:spcAft>
              <a:buNone/>
            </a:pPr>
            <a:r>
              <a:rPr sz="1700" b="0" i="0">
                <a:solidFill>
                  <a:srgbClr val="5A6270"/>
                </a:solidFill>
                <a:latin typeface="Arial"/>
              </a:rPr>
              <a:t>Planilhas de extração, código em Python, figuras em alta resolução e material complementar.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AGRADECIMENTOS</a:t>
            </a:r>
          </a:p>
        </p:txBody>
      </p:sp>
      <p:pic>
        <p:nvPicPr>
          <p:cNvPr id="6" name="icone handshake" descr="handshake_navy.png"/>
          <p:cNvPicPr>
            <a:picLocks noChangeAspect="1"/>
          </p:cNvPicPr>
          <p:nvPr/>
        </p:nvPicPr>
        <p:blipFill>
          <a:blip r:embed="rId4"/>
          <a:stretch>
            <a:fillRect/>
          </a:stretch>
        </p:blipFill>
        <p:spPr>
          <a:xfrm>
            <a:off x="8961119" y="2057400"/>
            <a:ext cx="1005840" cy="1005840"/>
          </a:xfrm>
          <a:prstGeom prst="rect">
            <a:avLst/>
          </a:prstGeom>
        </p:spPr>
      </p:pic>
      <p:sp>
        <p:nvSpPr>
          <p:cNvPr id="7" name="TextBox 6"/>
          <p:cNvSpPr txBox="1"/>
          <p:nvPr/>
        </p:nvSpPr>
        <p:spPr>
          <a:xfrm>
            <a:off x="1143000" y="3200400"/>
            <a:ext cx="16642080" cy="640080"/>
          </a:xfrm>
          <a:prstGeom prst="rect">
            <a:avLst/>
          </a:prstGeom>
          <a:noFill/>
        </p:spPr>
        <p:txBody>
          <a:bodyPr wrap="square" lIns="0" rIns="0" tIns="0" bIns="0" anchor="t">
            <a:noAutofit/>
          </a:bodyPr>
          <a:lstStyle/>
          <a:p>
            <a:pPr algn="ctr">
              <a:lnSpc>
                <a:spcPct val="100000"/>
              </a:lnSpc>
              <a:spcAft>
                <a:spcPts val="0"/>
              </a:spcAft>
              <a:buNone/>
            </a:pPr>
            <a:r>
              <a:rPr sz="3600" b="1" i="0">
                <a:solidFill>
                  <a:srgbClr val="002060"/>
                </a:solidFill>
                <a:latin typeface="Arial"/>
              </a:rPr>
              <a:t>Muito obrigado</a:t>
            </a:r>
          </a:p>
        </p:txBody>
      </p:sp>
      <p:sp>
        <p:nvSpPr>
          <p:cNvPr id="8" name="Rounded Rectangle 7"/>
          <p:cNvSpPr/>
          <p:nvPr/>
        </p:nvSpPr>
        <p:spPr>
          <a:xfrm>
            <a:off x="1143000" y="4160520"/>
            <a:ext cx="5364480" cy="3429000"/>
          </a:xfrm>
          <a:prstGeom prst="roundRect">
            <a:avLst>
              <a:gd name="adj" fmla="val 6000"/>
            </a:avLst>
          </a:prstGeom>
          <a:solidFill>
            <a:srgbClr val="F2F4F8"/>
          </a:solidFill>
          <a:ln>
            <a:noFill/>
          </a:ln>
          <a:effectLst/>
        </p:spPr>
        <p:txBody>
          <a:bodyPr rtlCol="0" anchor="ctr"/>
          <a:lstStyle/>
          <a:p/>
        </p:txBody>
      </p:sp>
      <p:sp>
        <p:nvSpPr>
          <p:cNvPr id="9" name="Oval 8"/>
          <p:cNvSpPr/>
          <p:nvPr/>
        </p:nvSpPr>
        <p:spPr>
          <a:xfrm>
            <a:off x="3390900" y="4480559"/>
            <a:ext cx="868680" cy="868680"/>
          </a:xfrm>
          <a:prstGeom prst="ellipse">
            <a:avLst/>
          </a:prstGeom>
          <a:solidFill>
            <a:srgbClr val="002060"/>
          </a:solidFill>
          <a:ln>
            <a:noFill/>
          </a:ln>
          <a:effectLst/>
        </p:spPr>
        <p:txBody>
          <a:bodyPr rtlCol="0" anchor="ctr" lIns="0" rIns="0" tIns="0" bIns="0"/>
          <a:lstStyle/>
          <a:p/>
        </p:txBody>
      </p:sp>
      <p:pic>
        <p:nvPicPr>
          <p:cNvPr id="10" name="icone graduation" descr="graduation_white.png"/>
          <p:cNvPicPr>
            <a:picLocks noChangeAspect="1"/>
          </p:cNvPicPr>
          <p:nvPr/>
        </p:nvPicPr>
        <p:blipFill>
          <a:blip r:embed="rId5"/>
          <a:stretch>
            <a:fillRect/>
          </a:stretch>
        </p:blipFill>
        <p:spPr>
          <a:xfrm>
            <a:off x="3608070" y="4697729"/>
            <a:ext cx="434340" cy="434340"/>
          </a:xfrm>
          <a:prstGeom prst="rect">
            <a:avLst/>
          </a:prstGeom>
        </p:spPr>
      </p:pic>
      <p:sp>
        <p:nvSpPr>
          <p:cNvPr id="11" name="TextBox 10"/>
          <p:cNvSpPr txBox="1"/>
          <p:nvPr/>
        </p:nvSpPr>
        <p:spPr>
          <a:xfrm>
            <a:off x="1463040" y="5486400"/>
            <a:ext cx="4724399" cy="4114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Orientadora</a:t>
            </a:r>
          </a:p>
        </p:txBody>
      </p:sp>
      <p:sp>
        <p:nvSpPr>
          <p:cNvPr id="12" name="TextBox 11"/>
          <p:cNvSpPr txBox="1"/>
          <p:nvPr/>
        </p:nvSpPr>
        <p:spPr>
          <a:xfrm>
            <a:off x="1463040" y="5943600"/>
            <a:ext cx="4724399" cy="1325880"/>
          </a:xfrm>
          <a:prstGeom prst="rect">
            <a:avLst/>
          </a:prstGeom>
          <a:noFill/>
        </p:spPr>
        <p:txBody>
          <a:bodyPr wrap="square" lIns="0" rIns="0" tIns="0" bIns="0" anchor="t">
            <a:noAutofit/>
          </a:bodyPr>
          <a:lstStyle/>
          <a:p>
            <a:pPr algn="ctr">
              <a:lnSpc>
                <a:spcPct val="105000"/>
              </a:lnSpc>
              <a:spcAft>
                <a:spcPts val="0"/>
              </a:spcAft>
              <a:buNone/>
            </a:pPr>
            <a:r>
              <a:rPr sz="1700" b="0" i="0">
                <a:solidFill>
                  <a:srgbClr val="1F2433"/>
                </a:solidFill>
                <a:latin typeface="Arial"/>
              </a:rPr>
              <a:t>Profa. Lisie Tocci Justo, pela orientação, supervisão metodológica e revisão crítica.</a:t>
            </a:r>
          </a:p>
        </p:txBody>
      </p:sp>
      <p:sp>
        <p:nvSpPr>
          <p:cNvPr id="13" name="Rounded Rectangle 12"/>
          <p:cNvSpPr/>
          <p:nvPr/>
        </p:nvSpPr>
        <p:spPr>
          <a:xfrm>
            <a:off x="6781799" y="4160520"/>
            <a:ext cx="5364480" cy="3429000"/>
          </a:xfrm>
          <a:prstGeom prst="roundRect">
            <a:avLst>
              <a:gd name="adj" fmla="val 6000"/>
            </a:avLst>
          </a:prstGeom>
          <a:solidFill>
            <a:srgbClr val="F2F4F8"/>
          </a:solidFill>
          <a:ln>
            <a:noFill/>
          </a:ln>
          <a:effectLst/>
        </p:spPr>
        <p:txBody>
          <a:bodyPr rtlCol="0" anchor="ctr"/>
          <a:lstStyle/>
          <a:p/>
        </p:txBody>
      </p:sp>
      <p:sp>
        <p:nvSpPr>
          <p:cNvPr id="14" name="Oval 13"/>
          <p:cNvSpPr/>
          <p:nvPr/>
        </p:nvSpPr>
        <p:spPr>
          <a:xfrm>
            <a:off x="9029700" y="4480559"/>
            <a:ext cx="868680" cy="868680"/>
          </a:xfrm>
          <a:prstGeom prst="ellipse">
            <a:avLst/>
          </a:prstGeom>
          <a:solidFill>
            <a:srgbClr val="002060"/>
          </a:solidFill>
          <a:ln>
            <a:noFill/>
          </a:ln>
          <a:effectLst/>
        </p:spPr>
        <p:txBody>
          <a:bodyPr rtlCol="0" anchor="ctr" lIns="0" rIns="0" tIns="0" bIns="0"/>
          <a:lstStyle/>
          <a:p/>
        </p:txBody>
      </p:sp>
      <p:pic>
        <p:nvPicPr>
          <p:cNvPr id="15" name="icone people" descr="people_white.png"/>
          <p:cNvPicPr>
            <a:picLocks noChangeAspect="1"/>
          </p:cNvPicPr>
          <p:nvPr/>
        </p:nvPicPr>
        <p:blipFill>
          <a:blip r:embed="rId6"/>
          <a:stretch>
            <a:fillRect/>
          </a:stretch>
        </p:blipFill>
        <p:spPr>
          <a:xfrm>
            <a:off x="9246869" y="4697729"/>
            <a:ext cx="434340" cy="434340"/>
          </a:xfrm>
          <a:prstGeom prst="rect">
            <a:avLst/>
          </a:prstGeom>
        </p:spPr>
      </p:pic>
      <p:sp>
        <p:nvSpPr>
          <p:cNvPr id="16" name="TextBox 15"/>
          <p:cNvSpPr txBox="1"/>
          <p:nvPr/>
        </p:nvSpPr>
        <p:spPr>
          <a:xfrm>
            <a:off x="7101839" y="5486400"/>
            <a:ext cx="4724399" cy="4114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Coautores</a:t>
            </a:r>
          </a:p>
        </p:txBody>
      </p:sp>
      <p:sp>
        <p:nvSpPr>
          <p:cNvPr id="17" name="TextBox 16"/>
          <p:cNvSpPr txBox="1"/>
          <p:nvPr/>
        </p:nvSpPr>
        <p:spPr>
          <a:xfrm>
            <a:off x="7101839" y="5943600"/>
            <a:ext cx="4724399" cy="1325880"/>
          </a:xfrm>
          <a:prstGeom prst="rect">
            <a:avLst/>
          </a:prstGeom>
          <a:noFill/>
        </p:spPr>
        <p:txBody>
          <a:bodyPr wrap="square" lIns="0" rIns="0" tIns="0" bIns="0" anchor="t">
            <a:noAutofit/>
          </a:bodyPr>
          <a:lstStyle/>
          <a:p>
            <a:pPr algn="ctr">
              <a:lnSpc>
                <a:spcPct val="105000"/>
              </a:lnSpc>
              <a:spcAft>
                <a:spcPts val="0"/>
              </a:spcAft>
              <a:buNone/>
            </a:pPr>
            <a:r>
              <a:rPr sz="1700" b="0" i="0">
                <a:solidFill>
                  <a:srgbClr val="1F2433"/>
                </a:solidFill>
                <a:latin typeface="Arial"/>
              </a:rPr>
              <a:t>Luiz Henrique Ledesma Pereira (SLMandic Araras) e Dra. Mariana Matera Veras (LIM05, HC-FMUSP), pela interpretação dos resultados e revisão crítica.</a:t>
            </a:r>
          </a:p>
        </p:txBody>
      </p:sp>
      <p:sp>
        <p:nvSpPr>
          <p:cNvPr id="18" name="Rounded Rectangle 17"/>
          <p:cNvSpPr/>
          <p:nvPr/>
        </p:nvSpPr>
        <p:spPr>
          <a:xfrm>
            <a:off x="12420599" y="4160520"/>
            <a:ext cx="5364480" cy="3429000"/>
          </a:xfrm>
          <a:prstGeom prst="roundRect">
            <a:avLst>
              <a:gd name="adj" fmla="val 6000"/>
            </a:avLst>
          </a:prstGeom>
          <a:solidFill>
            <a:srgbClr val="F2F4F8"/>
          </a:solidFill>
          <a:ln>
            <a:noFill/>
          </a:ln>
          <a:effectLst/>
        </p:spPr>
        <p:txBody>
          <a:bodyPr rtlCol="0" anchor="ctr"/>
          <a:lstStyle/>
          <a:p/>
        </p:txBody>
      </p:sp>
      <p:sp>
        <p:nvSpPr>
          <p:cNvPr id="19" name="Oval 18"/>
          <p:cNvSpPr/>
          <p:nvPr/>
        </p:nvSpPr>
        <p:spPr>
          <a:xfrm>
            <a:off x="14668499" y="4480559"/>
            <a:ext cx="868680" cy="868680"/>
          </a:xfrm>
          <a:prstGeom prst="ellipse">
            <a:avLst/>
          </a:prstGeom>
          <a:solidFill>
            <a:srgbClr val="002060"/>
          </a:solidFill>
          <a:ln>
            <a:noFill/>
          </a:ln>
          <a:effectLst/>
        </p:spPr>
        <p:txBody>
          <a:bodyPr rtlCol="0" anchor="ctr" lIns="0" rIns="0" tIns="0" bIns="0"/>
          <a:lstStyle/>
          <a:p/>
        </p:txBody>
      </p:sp>
      <p:pic>
        <p:nvPicPr>
          <p:cNvPr id="20" name="icone hospital" descr="hospital_white.png"/>
          <p:cNvPicPr>
            <a:picLocks noChangeAspect="1"/>
          </p:cNvPicPr>
          <p:nvPr/>
        </p:nvPicPr>
        <p:blipFill>
          <a:blip r:embed="rId7"/>
          <a:stretch>
            <a:fillRect/>
          </a:stretch>
        </p:blipFill>
        <p:spPr>
          <a:xfrm>
            <a:off x="14885669" y="4697729"/>
            <a:ext cx="434340" cy="434340"/>
          </a:xfrm>
          <a:prstGeom prst="rect">
            <a:avLst/>
          </a:prstGeom>
        </p:spPr>
      </p:pic>
      <p:sp>
        <p:nvSpPr>
          <p:cNvPr id="21" name="TextBox 20"/>
          <p:cNvSpPr txBox="1"/>
          <p:nvPr/>
        </p:nvSpPr>
        <p:spPr>
          <a:xfrm>
            <a:off x="12740639" y="5486400"/>
            <a:ext cx="4724399" cy="4114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Instituição</a:t>
            </a:r>
          </a:p>
        </p:txBody>
      </p:sp>
      <p:sp>
        <p:nvSpPr>
          <p:cNvPr id="22" name="TextBox 21"/>
          <p:cNvSpPr txBox="1"/>
          <p:nvPr/>
        </p:nvSpPr>
        <p:spPr>
          <a:xfrm>
            <a:off x="12740639" y="5943600"/>
            <a:ext cx="4724399" cy="1325880"/>
          </a:xfrm>
          <a:prstGeom prst="rect">
            <a:avLst/>
          </a:prstGeom>
          <a:noFill/>
        </p:spPr>
        <p:txBody>
          <a:bodyPr wrap="square" lIns="0" rIns="0" tIns="0" bIns="0" anchor="t">
            <a:noAutofit/>
          </a:bodyPr>
          <a:lstStyle/>
          <a:p>
            <a:pPr algn="ctr">
              <a:lnSpc>
                <a:spcPct val="105000"/>
              </a:lnSpc>
              <a:spcAft>
                <a:spcPts val="0"/>
              </a:spcAft>
              <a:buNone/>
            </a:pPr>
            <a:r>
              <a:rPr sz="1700" b="0" i="0">
                <a:solidFill>
                  <a:srgbClr val="1F2433"/>
                </a:solidFill>
                <a:latin typeface="Arial"/>
              </a:rPr>
              <a:t>Faculdade São Leopoldo Mandic Araras e Programa de Iniciação Científica (PIC), na modalidade voluntária, pelo apoio institucional e metodológico.</a:t>
            </a:r>
          </a:p>
        </p:txBody>
      </p:sp>
      <p:sp>
        <p:nvSpPr>
          <p:cNvPr id="23" name="Rounded Rectangle 22"/>
          <p:cNvSpPr/>
          <p:nvPr/>
        </p:nvSpPr>
        <p:spPr>
          <a:xfrm>
            <a:off x="1143000" y="7863840"/>
            <a:ext cx="16642080" cy="1874519"/>
          </a:xfrm>
          <a:prstGeom prst="roundRect">
            <a:avLst>
              <a:gd name="adj" fmla="val 6000"/>
            </a:avLst>
          </a:prstGeom>
          <a:solidFill>
            <a:srgbClr val="E6EBF5"/>
          </a:solidFill>
          <a:ln>
            <a:noFill/>
          </a:ln>
          <a:effectLst/>
        </p:spPr>
        <p:txBody>
          <a:bodyPr rtlCol="0" anchor="ctr"/>
          <a:lstStyle/>
          <a:p/>
        </p:txBody>
      </p:sp>
      <p:sp>
        <p:nvSpPr>
          <p:cNvPr id="24" name="TextBox 23"/>
          <p:cNvSpPr txBox="1"/>
          <p:nvPr/>
        </p:nvSpPr>
        <p:spPr>
          <a:xfrm>
            <a:off x="1463040" y="8046720"/>
            <a:ext cx="16002000" cy="1508759"/>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002060"/>
                </a:solidFill>
                <a:latin typeface="Arial"/>
              </a:rPr>
              <a:t>Registro PROSPERO: </a:t>
            </a:r>
            <a:r>
              <a:rPr sz="1700" b="0" i="0">
                <a:solidFill>
                  <a:srgbClr val="1F2433"/>
                </a:solidFill>
                <a:latin typeface="Arial"/>
              </a:rPr>
              <a:t>CRD420251238727   ·   </a:t>
            </a:r>
            <a:r>
              <a:rPr sz="1700" b="1" i="0">
                <a:solidFill>
                  <a:srgbClr val="002060"/>
                </a:solidFill>
                <a:latin typeface="Arial"/>
              </a:rPr>
              <a:t>Dados e código: </a:t>
            </a:r>
            <a:r>
              <a:rPr sz="1700" b="0" i="0">
                <a:solidFill>
                  <a:srgbClr val="1F2433"/>
                </a:solidFill>
                <a:latin typeface="Arial"/>
              </a:rPr>
              <a:t>osf.io/jktmn</a:t>
            </a:r>
          </a:p>
          <a:p>
            <a:pPr algn="ctr">
              <a:lnSpc>
                <a:spcPct val="100000"/>
              </a:lnSpc>
              <a:spcAft>
                <a:spcPts val="600"/>
              </a:spcAft>
              <a:buNone/>
            </a:pPr>
            <a:r>
              <a:rPr sz="1700" b="1" i="0">
                <a:solidFill>
                  <a:srgbClr val="002060"/>
                </a:solidFill>
                <a:latin typeface="Arial"/>
              </a:rPr>
              <a:t>Financiamento: </a:t>
            </a:r>
            <a:r>
              <a:rPr sz="1700" b="0" i="0">
                <a:solidFill>
                  <a:srgbClr val="1F2433"/>
                </a:solidFill>
                <a:latin typeface="Arial"/>
              </a:rPr>
              <a:t>nenhum   ·   </a:t>
            </a:r>
            <a:r>
              <a:rPr sz="1700" b="1" i="0">
                <a:solidFill>
                  <a:srgbClr val="002060"/>
                </a:solidFill>
                <a:latin typeface="Arial"/>
              </a:rPr>
              <a:t>Conflitos de interesse: </a:t>
            </a:r>
            <a:r>
              <a:rPr sz="1700" b="0" i="0">
                <a:solidFill>
                  <a:srgbClr val="1F2433"/>
                </a:solidFill>
                <a:latin typeface="Arial"/>
              </a:rPr>
              <a:t>nenhum   ·   </a:t>
            </a:r>
            <a:r>
              <a:rPr sz="1700" b="1" i="0">
                <a:solidFill>
                  <a:srgbClr val="002060"/>
                </a:solidFill>
                <a:latin typeface="Arial"/>
              </a:rPr>
              <a:t>Dispensa do CEP: </a:t>
            </a:r>
            <a:r>
              <a:rPr sz="1700" b="0" i="0">
                <a:solidFill>
                  <a:srgbClr val="1F2433"/>
                </a:solidFill>
                <a:latin typeface="Arial"/>
              </a:rPr>
              <a:t>protocolo 2025/0743 (Res. CNS 510/2016)</a:t>
            </a:r>
          </a:p>
          <a:p>
            <a:pPr algn="ctr">
              <a:lnSpc>
                <a:spcPct val="100000"/>
              </a:lnSpc>
              <a:spcAft>
                <a:spcPts val="600"/>
              </a:spcAft>
              <a:buNone/>
            </a:pPr>
            <a:r>
              <a:rPr sz="1700" b="1" i="0">
                <a:solidFill>
                  <a:srgbClr val="002060"/>
                </a:solidFill>
                <a:latin typeface="Arial"/>
              </a:rPr>
              <a:t>Contato: </a:t>
            </a:r>
            <a:r>
              <a:rPr sz="1700" b="0" i="0">
                <a:solidFill>
                  <a:srgbClr val="1F2433"/>
                </a:solidFill>
                <a:latin typeface="Arial"/>
              </a:rPr>
              <a:t>theo.baccaro@med.slmandic.edu.br</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APOIO · TRAJETÓRIA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Mais de um ano de preparação: formação, protocolo, leitura de 10.910 registros e análise</a:t>
            </a:r>
          </a:p>
        </p:txBody>
      </p:sp>
      <p:cxnSp>
        <p:nvCxnSpPr>
          <p:cNvPr id="7" name="Connector 6"/>
          <p:cNvCxnSpPr/>
          <p:nvPr/>
        </p:nvCxnSpPr>
        <p:spPr>
          <a:xfrm>
            <a:off x="2529840" y="2194560"/>
            <a:ext cx="13868400" cy="0"/>
          </a:xfrm>
          <a:prstGeom prst="line">
            <a:avLst/>
          </a:prstGeom>
          <a:ln w="50800">
            <a:solidFill>
              <a:srgbClr val="C9CFDA"/>
            </a:solidFill>
          </a:ln>
        </p:spPr>
      </p:cxnSp>
      <p:sp>
        <p:nvSpPr>
          <p:cNvPr id="8" name="Oval 7"/>
          <p:cNvSpPr/>
          <p:nvPr/>
        </p:nvSpPr>
        <p:spPr>
          <a:xfrm>
            <a:off x="2164080" y="1828800"/>
            <a:ext cx="731520" cy="731520"/>
          </a:xfrm>
          <a:prstGeom prst="ellipse">
            <a:avLst/>
          </a:prstGeom>
          <a:solidFill>
            <a:srgbClr val="002060"/>
          </a:solidFill>
          <a:ln>
            <a:noFill/>
          </a:ln>
          <a:effectLst/>
        </p:spPr>
        <p:txBody>
          <a:bodyPr rtlCol="0" anchor="ctr" lIns="0" rIns="0" tIns="0" bIns="0"/>
          <a:lstStyle/>
          <a:p/>
        </p:txBody>
      </p:sp>
      <p:pic>
        <p:nvPicPr>
          <p:cNvPr id="9" name="icone graduation" descr="graduation_white.png"/>
          <p:cNvPicPr>
            <a:picLocks noChangeAspect="1"/>
          </p:cNvPicPr>
          <p:nvPr/>
        </p:nvPicPr>
        <p:blipFill>
          <a:blip r:embed="rId4"/>
          <a:stretch>
            <a:fillRect/>
          </a:stretch>
        </p:blipFill>
        <p:spPr>
          <a:xfrm>
            <a:off x="2346960" y="2011679"/>
            <a:ext cx="365760" cy="365760"/>
          </a:xfrm>
          <a:prstGeom prst="rect">
            <a:avLst/>
          </a:prstGeom>
        </p:spPr>
      </p:pic>
      <p:sp>
        <p:nvSpPr>
          <p:cNvPr id="10" name="TextBox 9"/>
          <p:cNvSpPr txBox="1"/>
          <p:nvPr/>
        </p:nvSpPr>
        <p:spPr>
          <a:xfrm>
            <a:off x="1234440" y="265176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Jul/2025</a:t>
            </a:r>
          </a:p>
        </p:txBody>
      </p:sp>
      <p:sp>
        <p:nvSpPr>
          <p:cNvPr id="11" name="TextBox 10"/>
          <p:cNvSpPr txBox="1"/>
          <p:nvPr/>
        </p:nvSpPr>
        <p:spPr>
          <a:xfrm>
            <a:off x="1325880" y="3017520"/>
            <a:ext cx="2407920" cy="68580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RS e metanálise (Unicamp) e escrita científica</a:t>
            </a:r>
          </a:p>
        </p:txBody>
      </p:sp>
      <p:sp>
        <p:nvSpPr>
          <p:cNvPr id="12" name="Oval 11"/>
          <p:cNvSpPr/>
          <p:nvPr/>
        </p:nvSpPr>
        <p:spPr>
          <a:xfrm>
            <a:off x="4937759" y="1828800"/>
            <a:ext cx="731520" cy="731520"/>
          </a:xfrm>
          <a:prstGeom prst="ellipse">
            <a:avLst/>
          </a:prstGeom>
          <a:solidFill>
            <a:srgbClr val="002060"/>
          </a:solidFill>
          <a:ln>
            <a:noFill/>
          </a:ln>
          <a:effectLst/>
        </p:spPr>
        <p:txBody>
          <a:bodyPr rtlCol="0" anchor="ctr" lIns="0" rIns="0" tIns="0" bIns="0"/>
          <a:lstStyle/>
          <a:p/>
        </p:txBody>
      </p:sp>
      <p:pic>
        <p:nvPicPr>
          <p:cNvPr id="13" name="icone clipboard" descr="clipboard_white.png"/>
          <p:cNvPicPr>
            <a:picLocks noChangeAspect="1"/>
          </p:cNvPicPr>
          <p:nvPr/>
        </p:nvPicPr>
        <p:blipFill>
          <a:blip r:embed="rId5"/>
          <a:stretch>
            <a:fillRect/>
          </a:stretch>
        </p:blipFill>
        <p:spPr>
          <a:xfrm>
            <a:off x="5120640" y="2011679"/>
            <a:ext cx="365760" cy="365760"/>
          </a:xfrm>
          <a:prstGeom prst="rect">
            <a:avLst/>
          </a:prstGeom>
        </p:spPr>
      </p:pic>
      <p:sp>
        <p:nvSpPr>
          <p:cNvPr id="14" name="TextBox 13"/>
          <p:cNvSpPr txBox="1"/>
          <p:nvPr/>
        </p:nvSpPr>
        <p:spPr>
          <a:xfrm>
            <a:off x="4008119" y="265176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2025</a:t>
            </a:r>
          </a:p>
        </p:txBody>
      </p:sp>
      <p:sp>
        <p:nvSpPr>
          <p:cNvPr id="15" name="TextBox 14"/>
          <p:cNvSpPr txBox="1"/>
          <p:nvPr/>
        </p:nvSpPr>
        <p:spPr>
          <a:xfrm>
            <a:off x="4099560" y="3017520"/>
            <a:ext cx="2407920" cy="68580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Protocolo no PROSPERO e dispensa do CEP</a:t>
            </a:r>
          </a:p>
        </p:txBody>
      </p:sp>
      <p:sp>
        <p:nvSpPr>
          <p:cNvPr id="16" name="Oval 15"/>
          <p:cNvSpPr/>
          <p:nvPr/>
        </p:nvSpPr>
        <p:spPr>
          <a:xfrm>
            <a:off x="7711439" y="1828800"/>
            <a:ext cx="731520" cy="731520"/>
          </a:xfrm>
          <a:prstGeom prst="ellipse">
            <a:avLst/>
          </a:prstGeom>
          <a:solidFill>
            <a:srgbClr val="002060"/>
          </a:solidFill>
          <a:ln>
            <a:noFill/>
          </a:ln>
          <a:effectLst/>
        </p:spPr>
        <p:txBody>
          <a:bodyPr rtlCol="0" anchor="ctr" lIns="0" rIns="0" tIns="0" bIns="0"/>
          <a:lstStyle/>
          <a:p/>
        </p:txBody>
      </p:sp>
      <p:pic>
        <p:nvPicPr>
          <p:cNvPr id="17" name="icone book" descr="book_white.png"/>
          <p:cNvPicPr>
            <a:picLocks noChangeAspect="1"/>
          </p:cNvPicPr>
          <p:nvPr/>
        </p:nvPicPr>
        <p:blipFill>
          <a:blip r:embed="rId6"/>
          <a:stretch>
            <a:fillRect/>
          </a:stretch>
        </p:blipFill>
        <p:spPr>
          <a:xfrm>
            <a:off x="7894320" y="2011679"/>
            <a:ext cx="365760" cy="365760"/>
          </a:xfrm>
          <a:prstGeom prst="rect">
            <a:avLst/>
          </a:prstGeom>
        </p:spPr>
      </p:pic>
      <p:sp>
        <p:nvSpPr>
          <p:cNvPr id="18" name="TextBox 17"/>
          <p:cNvSpPr txBox="1"/>
          <p:nvPr/>
        </p:nvSpPr>
        <p:spPr>
          <a:xfrm>
            <a:off x="6781799" y="265176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Mar/2026</a:t>
            </a:r>
          </a:p>
        </p:txBody>
      </p:sp>
      <p:sp>
        <p:nvSpPr>
          <p:cNvPr id="19" name="TextBox 18"/>
          <p:cNvSpPr txBox="1"/>
          <p:nvPr/>
        </p:nvSpPr>
        <p:spPr>
          <a:xfrm>
            <a:off x="6873239" y="3017520"/>
            <a:ext cx="2407920" cy="68580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Normalização ABNT e referências (Fiocruz)</a:t>
            </a:r>
          </a:p>
        </p:txBody>
      </p:sp>
      <p:sp>
        <p:nvSpPr>
          <p:cNvPr id="20" name="Oval 19"/>
          <p:cNvSpPr/>
          <p:nvPr/>
        </p:nvSpPr>
        <p:spPr>
          <a:xfrm>
            <a:off x="10485120" y="1828800"/>
            <a:ext cx="731520" cy="731520"/>
          </a:xfrm>
          <a:prstGeom prst="ellipse">
            <a:avLst/>
          </a:prstGeom>
          <a:solidFill>
            <a:srgbClr val="002060"/>
          </a:solidFill>
          <a:ln>
            <a:noFill/>
          </a:ln>
          <a:effectLst/>
        </p:spPr>
        <p:txBody>
          <a:bodyPr rtlCol="0" anchor="ctr" lIns="0" rIns="0" tIns="0" bIns="0"/>
          <a:lstStyle/>
          <a:p/>
        </p:txBody>
      </p:sp>
      <p:pic>
        <p:nvPicPr>
          <p:cNvPr id="21" name="icone search" descr="search_white.png"/>
          <p:cNvPicPr>
            <a:picLocks noChangeAspect="1"/>
          </p:cNvPicPr>
          <p:nvPr/>
        </p:nvPicPr>
        <p:blipFill>
          <a:blip r:embed="rId7"/>
          <a:stretch>
            <a:fillRect/>
          </a:stretch>
        </p:blipFill>
        <p:spPr>
          <a:xfrm>
            <a:off x="10668000" y="2011679"/>
            <a:ext cx="365760" cy="365760"/>
          </a:xfrm>
          <a:prstGeom prst="rect">
            <a:avLst/>
          </a:prstGeom>
        </p:spPr>
      </p:pic>
      <p:sp>
        <p:nvSpPr>
          <p:cNvPr id="22" name="TextBox 21"/>
          <p:cNvSpPr txBox="1"/>
          <p:nvPr/>
        </p:nvSpPr>
        <p:spPr>
          <a:xfrm>
            <a:off x="9555480" y="265176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Jul/2026</a:t>
            </a:r>
          </a:p>
        </p:txBody>
      </p:sp>
      <p:sp>
        <p:nvSpPr>
          <p:cNvPr id="23" name="TextBox 22"/>
          <p:cNvSpPr txBox="1"/>
          <p:nvPr/>
        </p:nvSpPr>
        <p:spPr>
          <a:xfrm>
            <a:off x="9646920" y="3017520"/>
            <a:ext cx="2407920" cy="68580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Busca final em 7 bases (09/07) e projeto no OSF</a:t>
            </a:r>
          </a:p>
        </p:txBody>
      </p:sp>
      <p:sp>
        <p:nvSpPr>
          <p:cNvPr id="24" name="Oval 23"/>
          <p:cNvSpPr/>
          <p:nvPr/>
        </p:nvSpPr>
        <p:spPr>
          <a:xfrm>
            <a:off x="13258799" y="1828800"/>
            <a:ext cx="731520" cy="731520"/>
          </a:xfrm>
          <a:prstGeom prst="ellipse">
            <a:avLst/>
          </a:prstGeom>
          <a:solidFill>
            <a:srgbClr val="002060"/>
          </a:solidFill>
          <a:ln>
            <a:noFill/>
          </a:ln>
          <a:effectLst/>
        </p:spPr>
        <p:txBody>
          <a:bodyPr rtlCol="0" anchor="ctr" lIns="0" rIns="0" tIns="0" bIns="0"/>
          <a:lstStyle/>
          <a:p/>
        </p:txBody>
      </p:sp>
      <p:pic>
        <p:nvPicPr>
          <p:cNvPr id="25" name="icone filter" descr="filter_white.png"/>
          <p:cNvPicPr>
            <a:picLocks noChangeAspect="1"/>
          </p:cNvPicPr>
          <p:nvPr/>
        </p:nvPicPr>
        <p:blipFill>
          <a:blip r:embed="rId8"/>
          <a:stretch>
            <a:fillRect/>
          </a:stretch>
        </p:blipFill>
        <p:spPr>
          <a:xfrm>
            <a:off x="13441680" y="2011679"/>
            <a:ext cx="365760" cy="365760"/>
          </a:xfrm>
          <a:prstGeom prst="rect">
            <a:avLst/>
          </a:prstGeom>
        </p:spPr>
      </p:pic>
      <p:sp>
        <p:nvSpPr>
          <p:cNvPr id="26" name="TextBox 25"/>
          <p:cNvSpPr txBox="1"/>
          <p:nvPr/>
        </p:nvSpPr>
        <p:spPr>
          <a:xfrm>
            <a:off x="12329160" y="265176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Jul–Ago/2026</a:t>
            </a:r>
          </a:p>
        </p:txBody>
      </p:sp>
      <p:sp>
        <p:nvSpPr>
          <p:cNvPr id="27" name="TextBox 26"/>
          <p:cNvSpPr txBox="1"/>
          <p:nvPr/>
        </p:nvSpPr>
        <p:spPr>
          <a:xfrm>
            <a:off x="12420599" y="3017520"/>
            <a:ext cx="2407920" cy="68580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10.910 títulos e resumos lidos, um a um</a:t>
            </a:r>
          </a:p>
        </p:txBody>
      </p:sp>
      <p:sp>
        <p:nvSpPr>
          <p:cNvPr id="28" name="Oval 27"/>
          <p:cNvSpPr/>
          <p:nvPr/>
        </p:nvSpPr>
        <p:spPr>
          <a:xfrm>
            <a:off x="16032480" y="1828800"/>
            <a:ext cx="731520" cy="731520"/>
          </a:xfrm>
          <a:prstGeom prst="ellipse">
            <a:avLst/>
          </a:prstGeom>
          <a:solidFill>
            <a:srgbClr val="8B0000"/>
          </a:solidFill>
          <a:ln>
            <a:noFill/>
          </a:ln>
          <a:effectLst/>
        </p:spPr>
        <p:txBody>
          <a:bodyPr rtlCol="0" anchor="ctr" lIns="0" rIns="0" tIns="0" bIns="0"/>
          <a:lstStyle/>
          <a:p/>
        </p:txBody>
      </p:sp>
      <p:pic>
        <p:nvPicPr>
          <p:cNvPr id="29" name="icone chart" descr="chart_white.png"/>
          <p:cNvPicPr>
            <a:picLocks noChangeAspect="1"/>
          </p:cNvPicPr>
          <p:nvPr/>
        </p:nvPicPr>
        <p:blipFill>
          <a:blip r:embed="rId9"/>
          <a:stretch>
            <a:fillRect/>
          </a:stretch>
        </p:blipFill>
        <p:spPr>
          <a:xfrm>
            <a:off x="16215360" y="2011679"/>
            <a:ext cx="365760" cy="365760"/>
          </a:xfrm>
          <a:prstGeom prst="rect">
            <a:avLst/>
          </a:prstGeom>
        </p:spPr>
      </p:pic>
      <p:sp>
        <p:nvSpPr>
          <p:cNvPr id="30" name="TextBox 29"/>
          <p:cNvSpPr txBox="1"/>
          <p:nvPr/>
        </p:nvSpPr>
        <p:spPr>
          <a:xfrm>
            <a:off x="15102840" y="265176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Até Out/2026</a:t>
            </a:r>
          </a:p>
        </p:txBody>
      </p:sp>
      <p:sp>
        <p:nvSpPr>
          <p:cNvPr id="31" name="TextBox 30"/>
          <p:cNvSpPr txBox="1"/>
          <p:nvPr/>
        </p:nvSpPr>
        <p:spPr>
          <a:xfrm>
            <a:off x="15194280" y="3017520"/>
            <a:ext cx="2407920" cy="68580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Extração, JBI, metanálise, GRADE e manuscrito</a:t>
            </a:r>
          </a:p>
        </p:txBody>
      </p:sp>
      <p:sp>
        <p:nvSpPr>
          <p:cNvPr id="32" name="Rounded Rectangle 31"/>
          <p:cNvSpPr/>
          <p:nvPr/>
        </p:nvSpPr>
        <p:spPr>
          <a:xfrm>
            <a:off x="1143000" y="3840480"/>
            <a:ext cx="5212080" cy="5897880"/>
          </a:xfrm>
          <a:prstGeom prst="roundRect">
            <a:avLst>
              <a:gd name="adj" fmla="val 6000"/>
            </a:avLst>
          </a:prstGeom>
          <a:solidFill>
            <a:srgbClr val="F2F4F8"/>
          </a:solidFill>
          <a:ln>
            <a:noFill/>
          </a:ln>
          <a:effectLst/>
        </p:spPr>
        <p:txBody>
          <a:bodyPr rtlCol="0" anchor="ctr"/>
          <a:lstStyle/>
          <a:p/>
        </p:txBody>
      </p:sp>
      <p:sp>
        <p:nvSpPr>
          <p:cNvPr id="33" name="Oval 32"/>
          <p:cNvSpPr/>
          <p:nvPr/>
        </p:nvSpPr>
        <p:spPr>
          <a:xfrm>
            <a:off x="1463040" y="4160520"/>
            <a:ext cx="640080" cy="640080"/>
          </a:xfrm>
          <a:prstGeom prst="ellipse">
            <a:avLst/>
          </a:prstGeom>
          <a:solidFill>
            <a:srgbClr val="002060"/>
          </a:solidFill>
          <a:ln>
            <a:noFill/>
          </a:ln>
          <a:effectLst/>
        </p:spPr>
        <p:txBody>
          <a:bodyPr rtlCol="0" anchor="ctr" lIns="0" rIns="0" tIns="0" bIns="0"/>
          <a:lstStyle/>
          <a:p/>
        </p:txBody>
      </p:sp>
      <p:pic>
        <p:nvPicPr>
          <p:cNvPr id="34" name="icone graduation" descr="graduation_white.png"/>
          <p:cNvPicPr>
            <a:picLocks noChangeAspect="1"/>
          </p:cNvPicPr>
          <p:nvPr/>
        </p:nvPicPr>
        <p:blipFill>
          <a:blip r:embed="rId4"/>
          <a:stretch>
            <a:fillRect/>
          </a:stretch>
        </p:blipFill>
        <p:spPr>
          <a:xfrm>
            <a:off x="1623060" y="4320540"/>
            <a:ext cx="320040" cy="320040"/>
          </a:xfrm>
          <a:prstGeom prst="rect">
            <a:avLst/>
          </a:prstGeom>
        </p:spPr>
      </p:pic>
      <p:sp>
        <p:nvSpPr>
          <p:cNvPr id="35" name="TextBox 34"/>
          <p:cNvSpPr txBox="1"/>
          <p:nvPr/>
        </p:nvSpPr>
        <p:spPr>
          <a:xfrm>
            <a:off x="2331720" y="4160520"/>
            <a:ext cx="3703320" cy="640080"/>
          </a:xfrm>
          <a:prstGeom prst="rect">
            <a:avLst/>
          </a:prstGeom>
          <a:noFill/>
        </p:spPr>
        <p:txBody>
          <a:bodyPr wrap="square" lIns="0" rIns="0" tIns="0" bIns="0" anchor="ctr">
            <a:noAutofit/>
          </a:bodyPr>
          <a:lstStyle/>
          <a:p>
            <a:pPr algn="l">
              <a:lnSpc>
                <a:spcPct val="100000"/>
              </a:lnSpc>
              <a:spcAft>
                <a:spcPts val="0"/>
              </a:spcAft>
              <a:buNone/>
            </a:pPr>
            <a:r>
              <a:rPr sz="1900" b="1" i="0">
                <a:solidFill>
                  <a:srgbClr val="002060"/>
                </a:solidFill>
                <a:latin typeface="Arial"/>
              </a:rPr>
              <a:t>Formação certificada · ≈ 49 h</a:t>
            </a:r>
          </a:p>
        </p:txBody>
      </p:sp>
      <p:pic>
        <p:nvPicPr>
          <p:cNvPr id="36" name="Picture 35" descr="cert_unicamp_rs_metanalise.jpg"/>
          <p:cNvPicPr>
            <a:picLocks noChangeAspect="1"/>
          </p:cNvPicPr>
          <p:nvPr/>
        </p:nvPicPr>
        <p:blipFill>
          <a:blip r:embed="rId10"/>
          <a:stretch>
            <a:fillRect/>
          </a:stretch>
        </p:blipFill>
        <p:spPr>
          <a:xfrm>
            <a:off x="1730571" y="5257800"/>
            <a:ext cx="1613777" cy="1248156"/>
          </a:xfrm>
          <a:prstGeom prst="rect">
            <a:avLst/>
          </a:prstGeom>
          <a:ln w="9525">
            <a:solidFill>
              <a:srgbClr val="C9CFDA"/>
            </a:solidFill>
          </a:ln>
        </p:spPr>
      </p:pic>
      <p:sp>
        <p:nvSpPr>
          <p:cNvPr id="37" name="TextBox 36"/>
          <p:cNvSpPr txBox="1"/>
          <p:nvPr/>
        </p:nvSpPr>
        <p:spPr>
          <a:xfrm>
            <a:off x="1463040" y="6597396"/>
            <a:ext cx="2148840" cy="68580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RS e Metanálise</a:t>
            </a:r>
          </a:p>
          <a:p>
            <a:pPr algn="ctr">
              <a:lnSpc>
                <a:spcPct val="100000"/>
              </a:lnSpc>
              <a:spcAft>
                <a:spcPts val="0"/>
              </a:spcAft>
              <a:buNone/>
            </a:pPr>
            <a:r>
              <a:rPr sz="1400" b="0" i="0">
                <a:solidFill>
                  <a:srgbClr val="5A6270"/>
                </a:solidFill>
                <a:latin typeface="Arial"/>
              </a:rPr>
              <a:t>Unicamp · 40 h</a:t>
            </a:r>
          </a:p>
          <a:p>
            <a:pPr algn="ctr">
              <a:lnSpc>
                <a:spcPct val="100000"/>
              </a:lnSpc>
              <a:spcAft>
                <a:spcPts val="0"/>
              </a:spcAft>
              <a:buNone/>
            </a:pPr>
            <a:r>
              <a:rPr sz="1400" b="1" i="0">
                <a:solidFill>
                  <a:srgbClr val="8A6D1F"/>
                </a:solidFill>
                <a:latin typeface="Arial"/>
              </a:rPr>
              <a:t>com distinção</a:t>
            </a:r>
          </a:p>
        </p:txBody>
      </p:sp>
      <p:pic>
        <p:nvPicPr>
          <p:cNvPr id="38" name="Picture 37" descr="cert_zuco_escrita.jpg"/>
          <p:cNvPicPr>
            <a:picLocks noChangeAspect="1"/>
          </p:cNvPicPr>
          <p:nvPr/>
        </p:nvPicPr>
        <p:blipFill>
          <a:blip r:embed="rId11"/>
          <a:stretch>
            <a:fillRect/>
          </a:stretch>
        </p:blipFill>
        <p:spPr>
          <a:xfrm>
            <a:off x="4123282" y="5257800"/>
            <a:ext cx="1674674" cy="1248156"/>
          </a:xfrm>
          <a:prstGeom prst="rect">
            <a:avLst/>
          </a:prstGeom>
          <a:ln w="9525">
            <a:solidFill>
              <a:srgbClr val="C9CFDA"/>
            </a:solidFill>
          </a:ln>
        </p:spPr>
      </p:pic>
      <p:sp>
        <p:nvSpPr>
          <p:cNvPr id="39" name="TextBox 38"/>
          <p:cNvSpPr txBox="1"/>
          <p:nvPr/>
        </p:nvSpPr>
        <p:spPr>
          <a:xfrm>
            <a:off x="3886200" y="6597396"/>
            <a:ext cx="2148840" cy="68580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Escrita científica</a:t>
            </a:r>
          </a:p>
          <a:p>
            <a:pPr algn="ctr">
              <a:lnSpc>
                <a:spcPct val="100000"/>
              </a:lnSpc>
              <a:spcAft>
                <a:spcPts val="0"/>
              </a:spcAft>
              <a:buNone/>
            </a:pPr>
            <a:r>
              <a:rPr sz="1400" b="0" i="0">
                <a:solidFill>
                  <a:srgbClr val="5A6270"/>
                </a:solidFill>
                <a:latin typeface="Arial"/>
              </a:rPr>
              <a:t>ZucoEscrita · 3,6 h</a:t>
            </a:r>
          </a:p>
        </p:txBody>
      </p:sp>
      <p:pic>
        <p:nvPicPr>
          <p:cNvPr id="40" name="Picture 39" descr="cert_fiocruz_abnt.jpg"/>
          <p:cNvPicPr>
            <a:picLocks noChangeAspect="1"/>
          </p:cNvPicPr>
          <p:nvPr/>
        </p:nvPicPr>
        <p:blipFill>
          <a:blip r:embed="rId12"/>
          <a:stretch>
            <a:fillRect/>
          </a:stretch>
        </p:blipFill>
        <p:spPr>
          <a:xfrm>
            <a:off x="1617160" y="7658100"/>
            <a:ext cx="1840598" cy="1248156"/>
          </a:xfrm>
          <a:prstGeom prst="rect">
            <a:avLst/>
          </a:prstGeom>
          <a:ln w="9525">
            <a:solidFill>
              <a:srgbClr val="C9CFDA"/>
            </a:solidFill>
          </a:ln>
        </p:spPr>
      </p:pic>
      <p:sp>
        <p:nvSpPr>
          <p:cNvPr id="41" name="TextBox 40"/>
          <p:cNvSpPr txBox="1"/>
          <p:nvPr/>
        </p:nvSpPr>
        <p:spPr>
          <a:xfrm>
            <a:off x="1463040" y="8997696"/>
            <a:ext cx="2148840" cy="68580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Normas ABNT</a:t>
            </a:r>
          </a:p>
          <a:p>
            <a:pPr algn="ctr">
              <a:lnSpc>
                <a:spcPct val="100000"/>
              </a:lnSpc>
              <a:spcAft>
                <a:spcPts val="0"/>
              </a:spcAft>
              <a:buNone/>
            </a:pPr>
            <a:r>
              <a:rPr sz="1400" b="0" i="0">
                <a:solidFill>
                  <a:srgbClr val="5A6270"/>
                </a:solidFill>
                <a:latin typeface="Arial"/>
              </a:rPr>
              <a:t>Fiocruz · 3 h</a:t>
            </a:r>
          </a:p>
        </p:txBody>
      </p:sp>
      <p:pic>
        <p:nvPicPr>
          <p:cNvPr id="42" name="Picture 41" descr="cert_fiocruz_referencias.jpg"/>
          <p:cNvPicPr>
            <a:picLocks noChangeAspect="1"/>
          </p:cNvPicPr>
          <p:nvPr/>
        </p:nvPicPr>
        <p:blipFill>
          <a:blip r:embed="rId13"/>
          <a:stretch>
            <a:fillRect/>
          </a:stretch>
        </p:blipFill>
        <p:spPr>
          <a:xfrm>
            <a:off x="4040320" y="7658100"/>
            <a:ext cx="1840598" cy="1248156"/>
          </a:xfrm>
          <a:prstGeom prst="rect">
            <a:avLst/>
          </a:prstGeom>
          <a:ln w="9525">
            <a:solidFill>
              <a:srgbClr val="C9CFDA"/>
            </a:solidFill>
          </a:ln>
        </p:spPr>
      </p:pic>
      <p:sp>
        <p:nvSpPr>
          <p:cNvPr id="43" name="TextBox 42"/>
          <p:cNvSpPr txBox="1"/>
          <p:nvPr/>
        </p:nvSpPr>
        <p:spPr>
          <a:xfrm>
            <a:off x="3886200" y="8997696"/>
            <a:ext cx="2148840" cy="68580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Referências (ABNT)</a:t>
            </a:r>
          </a:p>
          <a:p>
            <a:pPr algn="ctr">
              <a:lnSpc>
                <a:spcPct val="100000"/>
              </a:lnSpc>
              <a:spcAft>
                <a:spcPts val="0"/>
              </a:spcAft>
              <a:buNone/>
            </a:pPr>
            <a:r>
              <a:rPr sz="1400" b="0" i="0">
                <a:solidFill>
                  <a:srgbClr val="5A6270"/>
                </a:solidFill>
                <a:latin typeface="Arial"/>
              </a:rPr>
              <a:t>Fiocruz · 2 h</a:t>
            </a:r>
          </a:p>
        </p:txBody>
      </p:sp>
      <p:sp>
        <p:nvSpPr>
          <p:cNvPr id="44" name="Rounded Rectangle 43"/>
          <p:cNvSpPr/>
          <p:nvPr/>
        </p:nvSpPr>
        <p:spPr>
          <a:xfrm>
            <a:off x="6629400" y="3840480"/>
            <a:ext cx="11155680" cy="5897880"/>
          </a:xfrm>
          <a:prstGeom prst="roundRect">
            <a:avLst>
              <a:gd name="adj" fmla="val 6000"/>
            </a:avLst>
          </a:prstGeom>
          <a:solidFill>
            <a:srgbClr val="F2F4F8"/>
          </a:solidFill>
          <a:ln>
            <a:noFill/>
          </a:ln>
          <a:effectLst/>
        </p:spPr>
        <p:txBody>
          <a:bodyPr rtlCol="0" anchor="ctr"/>
          <a:lstStyle/>
          <a:p/>
        </p:txBody>
      </p:sp>
      <p:sp>
        <p:nvSpPr>
          <p:cNvPr id="45" name="Oval 44"/>
          <p:cNvSpPr/>
          <p:nvPr/>
        </p:nvSpPr>
        <p:spPr>
          <a:xfrm>
            <a:off x="6949440" y="4160520"/>
            <a:ext cx="640080" cy="640080"/>
          </a:xfrm>
          <a:prstGeom prst="ellipse">
            <a:avLst/>
          </a:prstGeom>
          <a:solidFill>
            <a:srgbClr val="002060"/>
          </a:solidFill>
          <a:ln>
            <a:noFill/>
          </a:ln>
          <a:effectLst/>
        </p:spPr>
        <p:txBody>
          <a:bodyPr rtlCol="0" anchor="ctr" lIns="0" rIns="0" tIns="0" bIns="0"/>
          <a:lstStyle/>
          <a:p/>
        </p:txBody>
      </p:sp>
      <p:pic>
        <p:nvPicPr>
          <p:cNvPr id="46" name="icone book" descr="book_white.png"/>
          <p:cNvPicPr>
            <a:picLocks noChangeAspect="1"/>
          </p:cNvPicPr>
          <p:nvPr/>
        </p:nvPicPr>
        <p:blipFill>
          <a:blip r:embed="rId6"/>
          <a:stretch>
            <a:fillRect/>
          </a:stretch>
        </p:blipFill>
        <p:spPr>
          <a:xfrm>
            <a:off x="7109459" y="4320540"/>
            <a:ext cx="320040" cy="320040"/>
          </a:xfrm>
          <a:prstGeom prst="rect">
            <a:avLst/>
          </a:prstGeom>
        </p:spPr>
      </p:pic>
      <p:sp>
        <p:nvSpPr>
          <p:cNvPr id="47" name="TextBox 46"/>
          <p:cNvSpPr txBox="1"/>
          <p:nvPr/>
        </p:nvSpPr>
        <p:spPr>
          <a:xfrm>
            <a:off x="7818119" y="4160520"/>
            <a:ext cx="9646919" cy="640080"/>
          </a:xfrm>
          <a:prstGeom prst="rect">
            <a:avLst/>
          </a:prstGeom>
          <a:noFill/>
        </p:spPr>
        <p:txBody>
          <a:bodyPr wrap="square" lIns="0" rIns="0" tIns="0" bIns="0" anchor="ctr">
            <a:noAutofit/>
          </a:bodyPr>
          <a:lstStyle/>
          <a:p>
            <a:pPr algn="l">
              <a:lnSpc>
                <a:spcPct val="100000"/>
              </a:lnSpc>
              <a:spcAft>
                <a:spcPts val="0"/>
              </a:spcAft>
              <a:buNone/>
            </a:pPr>
            <a:r>
              <a:rPr sz="1900" b="1" i="0">
                <a:solidFill>
                  <a:srgbClr val="002060"/>
                </a:solidFill>
                <a:latin typeface="Arial"/>
              </a:rPr>
              <a:t>Base metodológica: guias, ferramentas e livros estudados</a:t>
            </a:r>
          </a:p>
        </p:txBody>
      </p:sp>
      <p:sp>
        <p:nvSpPr>
          <p:cNvPr id="48" name="TextBox 47"/>
          <p:cNvSpPr txBox="1"/>
          <p:nvPr/>
        </p:nvSpPr>
        <p:spPr>
          <a:xfrm>
            <a:off x="6949440" y="4892040"/>
            <a:ext cx="10515600" cy="292608"/>
          </a:xfrm>
          <a:prstGeom prst="rect">
            <a:avLst/>
          </a:prstGeom>
          <a:noFill/>
        </p:spPr>
        <p:txBody>
          <a:bodyPr wrap="square" lIns="0" rIns="0" tIns="0" bIns="0" anchor="t">
            <a:noAutofit/>
          </a:bodyPr>
          <a:lstStyle/>
          <a:p>
            <a:pPr algn="l">
              <a:lnSpc>
                <a:spcPct val="100000"/>
              </a:lnSpc>
              <a:spcAft>
                <a:spcPts val="0"/>
              </a:spcAft>
              <a:buNone/>
            </a:pPr>
            <a:r>
              <a:rPr sz="1400" b="1" i="0">
                <a:solidFill>
                  <a:srgbClr val="5A6270"/>
                </a:solidFill>
                <a:latin typeface="Arial"/>
              </a:rPr>
              <a:t>GUIA DE RELATO, DIRETRIZES DO MINISTÉRIO DA SAÚDE E FERRAMENTAS DE RISCO DE VIÉS</a:t>
            </a:r>
          </a:p>
        </p:txBody>
      </p:sp>
      <p:pic>
        <p:nvPicPr>
          <p:cNvPr id="49" name="Picture 48" descr="capa_prisma2020.jpg"/>
          <p:cNvPicPr>
            <a:picLocks noChangeAspect="1"/>
          </p:cNvPicPr>
          <p:nvPr/>
        </p:nvPicPr>
        <p:blipFill>
          <a:blip r:embed="rId14"/>
          <a:stretch>
            <a:fillRect/>
          </a:stretch>
        </p:blipFill>
        <p:spPr>
          <a:xfrm>
            <a:off x="7377662" y="5257800"/>
            <a:ext cx="896155" cy="1248156"/>
          </a:xfrm>
          <a:prstGeom prst="rect">
            <a:avLst/>
          </a:prstGeom>
          <a:ln w="9525">
            <a:solidFill>
              <a:srgbClr val="C9CFDA"/>
            </a:solidFill>
          </a:ln>
        </p:spPr>
      </p:pic>
      <p:sp>
        <p:nvSpPr>
          <p:cNvPr id="50" name="TextBox 49"/>
          <p:cNvSpPr txBox="1"/>
          <p:nvPr/>
        </p:nvSpPr>
        <p:spPr>
          <a:xfrm>
            <a:off x="6949440" y="65791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PRISMA 2020</a:t>
            </a:r>
          </a:p>
          <a:p>
            <a:pPr algn="ctr">
              <a:lnSpc>
                <a:spcPct val="100000"/>
              </a:lnSpc>
              <a:spcAft>
                <a:spcPts val="0"/>
              </a:spcAft>
              <a:buNone/>
            </a:pPr>
            <a:r>
              <a:rPr sz="1300" b="0" i="0">
                <a:solidFill>
                  <a:srgbClr val="5A6270"/>
                </a:solidFill>
                <a:latin typeface="Arial"/>
              </a:rPr>
              <a:t>Page et al.</a:t>
            </a:r>
          </a:p>
        </p:txBody>
      </p:sp>
      <p:pic>
        <p:nvPicPr>
          <p:cNvPr id="51" name="Picture 50" descr="capa_ms_observacionais.jpg"/>
          <p:cNvPicPr>
            <a:picLocks noChangeAspect="1"/>
          </p:cNvPicPr>
          <p:nvPr/>
        </p:nvPicPr>
        <p:blipFill>
          <a:blip r:embed="rId15"/>
          <a:stretch>
            <a:fillRect/>
          </a:stretch>
        </p:blipFill>
        <p:spPr>
          <a:xfrm>
            <a:off x="9136213" y="5257800"/>
            <a:ext cx="884252" cy="1248156"/>
          </a:xfrm>
          <a:prstGeom prst="rect">
            <a:avLst/>
          </a:prstGeom>
          <a:ln w="9525">
            <a:solidFill>
              <a:srgbClr val="C9CFDA"/>
            </a:solidFill>
          </a:ln>
        </p:spPr>
      </p:pic>
      <p:sp>
        <p:nvSpPr>
          <p:cNvPr id="52" name="TextBox 51"/>
          <p:cNvSpPr txBox="1"/>
          <p:nvPr/>
        </p:nvSpPr>
        <p:spPr>
          <a:xfrm>
            <a:off x="8702040" y="65791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MS 2014</a:t>
            </a:r>
          </a:p>
          <a:p>
            <a:pPr algn="ctr">
              <a:lnSpc>
                <a:spcPct val="100000"/>
              </a:lnSpc>
              <a:spcAft>
                <a:spcPts val="0"/>
              </a:spcAft>
              <a:buNone/>
            </a:pPr>
            <a:r>
              <a:rPr sz="1300" b="0" i="0">
                <a:solidFill>
                  <a:srgbClr val="5A6270"/>
                </a:solidFill>
                <a:latin typeface="Arial"/>
              </a:rPr>
              <a:t>Observacionais</a:t>
            </a:r>
          </a:p>
        </p:txBody>
      </p:sp>
      <p:pic>
        <p:nvPicPr>
          <p:cNvPr id="53" name="Picture 52" descr="capa_ms_grade.jpg"/>
          <p:cNvPicPr>
            <a:picLocks noChangeAspect="1"/>
          </p:cNvPicPr>
          <p:nvPr/>
        </p:nvPicPr>
        <p:blipFill>
          <a:blip r:embed="rId16"/>
          <a:stretch>
            <a:fillRect/>
          </a:stretch>
        </p:blipFill>
        <p:spPr>
          <a:xfrm>
            <a:off x="10888813" y="5257800"/>
            <a:ext cx="884252" cy="1248156"/>
          </a:xfrm>
          <a:prstGeom prst="rect">
            <a:avLst/>
          </a:prstGeom>
          <a:ln w="9525">
            <a:solidFill>
              <a:srgbClr val="C9CFDA"/>
            </a:solidFill>
          </a:ln>
        </p:spPr>
      </p:pic>
      <p:sp>
        <p:nvSpPr>
          <p:cNvPr id="54" name="TextBox 53"/>
          <p:cNvSpPr txBox="1"/>
          <p:nvPr/>
        </p:nvSpPr>
        <p:spPr>
          <a:xfrm>
            <a:off x="10454640" y="65791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MS 2014</a:t>
            </a:r>
          </a:p>
          <a:p>
            <a:pPr algn="ctr">
              <a:lnSpc>
                <a:spcPct val="100000"/>
              </a:lnSpc>
              <a:spcAft>
                <a:spcPts val="0"/>
              </a:spcAft>
              <a:buNone/>
            </a:pPr>
            <a:r>
              <a:rPr sz="1300" b="0" i="0">
                <a:solidFill>
                  <a:srgbClr val="5A6270"/>
                </a:solidFill>
                <a:latin typeface="Arial"/>
              </a:rPr>
              <a:t>Sistema GRADE</a:t>
            </a:r>
          </a:p>
        </p:txBody>
      </p:sp>
      <p:pic>
        <p:nvPicPr>
          <p:cNvPr id="55" name="Picture 54" descr="capa_jbi_prevalencia.jpg"/>
          <p:cNvPicPr>
            <a:picLocks noChangeAspect="1"/>
          </p:cNvPicPr>
          <p:nvPr/>
        </p:nvPicPr>
        <p:blipFill>
          <a:blip r:embed="rId17"/>
          <a:stretch>
            <a:fillRect/>
          </a:stretch>
        </p:blipFill>
        <p:spPr>
          <a:xfrm>
            <a:off x="12627111" y="5257800"/>
            <a:ext cx="912856" cy="1248156"/>
          </a:xfrm>
          <a:prstGeom prst="rect">
            <a:avLst/>
          </a:prstGeom>
          <a:ln w="9525">
            <a:solidFill>
              <a:srgbClr val="C9CFDA"/>
            </a:solidFill>
          </a:ln>
        </p:spPr>
      </p:pic>
      <p:sp>
        <p:nvSpPr>
          <p:cNvPr id="56" name="TextBox 55"/>
          <p:cNvSpPr txBox="1"/>
          <p:nvPr/>
        </p:nvSpPr>
        <p:spPr>
          <a:xfrm>
            <a:off x="12207240" y="65791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JBI</a:t>
            </a:r>
          </a:p>
          <a:p>
            <a:pPr algn="ctr">
              <a:lnSpc>
                <a:spcPct val="100000"/>
              </a:lnSpc>
              <a:spcAft>
                <a:spcPts val="0"/>
              </a:spcAft>
              <a:buNone/>
            </a:pPr>
            <a:r>
              <a:rPr sz="1300" b="0" i="0">
                <a:solidFill>
                  <a:srgbClr val="5A6270"/>
                </a:solidFill>
                <a:latin typeface="Arial"/>
              </a:rPr>
              <a:t>Prevalência</a:t>
            </a:r>
          </a:p>
        </p:txBody>
      </p:sp>
      <p:pic>
        <p:nvPicPr>
          <p:cNvPr id="57" name="Picture 56" descr="capa_jbi_transversal.jpg"/>
          <p:cNvPicPr>
            <a:picLocks noChangeAspect="1"/>
          </p:cNvPicPr>
          <p:nvPr/>
        </p:nvPicPr>
        <p:blipFill>
          <a:blip r:embed="rId18"/>
          <a:stretch>
            <a:fillRect/>
          </a:stretch>
        </p:blipFill>
        <p:spPr>
          <a:xfrm>
            <a:off x="14394013" y="5257800"/>
            <a:ext cx="884252" cy="1248156"/>
          </a:xfrm>
          <a:prstGeom prst="rect">
            <a:avLst/>
          </a:prstGeom>
          <a:ln w="9525">
            <a:solidFill>
              <a:srgbClr val="C9CFDA"/>
            </a:solidFill>
          </a:ln>
        </p:spPr>
      </p:pic>
      <p:sp>
        <p:nvSpPr>
          <p:cNvPr id="58" name="TextBox 57"/>
          <p:cNvSpPr txBox="1"/>
          <p:nvPr/>
        </p:nvSpPr>
        <p:spPr>
          <a:xfrm>
            <a:off x="13959840" y="65791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JBI</a:t>
            </a:r>
          </a:p>
          <a:p>
            <a:pPr algn="ctr">
              <a:lnSpc>
                <a:spcPct val="100000"/>
              </a:lnSpc>
              <a:spcAft>
                <a:spcPts val="0"/>
              </a:spcAft>
              <a:buNone/>
            </a:pPr>
            <a:r>
              <a:rPr sz="1300" b="0" i="0">
                <a:solidFill>
                  <a:srgbClr val="5A6270"/>
                </a:solidFill>
                <a:latin typeface="Arial"/>
              </a:rPr>
              <a:t>Transversal</a:t>
            </a:r>
          </a:p>
        </p:txBody>
      </p:sp>
      <p:pic>
        <p:nvPicPr>
          <p:cNvPr id="59" name="Picture 58" descr="capa_jbi_coorte.jpg"/>
          <p:cNvPicPr>
            <a:picLocks noChangeAspect="1"/>
          </p:cNvPicPr>
          <p:nvPr/>
        </p:nvPicPr>
        <p:blipFill>
          <a:blip r:embed="rId19"/>
          <a:stretch>
            <a:fillRect/>
          </a:stretch>
        </p:blipFill>
        <p:spPr>
          <a:xfrm>
            <a:off x="16146613" y="5257800"/>
            <a:ext cx="884252" cy="1248156"/>
          </a:xfrm>
          <a:prstGeom prst="rect">
            <a:avLst/>
          </a:prstGeom>
          <a:ln w="9525">
            <a:solidFill>
              <a:srgbClr val="C9CFDA"/>
            </a:solidFill>
          </a:ln>
        </p:spPr>
      </p:pic>
      <p:sp>
        <p:nvSpPr>
          <p:cNvPr id="60" name="TextBox 59"/>
          <p:cNvSpPr txBox="1"/>
          <p:nvPr/>
        </p:nvSpPr>
        <p:spPr>
          <a:xfrm>
            <a:off x="15712440" y="65791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JBI</a:t>
            </a:r>
          </a:p>
          <a:p>
            <a:pPr algn="ctr">
              <a:lnSpc>
                <a:spcPct val="100000"/>
              </a:lnSpc>
              <a:spcAft>
                <a:spcPts val="0"/>
              </a:spcAft>
              <a:buNone/>
            </a:pPr>
            <a:r>
              <a:rPr sz="1300" b="0" i="0">
                <a:solidFill>
                  <a:srgbClr val="5A6270"/>
                </a:solidFill>
                <a:latin typeface="Arial"/>
              </a:rPr>
              <a:t>Coorte</a:t>
            </a:r>
          </a:p>
        </p:txBody>
      </p:sp>
      <p:sp>
        <p:nvSpPr>
          <p:cNvPr id="61" name="TextBox 60"/>
          <p:cNvSpPr txBox="1"/>
          <p:nvPr/>
        </p:nvSpPr>
        <p:spPr>
          <a:xfrm>
            <a:off x="6949440" y="7292340"/>
            <a:ext cx="10515600" cy="292608"/>
          </a:xfrm>
          <a:prstGeom prst="rect">
            <a:avLst/>
          </a:prstGeom>
          <a:noFill/>
        </p:spPr>
        <p:txBody>
          <a:bodyPr wrap="square" lIns="0" rIns="0" tIns="0" bIns="0" anchor="t">
            <a:noAutofit/>
          </a:bodyPr>
          <a:lstStyle/>
          <a:p>
            <a:pPr algn="l">
              <a:lnSpc>
                <a:spcPct val="100000"/>
              </a:lnSpc>
              <a:spcAft>
                <a:spcPts val="0"/>
              </a:spcAft>
              <a:buNone/>
            </a:pPr>
            <a:r>
              <a:rPr sz="1400" b="1" i="0">
                <a:solidFill>
                  <a:srgbClr val="5A6270"/>
                </a:solidFill>
                <a:latin typeface="Arial"/>
              </a:rPr>
              <a:t>MANUAIS E LIVROS DE REVISÃO SISTEMÁTICA E METANÁLISE</a:t>
            </a:r>
          </a:p>
        </p:txBody>
      </p:sp>
      <p:pic>
        <p:nvPicPr>
          <p:cNvPr id="62" name="Picture 61" descr="capa_cochrane_handbook.jpg"/>
          <p:cNvPicPr>
            <a:picLocks noChangeAspect="1"/>
          </p:cNvPicPr>
          <p:nvPr/>
        </p:nvPicPr>
        <p:blipFill>
          <a:blip r:embed="rId20"/>
          <a:stretch>
            <a:fillRect/>
          </a:stretch>
        </p:blipFill>
        <p:spPr>
          <a:xfrm>
            <a:off x="9165122" y="7658100"/>
            <a:ext cx="826435" cy="1248156"/>
          </a:xfrm>
          <a:prstGeom prst="rect">
            <a:avLst/>
          </a:prstGeom>
          <a:ln w="9525">
            <a:solidFill>
              <a:srgbClr val="C9CFDA"/>
            </a:solidFill>
          </a:ln>
        </p:spPr>
      </p:pic>
      <p:sp>
        <p:nvSpPr>
          <p:cNvPr id="63" name="TextBox 62"/>
          <p:cNvSpPr txBox="1"/>
          <p:nvPr/>
        </p:nvSpPr>
        <p:spPr>
          <a:xfrm>
            <a:off x="8702040" y="89794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Cochrane</a:t>
            </a:r>
          </a:p>
          <a:p>
            <a:pPr algn="ctr">
              <a:lnSpc>
                <a:spcPct val="100000"/>
              </a:lnSpc>
              <a:spcAft>
                <a:spcPts val="0"/>
              </a:spcAft>
              <a:buNone/>
            </a:pPr>
            <a:r>
              <a:rPr sz="1300" b="0" i="0">
                <a:solidFill>
                  <a:srgbClr val="5A6270"/>
                </a:solidFill>
                <a:latin typeface="Arial"/>
              </a:rPr>
              <a:t>Handbook, 2019</a:t>
            </a:r>
          </a:p>
        </p:txBody>
      </p:sp>
      <p:pic>
        <p:nvPicPr>
          <p:cNvPr id="64" name="Picture 63" descr="capa_jbi_manual.jpg"/>
          <p:cNvPicPr>
            <a:picLocks noChangeAspect="1"/>
          </p:cNvPicPr>
          <p:nvPr/>
        </p:nvPicPr>
        <p:blipFill>
          <a:blip r:embed="rId21"/>
          <a:stretch>
            <a:fillRect/>
          </a:stretch>
        </p:blipFill>
        <p:spPr>
          <a:xfrm>
            <a:off x="10889664" y="7658100"/>
            <a:ext cx="882551" cy="1248156"/>
          </a:xfrm>
          <a:prstGeom prst="rect">
            <a:avLst/>
          </a:prstGeom>
          <a:ln w="9525">
            <a:solidFill>
              <a:srgbClr val="C9CFDA"/>
            </a:solidFill>
          </a:ln>
        </p:spPr>
      </p:pic>
      <p:sp>
        <p:nvSpPr>
          <p:cNvPr id="65" name="TextBox 64"/>
          <p:cNvSpPr txBox="1"/>
          <p:nvPr/>
        </p:nvSpPr>
        <p:spPr>
          <a:xfrm>
            <a:off x="10454639" y="89794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JBI Manual</a:t>
            </a:r>
          </a:p>
          <a:p>
            <a:pPr algn="ctr">
              <a:lnSpc>
                <a:spcPct val="100000"/>
              </a:lnSpc>
              <a:spcAft>
                <a:spcPts val="0"/>
              </a:spcAft>
              <a:buNone/>
            </a:pPr>
            <a:r>
              <a:rPr sz="1300" b="0" i="0">
                <a:solidFill>
                  <a:srgbClr val="5A6270"/>
                </a:solidFill>
                <a:latin typeface="Arial"/>
              </a:rPr>
              <a:t>Síntese, 2020</a:t>
            </a:r>
          </a:p>
        </p:txBody>
      </p:sp>
      <p:pic>
        <p:nvPicPr>
          <p:cNvPr id="66" name="Picture 65" descr="capa_borenstein.jpg"/>
          <p:cNvPicPr>
            <a:picLocks noChangeAspect="1"/>
          </p:cNvPicPr>
          <p:nvPr/>
        </p:nvPicPr>
        <p:blipFill>
          <a:blip r:embed="rId22"/>
          <a:stretch>
            <a:fillRect/>
          </a:stretch>
        </p:blipFill>
        <p:spPr>
          <a:xfrm>
            <a:off x="12672872" y="7658100"/>
            <a:ext cx="821334" cy="1248156"/>
          </a:xfrm>
          <a:prstGeom prst="rect">
            <a:avLst/>
          </a:prstGeom>
          <a:ln w="9525">
            <a:solidFill>
              <a:srgbClr val="C9CFDA"/>
            </a:solidFill>
          </a:ln>
        </p:spPr>
      </p:pic>
      <p:sp>
        <p:nvSpPr>
          <p:cNvPr id="67" name="TextBox 66"/>
          <p:cNvSpPr txBox="1"/>
          <p:nvPr/>
        </p:nvSpPr>
        <p:spPr>
          <a:xfrm>
            <a:off x="12207240" y="89794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Borenstein et al.</a:t>
            </a:r>
          </a:p>
          <a:p>
            <a:pPr algn="ctr">
              <a:lnSpc>
                <a:spcPct val="100000"/>
              </a:lnSpc>
              <a:spcAft>
                <a:spcPts val="0"/>
              </a:spcAft>
              <a:buNone/>
            </a:pPr>
            <a:r>
              <a:rPr sz="1300" b="0" i="0">
                <a:solidFill>
                  <a:srgbClr val="5A6270"/>
                </a:solidFill>
                <a:latin typeface="Arial"/>
              </a:rPr>
              <a:t>Metanálise, 2021</a:t>
            </a:r>
          </a:p>
        </p:txBody>
      </p:sp>
      <p:pic>
        <p:nvPicPr>
          <p:cNvPr id="68" name="Picture 67" descr="capa_harrer.jpg"/>
          <p:cNvPicPr>
            <a:picLocks noChangeAspect="1"/>
          </p:cNvPicPr>
          <p:nvPr/>
        </p:nvPicPr>
        <p:blipFill>
          <a:blip r:embed="rId23"/>
          <a:stretch>
            <a:fillRect/>
          </a:stretch>
        </p:blipFill>
        <p:spPr>
          <a:xfrm>
            <a:off x="14442477" y="7658100"/>
            <a:ext cx="787324" cy="1248156"/>
          </a:xfrm>
          <a:prstGeom prst="rect">
            <a:avLst/>
          </a:prstGeom>
          <a:ln w="9525">
            <a:solidFill>
              <a:srgbClr val="C9CFDA"/>
            </a:solidFill>
          </a:ln>
        </p:spPr>
      </p:pic>
      <p:sp>
        <p:nvSpPr>
          <p:cNvPr id="69" name="TextBox 68"/>
          <p:cNvSpPr txBox="1"/>
          <p:nvPr/>
        </p:nvSpPr>
        <p:spPr>
          <a:xfrm>
            <a:off x="13959840" y="8979408"/>
            <a:ext cx="1752600" cy="438912"/>
          </a:xfrm>
          <a:prstGeom prst="rect">
            <a:avLst/>
          </a:prstGeom>
          <a:noFill/>
        </p:spPr>
        <p:txBody>
          <a:bodyPr wrap="square" lIns="0" rIns="0" tIns="0" bIns="0" anchor="t">
            <a:noAutofit/>
          </a:bodyPr>
          <a:lstStyle/>
          <a:p>
            <a:pPr algn="ctr">
              <a:lnSpc>
                <a:spcPct val="100000"/>
              </a:lnSpc>
              <a:spcAft>
                <a:spcPts val="100"/>
              </a:spcAft>
              <a:buNone/>
            </a:pPr>
            <a:r>
              <a:rPr sz="1300" b="1" i="0">
                <a:solidFill>
                  <a:srgbClr val="002060"/>
                </a:solidFill>
                <a:latin typeface="Arial"/>
              </a:rPr>
              <a:t>Harrer et al.</a:t>
            </a:r>
          </a:p>
          <a:p>
            <a:pPr algn="ctr">
              <a:lnSpc>
                <a:spcPct val="100000"/>
              </a:lnSpc>
              <a:spcAft>
                <a:spcPts val="0"/>
              </a:spcAft>
              <a:buNone/>
            </a:pPr>
            <a:r>
              <a:rPr sz="1300" b="0" i="0">
                <a:solidFill>
                  <a:srgbClr val="5A6270"/>
                </a:solidFill>
                <a:latin typeface="Arial"/>
              </a:rPr>
              <a:t>Metanálise em 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5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50"/>
                                        <p:tgtEl>
                                          <p:spTgt spid="11"/>
                                        </p:tgtEl>
                                      </p:cBhvr>
                                    </p:animEffect>
                                  </p:childTnLst>
                                </p:cTn>
                              </p:par>
                            </p:childTnLst>
                          </p:cTn>
                        </p:par>
                        <p:par>
                          <p:cTn id="17" fill="hold">
                            <p:stCondLst>
                              <p:cond delay="35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35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35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35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350"/>
                                        <p:tgtEl>
                                          <p:spTgt spid="15"/>
                                        </p:tgtEl>
                                      </p:cBhvr>
                                    </p:animEffect>
                                  </p:childTnLst>
                                </p:cTn>
                              </p:par>
                            </p:childTnLst>
                          </p:cTn>
                        </p:par>
                        <p:par>
                          <p:cTn id="30" fill="hold">
                            <p:stCondLst>
                              <p:cond delay="700"/>
                            </p:stCondLst>
                            <p:childTnLst>
                              <p:par>
                                <p:cTn id="31" presetID="10" presetClass="entr" presetSubtype="0"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35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5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5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50"/>
                                        <p:tgtEl>
                                          <p:spTgt spid="19"/>
                                        </p:tgtEl>
                                      </p:cBhvr>
                                    </p:animEffect>
                                  </p:childTnLst>
                                </p:cTn>
                              </p:par>
                            </p:childTnLst>
                          </p:cTn>
                        </p:par>
                        <p:par>
                          <p:cTn id="43" fill="hold">
                            <p:stCondLst>
                              <p:cond delay="1050"/>
                            </p:stCondLst>
                            <p:childTnLst>
                              <p:par>
                                <p:cTn id="44" presetID="10" presetClass="entr" presetSubtype="0"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5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35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35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50"/>
                                        <p:tgtEl>
                                          <p:spTgt spid="23"/>
                                        </p:tgtEl>
                                      </p:cBhvr>
                                    </p:animEffect>
                                  </p:childTnLst>
                                </p:cTn>
                              </p:par>
                            </p:childTnLst>
                          </p:cTn>
                        </p:par>
                        <p:par>
                          <p:cTn id="56" fill="hold">
                            <p:stCondLst>
                              <p:cond delay="1400"/>
                            </p:stCondLst>
                            <p:childTnLst>
                              <p:par>
                                <p:cTn id="57" presetID="10" presetClass="entr" presetSubtype="0"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5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35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35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350"/>
                                        <p:tgtEl>
                                          <p:spTgt spid="27"/>
                                        </p:tgtEl>
                                      </p:cBhvr>
                                    </p:animEffect>
                                  </p:childTnLst>
                                </p:cTn>
                              </p:par>
                            </p:childTnLst>
                          </p:cTn>
                        </p:par>
                        <p:par>
                          <p:cTn id="69" fill="hold">
                            <p:stCondLst>
                              <p:cond delay="1750"/>
                            </p:stCondLst>
                            <p:childTnLst>
                              <p:par>
                                <p:cTn id="70" presetID="10" presetClass="entr" presetSubtype="0" fill="hold" grpId="0" nodeType="after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35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35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35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350"/>
                                        <p:tgtEl>
                                          <p:spTgt spid="31"/>
                                        </p:tgtEl>
                                      </p:cBhvr>
                                    </p:animEffect>
                                  </p:childTnLst>
                                </p:cTn>
                              </p:par>
                            </p:childTnLst>
                          </p:cTn>
                        </p:par>
                        <p:par>
                          <p:cTn id="82" fill="hold">
                            <p:stCondLst>
                              <p:cond delay="2100"/>
                            </p:stCondLst>
                            <p:childTnLst>
                              <p:par>
                                <p:cTn id="83" presetID="10" presetClass="entr" presetSubtype="0" fill="hold" grpId="0" nodeType="after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35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35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35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35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35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35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35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35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35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35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35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350"/>
                                        <p:tgtEl>
                                          <p:spTgt spid="43"/>
                                        </p:tgtEl>
                                      </p:cBhvr>
                                    </p:animEffect>
                                  </p:childTnLst>
                                </p:cTn>
                              </p:par>
                            </p:childTnLst>
                          </p:cTn>
                        </p:par>
                        <p:par>
                          <p:cTn id="119" fill="hold">
                            <p:stCondLst>
                              <p:cond delay="2450"/>
                            </p:stCondLst>
                            <p:childTnLst>
                              <p:par>
                                <p:cTn id="120" presetID="10" presetClass="entr" presetSubtype="0" fill="hold" grpId="0" nodeType="after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350"/>
                                        <p:tgtEl>
                                          <p:spTgt spid="4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350"/>
                                        <p:tgtEl>
                                          <p:spTgt spid="4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6"/>
                                        </p:tgtEl>
                                        <p:attrNameLst>
                                          <p:attrName>style.visibility</p:attrName>
                                        </p:attrNameLst>
                                      </p:cBhvr>
                                      <p:to>
                                        <p:strVal val="visible"/>
                                      </p:to>
                                    </p:set>
                                    <p:animEffect transition="in" filter="fade">
                                      <p:cBhvr>
                                        <p:cTn id="128" dur="350"/>
                                        <p:tgtEl>
                                          <p:spTgt spid="4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350"/>
                                        <p:tgtEl>
                                          <p:spTgt spid="4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fade">
                                      <p:cBhvr>
                                        <p:cTn id="134" dur="350"/>
                                        <p:tgtEl>
                                          <p:spTgt spid="4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350"/>
                                        <p:tgtEl>
                                          <p:spTgt spid="4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fade">
                                      <p:cBhvr>
                                        <p:cTn id="140" dur="350"/>
                                        <p:tgtEl>
                                          <p:spTgt spid="50"/>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fade">
                                      <p:cBhvr>
                                        <p:cTn id="143" dur="350"/>
                                        <p:tgtEl>
                                          <p:spTgt spid="5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Effect transition="in" filter="fade">
                                      <p:cBhvr>
                                        <p:cTn id="146" dur="350"/>
                                        <p:tgtEl>
                                          <p:spTgt spid="52"/>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35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fade">
                                      <p:cBhvr>
                                        <p:cTn id="152" dur="350"/>
                                        <p:tgtEl>
                                          <p:spTgt spid="54"/>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5"/>
                                        </p:tgtEl>
                                        <p:attrNameLst>
                                          <p:attrName>style.visibility</p:attrName>
                                        </p:attrNameLst>
                                      </p:cBhvr>
                                      <p:to>
                                        <p:strVal val="visible"/>
                                      </p:to>
                                    </p:set>
                                    <p:animEffect transition="in" filter="fade">
                                      <p:cBhvr>
                                        <p:cTn id="155" dur="350"/>
                                        <p:tgtEl>
                                          <p:spTgt spid="55"/>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6"/>
                                        </p:tgtEl>
                                        <p:attrNameLst>
                                          <p:attrName>style.visibility</p:attrName>
                                        </p:attrNameLst>
                                      </p:cBhvr>
                                      <p:to>
                                        <p:strVal val="visible"/>
                                      </p:to>
                                    </p:set>
                                    <p:animEffect transition="in" filter="fade">
                                      <p:cBhvr>
                                        <p:cTn id="158" dur="350"/>
                                        <p:tgtEl>
                                          <p:spTgt spid="56"/>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7"/>
                                        </p:tgtEl>
                                        <p:attrNameLst>
                                          <p:attrName>style.visibility</p:attrName>
                                        </p:attrNameLst>
                                      </p:cBhvr>
                                      <p:to>
                                        <p:strVal val="visible"/>
                                      </p:to>
                                    </p:set>
                                    <p:animEffect transition="in" filter="fade">
                                      <p:cBhvr>
                                        <p:cTn id="161" dur="350"/>
                                        <p:tgtEl>
                                          <p:spTgt spid="57"/>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8"/>
                                        </p:tgtEl>
                                        <p:attrNameLst>
                                          <p:attrName>style.visibility</p:attrName>
                                        </p:attrNameLst>
                                      </p:cBhvr>
                                      <p:to>
                                        <p:strVal val="visible"/>
                                      </p:to>
                                    </p:set>
                                    <p:animEffect transition="in" filter="fade">
                                      <p:cBhvr>
                                        <p:cTn id="164" dur="350"/>
                                        <p:tgtEl>
                                          <p:spTgt spid="58"/>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9"/>
                                        </p:tgtEl>
                                        <p:attrNameLst>
                                          <p:attrName>style.visibility</p:attrName>
                                        </p:attrNameLst>
                                      </p:cBhvr>
                                      <p:to>
                                        <p:strVal val="visible"/>
                                      </p:to>
                                    </p:set>
                                    <p:animEffect transition="in" filter="fade">
                                      <p:cBhvr>
                                        <p:cTn id="167" dur="350"/>
                                        <p:tgtEl>
                                          <p:spTgt spid="59"/>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animEffect transition="in" filter="fade">
                                      <p:cBhvr>
                                        <p:cTn id="170" dur="350"/>
                                        <p:tgtEl>
                                          <p:spTgt spid="60"/>
                                        </p:tgtEl>
                                      </p:cBhvr>
                                    </p:animEffect>
                                  </p:childTnLst>
                                </p:cTn>
                              </p:par>
                            </p:childTnLst>
                          </p:cTn>
                        </p:par>
                        <p:par>
                          <p:cTn id="171" fill="hold">
                            <p:stCondLst>
                              <p:cond delay="2800"/>
                            </p:stCondLst>
                            <p:childTnLst>
                              <p:par>
                                <p:cTn id="172" presetID="10" presetClass="entr" presetSubtype="0" fill="hold" grpId="0" nodeType="after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35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35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350"/>
                                        <p:tgtEl>
                                          <p:spTgt spid="63"/>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35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35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35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35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35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3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P spid="32" grpId="0" animBg="1"/>
      <p:bldP spid="33" grpId="0" animBg="1"/>
      <p:bldP spid="35" grpId="0" animBg="1"/>
      <p:bldP spid="37" grpId="0" animBg="1"/>
      <p:bldP spid="39" grpId="0" animBg="1"/>
      <p:bldP spid="41" grpId="0" animBg="1"/>
      <p:bldP spid="43" grpId="0" animBg="1"/>
      <p:bldP spid="44" grpId="0" animBg="1"/>
      <p:bldP spid="45" grpId="0" animBg="1"/>
      <p:bldP spid="47" grpId="0" animBg="1"/>
      <p:bldP spid="48" grpId="0" animBg="1"/>
      <p:bldP spid="50" grpId="0" animBg="1"/>
      <p:bldP spid="52" grpId="0" animBg="1"/>
      <p:bldP spid="54" grpId="0" animBg="1"/>
      <p:bldP spid="56" grpId="0" animBg="1"/>
      <p:bldP spid="58" grpId="0" animBg="1"/>
      <p:bldP spid="60" grpId="0" animBg="1"/>
      <p:bldP spid="61" grpId="0" animBg="1"/>
      <p:bldP spid="63" grpId="0" animBg="1"/>
      <p:bldP spid="65" grpId="0" animBg="1"/>
      <p:bldP spid="67" grpId="0" animBg="1"/>
      <p:bldP spid="69"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APOIO · 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Passos 1 e 2 · Critérios de elegibilidade e busca de alta sensibilidade</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08929"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Protocolo</a:t>
            </a:r>
          </a:p>
        </p:txBody>
      </p:sp>
      <p:sp>
        <p:nvSpPr>
          <p:cNvPr id="10" name="Oval 9"/>
          <p:cNvSpPr/>
          <p:nvPr/>
        </p:nvSpPr>
        <p:spPr>
          <a:xfrm>
            <a:off x="4560243"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Busca</a:t>
            </a:r>
          </a:p>
        </p:txBody>
      </p:sp>
      <p:sp>
        <p:nvSpPr>
          <p:cNvPr id="12" name="Oval 11"/>
          <p:cNvSpPr/>
          <p:nvPr/>
        </p:nvSpPr>
        <p:spPr>
          <a:xfrm>
            <a:off x="6948133"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Seleção</a:t>
            </a:r>
          </a:p>
        </p:txBody>
      </p:sp>
      <p:sp>
        <p:nvSpPr>
          <p:cNvPr id="14" name="Oval 13"/>
          <p:cNvSpPr/>
          <p:nvPr/>
        </p:nvSpPr>
        <p:spPr>
          <a:xfrm>
            <a:off x="9299447"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Extração</a:t>
            </a:r>
          </a:p>
        </p:txBody>
      </p:sp>
      <p:sp>
        <p:nvSpPr>
          <p:cNvPr id="16" name="Oval 15"/>
          <p:cNvSpPr/>
          <p:nvPr/>
        </p:nvSpPr>
        <p:spPr>
          <a:xfrm>
            <a:off x="11650762"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Risco de viés</a:t>
            </a:r>
          </a:p>
        </p:txBody>
      </p:sp>
      <p:sp>
        <p:nvSpPr>
          <p:cNvPr id="18" name="Oval 17"/>
          <p:cNvSpPr/>
          <p:nvPr/>
        </p:nvSpPr>
        <p:spPr>
          <a:xfrm>
            <a:off x="14002076"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Síntese</a:t>
            </a:r>
          </a:p>
        </p:txBody>
      </p:sp>
      <p:sp>
        <p:nvSpPr>
          <p:cNvPr id="20" name="Oval 19"/>
          <p:cNvSpPr/>
          <p:nvPr/>
        </p:nvSpPr>
        <p:spPr>
          <a:xfrm>
            <a:off x="16353390"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Certeza (GRADE)</a:t>
            </a:r>
          </a:p>
        </p:txBody>
      </p:sp>
      <p:sp>
        <p:nvSpPr>
          <p:cNvPr id="22" name="Rounded Rectangle 21"/>
          <p:cNvSpPr/>
          <p:nvPr/>
        </p:nvSpPr>
        <p:spPr>
          <a:xfrm>
            <a:off x="1143000" y="1783080"/>
            <a:ext cx="7680960" cy="7223759"/>
          </a:xfrm>
          <a:prstGeom prst="roundRect">
            <a:avLst>
              <a:gd name="adj" fmla="val 6000"/>
            </a:avLst>
          </a:prstGeom>
          <a:solidFill>
            <a:srgbClr val="F2F4F8"/>
          </a:solidFill>
          <a:ln>
            <a:noFill/>
          </a:ln>
          <a:effectLst/>
        </p:spPr>
        <p:txBody>
          <a:bodyPr rtlCol="0" anchor="ctr"/>
          <a:lstStyle/>
          <a:p/>
        </p:txBody>
      </p:sp>
      <p:sp>
        <p:nvSpPr>
          <p:cNvPr id="23" name="TextBox 22"/>
          <p:cNvSpPr txBox="1"/>
          <p:nvPr/>
        </p:nvSpPr>
        <p:spPr>
          <a:xfrm>
            <a:off x="1463040" y="2103120"/>
            <a:ext cx="7040880" cy="41148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Critérios de elegibilidade e ajustes posteriores declarados</a:t>
            </a:r>
          </a:p>
        </p:txBody>
      </p:sp>
      <p:pic>
        <p:nvPicPr>
          <p:cNvPr id="24" name="icone check" descr="check_teal.png"/>
          <p:cNvPicPr>
            <a:picLocks noChangeAspect="1"/>
          </p:cNvPicPr>
          <p:nvPr/>
        </p:nvPicPr>
        <p:blipFill>
          <a:blip r:embed="rId4"/>
          <a:stretch>
            <a:fillRect/>
          </a:stretch>
        </p:blipFill>
        <p:spPr>
          <a:xfrm>
            <a:off x="1463040" y="2651760"/>
            <a:ext cx="365760" cy="365760"/>
          </a:xfrm>
          <a:prstGeom prst="rect">
            <a:avLst/>
          </a:prstGeom>
        </p:spPr>
      </p:pic>
      <p:sp>
        <p:nvSpPr>
          <p:cNvPr id="25" name="TextBox 24"/>
          <p:cNvSpPr txBox="1"/>
          <p:nvPr/>
        </p:nvSpPr>
        <p:spPr>
          <a:xfrm>
            <a:off x="1965960" y="2651760"/>
            <a:ext cx="5486400" cy="365760"/>
          </a:xfrm>
          <a:prstGeom prst="rect">
            <a:avLst/>
          </a:prstGeom>
          <a:noFill/>
        </p:spPr>
        <p:txBody>
          <a:bodyPr wrap="square" lIns="0" rIns="0" tIns="0" bIns="0" anchor="ctr">
            <a:noAutofit/>
          </a:bodyPr>
          <a:lstStyle/>
          <a:p>
            <a:pPr algn="l">
              <a:lnSpc>
                <a:spcPct val="100000"/>
              </a:lnSpc>
              <a:spcAft>
                <a:spcPts val="0"/>
              </a:spcAft>
              <a:buNone/>
            </a:pPr>
            <a:r>
              <a:rPr sz="1800" b="1" i="0">
                <a:solidFill>
                  <a:srgbClr val="0E7C86"/>
                </a:solidFill>
                <a:latin typeface="Arial"/>
              </a:rPr>
              <a:t>Incluímos</a:t>
            </a:r>
          </a:p>
        </p:txBody>
      </p:sp>
      <p:sp>
        <p:nvSpPr>
          <p:cNvPr id="26" name="TextBox 25"/>
          <p:cNvSpPr txBox="1"/>
          <p:nvPr/>
        </p:nvSpPr>
        <p:spPr>
          <a:xfrm>
            <a:off x="1463040" y="3063239"/>
            <a:ext cx="7040880" cy="2606040"/>
          </a:xfrm>
          <a:prstGeom prst="rect">
            <a:avLst/>
          </a:prstGeom>
          <a:noFill/>
        </p:spPr>
        <p:txBody>
          <a:bodyPr wrap="square" lIns="0" rIns="0" tIns="0" bIns="0" anchor="t">
            <a:noAutofit/>
          </a:bodyPr>
          <a:lstStyle/>
          <a:p>
            <a:pPr algn="l" marL="274320" indent="-274320">
              <a:lnSpc>
                <a:spcPct val="100000"/>
              </a:lnSpc>
              <a:spcAft>
                <a:spcPts val="900"/>
              </a:spcAft>
              <a:buClr>
                <a:srgbClr val="0E7C86"/>
              </a:buClr>
              <a:buFont typeface="Arial"/>
              <a:buChar char="•"/>
            </a:pPr>
            <a:r>
              <a:rPr sz="1800" b="0" i="0">
                <a:solidFill>
                  <a:srgbClr val="1F2433"/>
                </a:solidFill>
                <a:latin typeface="Arial"/>
              </a:rPr>
              <a:t>Estudos observacionais (transversais, caso-controle, coorte);</a:t>
            </a:r>
          </a:p>
          <a:p>
            <a:pPr algn="l" marL="274320" indent="-274320">
              <a:lnSpc>
                <a:spcPct val="100000"/>
              </a:lnSpc>
              <a:spcAft>
                <a:spcPts val="900"/>
              </a:spcAft>
              <a:buClr>
                <a:srgbClr val="0E7C86"/>
              </a:buClr>
              <a:buFont typeface="Arial"/>
              <a:buChar char="•"/>
            </a:pPr>
            <a:r>
              <a:rPr sz="1800" b="0" i="0">
                <a:solidFill>
                  <a:srgbClr val="1F2433"/>
                </a:solidFill>
                <a:latin typeface="Arial"/>
              </a:rPr>
              <a:t>Profissionais de centro cirúrgico expostos à fumaça cirúrgica;</a:t>
            </a:r>
          </a:p>
          <a:p>
            <a:pPr algn="l" marL="274320" indent="-274320">
              <a:lnSpc>
                <a:spcPct val="100000"/>
              </a:lnSpc>
              <a:spcAft>
                <a:spcPts val="900"/>
              </a:spcAft>
              <a:buClr>
                <a:srgbClr val="0E7C86"/>
              </a:buClr>
              <a:buFont typeface="Arial"/>
              <a:buChar char="•"/>
            </a:pPr>
            <a:r>
              <a:rPr sz="1800" b="0" i="0">
                <a:solidFill>
                  <a:srgbClr val="1F2433"/>
                </a:solidFill>
                <a:latin typeface="Arial"/>
              </a:rPr>
              <a:t>Efeitos à saúde ou marcadores de exposição como desfecho;</a:t>
            </a:r>
          </a:p>
          <a:p>
            <a:pPr algn="l" marL="274320" indent="-274320">
              <a:lnSpc>
                <a:spcPct val="100000"/>
              </a:lnSpc>
              <a:spcAft>
                <a:spcPts val="900"/>
              </a:spcAft>
              <a:buClr>
                <a:srgbClr val="0E7C86"/>
              </a:buClr>
              <a:buFont typeface="Arial"/>
              <a:buChar char="•"/>
            </a:pPr>
            <a:r>
              <a:rPr sz="1800" b="0" i="0">
                <a:solidFill>
                  <a:srgbClr val="1F2433"/>
                </a:solidFill>
                <a:latin typeface="Arial"/>
              </a:rPr>
              <a:t>Português, inglês ou espanhol; sem restrição de data;</a:t>
            </a:r>
          </a:p>
          <a:p>
            <a:pPr algn="l" marL="274320" indent="-274320">
              <a:lnSpc>
                <a:spcPct val="100000"/>
              </a:lnSpc>
              <a:spcAft>
                <a:spcPts val="900"/>
              </a:spcAft>
              <a:buClr>
                <a:srgbClr val="0E7C86"/>
              </a:buClr>
              <a:buFont typeface="Arial"/>
              <a:buChar char="•"/>
            </a:pPr>
            <a:r>
              <a:rPr sz="1800" b="0" i="0">
                <a:solidFill>
                  <a:srgbClr val="1F2433"/>
                </a:solidFill>
                <a:latin typeface="Arial"/>
              </a:rPr>
              <a:t>Resumos de congresso com eventos e denominador extraíveis (preocupação alta; </a:t>
            </a:r>
            <a:r>
              <a:rPr sz="1800" b="1" i="0">
                <a:solidFill>
                  <a:srgbClr val="8A6D1F"/>
                </a:solidFill>
                <a:latin typeface="Arial"/>
              </a:rPr>
              <a:t>ajuste posterior ao registro, declarado</a:t>
            </a:r>
            <a:r>
              <a:rPr sz="1800" b="0" i="0">
                <a:solidFill>
                  <a:srgbClr val="1F2433"/>
                </a:solidFill>
                <a:latin typeface="Arial"/>
              </a:rPr>
              <a:t>).</a:t>
            </a:r>
          </a:p>
        </p:txBody>
      </p:sp>
      <p:pic>
        <p:nvPicPr>
          <p:cNvPr id="27" name="icone xmark" descr="xmark_red.png"/>
          <p:cNvPicPr>
            <a:picLocks noChangeAspect="1"/>
          </p:cNvPicPr>
          <p:nvPr/>
        </p:nvPicPr>
        <p:blipFill>
          <a:blip r:embed="rId5"/>
          <a:stretch>
            <a:fillRect/>
          </a:stretch>
        </p:blipFill>
        <p:spPr>
          <a:xfrm>
            <a:off x="1463040" y="5989320"/>
            <a:ext cx="365760" cy="365760"/>
          </a:xfrm>
          <a:prstGeom prst="rect">
            <a:avLst/>
          </a:prstGeom>
        </p:spPr>
      </p:pic>
      <p:sp>
        <p:nvSpPr>
          <p:cNvPr id="28" name="TextBox 27"/>
          <p:cNvSpPr txBox="1"/>
          <p:nvPr/>
        </p:nvSpPr>
        <p:spPr>
          <a:xfrm>
            <a:off x="1965960" y="5989320"/>
            <a:ext cx="5486400" cy="365760"/>
          </a:xfrm>
          <a:prstGeom prst="rect">
            <a:avLst/>
          </a:prstGeom>
          <a:noFill/>
        </p:spPr>
        <p:txBody>
          <a:bodyPr wrap="square" lIns="0" rIns="0" tIns="0" bIns="0" anchor="ctr">
            <a:noAutofit/>
          </a:bodyPr>
          <a:lstStyle/>
          <a:p>
            <a:pPr algn="l">
              <a:lnSpc>
                <a:spcPct val="100000"/>
              </a:lnSpc>
              <a:spcAft>
                <a:spcPts val="0"/>
              </a:spcAft>
              <a:buNone/>
            </a:pPr>
            <a:r>
              <a:rPr sz="1800" b="1" i="0">
                <a:solidFill>
                  <a:srgbClr val="8B0000"/>
                </a:solidFill>
                <a:latin typeface="Arial"/>
              </a:rPr>
              <a:t>Excluímos</a:t>
            </a:r>
          </a:p>
        </p:txBody>
      </p:sp>
      <p:sp>
        <p:nvSpPr>
          <p:cNvPr id="29" name="TextBox 28"/>
          <p:cNvSpPr txBox="1"/>
          <p:nvPr/>
        </p:nvSpPr>
        <p:spPr>
          <a:xfrm>
            <a:off x="1463040" y="6400800"/>
            <a:ext cx="7040880" cy="2285999"/>
          </a:xfrm>
          <a:prstGeom prst="rect">
            <a:avLst/>
          </a:prstGeom>
          <a:noFill/>
        </p:spPr>
        <p:txBody>
          <a:bodyPr wrap="square" lIns="0" rIns="0" tIns="0" bIns="0" anchor="t">
            <a:noAutofit/>
          </a:bodyPr>
          <a:lstStyle/>
          <a:p>
            <a:pPr algn="l" marL="274320" indent="-274320">
              <a:lnSpc>
                <a:spcPct val="100000"/>
              </a:lnSpc>
              <a:spcAft>
                <a:spcPts val="900"/>
              </a:spcAft>
              <a:buClr>
                <a:srgbClr val="8B0000"/>
              </a:buClr>
              <a:buFont typeface="Arial"/>
              <a:buChar char="•"/>
            </a:pPr>
            <a:r>
              <a:rPr sz="1800" b="0" i="0">
                <a:solidFill>
                  <a:srgbClr val="1F2433"/>
                </a:solidFill>
                <a:latin typeface="Arial"/>
              </a:rPr>
              <a:t>Estudos in vitro ou em animais;</a:t>
            </a:r>
          </a:p>
          <a:p>
            <a:pPr algn="l" marL="274320" indent="-274320">
              <a:lnSpc>
                <a:spcPct val="100000"/>
              </a:lnSpc>
              <a:spcAft>
                <a:spcPts val="900"/>
              </a:spcAft>
              <a:buClr>
                <a:srgbClr val="8B0000"/>
              </a:buClr>
              <a:buFont typeface="Arial"/>
              <a:buChar char="•"/>
            </a:pPr>
            <a:r>
              <a:rPr sz="1800" b="0" i="0">
                <a:solidFill>
                  <a:srgbClr val="1F2433"/>
                </a:solidFill>
                <a:latin typeface="Arial"/>
              </a:rPr>
              <a:t>População fora do centro cirúrgico (ex.: ambulatórios);</a:t>
            </a:r>
          </a:p>
          <a:p>
            <a:pPr algn="l" marL="274320" indent="-274320">
              <a:lnSpc>
                <a:spcPct val="100000"/>
              </a:lnSpc>
              <a:spcAft>
                <a:spcPts val="900"/>
              </a:spcAft>
              <a:buClr>
                <a:srgbClr val="8B0000"/>
              </a:buClr>
              <a:buFont typeface="Arial"/>
              <a:buChar char="•"/>
            </a:pPr>
            <a:r>
              <a:rPr sz="1800" b="0" i="0">
                <a:solidFill>
                  <a:srgbClr val="1F2433"/>
                </a:solidFill>
                <a:latin typeface="Arial"/>
              </a:rPr>
              <a:t>Desfecho apenas no paciente;</a:t>
            </a:r>
          </a:p>
          <a:p>
            <a:pPr algn="l" marL="274320" indent="-274320">
              <a:lnSpc>
                <a:spcPct val="100000"/>
              </a:lnSpc>
              <a:spcAft>
                <a:spcPts val="900"/>
              </a:spcAft>
              <a:buClr>
                <a:srgbClr val="8B0000"/>
              </a:buClr>
              <a:buFont typeface="Arial"/>
              <a:buChar char="•"/>
            </a:pPr>
            <a:r>
              <a:rPr sz="1800" b="0" i="0">
                <a:solidFill>
                  <a:srgbClr val="1F2433"/>
                </a:solidFill>
                <a:latin typeface="Arial"/>
              </a:rPr>
              <a:t>Medição físico-química do ar sem desfecho humano;</a:t>
            </a:r>
          </a:p>
          <a:p>
            <a:pPr algn="l" marL="274320" indent="-274320">
              <a:lnSpc>
                <a:spcPct val="100000"/>
              </a:lnSpc>
              <a:spcAft>
                <a:spcPts val="900"/>
              </a:spcAft>
              <a:buClr>
                <a:srgbClr val="8B0000"/>
              </a:buClr>
              <a:buFont typeface="Arial"/>
              <a:buChar char="•"/>
            </a:pPr>
            <a:r>
              <a:rPr sz="1800" b="0" i="0">
                <a:solidFill>
                  <a:srgbClr val="1F2433"/>
                </a:solidFill>
                <a:latin typeface="Arial"/>
              </a:rPr>
              <a:t>Revisões, editoriais, cartas e comentários;</a:t>
            </a:r>
          </a:p>
          <a:p>
            <a:pPr algn="l" marL="274320" indent="-274320">
              <a:lnSpc>
                <a:spcPct val="100000"/>
              </a:lnSpc>
              <a:spcAft>
                <a:spcPts val="900"/>
              </a:spcAft>
              <a:buClr>
                <a:srgbClr val="8B0000"/>
              </a:buClr>
              <a:buFont typeface="Arial"/>
              <a:buChar char="•"/>
            </a:pPr>
            <a:r>
              <a:rPr sz="1800" b="0" i="0">
                <a:solidFill>
                  <a:srgbClr val="1F2433"/>
                </a:solidFill>
                <a:latin typeface="Arial"/>
              </a:rPr>
              <a:t>Exposição não atribuível à fumaça (gases, radiação).</a:t>
            </a:r>
          </a:p>
        </p:txBody>
      </p:sp>
      <p:sp>
        <p:nvSpPr>
          <p:cNvPr id="30" name="Rounded Rectangle 29"/>
          <p:cNvSpPr/>
          <p:nvPr/>
        </p:nvSpPr>
        <p:spPr>
          <a:xfrm>
            <a:off x="9098280" y="1783080"/>
            <a:ext cx="8686799" cy="4480559"/>
          </a:xfrm>
          <a:prstGeom prst="roundRect">
            <a:avLst>
              <a:gd name="adj" fmla="val 6000"/>
            </a:avLst>
          </a:prstGeom>
          <a:solidFill>
            <a:srgbClr val="FFFFFF"/>
          </a:solidFill>
          <a:ln w="12700">
            <a:solidFill>
              <a:srgbClr val="C9CFDA"/>
            </a:solidFill>
          </a:ln>
          <a:effectLst/>
        </p:spPr>
        <p:txBody>
          <a:bodyPr rtlCol="0" anchor="ctr"/>
          <a:lstStyle/>
          <a:p/>
        </p:txBody>
      </p:sp>
      <p:sp>
        <p:nvSpPr>
          <p:cNvPr id="31" name="TextBox 30"/>
          <p:cNvSpPr txBox="1"/>
          <p:nvPr/>
        </p:nvSpPr>
        <p:spPr>
          <a:xfrm>
            <a:off x="9418320" y="2057400"/>
            <a:ext cx="8046719" cy="36576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Registros recuperados por fonte (busca em 09/07/2026)</a:t>
            </a:r>
          </a:p>
        </p:txBody>
      </p:sp>
      <p:graphicFrame>
        <p:nvGraphicFramePr>
          <p:cNvPr id="32" name="Chart 31"/>
          <p:cNvGraphicFramePr>
            <a:graphicFrameLocks noGrp="1"/>
          </p:cNvGraphicFramePr>
          <p:nvPr/>
        </p:nvGraphicFramePr>
        <p:xfrm>
          <a:off x="9235440" y="2514600"/>
          <a:ext cx="5897880" cy="3611879"/>
        </p:xfrm>
        <a:graphic>
          <a:graphicData uri="http://schemas.openxmlformats.org/drawingml/2006/chart">
            <c:chart xmlns:c="http://schemas.openxmlformats.org/drawingml/2006/chart" r:id="rId6"/>
          </a:graphicData>
        </a:graphic>
      </p:graphicFrame>
      <p:sp>
        <p:nvSpPr>
          <p:cNvPr id="33" name="TextBox 32"/>
          <p:cNvSpPr txBox="1"/>
          <p:nvPr/>
        </p:nvSpPr>
        <p:spPr>
          <a:xfrm>
            <a:off x="15270480" y="2560320"/>
            <a:ext cx="2194559" cy="609600"/>
          </a:xfrm>
          <a:prstGeom prst="rect">
            <a:avLst/>
          </a:prstGeom>
          <a:noFill/>
        </p:spPr>
        <p:txBody>
          <a:bodyPr wrap="square" lIns="0" rIns="0" tIns="0" bIns="0" anchor="t">
            <a:noAutofit/>
          </a:bodyPr>
          <a:lstStyle/>
          <a:p>
            <a:pPr algn="l">
              <a:lnSpc>
                <a:spcPct val="95000"/>
              </a:lnSpc>
              <a:spcAft>
                <a:spcPts val="0"/>
              </a:spcAft>
              <a:buNone/>
            </a:pPr>
            <a:r>
              <a:rPr sz="4000" b="1" i="0">
                <a:solidFill>
                  <a:srgbClr val="8B0000"/>
                </a:solidFill>
                <a:latin typeface="Arial"/>
              </a:rPr>
              <a:t>16.757</a:t>
            </a:r>
          </a:p>
        </p:txBody>
      </p:sp>
      <p:sp>
        <p:nvSpPr>
          <p:cNvPr id="34" name="TextBox 33"/>
          <p:cNvSpPr txBox="1"/>
          <p:nvPr/>
        </p:nvSpPr>
        <p:spPr>
          <a:xfrm>
            <a:off x="15270480" y="3215639"/>
            <a:ext cx="2194559" cy="670560"/>
          </a:xfrm>
          <a:prstGeom prst="rect">
            <a:avLst/>
          </a:prstGeom>
          <a:noFill/>
        </p:spPr>
        <p:txBody>
          <a:bodyPr wrap="square" lIns="0" rIns="0" tIns="0" bIns="0" anchor="t">
            <a:noAutofit/>
          </a:bodyPr>
          <a:lstStyle/>
          <a:p>
            <a:pPr algn="l">
              <a:lnSpc>
                <a:spcPct val="105000"/>
              </a:lnSpc>
              <a:spcAft>
                <a:spcPts val="0"/>
              </a:spcAft>
              <a:buNone/>
            </a:pPr>
            <a:r>
              <a:rPr sz="1600" b="0" i="0">
                <a:solidFill>
                  <a:srgbClr val="5A6270"/>
                </a:solidFill>
                <a:latin typeface="Arial"/>
              </a:rPr>
              <a:t>registros identificados</a:t>
            </a:r>
          </a:p>
        </p:txBody>
      </p:sp>
      <p:sp>
        <p:nvSpPr>
          <p:cNvPr id="35" name="TextBox 34"/>
          <p:cNvSpPr txBox="1"/>
          <p:nvPr/>
        </p:nvSpPr>
        <p:spPr>
          <a:xfrm>
            <a:off x="15270480" y="4023360"/>
            <a:ext cx="2194559" cy="487680"/>
          </a:xfrm>
          <a:prstGeom prst="rect">
            <a:avLst/>
          </a:prstGeom>
          <a:noFill/>
        </p:spPr>
        <p:txBody>
          <a:bodyPr wrap="square" lIns="0" rIns="0" tIns="0" bIns="0" anchor="t">
            <a:noAutofit/>
          </a:bodyPr>
          <a:lstStyle/>
          <a:p>
            <a:pPr algn="l">
              <a:lnSpc>
                <a:spcPct val="95000"/>
              </a:lnSpc>
              <a:spcAft>
                <a:spcPts val="0"/>
              </a:spcAft>
              <a:buNone/>
            </a:pPr>
            <a:r>
              <a:rPr sz="3200" b="1" i="0">
                <a:solidFill>
                  <a:srgbClr val="002060"/>
                </a:solidFill>
                <a:latin typeface="Arial"/>
              </a:rPr>
              <a:t>+ 443</a:t>
            </a:r>
          </a:p>
        </p:txBody>
      </p:sp>
      <p:sp>
        <p:nvSpPr>
          <p:cNvPr id="36" name="TextBox 35"/>
          <p:cNvSpPr txBox="1"/>
          <p:nvPr/>
        </p:nvSpPr>
        <p:spPr>
          <a:xfrm>
            <a:off x="15270480" y="4556760"/>
            <a:ext cx="2194559" cy="883920"/>
          </a:xfrm>
          <a:prstGeom prst="rect">
            <a:avLst/>
          </a:prstGeom>
          <a:noFill/>
        </p:spPr>
        <p:txBody>
          <a:bodyPr wrap="square" lIns="0" rIns="0" tIns="0" bIns="0" anchor="t">
            <a:noAutofit/>
          </a:bodyPr>
          <a:lstStyle/>
          <a:p>
            <a:pPr algn="l">
              <a:lnSpc>
                <a:spcPct val="105000"/>
              </a:lnSpc>
              <a:spcAft>
                <a:spcPts val="0"/>
              </a:spcAft>
              <a:buNone/>
            </a:pPr>
            <a:r>
              <a:rPr sz="1500" b="0" i="0">
                <a:solidFill>
                  <a:srgbClr val="5A6270"/>
                </a:solidFill>
                <a:latin typeface="Arial"/>
              </a:rPr>
              <a:t>referências na busca por citação (OpenAlex)</a:t>
            </a:r>
          </a:p>
        </p:txBody>
      </p:sp>
      <p:sp>
        <p:nvSpPr>
          <p:cNvPr id="37" name="TextBox 36"/>
          <p:cNvSpPr txBox="1"/>
          <p:nvPr/>
        </p:nvSpPr>
        <p:spPr>
          <a:xfrm>
            <a:off x="15270480" y="5257800"/>
            <a:ext cx="2194559" cy="68580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Cinzenta: Google Scholar (4 × 50 resultados) e Catálogo CAPES</a:t>
            </a:r>
          </a:p>
        </p:txBody>
      </p:sp>
      <p:sp>
        <p:nvSpPr>
          <p:cNvPr id="38" name="Rounded Rectangle 37"/>
          <p:cNvSpPr/>
          <p:nvPr/>
        </p:nvSpPr>
        <p:spPr>
          <a:xfrm>
            <a:off x="9098280" y="6537959"/>
            <a:ext cx="8686799" cy="2468880"/>
          </a:xfrm>
          <a:prstGeom prst="roundRect">
            <a:avLst>
              <a:gd name="adj" fmla="val 6000"/>
            </a:avLst>
          </a:prstGeom>
          <a:solidFill>
            <a:srgbClr val="FBF5E3"/>
          </a:solidFill>
          <a:ln>
            <a:noFill/>
          </a:ln>
          <a:effectLst/>
        </p:spPr>
        <p:txBody>
          <a:bodyPr rtlCol="0" anchor="ctr"/>
          <a:lstStyle/>
          <a:p/>
        </p:txBody>
      </p:sp>
      <p:sp>
        <p:nvSpPr>
          <p:cNvPr id="39" name="TextBox 38"/>
          <p:cNvSpPr txBox="1"/>
          <p:nvPr/>
        </p:nvSpPr>
        <p:spPr>
          <a:xfrm>
            <a:off x="9418320" y="6812279"/>
            <a:ext cx="8046719" cy="36576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Como a estratégia foi construída</a:t>
            </a:r>
          </a:p>
        </p:txBody>
      </p:sp>
      <p:sp>
        <p:nvSpPr>
          <p:cNvPr id="40" name="TextBox 39"/>
          <p:cNvSpPr txBox="1"/>
          <p:nvPr/>
        </p:nvSpPr>
        <p:spPr>
          <a:xfrm>
            <a:off x="9418320" y="7315199"/>
            <a:ext cx="8046719" cy="1371600"/>
          </a:xfrm>
          <a:prstGeom prst="rect">
            <a:avLst/>
          </a:prstGeom>
          <a:noFill/>
        </p:spPr>
        <p:txBody>
          <a:bodyPr wrap="square" lIns="0" rIns="0" tIns="0" bIns="0" anchor="t">
            <a:noAutofit/>
          </a:bodyPr>
          <a:lstStyle/>
          <a:p>
            <a:pPr algn="l" marL="274320" indent="-274320">
              <a:lnSpc>
                <a:spcPct val="100000"/>
              </a:lnSpc>
              <a:spcAft>
                <a:spcPts val="600"/>
              </a:spcAft>
              <a:buClr>
                <a:srgbClr val="C8A951"/>
              </a:buClr>
              <a:buFont typeface="Arial"/>
              <a:buChar char="•"/>
            </a:pPr>
            <a:r>
              <a:rPr sz="1600" b="1" i="0">
                <a:solidFill>
                  <a:srgbClr val="1F2433"/>
                </a:solidFill>
                <a:latin typeface="Arial"/>
              </a:rPr>
              <a:t>Dois blocos: </a:t>
            </a:r>
            <a:r>
              <a:rPr sz="1600" b="0" i="0">
                <a:solidFill>
                  <a:srgbClr val="1F2433"/>
                </a:solidFill>
                <a:latin typeface="Arial"/>
              </a:rPr>
              <a:t>(equipe cirúrgica) AND (fumaça OR dispositivos de energia); MeSH/Emtree e texto livre; sem bloco de desfecho.</a:t>
            </a:r>
          </a:p>
          <a:p>
            <a:pPr algn="l" marL="274320" indent="-274320">
              <a:lnSpc>
                <a:spcPct val="100000"/>
              </a:lnSpc>
              <a:spcAft>
                <a:spcPts val="600"/>
              </a:spcAft>
              <a:buClr>
                <a:srgbClr val="C8A951"/>
              </a:buClr>
              <a:buFont typeface="Arial"/>
              <a:buChar char="•"/>
            </a:pPr>
            <a:r>
              <a:rPr sz="1600" b="1" i="0">
                <a:solidFill>
                  <a:srgbClr val="1F2433"/>
                </a:solidFill>
                <a:highlight>
                  <a:srgbClr val="FFEB99"/>
                </a:highlight>
                <a:latin typeface="Arial"/>
              </a:rPr>
              <a:t>Sem filtro de idioma ou data na busca</a:t>
            </a:r>
            <a:r>
              <a:rPr sz="1600" b="0" i="0">
                <a:solidFill>
                  <a:srgbClr val="1F2433"/>
                </a:solidFill>
                <a:latin typeface="Arial"/>
              </a:rPr>
              <a:t> → alta sensibilidade (Anexo A).</a:t>
            </a:r>
          </a:p>
          <a:p>
            <a:pPr algn="l" marL="274320" indent="-274320">
              <a:lnSpc>
                <a:spcPct val="100000"/>
              </a:lnSpc>
              <a:spcAft>
                <a:spcPts val="600"/>
              </a:spcAft>
              <a:buClr>
                <a:srgbClr val="C8A951"/>
              </a:buClr>
              <a:buFont typeface="Arial"/>
              <a:buChar char="•"/>
            </a:pPr>
            <a:r>
              <a:rPr sz="1600" b="1" i="0">
                <a:solidFill>
                  <a:srgbClr val="1F2433"/>
                </a:solidFill>
                <a:latin typeface="Arial"/>
              </a:rPr>
              <a:t>Busca por citação (OpenAlex): </a:t>
            </a:r>
            <a:r>
              <a:rPr sz="1600" b="0" i="0">
                <a:solidFill>
                  <a:srgbClr val="1F2433"/>
                </a:solidFill>
                <a:latin typeface="Arial"/>
              </a:rPr>
              <a:t>referências dos incluídos e quem os cita.</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APOIO · 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Seleção (PRISMA 2020) e características dos 22 relatórios incluídos</a:t>
            </a:r>
          </a:p>
        </p:txBody>
      </p:sp>
      <p:sp>
        <p:nvSpPr>
          <p:cNvPr id="7" name="Rounded Rectangle 6"/>
          <p:cNvSpPr/>
          <p:nvPr/>
        </p:nvSpPr>
        <p:spPr>
          <a:xfrm>
            <a:off x="2057400" y="1783080"/>
            <a:ext cx="4754880" cy="1188720"/>
          </a:xfrm>
          <a:prstGeom prst="roundRect">
            <a:avLst>
              <a:gd name="adj" fmla="val 8000"/>
            </a:avLst>
          </a:prstGeom>
          <a:solidFill>
            <a:srgbClr val="F2F4F8"/>
          </a:solidFill>
          <a:ln>
            <a:noFill/>
          </a:ln>
          <a:effectLst/>
        </p:spPr>
        <p:txBody>
          <a:bodyPr rtlCol="0" anchor="ctr"/>
          <a:lstStyle/>
          <a:p/>
        </p:txBody>
      </p:sp>
      <p:sp>
        <p:nvSpPr>
          <p:cNvPr id="8" name="TextBox 7"/>
          <p:cNvSpPr txBox="1"/>
          <p:nvPr/>
        </p:nvSpPr>
        <p:spPr>
          <a:xfrm>
            <a:off x="2331720" y="1892807"/>
            <a:ext cx="4206240" cy="969264"/>
          </a:xfrm>
          <a:prstGeom prst="rect">
            <a:avLst/>
          </a:prstGeom>
          <a:noFill/>
        </p:spPr>
        <p:txBody>
          <a:bodyPr wrap="square" lIns="0" rIns="0" tIns="0" bIns="0" anchor="ctr">
            <a:noAutofit/>
          </a:bodyPr>
          <a:lstStyle/>
          <a:p>
            <a:pPr algn="l">
              <a:lnSpc>
                <a:spcPct val="100000"/>
              </a:lnSpc>
              <a:spcAft>
                <a:spcPts val="200"/>
              </a:spcAft>
              <a:buNone/>
            </a:pPr>
            <a:r>
              <a:rPr sz="1500" b="1" i="0">
                <a:solidFill>
                  <a:srgbClr val="1F2433"/>
                </a:solidFill>
                <a:latin typeface="Arial"/>
              </a:rPr>
              <a:t>Registros identificados (n = 16.757)</a:t>
            </a:r>
          </a:p>
          <a:p>
            <a:pPr algn="l">
              <a:lnSpc>
                <a:spcPct val="100000"/>
              </a:lnSpc>
              <a:spcAft>
                <a:spcPts val="200"/>
              </a:spcAft>
              <a:buNone/>
            </a:pPr>
            <a:r>
              <a:rPr sz="1500" b="0" i="0">
                <a:solidFill>
                  <a:srgbClr val="1F2433"/>
                </a:solidFill>
                <a:latin typeface="Arial"/>
              </a:rPr>
              <a:t>Bases: 16.707 · Literatura cinzenta: 50</a:t>
            </a:r>
          </a:p>
        </p:txBody>
      </p:sp>
      <p:sp>
        <p:nvSpPr>
          <p:cNvPr id="9" name="Rounded Rectangle 8"/>
          <p:cNvSpPr/>
          <p:nvPr/>
        </p:nvSpPr>
        <p:spPr>
          <a:xfrm>
            <a:off x="7178040" y="1783080"/>
            <a:ext cx="2468880" cy="1188720"/>
          </a:xfrm>
          <a:prstGeom prst="roundRect">
            <a:avLst>
              <a:gd name="adj" fmla="val 8000"/>
            </a:avLst>
          </a:prstGeom>
          <a:solidFill>
            <a:srgbClr val="FBF5E3"/>
          </a:solidFill>
          <a:ln>
            <a:noFill/>
          </a:ln>
          <a:effectLst/>
        </p:spPr>
        <p:txBody>
          <a:bodyPr rtlCol="0" anchor="ctr"/>
          <a:lstStyle/>
          <a:p/>
        </p:txBody>
      </p:sp>
      <p:sp>
        <p:nvSpPr>
          <p:cNvPr id="10" name="TextBox 9"/>
          <p:cNvSpPr txBox="1"/>
          <p:nvPr/>
        </p:nvSpPr>
        <p:spPr>
          <a:xfrm>
            <a:off x="7406640" y="1892807"/>
            <a:ext cx="2011680" cy="969264"/>
          </a:xfrm>
          <a:prstGeom prst="rect">
            <a:avLst/>
          </a:prstGeom>
          <a:noFill/>
        </p:spPr>
        <p:txBody>
          <a:bodyPr wrap="square" lIns="0" rIns="0" tIns="0" bIns="0" anchor="ctr">
            <a:noAutofit/>
          </a:bodyPr>
          <a:lstStyle/>
          <a:p>
            <a:pPr algn="l">
              <a:lnSpc>
                <a:spcPct val="100000"/>
              </a:lnSpc>
              <a:spcAft>
                <a:spcPts val="0"/>
              </a:spcAft>
              <a:buNone/>
            </a:pPr>
            <a:r>
              <a:rPr sz="1400" b="1" i="0">
                <a:solidFill>
                  <a:srgbClr val="1F2433"/>
                </a:solidFill>
                <a:latin typeface="Arial"/>
              </a:rPr>
              <a:t>Busca por citação</a:t>
            </a:r>
          </a:p>
          <a:p>
            <a:pPr algn="l">
              <a:lnSpc>
                <a:spcPct val="100000"/>
              </a:lnSpc>
              <a:spcAft>
                <a:spcPts val="0"/>
              </a:spcAft>
              <a:buNone/>
            </a:pPr>
            <a:r>
              <a:rPr sz="1400" b="0" i="0">
                <a:solidFill>
                  <a:srgbClr val="1F2433"/>
                </a:solidFill>
                <a:latin typeface="Arial"/>
              </a:rPr>
              <a:t>443 referências →</a:t>
            </a:r>
          </a:p>
          <a:p>
            <a:pPr algn="l">
              <a:lnSpc>
                <a:spcPct val="100000"/>
              </a:lnSpc>
              <a:spcAft>
                <a:spcPts val="0"/>
              </a:spcAft>
              <a:buNone/>
            </a:pPr>
            <a:r>
              <a:rPr sz="1400" b="0" i="0">
                <a:solidFill>
                  <a:srgbClr val="1F2433"/>
                </a:solidFill>
                <a:latin typeface="Arial"/>
              </a:rPr>
              <a:t>4 relatórios buscados</a:t>
            </a:r>
          </a:p>
          <a:p>
            <a:pPr algn="l">
              <a:lnSpc>
                <a:spcPct val="100000"/>
              </a:lnSpc>
              <a:spcAft>
                <a:spcPts val="0"/>
              </a:spcAft>
              <a:buNone/>
            </a:pPr>
            <a:r>
              <a:rPr sz="1400" b="0" i="0">
                <a:solidFill>
                  <a:srgbClr val="1F2433"/>
                </a:solidFill>
                <a:latin typeface="Arial"/>
              </a:rPr>
              <a:t>na íntegra</a:t>
            </a:r>
          </a:p>
        </p:txBody>
      </p:sp>
      <p:cxnSp>
        <p:nvCxnSpPr>
          <p:cNvPr id="11" name="Connector 10"/>
          <p:cNvCxnSpPr/>
          <p:nvPr/>
        </p:nvCxnSpPr>
        <p:spPr>
          <a:xfrm>
            <a:off x="4434840" y="2971800"/>
            <a:ext cx="0" cy="237744"/>
          </a:xfrm>
          <a:prstGeom prst="line">
            <a:avLst/>
          </a:prstGeom>
          <a:ln w="25400">
            <a:solidFill>
              <a:srgbClr val="002060"/>
            </a:solidFill>
            <a:tailEnd type="triangle" w="med" len="med"/>
          </a:ln>
        </p:spPr>
      </p:cxnSp>
      <p:sp>
        <p:nvSpPr>
          <p:cNvPr id="12" name="Rounded Rectangle 11"/>
          <p:cNvSpPr/>
          <p:nvPr/>
        </p:nvSpPr>
        <p:spPr>
          <a:xfrm>
            <a:off x="2057400" y="3227832"/>
            <a:ext cx="4754880" cy="914400"/>
          </a:xfrm>
          <a:prstGeom prst="roundRect">
            <a:avLst>
              <a:gd name="adj" fmla="val 8000"/>
            </a:avLst>
          </a:prstGeom>
          <a:solidFill>
            <a:srgbClr val="F2F4F8"/>
          </a:solidFill>
          <a:ln>
            <a:noFill/>
          </a:ln>
          <a:effectLst/>
        </p:spPr>
        <p:txBody>
          <a:bodyPr rtlCol="0" anchor="ctr"/>
          <a:lstStyle/>
          <a:p/>
        </p:txBody>
      </p:sp>
      <p:sp>
        <p:nvSpPr>
          <p:cNvPr id="13" name="TextBox 12"/>
          <p:cNvSpPr txBox="1"/>
          <p:nvPr/>
        </p:nvSpPr>
        <p:spPr>
          <a:xfrm>
            <a:off x="2331720" y="3337560"/>
            <a:ext cx="4206240" cy="694944"/>
          </a:xfrm>
          <a:prstGeom prst="rect">
            <a:avLst/>
          </a:prstGeom>
          <a:noFill/>
        </p:spPr>
        <p:txBody>
          <a:bodyPr wrap="square" lIns="0" rIns="0" tIns="0" bIns="0" anchor="ctr">
            <a:noAutofit/>
          </a:bodyPr>
          <a:lstStyle/>
          <a:p>
            <a:pPr algn="l">
              <a:lnSpc>
                <a:spcPct val="100000"/>
              </a:lnSpc>
              <a:spcAft>
                <a:spcPts val="200"/>
              </a:spcAft>
              <a:buNone/>
            </a:pPr>
            <a:r>
              <a:rPr sz="1500" b="0" i="0">
                <a:solidFill>
                  <a:srgbClr val="1F2433"/>
                </a:solidFill>
                <a:latin typeface="Arial"/>
              </a:rPr>
              <a:t>Importados: 16.749 (8 não exportados)</a:t>
            </a:r>
          </a:p>
          <a:p>
            <a:pPr algn="l">
              <a:lnSpc>
                <a:spcPct val="100000"/>
              </a:lnSpc>
              <a:spcAft>
                <a:spcPts val="200"/>
              </a:spcAft>
              <a:buNone/>
            </a:pPr>
            <a:r>
              <a:rPr sz="1500" b="1" i="0">
                <a:solidFill>
                  <a:srgbClr val="1F2433"/>
                </a:solidFill>
                <a:latin typeface="Arial"/>
              </a:rPr>
              <a:t>Duplicatas removidas: 5.839</a:t>
            </a:r>
          </a:p>
        </p:txBody>
      </p:sp>
      <p:cxnSp>
        <p:nvCxnSpPr>
          <p:cNvPr id="14" name="Connector 13"/>
          <p:cNvCxnSpPr/>
          <p:nvPr/>
        </p:nvCxnSpPr>
        <p:spPr>
          <a:xfrm>
            <a:off x="4434840" y="4142232"/>
            <a:ext cx="0" cy="237744"/>
          </a:xfrm>
          <a:prstGeom prst="line">
            <a:avLst/>
          </a:prstGeom>
          <a:ln w="25400">
            <a:solidFill>
              <a:srgbClr val="002060"/>
            </a:solidFill>
            <a:tailEnd type="triangle" w="med" len="med"/>
          </a:ln>
        </p:spPr>
      </p:cxnSp>
      <p:sp>
        <p:nvSpPr>
          <p:cNvPr id="15" name="Rounded Rectangle 14"/>
          <p:cNvSpPr/>
          <p:nvPr/>
        </p:nvSpPr>
        <p:spPr>
          <a:xfrm>
            <a:off x="2057400" y="4398264"/>
            <a:ext cx="4754880" cy="914400"/>
          </a:xfrm>
          <a:prstGeom prst="roundRect">
            <a:avLst>
              <a:gd name="adj" fmla="val 8000"/>
            </a:avLst>
          </a:prstGeom>
          <a:solidFill>
            <a:srgbClr val="F2F4F8"/>
          </a:solidFill>
          <a:ln>
            <a:noFill/>
          </a:ln>
          <a:effectLst/>
        </p:spPr>
        <p:txBody>
          <a:bodyPr rtlCol="0" anchor="ctr"/>
          <a:lstStyle/>
          <a:p/>
        </p:txBody>
      </p:sp>
      <p:sp>
        <p:nvSpPr>
          <p:cNvPr id="16" name="TextBox 15"/>
          <p:cNvSpPr txBox="1"/>
          <p:nvPr/>
        </p:nvSpPr>
        <p:spPr>
          <a:xfrm>
            <a:off x="2331720" y="4507992"/>
            <a:ext cx="4206240" cy="694944"/>
          </a:xfrm>
          <a:prstGeom prst="rect">
            <a:avLst/>
          </a:prstGeom>
          <a:noFill/>
        </p:spPr>
        <p:txBody>
          <a:bodyPr wrap="square" lIns="0" rIns="0" tIns="0" bIns="0" anchor="ctr">
            <a:noAutofit/>
          </a:bodyPr>
          <a:lstStyle/>
          <a:p>
            <a:pPr algn="l">
              <a:lnSpc>
                <a:spcPct val="100000"/>
              </a:lnSpc>
              <a:spcAft>
                <a:spcPts val="200"/>
              </a:spcAft>
              <a:buNone/>
            </a:pPr>
            <a:r>
              <a:rPr sz="1500" b="1" i="0">
                <a:solidFill>
                  <a:srgbClr val="1F2433"/>
                </a:solidFill>
                <a:latin typeface="Arial"/>
              </a:rPr>
              <a:t>Triados (título e resumo): 10.910</a:t>
            </a:r>
          </a:p>
          <a:p>
            <a:pPr algn="l">
              <a:lnSpc>
                <a:spcPct val="100000"/>
              </a:lnSpc>
              <a:spcAft>
                <a:spcPts val="200"/>
              </a:spcAft>
              <a:buNone/>
            </a:pPr>
            <a:r>
              <a:rPr sz="1500" b="0" i="0">
                <a:solidFill>
                  <a:srgbClr val="1F2433"/>
                </a:solidFill>
                <a:latin typeface="Arial"/>
              </a:rPr>
              <a:t>revisor único; IA como apoio</a:t>
            </a:r>
          </a:p>
        </p:txBody>
      </p:sp>
      <p:sp>
        <p:nvSpPr>
          <p:cNvPr id="17" name="Rounded Rectangle 16"/>
          <p:cNvSpPr/>
          <p:nvPr/>
        </p:nvSpPr>
        <p:spPr>
          <a:xfrm>
            <a:off x="7178040" y="4398264"/>
            <a:ext cx="2468880" cy="914400"/>
          </a:xfrm>
          <a:prstGeom prst="roundRect">
            <a:avLst>
              <a:gd name="adj" fmla="val 8000"/>
            </a:avLst>
          </a:prstGeom>
          <a:solidFill>
            <a:srgbClr val="F2F4F8"/>
          </a:solidFill>
          <a:ln>
            <a:noFill/>
          </a:ln>
          <a:effectLst/>
        </p:spPr>
        <p:txBody>
          <a:bodyPr rtlCol="0" anchor="ctr"/>
          <a:lstStyle/>
          <a:p/>
        </p:txBody>
      </p:sp>
      <p:sp>
        <p:nvSpPr>
          <p:cNvPr id="18" name="TextBox 17"/>
          <p:cNvSpPr txBox="1"/>
          <p:nvPr/>
        </p:nvSpPr>
        <p:spPr>
          <a:xfrm>
            <a:off x="7406640" y="4507992"/>
            <a:ext cx="2011680" cy="694944"/>
          </a:xfrm>
          <a:prstGeom prst="rect">
            <a:avLst/>
          </a:prstGeom>
          <a:noFill/>
        </p:spPr>
        <p:txBody>
          <a:bodyPr wrap="square" lIns="0" rIns="0" tIns="0" bIns="0" anchor="ctr">
            <a:noAutofit/>
          </a:bodyPr>
          <a:lstStyle/>
          <a:p>
            <a:pPr algn="l">
              <a:lnSpc>
                <a:spcPct val="100000"/>
              </a:lnSpc>
              <a:spcAft>
                <a:spcPts val="0"/>
              </a:spcAft>
              <a:buNone/>
            </a:pPr>
            <a:r>
              <a:rPr sz="1400" b="1" i="0">
                <a:solidFill>
                  <a:srgbClr val="1F2433"/>
                </a:solidFill>
                <a:latin typeface="Arial"/>
              </a:rPr>
              <a:t>Excluídos na triagem</a:t>
            </a:r>
          </a:p>
          <a:p>
            <a:pPr algn="l">
              <a:lnSpc>
                <a:spcPct val="100000"/>
              </a:lnSpc>
              <a:spcAft>
                <a:spcPts val="0"/>
              </a:spcAft>
              <a:buNone/>
            </a:pPr>
            <a:r>
              <a:rPr sz="1400" b="0" i="0">
                <a:solidFill>
                  <a:srgbClr val="1F2433"/>
                </a:solidFill>
                <a:latin typeface="Arial"/>
              </a:rPr>
              <a:t>n = 10.882</a:t>
            </a:r>
          </a:p>
        </p:txBody>
      </p:sp>
      <p:cxnSp>
        <p:nvCxnSpPr>
          <p:cNvPr id="19" name="Connector 18"/>
          <p:cNvCxnSpPr/>
          <p:nvPr/>
        </p:nvCxnSpPr>
        <p:spPr>
          <a:xfrm>
            <a:off x="6812280" y="4855464"/>
            <a:ext cx="347472" cy="0"/>
          </a:xfrm>
          <a:prstGeom prst="line">
            <a:avLst/>
          </a:prstGeom>
          <a:ln w="25400">
            <a:solidFill>
              <a:srgbClr val="002060"/>
            </a:solidFill>
            <a:tailEnd type="triangle" w="med" len="med"/>
          </a:ln>
        </p:spPr>
      </p:cxnSp>
      <p:cxnSp>
        <p:nvCxnSpPr>
          <p:cNvPr id="20" name="Connector 19"/>
          <p:cNvCxnSpPr/>
          <p:nvPr/>
        </p:nvCxnSpPr>
        <p:spPr>
          <a:xfrm>
            <a:off x="4434840" y="5312664"/>
            <a:ext cx="0" cy="237744"/>
          </a:xfrm>
          <a:prstGeom prst="line">
            <a:avLst/>
          </a:prstGeom>
          <a:ln w="25400">
            <a:solidFill>
              <a:srgbClr val="002060"/>
            </a:solidFill>
            <a:tailEnd type="triangle" w="med" len="med"/>
          </a:ln>
        </p:spPr>
      </p:cxnSp>
      <p:sp>
        <p:nvSpPr>
          <p:cNvPr id="21" name="Rounded Rectangle 20"/>
          <p:cNvSpPr/>
          <p:nvPr/>
        </p:nvSpPr>
        <p:spPr>
          <a:xfrm>
            <a:off x="2057400" y="5568696"/>
            <a:ext cx="4754880" cy="914400"/>
          </a:xfrm>
          <a:prstGeom prst="roundRect">
            <a:avLst>
              <a:gd name="adj" fmla="val 8000"/>
            </a:avLst>
          </a:prstGeom>
          <a:solidFill>
            <a:srgbClr val="F2F4F8"/>
          </a:solidFill>
          <a:ln>
            <a:noFill/>
          </a:ln>
          <a:effectLst/>
        </p:spPr>
        <p:txBody>
          <a:bodyPr rtlCol="0" anchor="ctr"/>
          <a:lstStyle/>
          <a:p/>
        </p:txBody>
      </p:sp>
      <p:sp>
        <p:nvSpPr>
          <p:cNvPr id="22" name="TextBox 21"/>
          <p:cNvSpPr txBox="1"/>
          <p:nvPr/>
        </p:nvSpPr>
        <p:spPr>
          <a:xfrm>
            <a:off x="2331720" y="5678424"/>
            <a:ext cx="4206240" cy="694944"/>
          </a:xfrm>
          <a:prstGeom prst="rect">
            <a:avLst/>
          </a:prstGeom>
          <a:noFill/>
        </p:spPr>
        <p:txBody>
          <a:bodyPr wrap="square" lIns="0" rIns="0" tIns="0" bIns="0" anchor="ctr">
            <a:noAutofit/>
          </a:bodyPr>
          <a:lstStyle/>
          <a:p>
            <a:pPr algn="l">
              <a:lnSpc>
                <a:spcPct val="100000"/>
              </a:lnSpc>
              <a:spcAft>
                <a:spcPts val="200"/>
              </a:spcAft>
              <a:buNone/>
            </a:pPr>
            <a:r>
              <a:rPr sz="1500" b="1" i="0">
                <a:solidFill>
                  <a:srgbClr val="1F2433"/>
                </a:solidFill>
                <a:latin typeface="Arial"/>
              </a:rPr>
              <a:t>Buscados na íntegra: 32</a:t>
            </a:r>
          </a:p>
          <a:p>
            <a:pPr algn="l">
              <a:lnSpc>
                <a:spcPct val="100000"/>
              </a:lnSpc>
              <a:spcAft>
                <a:spcPts val="200"/>
              </a:spcAft>
              <a:buNone/>
            </a:pPr>
            <a:r>
              <a:rPr sz="1500" b="0" i="0">
                <a:solidFill>
                  <a:srgbClr val="1F2433"/>
                </a:solidFill>
                <a:latin typeface="Arial"/>
              </a:rPr>
              <a:t>28 da triagem + 4 por citação</a:t>
            </a:r>
          </a:p>
        </p:txBody>
      </p:sp>
      <p:sp>
        <p:nvSpPr>
          <p:cNvPr id="23" name="Rounded Rectangle 22"/>
          <p:cNvSpPr/>
          <p:nvPr/>
        </p:nvSpPr>
        <p:spPr>
          <a:xfrm>
            <a:off x="7178040" y="5568696"/>
            <a:ext cx="2468880" cy="914400"/>
          </a:xfrm>
          <a:prstGeom prst="roundRect">
            <a:avLst>
              <a:gd name="adj" fmla="val 8000"/>
            </a:avLst>
          </a:prstGeom>
          <a:solidFill>
            <a:srgbClr val="F2F4F8"/>
          </a:solidFill>
          <a:ln>
            <a:noFill/>
          </a:ln>
          <a:effectLst/>
        </p:spPr>
        <p:txBody>
          <a:bodyPr rtlCol="0" anchor="ctr"/>
          <a:lstStyle/>
          <a:p/>
        </p:txBody>
      </p:sp>
      <p:sp>
        <p:nvSpPr>
          <p:cNvPr id="24" name="TextBox 23"/>
          <p:cNvSpPr txBox="1"/>
          <p:nvPr/>
        </p:nvSpPr>
        <p:spPr>
          <a:xfrm>
            <a:off x="7406640" y="5678424"/>
            <a:ext cx="2011680" cy="694944"/>
          </a:xfrm>
          <a:prstGeom prst="rect">
            <a:avLst/>
          </a:prstGeom>
          <a:noFill/>
        </p:spPr>
        <p:txBody>
          <a:bodyPr wrap="square" lIns="0" rIns="0" tIns="0" bIns="0" anchor="ctr">
            <a:noAutofit/>
          </a:bodyPr>
          <a:lstStyle/>
          <a:p>
            <a:pPr algn="l">
              <a:lnSpc>
                <a:spcPct val="100000"/>
              </a:lnSpc>
              <a:spcAft>
                <a:spcPts val="0"/>
              </a:spcAft>
              <a:buNone/>
            </a:pPr>
            <a:r>
              <a:rPr sz="1400" b="1" i="0">
                <a:solidFill>
                  <a:srgbClr val="1F2433"/>
                </a:solidFill>
                <a:latin typeface="Arial"/>
              </a:rPr>
              <a:t>Não recuperados</a:t>
            </a:r>
          </a:p>
          <a:p>
            <a:pPr algn="l">
              <a:lnSpc>
                <a:spcPct val="100000"/>
              </a:lnSpc>
              <a:spcAft>
                <a:spcPts val="0"/>
              </a:spcAft>
              <a:buNone/>
            </a:pPr>
            <a:r>
              <a:rPr sz="1400" b="0" i="0">
                <a:solidFill>
                  <a:srgbClr val="1F2433"/>
                </a:solidFill>
                <a:latin typeface="Arial"/>
              </a:rPr>
              <a:t>n = 6</a:t>
            </a:r>
          </a:p>
        </p:txBody>
      </p:sp>
      <p:cxnSp>
        <p:nvCxnSpPr>
          <p:cNvPr id="25" name="Connector 24"/>
          <p:cNvCxnSpPr/>
          <p:nvPr/>
        </p:nvCxnSpPr>
        <p:spPr>
          <a:xfrm>
            <a:off x="6812280" y="6025896"/>
            <a:ext cx="347472" cy="0"/>
          </a:xfrm>
          <a:prstGeom prst="line">
            <a:avLst/>
          </a:prstGeom>
          <a:ln w="25400">
            <a:solidFill>
              <a:srgbClr val="002060"/>
            </a:solidFill>
            <a:tailEnd type="triangle" w="med" len="med"/>
          </a:ln>
        </p:spPr>
      </p:cxnSp>
      <p:cxnSp>
        <p:nvCxnSpPr>
          <p:cNvPr id="26" name="Connector 25"/>
          <p:cNvCxnSpPr/>
          <p:nvPr/>
        </p:nvCxnSpPr>
        <p:spPr>
          <a:xfrm>
            <a:off x="4434840" y="6483096"/>
            <a:ext cx="0" cy="237744"/>
          </a:xfrm>
          <a:prstGeom prst="line">
            <a:avLst/>
          </a:prstGeom>
          <a:ln w="25400">
            <a:solidFill>
              <a:srgbClr val="002060"/>
            </a:solidFill>
            <a:tailEnd type="triangle" w="med" len="med"/>
          </a:ln>
        </p:spPr>
      </p:cxnSp>
      <p:sp>
        <p:nvSpPr>
          <p:cNvPr id="27" name="Rounded Rectangle 26"/>
          <p:cNvSpPr/>
          <p:nvPr/>
        </p:nvSpPr>
        <p:spPr>
          <a:xfrm>
            <a:off x="2057400" y="6739128"/>
            <a:ext cx="4754880" cy="960120"/>
          </a:xfrm>
          <a:prstGeom prst="roundRect">
            <a:avLst>
              <a:gd name="adj" fmla="val 8000"/>
            </a:avLst>
          </a:prstGeom>
          <a:solidFill>
            <a:srgbClr val="F2F4F8"/>
          </a:solidFill>
          <a:ln>
            <a:noFill/>
          </a:ln>
          <a:effectLst/>
        </p:spPr>
        <p:txBody>
          <a:bodyPr rtlCol="0" anchor="ctr"/>
          <a:lstStyle/>
          <a:p/>
        </p:txBody>
      </p:sp>
      <p:sp>
        <p:nvSpPr>
          <p:cNvPr id="28" name="TextBox 27"/>
          <p:cNvSpPr txBox="1"/>
          <p:nvPr/>
        </p:nvSpPr>
        <p:spPr>
          <a:xfrm>
            <a:off x="2331720" y="6848856"/>
            <a:ext cx="4206240" cy="740664"/>
          </a:xfrm>
          <a:prstGeom prst="rect">
            <a:avLst/>
          </a:prstGeom>
          <a:noFill/>
        </p:spPr>
        <p:txBody>
          <a:bodyPr wrap="square" lIns="0" rIns="0" tIns="0" bIns="0" anchor="ctr">
            <a:noAutofit/>
          </a:bodyPr>
          <a:lstStyle/>
          <a:p>
            <a:pPr algn="l">
              <a:lnSpc>
                <a:spcPct val="100000"/>
              </a:lnSpc>
              <a:spcAft>
                <a:spcPts val="200"/>
              </a:spcAft>
              <a:buNone/>
            </a:pPr>
            <a:r>
              <a:rPr sz="1500" b="1" i="0">
                <a:solidFill>
                  <a:srgbClr val="1F2433"/>
                </a:solidFill>
                <a:latin typeface="Arial"/>
              </a:rPr>
              <a:t>Avaliados para elegibilidade: 26</a:t>
            </a:r>
          </a:p>
        </p:txBody>
      </p:sp>
      <p:sp>
        <p:nvSpPr>
          <p:cNvPr id="29" name="Rounded Rectangle 28"/>
          <p:cNvSpPr/>
          <p:nvPr/>
        </p:nvSpPr>
        <p:spPr>
          <a:xfrm>
            <a:off x="7178040" y="6739128"/>
            <a:ext cx="2468880" cy="960120"/>
          </a:xfrm>
          <a:prstGeom prst="roundRect">
            <a:avLst>
              <a:gd name="adj" fmla="val 8000"/>
            </a:avLst>
          </a:prstGeom>
          <a:solidFill>
            <a:srgbClr val="F2F4F8"/>
          </a:solidFill>
          <a:ln>
            <a:noFill/>
          </a:ln>
          <a:effectLst/>
        </p:spPr>
        <p:txBody>
          <a:bodyPr rtlCol="0" anchor="ctr"/>
          <a:lstStyle/>
          <a:p/>
        </p:txBody>
      </p:sp>
      <p:sp>
        <p:nvSpPr>
          <p:cNvPr id="30" name="TextBox 29"/>
          <p:cNvSpPr txBox="1"/>
          <p:nvPr/>
        </p:nvSpPr>
        <p:spPr>
          <a:xfrm>
            <a:off x="7406640" y="6848856"/>
            <a:ext cx="2011680" cy="740664"/>
          </a:xfrm>
          <a:prstGeom prst="rect">
            <a:avLst/>
          </a:prstGeom>
          <a:noFill/>
        </p:spPr>
        <p:txBody>
          <a:bodyPr wrap="square" lIns="0" rIns="0" tIns="0" bIns="0" anchor="ctr">
            <a:noAutofit/>
          </a:bodyPr>
          <a:lstStyle/>
          <a:p>
            <a:pPr algn="l">
              <a:lnSpc>
                <a:spcPct val="100000"/>
              </a:lnSpc>
              <a:spcAft>
                <a:spcPts val="0"/>
              </a:spcAft>
              <a:buNone/>
            </a:pPr>
            <a:r>
              <a:rPr sz="1400" b="1" i="0">
                <a:solidFill>
                  <a:srgbClr val="1F2433"/>
                </a:solidFill>
                <a:latin typeface="Arial"/>
              </a:rPr>
              <a:t>Excluídos (n = 4)</a:t>
            </a:r>
          </a:p>
          <a:p>
            <a:pPr algn="l">
              <a:lnSpc>
                <a:spcPct val="100000"/>
              </a:lnSpc>
              <a:spcAft>
                <a:spcPts val="0"/>
              </a:spcAft>
              <a:buNone/>
            </a:pPr>
            <a:r>
              <a:rPr sz="1400" b="0" i="0">
                <a:solidFill>
                  <a:srgbClr val="1F2433"/>
                </a:solidFill>
                <a:latin typeface="Arial"/>
              </a:rPr>
              <a:t>1 resumo; 3 população ou contexto</a:t>
            </a:r>
          </a:p>
        </p:txBody>
      </p:sp>
      <p:cxnSp>
        <p:nvCxnSpPr>
          <p:cNvPr id="31" name="Connector 30"/>
          <p:cNvCxnSpPr/>
          <p:nvPr/>
        </p:nvCxnSpPr>
        <p:spPr>
          <a:xfrm>
            <a:off x="6812280" y="7219188"/>
            <a:ext cx="347472" cy="0"/>
          </a:xfrm>
          <a:prstGeom prst="line">
            <a:avLst/>
          </a:prstGeom>
          <a:ln w="25400">
            <a:solidFill>
              <a:srgbClr val="002060"/>
            </a:solidFill>
            <a:tailEnd type="triangle" w="med" len="med"/>
          </a:ln>
        </p:spPr>
      </p:cxnSp>
      <p:cxnSp>
        <p:nvCxnSpPr>
          <p:cNvPr id="32" name="Connector 31"/>
          <p:cNvCxnSpPr/>
          <p:nvPr/>
        </p:nvCxnSpPr>
        <p:spPr>
          <a:xfrm>
            <a:off x="4434840" y="7699248"/>
            <a:ext cx="0" cy="237744"/>
          </a:xfrm>
          <a:prstGeom prst="line">
            <a:avLst/>
          </a:prstGeom>
          <a:ln w="25400">
            <a:solidFill>
              <a:srgbClr val="002060"/>
            </a:solidFill>
            <a:tailEnd type="triangle" w="med" len="med"/>
          </a:ln>
        </p:spPr>
      </p:cxnSp>
      <p:sp>
        <p:nvSpPr>
          <p:cNvPr id="33" name="Rounded Rectangle 32"/>
          <p:cNvSpPr/>
          <p:nvPr/>
        </p:nvSpPr>
        <p:spPr>
          <a:xfrm>
            <a:off x="2057400" y="7955280"/>
            <a:ext cx="4754880" cy="1280160"/>
          </a:xfrm>
          <a:prstGeom prst="roundRect">
            <a:avLst>
              <a:gd name="adj" fmla="val 8000"/>
            </a:avLst>
          </a:prstGeom>
          <a:solidFill>
            <a:srgbClr val="E7F3E8"/>
          </a:solidFill>
          <a:ln>
            <a:noFill/>
          </a:ln>
          <a:effectLst/>
        </p:spPr>
        <p:txBody>
          <a:bodyPr rtlCol="0" anchor="ctr"/>
          <a:lstStyle/>
          <a:p/>
        </p:txBody>
      </p:sp>
      <p:sp>
        <p:nvSpPr>
          <p:cNvPr id="34" name="TextBox 33"/>
          <p:cNvSpPr txBox="1"/>
          <p:nvPr/>
        </p:nvSpPr>
        <p:spPr>
          <a:xfrm>
            <a:off x="2331720" y="8065008"/>
            <a:ext cx="4206240" cy="1060704"/>
          </a:xfrm>
          <a:prstGeom prst="rect">
            <a:avLst/>
          </a:prstGeom>
          <a:noFill/>
        </p:spPr>
        <p:txBody>
          <a:bodyPr wrap="square" lIns="0" rIns="0" tIns="0" bIns="0" anchor="ctr">
            <a:noAutofit/>
          </a:bodyPr>
          <a:lstStyle/>
          <a:p>
            <a:pPr algn="l">
              <a:lnSpc>
                <a:spcPct val="100000"/>
              </a:lnSpc>
              <a:spcAft>
                <a:spcPts val="200"/>
              </a:spcAft>
              <a:buNone/>
            </a:pPr>
            <a:r>
              <a:rPr sz="1700" b="1" i="0">
                <a:solidFill>
                  <a:srgbClr val="2E7D32"/>
                </a:solidFill>
                <a:latin typeface="Arial"/>
              </a:rPr>
              <a:t>Relatórios incluídos (n = 22)</a:t>
            </a:r>
          </a:p>
          <a:p>
            <a:pPr algn="l">
              <a:lnSpc>
                <a:spcPct val="100000"/>
              </a:lnSpc>
              <a:spcAft>
                <a:spcPts val="200"/>
              </a:spcAft>
              <a:buNone/>
            </a:pPr>
            <a:r>
              <a:rPr sz="1500" b="0" i="0">
                <a:solidFill>
                  <a:srgbClr val="1F2433"/>
                </a:solidFill>
                <a:latin typeface="Arial"/>
              </a:rPr>
              <a:t>Metanálise: 6 (ocular) e 7 (respiratório)</a:t>
            </a:r>
          </a:p>
          <a:p>
            <a:pPr algn="l">
              <a:lnSpc>
                <a:spcPct val="100000"/>
              </a:lnSpc>
              <a:spcAft>
                <a:spcPts val="200"/>
              </a:spcAft>
              <a:buNone/>
            </a:pPr>
            <a:r>
              <a:rPr sz="1500" b="0" i="0">
                <a:solidFill>
                  <a:srgbClr val="1F2433"/>
                </a:solidFill>
                <a:latin typeface="Arial"/>
              </a:rPr>
              <a:t>Narrativa + GRADE: desfechos objetivos</a:t>
            </a:r>
          </a:p>
        </p:txBody>
      </p:sp>
      <p:sp>
        <p:nvSpPr>
          <p:cNvPr id="35" name="TextBox 34"/>
          <p:cNvSpPr txBox="1"/>
          <p:nvPr/>
        </p:nvSpPr>
        <p:spPr>
          <a:xfrm rot="16200000">
            <a:off x="594359" y="2779776"/>
            <a:ext cx="2011680" cy="365760"/>
          </a:xfrm>
          <a:prstGeom prst="rect">
            <a:avLst/>
          </a:prstGeom>
          <a:noFill/>
        </p:spPr>
        <p:txBody>
          <a:bodyPr wrap="square" lIns="0" rIns="0" tIns="0" bIns="0" anchor="ctr">
            <a:noAutofit/>
          </a:bodyPr>
          <a:lstStyle/>
          <a:p>
            <a:pPr algn="ctr">
              <a:lnSpc>
                <a:spcPct val="100000"/>
              </a:lnSpc>
              <a:spcAft>
                <a:spcPts val="0"/>
              </a:spcAft>
              <a:buNone/>
            </a:pPr>
            <a:r>
              <a:rPr sz="1500" b="1" i="0">
                <a:solidFill>
                  <a:srgbClr val="002060"/>
                </a:solidFill>
                <a:latin typeface="Arial"/>
              </a:rPr>
              <a:t>Identificação</a:t>
            </a:r>
          </a:p>
        </p:txBody>
      </p:sp>
      <p:sp>
        <p:nvSpPr>
          <p:cNvPr id="36" name="TextBox 35"/>
          <p:cNvSpPr txBox="1"/>
          <p:nvPr/>
        </p:nvSpPr>
        <p:spPr>
          <a:xfrm rot="16200000">
            <a:off x="594359" y="5257800"/>
            <a:ext cx="2011680" cy="365760"/>
          </a:xfrm>
          <a:prstGeom prst="rect">
            <a:avLst/>
          </a:prstGeom>
          <a:noFill/>
        </p:spPr>
        <p:txBody>
          <a:bodyPr wrap="square" lIns="0" rIns="0" tIns="0" bIns="0" anchor="ctr">
            <a:noAutofit/>
          </a:bodyPr>
          <a:lstStyle/>
          <a:p>
            <a:pPr algn="ctr">
              <a:lnSpc>
                <a:spcPct val="100000"/>
              </a:lnSpc>
              <a:spcAft>
                <a:spcPts val="0"/>
              </a:spcAft>
              <a:buNone/>
            </a:pPr>
            <a:r>
              <a:rPr sz="1500" b="1" i="0">
                <a:solidFill>
                  <a:srgbClr val="002060"/>
                </a:solidFill>
                <a:latin typeface="Arial"/>
              </a:rPr>
              <a:t>Triagem</a:t>
            </a:r>
          </a:p>
        </p:txBody>
      </p:sp>
      <p:sp>
        <p:nvSpPr>
          <p:cNvPr id="37" name="TextBox 36"/>
          <p:cNvSpPr txBox="1"/>
          <p:nvPr/>
        </p:nvSpPr>
        <p:spPr>
          <a:xfrm rot="16200000">
            <a:off x="594359" y="7036308"/>
            <a:ext cx="2011680" cy="365760"/>
          </a:xfrm>
          <a:prstGeom prst="rect">
            <a:avLst/>
          </a:prstGeom>
          <a:noFill/>
        </p:spPr>
        <p:txBody>
          <a:bodyPr wrap="square" lIns="0" rIns="0" tIns="0" bIns="0" anchor="ctr">
            <a:noAutofit/>
          </a:bodyPr>
          <a:lstStyle/>
          <a:p>
            <a:pPr algn="ctr">
              <a:lnSpc>
                <a:spcPct val="100000"/>
              </a:lnSpc>
              <a:spcAft>
                <a:spcPts val="0"/>
              </a:spcAft>
              <a:buNone/>
            </a:pPr>
            <a:r>
              <a:rPr sz="1500" b="1" i="0">
                <a:solidFill>
                  <a:srgbClr val="002060"/>
                </a:solidFill>
                <a:latin typeface="Arial"/>
              </a:rPr>
              <a:t>Elegibilidade</a:t>
            </a:r>
          </a:p>
        </p:txBody>
      </p:sp>
      <p:sp>
        <p:nvSpPr>
          <p:cNvPr id="38" name="TextBox 37"/>
          <p:cNvSpPr txBox="1"/>
          <p:nvPr/>
        </p:nvSpPr>
        <p:spPr>
          <a:xfrm rot="16200000">
            <a:off x="594359" y="8412480"/>
            <a:ext cx="2011680" cy="365760"/>
          </a:xfrm>
          <a:prstGeom prst="rect">
            <a:avLst/>
          </a:prstGeom>
          <a:noFill/>
        </p:spPr>
        <p:txBody>
          <a:bodyPr wrap="square" lIns="0" rIns="0" tIns="0" bIns="0" anchor="ctr">
            <a:noAutofit/>
          </a:bodyPr>
          <a:lstStyle/>
          <a:p>
            <a:pPr algn="ctr">
              <a:lnSpc>
                <a:spcPct val="100000"/>
              </a:lnSpc>
              <a:spcAft>
                <a:spcPts val="0"/>
              </a:spcAft>
              <a:buNone/>
            </a:pPr>
            <a:r>
              <a:rPr sz="1500" b="1" i="0">
                <a:solidFill>
                  <a:srgbClr val="002060"/>
                </a:solidFill>
                <a:latin typeface="Arial"/>
              </a:rPr>
              <a:t>Incluídos</a:t>
            </a:r>
          </a:p>
        </p:txBody>
      </p:sp>
      <p:sp>
        <p:nvSpPr>
          <p:cNvPr id="39" name="TextBox 38"/>
          <p:cNvSpPr txBox="1"/>
          <p:nvPr/>
        </p:nvSpPr>
        <p:spPr>
          <a:xfrm>
            <a:off x="2057400" y="9326880"/>
            <a:ext cx="7589520" cy="32004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Fluxograma PRISMA 2020 (Figura 1 do manuscrito); não recuperados e excluídos no Anexo C.</a:t>
            </a:r>
          </a:p>
        </p:txBody>
      </p:sp>
      <p:sp>
        <p:nvSpPr>
          <p:cNvPr id="40" name="Rounded Rectangle 39"/>
          <p:cNvSpPr/>
          <p:nvPr/>
        </p:nvSpPr>
        <p:spPr>
          <a:xfrm>
            <a:off x="9921240" y="1783080"/>
            <a:ext cx="3794759" cy="1783080"/>
          </a:xfrm>
          <a:prstGeom prst="roundRect">
            <a:avLst>
              <a:gd name="adj" fmla="val 6000"/>
            </a:avLst>
          </a:prstGeom>
          <a:solidFill>
            <a:srgbClr val="F2F4F8"/>
          </a:solidFill>
          <a:ln>
            <a:noFill/>
          </a:ln>
          <a:effectLst/>
        </p:spPr>
        <p:txBody>
          <a:bodyPr rtlCol="0" anchor="ctr"/>
          <a:lstStyle/>
          <a:p/>
        </p:txBody>
      </p:sp>
      <p:sp>
        <p:nvSpPr>
          <p:cNvPr id="41" name="TextBox 40"/>
          <p:cNvSpPr txBox="1"/>
          <p:nvPr/>
        </p:nvSpPr>
        <p:spPr>
          <a:xfrm>
            <a:off x="10195560" y="1988819"/>
            <a:ext cx="3246119" cy="670560"/>
          </a:xfrm>
          <a:prstGeom prst="rect">
            <a:avLst/>
          </a:prstGeom>
          <a:noFill/>
        </p:spPr>
        <p:txBody>
          <a:bodyPr wrap="square" lIns="0" rIns="0" tIns="0" bIns="0" anchor="t">
            <a:noAutofit/>
          </a:bodyPr>
          <a:lstStyle/>
          <a:p>
            <a:pPr algn="l">
              <a:lnSpc>
                <a:spcPct val="95000"/>
              </a:lnSpc>
              <a:spcAft>
                <a:spcPts val="0"/>
              </a:spcAft>
              <a:buNone/>
            </a:pPr>
            <a:r>
              <a:rPr sz="4400" b="1" i="0">
                <a:solidFill>
                  <a:srgbClr val="002060"/>
                </a:solidFill>
                <a:latin typeface="Arial"/>
              </a:rPr>
              <a:t>22</a:t>
            </a:r>
          </a:p>
        </p:txBody>
      </p:sp>
      <p:sp>
        <p:nvSpPr>
          <p:cNvPr id="42" name="TextBox 41"/>
          <p:cNvSpPr txBox="1"/>
          <p:nvPr/>
        </p:nvSpPr>
        <p:spPr>
          <a:xfrm>
            <a:off x="10195560" y="2705099"/>
            <a:ext cx="3246119" cy="586740"/>
          </a:xfrm>
          <a:prstGeom prst="rect">
            <a:avLst/>
          </a:prstGeom>
          <a:noFill/>
        </p:spPr>
        <p:txBody>
          <a:bodyPr wrap="square" lIns="0" rIns="0" tIns="0" bIns="0" anchor="t">
            <a:noAutofit/>
          </a:bodyPr>
          <a:lstStyle/>
          <a:p>
            <a:pPr algn="l">
              <a:lnSpc>
                <a:spcPct val="105000"/>
              </a:lnSpc>
              <a:spcAft>
                <a:spcPts val="0"/>
              </a:spcAft>
              <a:buNone/>
            </a:pPr>
            <a:r>
              <a:rPr sz="1400" b="0" i="0">
                <a:solidFill>
                  <a:srgbClr val="5A6270"/>
                </a:solidFill>
                <a:latin typeface="Arial"/>
              </a:rPr>
              <a:t>relatórios de estudos observacionais</a:t>
            </a:r>
          </a:p>
        </p:txBody>
      </p:sp>
      <p:sp>
        <p:nvSpPr>
          <p:cNvPr id="43" name="Rounded Rectangle 42"/>
          <p:cNvSpPr/>
          <p:nvPr/>
        </p:nvSpPr>
        <p:spPr>
          <a:xfrm>
            <a:off x="13990319" y="1783080"/>
            <a:ext cx="3794759" cy="1783080"/>
          </a:xfrm>
          <a:prstGeom prst="roundRect">
            <a:avLst>
              <a:gd name="adj" fmla="val 6000"/>
            </a:avLst>
          </a:prstGeom>
          <a:solidFill>
            <a:srgbClr val="F2F4F8"/>
          </a:solidFill>
          <a:ln>
            <a:noFill/>
          </a:ln>
          <a:effectLst/>
        </p:spPr>
        <p:txBody>
          <a:bodyPr rtlCol="0" anchor="ctr"/>
          <a:lstStyle/>
          <a:p/>
        </p:txBody>
      </p:sp>
      <p:sp>
        <p:nvSpPr>
          <p:cNvPr id="44" name="TextBox 43"/>
          <p:cNvSpPr txBox="1"/>
          <p:nvPr/>
        </p:nvSpPr>
        <p:spPr>
          <a:xfrm>
            <a:off x="14264640" y="1988819"/>
            <a:ext cx="3246119" cy="670560"/>
          </a:xfrm>
          <a:prstGeom prst="rect">
            <a:avLst/>
          </a:prstGeom>
          <a:noFill/>
        </p:spPr>
        <p:txBody>
          <a:bodyPr wrap="square" lIns="0" rIns="0" tIns="0" bIns="0" anchor="t">
            <a:noAutofit/>
          </a:bodyPr>
          <a:lstStyle/>
          <a:p>
            <a:pPr algn="l">
              <a:lnSpc>
                <a:spcPct val="95000"/>
              </a:lnSpc>
              <a:spcAft>
                <a:spcPts val="0"/>
              </a:spcAft>
              <a:buNone/>
            </a:pPr>
            <a:r>
              <a:rPr sz="4400" b="1" i="0">
                <a:solidFill>
                  <a:srgbClr val="002060"/>
                </a:solidFill>
                <a:latin typeface="Arial"/>
              </a:rPr>
              <a:t>9</a:t>
            </a:r>
          </a:p>
        </p:txBody>
      </p:sp>
      <p:sp>
        <p:nvSpPr>
          <p:cNvPr id="45" name="TextBox 44"/>
          <p:cNvSpPr txBox="1"/>
          <p:nvPr/>
        </p:nvSpPr>
        <p:spPr>
          <a:xfrm>
            <a:off x="14264640" y="2705099"/>
            <a:ext cx="3246119" cy="586740"/>
          </a:xfrm>
          <a:prstGeom prst="rect">
            <a:avLst/>
          </a:prstGeom>
          <a:noFill/>
        </p:spPr>
        <p:txBody>
          <a:bodyPr wrap="square" lIns="0" rIns="0" tIns="0" bIns="0" anchor="t">
            <a:noAutofit/>
          </a:bodyPr>
          <a:lstStyle/>
          <a:p>
            <a:pPr algn="l">
              <a:lnSpc>
                <a:spcPct val="105000"/>
              </a:lnSpc>
              <a:spcAft>
                <a:spcPts val="0"/>
              </a:spcAft>
              <a:buNone/>
            </a:pPr>
            <a:r>
              <a:rPr sz="1400" b="0" i="0">
                <a:solidFill>
                  <a:srgbClr val="5A6270"/>
                </a:solidFill>
                <a:latin typeface="Arial"/>
              </a:rPr>
              <a:t>países: Turquia, Malásia, Brasil, Paquistão, China, México, EUA, Sudão e Tailândia</a:t>
            </a:r>
          </a:p>
        </p:txBody>
      </p:sp>
      <p:sp>
        <p:nvSpPr>
          <p:cNvPr id="46" name="Rounded Rectangle 45"/>
          <p:cNvSpPr/>
          <p:nvPr/>
        </p:nvSpPr>
        <p:spPr>
          <a:xfrm>
            <a:off x="9921240" y="3840480"/>
            <a:ext cx="3794759" cy="1783080"/>
          </a:xfrm>
          <a:prstGeom prst="roundRect">
            <a:avLst>
              <a:gd name="adj" fmla="val 6000"/>
            </a:avLst>
          </a:prstGeom>
          <a:solidFill>
            <a:srgbClr val="F2F4F8"/>
          </a:solidFill>
          <a:ln>
            <a:noFill/>
          </a:ln>
          <a:effectLst/>
        </p:spPr>
        <p:txBody>
          <a:bodyPr rtlCol="0" anchor="ctr"/>
          <a:lstStyle/>
          <a:p/>
        </p:txBody>
      </p:sp>
      <p:sp>
        <p:nvSpPr>
          <p:cNvPr id="47" name="TextBox 46"/>
          <p:cNvSpPr txBox="1"/>
          <p:nvPr/>
        </p:nvSpPr>
        <p:spPr>
          <a:xfrm>
            <a:off x="10195560" y="4046220"/>
            <a:ext cx="3246119" cy="609600"/>
          </a:xfrm>
          <a:prstGeom prst="rect">
            <a:avLst/>
          </a:prstGeom>
          <a:noFill/>
        </p:spPr>
        <p:txBody>
          <a:bodyPr wrap="square" lIns="0" rIns="0" tIns="0" bIns="0" anchor="t">
            <a:noAutofit/>
          </a:bodyPr>
          <a:lstStyle/>
          <a:p>
            <a:pPr algn="l">
              <a:lnSpc>
                <a:spcPct val="95000"/>
              </a:lnSpc>
              <a:spcAft>
                <a:spcPts val="0"/>
              </a:spcAft>
              <a:buNone/>
            </a:pPr>
            <a:r>
              <a:rPr sz="4000" b="1" i="0">
                <a:solidFill>
                  <a:srgbClr val="002060"/>
                </a:solidFill>
                <a:latin typeface="Arial"/>
              </a:rPr>
              <a:t>19 + 3</a:t>
            </a:r>
          </a:p>
        </p:txBody>
      </p:sp>
      <p:sp>
        <p:nvSpPr>
          <p:cNvPr id="48" name="TextBox 47"/>
          <p:cNvSpPr txBox="1"/>
          <p:nvPr/>
        </p:nvSpPr>
        <p:spPr>
          <a:xfrm>
            <a:off x="10195560" y="4701540"/>
            <a:ext cx="3246119" cy="647700"/>
          </a:xfrm>
          <a:prstGeom prst="rect">
            <a:avLst/>
          </a:prstGeom>
          <a:noFill/>
        </p:spPr>
        <p:txBody>
          <a:bodyPr wrap="square" lIns="0" rIns="0" tIns="0" bIns="0" anchor="t">
            <a:noAutofit/>
          </a:bodyPr>
          <a:lstStyle/>
          <a:p>
            <a:pPr algn="l">
              <a:lnSpc>
                <a:spcPct val="105000"/>
              </a:lnSpc>
              <a:spcAft>
                <a:spcPts val="0"/>
              </a:spcAft>
              <a:buNone/>
            </a:pPr>
            <a:r>
              <a:rPr sz="1400" b="0" i="0">
                <a:solidFill>
                  <a:srgbClr val="5A6270"/>
                </a:solidFill>
                <a:latin typeface="Arial"/>
              </a:rPr>
              <a:t>transversais + coortes prospectivas</a:t>
            </a:r>
          </a:p>
        </p:txBody>
      </p:sp>
      <p:sp>
        <p:nvSpPr>
          <p:cNvPr id="49" name="Rounded Rectangle 48"/>
          <p:cNvSpPr/>
          <p:nvPr/>
        </p:nvSpPr>
        <p:spPr>
          <a:xfrm>
            <a:off x="13990319" y="3840480"/>
            <a:ext cx="3794759" cy="1783080"/>
          </a:xfrm>
          <a:prstGeom prst="roundRect">
            <a:avLst>
              <a:gd name="adj" fmla="val 6000"/>
            </a:avLst>
          </a:prstGeom>
          <a:solidFill>
            <a:srgbClr val="F9E9E9"/>
          </a:solidFill>
          <a:ln>
            <a:noFill/>
          </a:ln>
          <a:effectLst/>
        </p:spPr>
        <p:txBody>
          <a:bodyPr rtlCol="0" anchor="ctr"/>
          <a:lstStyle/>
          <a:p/>
        </p:txBody>
      </p:sp>
      <p:sp>
        <p:nvSpPr>
          <p:cNvPr id="50" name="TextBox 49"/>
          <p:cNvSpPr txBox="1"/>
          <p:nvPr/>
        </p:nvSpPr>
        <p:spPr>
          <a:xfrm>
            <a:off x="14264640" y="4046220"/>
            <a:ext cx="3246119" cy="609600"/>
          </a:xfrm>
          <a:prstGeom prst="rect">
            <a:avLst/>
          </a:prstGeom>
          <a:noFill/>
        </p:spPr>
        <p:txBody>
          <a:bodyPr wrap="square" lIns="0" rIns="0" tIns="0" bIns="0" anchor="t">
            <a:noAutofit/>
          </a:bodyPr>
          <a:lstStyle/>
          <a:p>
            <a:pPr algn="l">
              <a:lnSpc>
                <a:spcPct val="95000"/>
              </a:lnSpc>
              <a:spcAft>
                <a:spcPts val="0"/>
              </a:spcAft>
              <a:buNone/>
            </a:pPr>
            <a:r>
              <a:rPr sz="4000" b="1" i="0">
                <a:solidFill>
                  <a:srgbClr val="8B0000"/>
                </a:solidFill>
                <a:latin typeface="Arial"/>
              </a:rPr>
              <a:t>6 | 7</a:t>
            </a:r>
          </a:p>
        </p:txBody>
      </p:sp>
      <p:sp>
        <p:nvSpPr>
          <p:cNvPr id="51" name="TextBox 50"/>
          <p:cNvSpPr txBox="1"/>
          <p:nvPr/>
        </p:nvSpPr>
        <p:spPr>
          <a:xfrm>
            <a:off x="14264640" y="4701540"/>
            <a:ext cx="3246119" cy="647700"/>
          </a:xfrm>
          <a:prstGeom prst="rect">
            <a:avLst/>
          </a:prstGeom>
          <a:noFill/>
        </p:spPr>
        <p:txBody>
          <a:bodyPr wrap="square" lIns="0" rIns="0" tIns="0" bIns="0" anchor="t">
            <a:noAutofit/>
          </a:bodyPr>
          <a:lstStyle/>
          <a:p>
            <a:pPr algn="l">
              <a:lnSpc>
                <a:spcPct val="105000"/>
              </a:lnSpc>
              <a:spcAft>
                <a:spcPts val="0"/>
              </a:spcAft>
              <a:buNone/>
            </a:pPr>
            <a:r>
              <a:rPr sz="1400" b="0" i="0">
                <a:solidFill>
                  <a:srgbClr val="5A6270"/>
                </a:solidFill>
                <a:latin typeface="Arial"/>
              </a:rPr>
              <a:t>amostras independentes: ocular (n = 756) | respiratória (n = 1.428)</a:t>
            </a:r>
          </a:p>
        </p:txBody>
      </p:sp>
      <p:sp>
        <p:nvSpPr>
          <p:cNvPr id="52" name="Rounded Rectangle 51"/>
          <p:cNvSpPr/>
          <p:nvPr/>
        </p:nvSpPr>
        <p:spPr>
          <a:xfrm>
            <a:off x="9921240" y="5897879"/>
            <a:ext cx="7863840" cy="3337560"/>
          </a:xfrm>
          <a:prstGeom prst="roundRect">
            <a:avLst>
              <a:gd name="adj" fmla="val 6000"/>
            </a:avLst>
          </a:prstGeom>
          <a:solidFill>
            <a:srgbClr val="F2F4F8"/>
          </a:solidFill>
          <a:ln>
            <a:noFill/>
          </a:ln>
          <a:effectLst/>
        </p:spPr>
        <p:txBody>
          <a:bodyPr rtlCol="0" anchor="ctr"/>
          <a:lstStyle/>
          <a:p/>
        </p:txBody>
      </p:sp>
      <p:sp>
        <p:nvSpPr>
          <p:cNvPr id="53" name="Oval 52"/>
          <p:cNvSpPr/>
          <p:nvPr/>
        </p:nvSpPr>
        <p:spPr>
          <a:xfrm>
            <a:off x="10241280" y="6217919"/>
            <a:ext cx="640080" cy="640080"/>
          </a:xfrm>
          <a:prstGeom prst="ellipse">
            <a:avLst/>
          </a:prstGeom>
          <a:solidFill>
            <a:srgbClr val="002060"/>
          </a:solidFill>
          <a:ln>
            <a:noFill/>
          </a:ln>
          <a:effectLst/>
        </p:spPr>
        <p:txBody>
          <a:bodyPr rtlCol="0" anchor="ctr" lIns="0" rIns="0" tIns="0" bIns="0"/>
          <a:lstStyle/>
          <a:p/>
        </p:txBody>
      </p:sp>
      <p:pic>
        <p:nvPicPr>
          <p:cNvPr id="54" name="icone balance" descr="balance_white.png"/>
          <p:cNvPicPr>
            <a:picLocks noChangeAspect="1"/>
          </p:cNvPicPr>
          <p:nvPr/>
        </p:nvPicPr>
        <p:blipFill>
          <a:blip r:embed="rId4"/>
          <a:stretch>
            <a:fillRect/>
          </a:stretch>
        </p:blipFill>
        <p:spPr>
          <a:xfrm>
            <a:off x="10401299" y="6377939"/>
            <a:ext cx="320040" cy="320040"/>
          </a:xfrm>
          <a:prstGeom prst="rect">
            <a:avLst/>
          </a:prstGeom>
        </p:spPr>
      </p:pic>
      <p:sp>
        <p:nvSpPr>
          <p:cNvPr id="55" name="TextBox 54"/>
          <p:cNvSpPr txBox="1"/>
          <p:nvPr/>
        </p:nvSpPr>
        <p:spPr>
          <a:xfrm>
            <a:off x="11109959" y="6217919"/>
            <a:ext cx="6355079" cy="640080"/>
          </a:xfrm>
          <a:prstGeom prst="rect">
            <a:avLst/>
          </a:prstGeom>
          <a:noFill/>
        </p:spPr>
        <p:txBody>
          <a:bodyPr wrap="square" lIns="0" rIns="0" tIns="0" bIns="0" anchor="ctr">
            <a:noAutofit/>
          </a:bodyPr>
          <a:lstStyle/>
          <a:p>
            <a:pPr algn="l">
              <a:lnSpc>
                <a:spcPct val="100000"/>
              </a:lnSpc>
              <a:spcAft>
                <a:spcPts val="0"/>
              </a:spcAft>
              <a:buNone/>
            </a:pPr>
            <a:r>
              <a:rPr sz="2000" b="1" i="0">
                <a:solidFill>
                  <a:srgbClr val="002060"/>
                </a:solidFill>
                <a:latin typeface="Arial"/>
              </a:rPr>
              <a:t>Risco de viés (JBI): resumo</a:t>
            </a:r>
          </a:p>
        </p:txBody>
      </p:sp>
      <p:sp>
        <p:nvSpPr>
          <p:cNvPr id="56" name="TextBox 55"/>
          <p:cNvSpPr txBox="1"/>
          <p:nvPr/>
        </p:nvSpPr>
        <p:spPr>
          <a:xfrm>
            <a:off x="10241280" y="7040879"/>
            <a:ext cx="7223759" cy="1874520"/>
          </a:xfrm>
          <a:prstGeom prst="rect">
            <a:avLst/>
          </a:prstGeom>
          <a:noFill/>
        </p:spPr>
        <p:txBody>
          <a:bodyPr wrap="square" lIns="0" rIns="0" tIns="0" bIns="0" anchor="t">
            <a:noAutofit/>
          </a:bodyPr>
          <a:lstStyle/>
          <a:p>
            <a:pPr algn="l" marL="274320" indent="-274320">
              <a:lnSpc>
                <a:spcPct val="100000"/>
              </a:lnSpc>
              <a:spcAft>
                <a:spcPts val="600"/>
              </a:spcAft>
              <a:buFont typeface="Arial"/>
              <a:buChar char="•"/>
            </a:pPr>
            <a:r>
              <a:rPr sz="1500" b="1" i="0">
                <a:solidFill>
                  <a:srgbClr val="1F2433"/>
                </a:solidFill>
                <a:latin typeface="Arial"/>
              </a:rPr>
              <a:t>Prevalência: </a:t>
            </a:r>
            <a:r>
              <a:rPr sz="1500" b="0" i="0">
                <a:solidFill>
                  <a:srgbClr val="1F2433"/>
                </a:solidFill>
                <a:latin typeface="Arial"/>
              </a:rPr>
              <a:t>preocupação moderada a alta (amostragem não probabilística, taxa de resposta não informada, autorrelato); só 1 estudo com amostragem aleatória.</a:t>
            </a:r>
          </a:p>
          <a:p>
            <a:pPr algn="l" marL="274320" indent="-274320">
              <a:lnSpc>
                <a:spcPct val="100000"/>
              </a:lnSpc>
              <a:spcAft>
                <a:spcPts val="600"/>
              </a:spcAft>
              <a:buFont typeface="Arial"/>
              <a:buChar char="•"/>
            </a:pPr>
            <a:r>
              <a:rPr sz="1500" b="1" i="0">
                <a:solidFill>
                  <a:srgbClr val="1F2433"/>
                </a:solidFill>
                <a:latin typeface="Arial"/>
              </a:rPr>
              <a:t>Resumo de congresso: </a:t>
            </a:r>
            <a:r>
              <a:rPr sz="1500" b="0" i="0">
                <a:solidFill>
                  <a:srgbClr val="1F2433"/>
                </a:solidFill>
                <a:latin typeface="Arial"/>
              </a:rPr>
              <a:t>alta preocupação por relato incompleto.</a:t>
            </a:r>
          </a:p>
          <a:p>
            <a:pPr algn="l" marL="274320" indent="-274320">
              <a:lnSpc>
                <a:spcPct val="100000"/>
              </a:lnSpc>
              <a:spcAft>
                <a:spcPts val="600"/>
              </a:spcAft>
              <a:buFont typeface="Arial"/>
              <a:buChar char="•"/>
            </a:pPr>
            <a:r>
              <a:rPr sz="1500" b="1" i="0">
                <a:solidFill>
                  <a:srgbClr val="1F2433"/>
                </a:solidFill>
                <a:latin typeface="Arial"/>
              </a:rPr>
              <a:t>Comparativos e objetivos: </a:t>
            </a:r>
            <a:r>
              <a:rPr sz="1500" b="0" i="0">
                <a:solidFill>
                  <a:srgbClr val="1F2433"/>
                </a:solidFill>
                <a:latin typeface="Arial"/>
              </a:rPr>
              <a:t>preocupação moderada (exposição pela ocupação, sem ajuste para confundidores).</a:t>
            </a:r>
          </a:p>
          <a:p>
            <a:pPr algn="l" marL="274320" indent="-274320">
              <a:lnSpc>
                <a:spcPct val="100000"/>
              </a:lnSpc>
              <a:spcAft>
                <a:spcPts val="600"/>
              </a:spcAft>
              <a:buFont typeface="Arial"/>
              <a:buChar char="•"/>
            </a:pPr>
            <a:r>
              <a:rPr sz="1500" b="1" i="0">
                <a:solidFill>
                  <a:srgbClr val="8B0000"/>
                </a:solidFill>
                <a:latin typeface="Arial"/>
              </a:rPr>
              <a:t>Nenhum estudo com preocupação baixa </a:t>
            </a:r>
            <a:r>
              <a:rPr sz="1500" b="0" i="0">
                <a:solidFill>
                  <a:srgbClr val="1F2433"/>
                </a:solidFill>
                <a:latin typeface="Arial"/>
              </a:rPr>
              <a:t>→ análise restrita a baixo risco não foi factível.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50"/>
                                        <p:tgtEl>
                                          <p:spTgt spid="10"/>
                                        </p:tgtEl>
                                      </p:cBhvr>
                                    </p:animEffect>
                                  </p:childTnLst>
                                </p:cTn>
                              </p:par>
                            </p:childTnLst>
                          </p:cTn>
                        </p:par>
                        <p:par>
                          <p:cTn id="17" fill="hold">
                            <p:stCondLst>
                              <p:cond delay="350"/>
                            </p:stCondLst>
                            <p:childTnLst>
                              <p:par>
                                <p:cTn id="18" presetID="10" presetClass="entr" presetSubtype="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5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childTnLst>
                                </p:cTn>
                              </p:par>
                            </p:childTnLst>
                          </p:cTn>
                        </p:par>
                        <p:par>
                          <p:cTn id="27" fill="hold">
                            <p:stCondLst>
                              <p:cond delay="70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5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35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35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350"/>
                                        <p:tgtEl>
                                          <p:spTgt spid="19"/>
                                        </p:tgtEl>
                                      </p:cBhvr>
                                    </p:animEffect>
                                  </p:childTnLst>
                                </p:cTn>
                              </p:par>
                            </p:childTnLst>
                          </p:cTn>
                        </p:par>
                        <p:par>
                          <p:cTn id="46" fill="hold">
                            <p:stCondLst>
                              <p:cond delay="1050"/>
                            </p:stCondLst>
                            <p:childTnLst>
                              <p:par>
                                <p:cTn id="47" presetID="10" presetClass="entr" presetSubtype="0" fill="hold" grpId="0" nodeType="after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35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5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5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5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35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50"/>
                                        <p:tgtEl>
                                          <p:spTgt spid="25"/>
                                        </p:tgtEl>
                                      </p:cBhvr>
                                    </p:animEffect>
                                  </p:childTnLst>
                                </p:cTn>
                              </p:par>
                            </p:childTnLst>
                          </p:cTn>
                        </p:par>
                        <p:par>
                          <p:cTn id="65" fill="hold">
                            <p:stCondLst>
                              <p:cond delay="1400"/>
                            </p:stCondLst>
                            <p:childTnLst>
                              <p:par>
                                <p:cTn id="66" presetID="10" presetClass="entr" presetSubtype="0" fill="hold" grpId="0" nodeType="after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35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35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35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35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35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350"/>
                                        <p:tgtEl>
                                          <p:spTgt spid="31"/>
                                        </p:tgtEl>
                                      </p:cBhvr>
                                    </p:animEffect>
                                  </p:childTnLst>
                                </p:cTn>
                              </p:par>
                            </p:childTnLst>
                          </p:cTn>
                        </p:par>
                        <p:par>
                          <p:cTn id="84" fill="hold">
                            <p:stCondLst>
                              <p:cond delay="1750"/>
                            </p:stCondLst>
                            <p:childTnLst>
                              <p:par>
                                <p:cTn id="85" presetID="10" presetClass="entr" presetSubtype="0" fill="hold" grpId="0" nodeType="after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35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35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350"/>
                                        <p:tgtEl>
                                          <p:spTgt spid="34"/>
                                        </p:tgtEl>
                                      </p:cBhvr>
                                    </p:animEffect>
                                  </p:childTnLst>
                                </p:cTn>
                              </p:par>
                            </p:childTnLst>
                          </p:cTn>
                        </p:par>
                        <p:par>
                          <p:cTn id="94" fill="hold">
                            <p:stCondLst>
                              <p:cond delay="2100"/>
                            </p:stCondLst>
                            <p:childTnLst>
                              <p:par>
                                <p:cTn id="95" presetID="10" presetClass="entr" presetSubtype="0" fill="hold" grpId="0" nodeType="after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350"/>
                                        <p:tgtEl>
                                          <p:spTgt spid="4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1"/>
                                        </p:tgtEl>
                                        <p:attrNameLst>
                                          <p:attrName>style.visibility</p:attrName>
                                        </p:attrNameLst>
                                      </p:cBhvr>
                                      <p:to>
                                        <p:strVal val="visible"/>
                                      </p:to>
                                    </p:set>
                                    <p:animEffect transition="in" filter="fade">
                                      <p:cBhvr>
                                        <p:cTn id="100" dur="350"/>
                                        <p:tgtEl>
                                          <p:spTgt spid="41"/>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350"/>
                                        <p:tgtEl>
                                          <p:spTgt spid="42"/>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fade">
                                      <p:cBhvr>
                                        <p:cTn id="106" dur="350"/>
                                        <p:tgtEl>
                                          <p:spTgt spid="4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4"/>
                                        </p:tgtEl>
                                        <p:attrNameLst>
                                          <p:attrName>style.visibility</p:attrName>
                                        </p:attrNameLst>
                                      </p:cBhvr>
                                      <p:to>
                                        <p:strVal val="visible"/>
                                      </p:to>
                                    </p:set>
                                    <p:animEffect transition="in" filter="fade">
                                      <p:cBhvr>
                                        <p:cTn id="109" dur="350"/>
                                        <p:tgtEl>
                                          <p:spTgt spid="4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5"/>
                                        </p:tgtEl>
                                        <p:attrNameLst>
                                          <p:attrName>style.visibility</p:attrName>
                                        </p:attrNameLst>
                                      </p:cBhvr>
                                      <p:to>
                                        <p:strVal val="visible"/>
                                      </p:to>
                                    </p:set>
                                    <p:animEffect transition="in" filter="fade">
                                      <p:cBhvr>
                                        <p:cTn id="112" dur="350"/>
                                        <p:tgtEl>
                                          <p:spTgt spid="45"/>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6"/>
                                        </p:tgtEl>
                                        <p:attrNameLst>
                                          <p:attrName>style.visibility</p:attrName>
                                        </p:attrNameLst>
                                      </p:cBhvr>
                                      <p:to>
                                        <p:strVal val="visible"/>
                                      </p:to>
                                    </p:set>
                                    <p:animEffect transition="in" filter="fade">
                                      <p:cBhvr>
                                        <p:cTn id="115" dur="350"/>
                                        <p:tgtEl>
                                          <p:spTgt spid="46"/>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7"/>
                                        </p:tgtEl>
                                        <p:attrNameLst>
                                          <p:attrName>style.visibility</p:attrName>
                                        </p:attrNameLst>
                                      </p:cBhvr>
                                      <p:to>
                                        <p:strVal val="visible"/>
                                      </p:to>
                                    </p:set>
                                    <p:animEffect transition="in" filter="fade">
                                      <p:cBhvr>
                                        <p:cTn id="118" dur="350"/>
                                        <p:tgtEl>
                                          <p:spTgt spid="47"/>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8"/>
                                        </p:tgtEl>
                                        <p:attrNameLst>
                                          <p:attrName>style.visibility</p:attrName>
                                        </p:attrNameLst>
                                      </p:cBhvr>
                                      <p:to>
                                        <p:strVal val="visible"/>
                                      </p:to>
                                    </p:set>
                                    <p:animEffect transition="in" filter="fade">
                                      <p:cBhvr>
                                        <p:cTn id="121" dur="350"/>
                                        <p:tgtEl>
                                          <p:spTgt spid="48"/>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9"/>
                                        </p:tgtEl>
                                        <p:attrNameLst>
                                          <p:attrName>style.visibility</p:attrName>
                                        </p:attrNameLst>
                                      </p:cBhvr>
                                      <p:to>
                                        <p:strVal val="visible"/>
                                      </p:to>
                                    </p:set>
                                    <p:animEffect transition="in" filter="fade">
                                      <p:cBhvr>
                                        <p:cTn id="124" dur="350"/>
                                        <p:tgtEl>
                                          <p:spTgt spid="49"/>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0"/>
                                        </p:tgtEl>
                                        <p:attrNameLst>
                                          <p:attrName>style.visibility</p:attrName>
                                        </p:attrNameLst>
                                      </p:cBhvr>
                                      <p:to>
                                        <p:strVal val="visible"/>
                                      </p:to>
                                    </p:set>
                                    <p:animEffect transition="in" filter="fade">
                                      <p:cBhvr>
                                        <p:cTn id="127" dur="350"/>
                                        <p:tgtEl>
                                          <p:spTgt spid="50"/>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1"/>
                                        </p:tgtEl>
                                        <p:attrNameLst>
                                          <p:attrName>style.visibility</p:attrName>
                                        </p:attrNameLst>
                                      </p:cBhvr>
                                      <p:to>
                                        <p:strVal val="visible"/>
                                      </p:to>
                                    </p:set>
                                    <p:animEffect transition="in" filter="fade">
                                      <p:cBhvr>
                                        <p:cTn id="130" dur="350"/>
                                        <p:tgtEl>
                                          <p:spTgt spid="51"/>
                                        </p:tgtEl>
                                      </p:cBhvr>
                                    </p:animEffect>
                                  </p:childTnLst>
                                </p:cTn>
                              </p:par>
                            </p:childTnLst>
                          </p:cTn>
                        </p:par>
                        <p:par>
                          <p:cTn id="131" fill="hold">
                            <p:stCondLst>
                              <p:cond delay="2450"/>
                            </p:stCondLst>
                            <p:childTnLst>
                              <p:par>
                                <p:cTn id="132" presetID="10" presetClass="entr" presetSubtype="0" fill="hold" grpId="0" nodeType="after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350"/>
                                        <p:tgtEl>
                                          <p:spTgt spid="52"/>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35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350"/>
                                        <p:tgtEl>
                                          <p:spTgt spid="54"/>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35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3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5" grpId="0" animBg="1"/>
      <p:bldP spid="16" grpId="0" animBg="1"/>
      <p:bldP spid="17" grpId="0" animBg="1"/>
      <p:bldP spid="18" grpId="0" animBg="1"/>
      <p:bldP spid="21" grpId="0" animBg="1"/>
      <p:bldP spid="22" grpId="0" animBg="1"/>
      <p:bldP spid="23" grpId="0" animBg="1"/>
      <p:bldP spid="24" grpId="0" animBg="1"/>
      <p:bldP spid="27" grpId="0" animBg="1"/>
      <p:bldP spid="28" grpId="0" animBg="1"/>
      <p:bldP spid="29" grpId="0" animBg="1"/>
      <p:bldP spid="30" grpId="0" animBg="1"/>
      <p:bldP spid="33" grpId="0" animBg="1"/>
      <p:bldP spid="34"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5" grpId="0" animBg="1"/>
      <p:bldP spid="56"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APOIO · 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Passos 4 e 5 · Extração padronizada e avaliação do risco de viés (JBI)</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45505"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Protocolo</a:t>
            </a:r>
          </a:p>
        </p:txBody>
      </p:sp>
      <p:sp>
        <p:nvSpPr>
          <p:cNvPr id="10" name="Oval 9"/>
          <p:cNvSpPr/>
          <p:nvPr/>
        </p:nvSpPr>
        <p:spPr>
          <a:xfrm>
            <a:off x="4596819"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Busca</a:t>
            </a:r>
          </a:p>
        </p:txBody>
      </p:sp>
      <p:sp>
        <p:nvSpPr>
          <p:cNvPr id="12" name="Oval 11"/>
          <p:cNvSpPr/>
          <p:nvPr/>
        </p:nvSpPr>
        <p:spPr>
          <a:xfrm>
            <a:off x="6948133"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Seleção</a:t>
            </a:r>
          </a:p>
        </p:txBody>
      </p:sp>
      <p:sp>
        <p:nvSpPr>
          <p:cNvPr id="14" name="Oval 13"/>
          <p:cNvSpPr/>
          <p:nvPr/>
        </p:nvSpPr>
        <p:spPr>
          <a:xfrm>
            <a:off x="9262871"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Extração</a:t>
            </a:r>
          </a:p>
        </p:txBody>
      </p:sp>
      <p:sp>
        <p:nvSpPr>
          <p:cNvPr id="16" name="Oval 15"/>
          <p:cNvSpPr/>
          <p:nvPr/>
        </p:nvSpPr>
        <p:spPr>
          <a:xfrm>
            <a:off x="11614186"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Risco de viés</a:t>
            </a:r>
          </a:p>
        </p:txBody>
      </p:sp>
      <p:sp>
        <p:nvSpPr>
          <p:cNvPr id="18" name="Oval 17"/>
          <p:cNvSpPr/>
          <p:nvPr/>
        </p:nvSpPr>
        <p:spPr>
          <a:xfrm>
            <a:off x="14002076"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Síntese</a:t>
            </a:r>
          </a:p>
        </p:txBody>
      </p:sp>
      <p:sp>
        <p:nvSpPr>
          <p:cNvPr id="20" name="Oval 19"/>
          <p:cNvSpPr/>
          <p:nvPr/>
        </p:nvSpPr>
        <p:spPr>
          <a:xfrm>
            <a:off x="16353390"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Certeza (GRADE)</a:t>
            </a:r>
          </a:p>
        </p:txBody>
      </p:sp>
      <p:sp>
        <p:nvSpPr>
          <p:cNvPr id="22" name="Rounded Rectangle 21"/>
          <p:cNvSpPr/>
          <p:nvPr/>
        </p:nvSpPr>
        <p:spPr>
          <a:xfrm>
            <a:off x="1143000" y="1783080"/>
            <a:ext cx="6675120" cy="7223759"/>
          </a:xfrm>
          <a:prstGeom prst="roundRect">
            <a:avLst>
              <a:gd name="adj" fmla="val 6000"/>
            </a:avLst>
          </a:prstGeom>
          <a:solidFill>
            <a:srgbClr val="F2F4F8"/>
          </a:solidFill>
          <a:ln>
            <a:noFill/>
          </a:ln>
          <a:effectLst/>
        </p:spPr>
        <p:txBody>
          <a:bodyPr rtlCol="0" anchor="ctr"/>
          <a:lstStyle/>
          <a:p/>
        </p:txBody>
      </p:sp>
      <p:sp>
        <p:nvSpPr>
          <p:cNvPr id="23" name="Oval 22"/>
          <p:cNvSpPr/>
          <p:nvPr/>
        </p:nvSpPr>
        <p:spPr>
          <a:xfrm>
            <a:off x="1463040" y="2103120"/>
            <a:ext cx="731520" cy="731520"/>
          </a:xfrm>
          <a:prstGeom prst="ellipse">
            <a:avLst/>
          </a:prstGeom>
          <a:solidFill>
            <a:srgbClr val="002060"/>
          </a:solidFill>
          <a:ln>
            <a:noFill/>
          </a:ln>
          <a:effectLst/>
        </p:spPr>
        <p:txBody>
          <a:bodyPr rtlCol="0" anchor="ctr" lIns="0" rIns="0" tIns="0" bIns="0"/>
          <a:lstStyle/>
          <a:p/>
        </p:txBody>
      </p:sp>
      <p:pic>
        <p:nvPicPr>
          <p:cNvPr id="24" name="icone table" descr="table_white.png"/>
          <p:cNvPicPr>
            <a:picLocks noChangeAspect="1"/>
          </p:cNvPicPr>
          <p:nvPr/>
        </p:nvPicPr>
        <p:blipFill>
          <a:blip r:embed="rId4"/>
          <a:stretch>
            <a:fillRect/>
          </a:stretch>
        </p:blipFill>
        <p:spPr>
          <a:xfrm>
            <a:off x="1645920" y="2285999"/>
            <a:ext cx="365760" cy="365760"/>
          </a:xfrm>
          <a:prstGeom prst="rect">
            <a:avLst/>
          </a:prstGeom>
        </p:spPr>
      </p:pic>
      <p:sp>
        <p:nvSpPr>
          <p:cNvPr id="25" name="TextBox 24"/>
          <p:cNvSpPr txBox="1"/>
          <p:nvPr/>
        </p:nvSpPr>
        <p:spPr>
          <a:xfrm>
            <a:off x="2423160" y="2103120"/>
            <a:ext cx="5074920" cy="73152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Extração dos dados</a:t>
            </a:r>
          </a:p>
        </p:txBody>
      </p:sp>
      <p:sp>
        <p:nvSpPr>
          <p:cNvPr id="26" name="TextBox 25"/>
          <p:cNvSpPr txBox="1"/>
          <p:nvPr/>
        </p:nvSpPr>
        <p:spPr>
          <a:xfrm>
            <a:off x="1463040" y="3017520"/>
            <a:ext cx="6035040" cy="5669280"/>
          </a:xfrm>
          <a:prstGeom prst="rect">
            <a:avLst/>
          </a:prstGeom>
          <a:noFill/>
        </p:spPr>
        <p:txBody>
          <a:bodyPr wrap="square" lIns="0" rIns="0" tIns="0" bIns="0" anchor="t">
            <a:noAutofit/>
          </a:bodyPr>
          <a:lstStyle/>
          <a:p>
            <a:pPr algn="l" marL="274320" indent="-274320">
              <a:lnSpc>
                <a:spcPct val="100000"/>
              </a:lnSpc>
              <a:spcAft>
                <a:spcPts val="800"/>
              </a:spcAft>
              <a:buFont typeface="Arial"/>
              <a:buChar char="•"/>
            </a:pPr>
            <a:r>
              <a:rPr sz="1800" b="1" i="0">
                <a:solidFill>
                  <a:srgbClr val="1F2433"/>
                </a:solidFill>
                <a:latin typeface="Arial"/>
              </a:rPr>
              <a:t>Planilha padronizada: </a:t>
            </a:r>
            <a:r>
              <a:rPr sz="1800" b="0" i="0">
                <a:solidFill>
                  <a:srgbClr val="1F2433"/>
                </a:solidFill>
                <a:latin typeface="Arial"/>
              </a:rPr>
              <a:t>autor, ano, país; desenho; população; dispositivo; comparador; instrumento e definição do desfecho; taxa de resposta; resultados.</a:t>
            </a:r>
          </a:p>
          <a:p>
            <a:pPr algn="l" marL="274320" indent="-274320">
              <a:lnSpc>
                <a:spcPct val="100000"/>
              </a:lnSpc>
              <a:spcAft>
                <a:spcPts val="800"/>
              </a:spcAft>
              <a:buFont typeface="Arial"/>
              <a:buChar char="•"/>
            </a:pPr>
            <a:r>
              <a:rPr sz="1800" b="1" i="0">
                <a:solidFill>
                  <a:srgbClr val="1F2433"/>
                </a:solidFill>
                <a:latin typeface="Arial"/>
              </a:rPr>
              <a:t>Para a metanálise: </a:t>
            </a:r>
            <a:r>
              <a:rPr sz="1800" b="0" i="0">
                <a:solidFill>
                  <a:srgbClr val="1F2433"/>
                </a:solidFill>
                <a:latin typeface="Arial"/>
              </a:rPr>
              <a:t>eventos e denominador de cada grupo (Anexo D).</a:t>
            </a:r>
          </a:p>
          <a:p>
            <a:pPr algn="l" marL="274320" indent="-274320">
              <a:lnSpc>
                <a:spcPct val="100000"/>
              </a:lnSpc>
              <a:spcAft>
                <a:spcPts val="800"/>
              </a:spcAft>
              <a:buFont typeface="Arial"/>
              <a:buChar char="•"/>
            </a:pPr>
            <a:r>
              <a:rPr sz="1800" b="1" i="0">
                <a:solidFill>
                  <a:srgbClr val="1F2433"/>
                </a:solidFill>
                <a:latin typeface="Arial"/>
              </a:rPr>
              <a:t>Recordatório, validação e taxa de resposta </a:t>
            </a:r>
            <a:r>
              <a:rPr sz="1800" b="0" i="0">
                <a:solidFill>
                  <a:srgbClr val="1F2433"/>
                </a:solidFill>
                <a:latin typeface="Arial"/>
              </a:rPr>
              <a:t>raramente informados → “não relatado”.</a:t>
            </a:r>
          </a:p>
          <a:p>
            <a:pPr algn="l" marL="274320" indent="-274320">
              <a:lnSpc>
                <a:spcPct val="100000"/>
              </a:lnSpc>
              <a:spcAft>
                <a:spcPts val="800"/>
              </a:spcAft>
              <a:buFont typeface="Arial"/>
              <a:buChar char="•"/>
            </a:pPr>
            <a:r>
              <a:rPr sz="1800" b="1" i="0">
                <a:solidFill>
                  <a:srgbClr val="1F2433"/>
                </a:solidFill>
                <a:latin typeface="Arial"/>
              </a:rPr>
              <a:t>Sem contato com autores; </a:t>
            </a:r>
            <a:r>
              <a:rPr sz="1800" b="0" i="0">
                <a:solidFill>
                  <a:srgbClr val="1F2433"/>
                </a:solidFill>
                <a:latin typeface="Arial"/>
              </a:rPr>
              <a:t>planilha completa pública no OSF.</a:t>
            </a:r>
          </a:p>
        </p:txBody>
      </p:sp>
      <p:sp>
        <p:nvSpPr>
          <p:cNvPr id="27" name="TextBox 26"/>
          <p:cNvSpPr txBox="1"/>
          <p:nvPr/>
        </p:nvSpPr>
        <p:spPr>
          <a:xfrm>
            <a:off x="1463040" y="6163056"/>
            <a:ext cx="6035040" cy="365760"/>
          </a:xfrm>
          <a:prstGeom prst="rect">
            <a:avLst/>
          </a:prstGeom>
          <a:noFill/>
        </p:spPr>
        <p:txBody>
          <a:bodyPr wrap="square" lIns="0" rIns="0" tIns="0" bIns="0" anchor="t">
            <a:noAutofit/>
          </a:bodyPr>
          <a:lstStyle/>
          <a:p>
            <a:pPr algn="l">
              <a:lnSpc>
                <a:spcPct val="100000"/>
              </a:lnSpc>
              <a:spcAft>
                <a:spcPts val="0"/>
              </a:spcAft>
              <a:buNone/>
            </a:pPr>
            <a:r>
              <a:rPr sz="1500" b="1" i="0">
                <a:solidFill>
                  <a:srgbClr val="002060"/>
                </a:solidFill>
                <a:latin typeface="Arial"/>
              </a:rPr>
              <a:t>Exemplo de linhas extraídas (Anexo D, sintoma ocular)</a:t>
            </a:r>
          </a:p>
        </p:txBody>
      </p:sp>
      <p:graphicFrame>
        <p:nvGraphicFramePr>
          <p:cNvPr id="28" name="Table 27"/>
          <p:cNvGraphicFramePr>
            <a:graphicFrameLocks noGrp="1"/>
          </p:cNvGraphicFramePr>
          <p:nvPr/>
        </p:nvGraphicFramePr>
        <p:xfrm>
          <a:off x="1463040" y="6620256"/>
          <a:ext cx="6035040" cy="2011680"/>
        </p:xfrm>
        <a:graphic>
          <a:graphicData uri="http://schemas.openxmlformats.org/drawingml/2006/table">
            <a:tbl>
              <a:tblPr firstRow="0" bandRow="0"/>
              <a:tblGrid>
                <a:gridCol w="2103120"/>
                <a:gridCol w="914400"/>
                <a:gridCol w="594360"/>
                <a:gridCol w="822960"/>
                <a:gridCol w="1600200"/>
              </a:tblGrid>
              <a:tr h="402336">
                <a:tc>
                  <a:txBody>
                    <a:bodyPr wrap="square">
                      <a:noAutofit/>
                    </a:bodyPr>
                    <a:lstStyle/>
                    <a:p>
                      <a:pPr algn="l">
                        <a:lnSpc>
                          <a:spcPct val="100000"/>
                        </a:lnSpc>
                        <a:spcAft>
                          <a:spcPts val="0"/>
                        </a:spcAft>
                        <a:buNone/>
                      </a:pPr>
                      <a:r>
                        <a:rPr sz="1400" b="1" i="0">
                          <a:solidFill>
                            <a:srgbClr val="FFFFFF"/>
                          </a:solidFill>
                          <a:latin typeface="Arial"/>
                        </a:rPr>
                        <a:t>Estudo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Eventos</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n</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Prev.</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l">
                        <a:lnSpc>
                          <a:spcPct val="100000"/>
                        </a:lnSpc>
                        <a:spcAft>
                          <a:spcPts val="0"/>
                        </a:spcAft>
                        <a:buNone/>
                      </a:pPr>
                      <a:r>
                        <a:rPr sz="1400" b="1" i="0">
                          <a:solidFill>
                            <a:srgbClr val="FFFFFF"/>
                          </a:solidFill>
                          <a:latin typeface="Arial"/>
                        </a:rPr>
                        <a:t>Definição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r>
              <a:tr h="402336">
                <a:tc>
                  <a:txBody>
                    <a:bodyPr wrap="square">
                      <a:noAutofit/>
                    </a:bodyPr>
                    <a:lstStyle/>
                    <a:p>
                      <a:pPr algn="l">
                        <a:lnSpc>
                          <a:spcPct val="100000"/>
                        </a:lnSpc>
                        <a:spcAft>
                          <a:spcPts val="0"/>
                        </a:spcAft>
                        <a:buNone/>
                      </a:pPr>
                      <a:r>
                        <a:rPr sz="1400" b="0" i="0">
                          <a:solidFill>
                            <a:srgbClr val="1F2433"/>
                          </a:solidFill>
                          <a:latin typeface="Arial"/>
                        </a:rPr>
                        <a:t>İlçe et al., 2017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33</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81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40,7%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l">
                        <a:lnSpc>
                          <a:spcPct val="100000"/>
                        </a:lnSpc>
                        <a:spcAft>
                          <a:spcPts val="0"/>
                        </a:spcAft>
                        <a:buNone/>
                      </a:pPr>
                      <a:r>
                        <a:rPr sz="1400" b="0" i="0">
                          <a:solidFill>
                            <a:srgbClr val="1F2433"/>
                          </a:solidFill>
                          <a:latin typeface="Arial"/>
                        </a:rPr>
                        <a:t>lacrimejamento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Usta et al., 2019</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57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105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54,3%</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l">
                        <a:lnSpc>
                          <a:spcPct val="100000"/>
                        </a:lnSpc>
                        <a:spcAft>
                          <a:spcPts val="0"/>
                        </a:spcAft>
                        <a:buNone/>
                      </a:pPr>
                      <a:r>
                        <a:rPr sz="1400" b="0" i="0">
                          <a:solidFill>
                            <a:srgbClr val="1F2433"/>
                          </a:solidFill>
                          <a:latin typeface="Arial"/>
                        </a:rPr>
                        <a:t>lacrimejamento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r h="402336">
                <a:tc>
                  <a:txBody>
                    <a:bodyPr wrap="square">
                      <a:noAutofit/>
                    </a:bodyPr>
                    <a:lstStyle/>
                    <a:p>
                      <a:pPr algn="l">
                        <a:lnSpc>
                          <a:spcPct val="100000"/>
                        </a:lnSpc>
                        <a:spcAft>
                          <a:spcPts val="0"/>
                        </a:spcAft>
                        <a:buNone/>
                      </a:pPr>
                      <a:r>
                        <a:rPr sz="1400" b="0" i="0">
                          <a:solidFill>
                            <a:srgbClr val="1F2433"/>
                          </a:solidFill>
                          <a:latin typeface="Arial"/>
                        </a:rPr>
                        <a:t>Cinar; Sanlier, 2022</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46</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82</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56,1%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l">
                        <a:lnSpc>
                          <a:spcPct val="100000"/>
                        </a:lnSpc>
                        <a:spcAft>
                          <a:spcPts val="0"/>
                        </a:spcAft>
                        <a:buNone/>
                      </a:pPr>
                      <a:r>
                        <a:rPr sz="1400" b="0" i="0">
                          <a:solidFill>
                            <a:srgbClr val="1F2433"/>
                          </a:solidFill>
                          <a:latin typeface="Arial"/>
                        </a:rPr>
                        <a:t>irritação ocular</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Bieniek et al., 2022</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67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155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43,2%</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l">
                        <a:lnSpc>
                          <a:spcPct val="100000"/>
                        </a:lnSpc>
                        <a:spcAft>
                          <a:spcPts val="0"/>
                        </a:spcAft>
                        <a:buNone/>
                      </a:pPr>
                      <a:r>
                        <a:rPr sz="1400" b="0" i="0">
                          <a:solidFill>
                            <a:srgbClr val="1F2433"/>
                          </a:solidFill>
                          <a:latin typeface="Arial"/>
                        </a:rPr>
                        <a:t>escala ocular</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bl>
          </a:graphicData>
        </a:graphic>
      </p:graphicFrame>
      <p:sp>
        <p:nvSpPr>
          <p:cNvPr id="29" name="TextBox 28"/>
          <p:cNvSpPr txBox="1"/>
          <p:nvPr/>
        </p:nvSpPr>
        <p:spPr>
          <a:xfrm>
            <a:off x="8092440" y="1783080"/>
            <a:ext cx="9692639"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Risco de viés: ferramenta JBI escolhida pela função de cada estudo</a:t>
            </a:r>
          </a:p>
        </p:txBody>
      </p:sp>
      <p:sp>
        <p:nvSpPr>
          <p:cNvPr id="30" name="Rounded Rectangle 29"/>
          <p:cNvSpPr/>
          <p:nvPr/>
        </p:nvSpPr>
        <p:spPr>
          <a:xfrm>
            <a:off x="8092440" y="2331720"/>
            <a:ext cx="3078479" cy="1371600"/>
          </a:xfrm>
          <a:prstGeom prst="roundRect">
            <a:avLst>
              <a:gd name="adj" fmla="val 6000"/>
            </a:avLst>
          </a:prstGeom>
          <a:solidFill>
            <a:srgbClr val="F2F4F8"/>
          </a:solidFill>
          <a:ln>
            <a:noFill/>
          </a:ln>
          <a:effectLst/>
        </p:spPr>
        <p:txBody>
          <a:bodyPr rtlCol="0" anchor="ctr"/>
          <a:lstStyle/>
          <a:p/>
        </p:txBody>
      </p:sp>
      <p:sp>
        <p:nvSpPr>
          <p:cNvPr id="31" name="TextBox 30"/>
          <p:cNvSpPr txBox="1"/>
          <p:nvPr/>
        </p:nvSpPr>
        <p:spPr>
          <a:xfrm>
            <a:off x="8321040" y="2514600"/>
            <a:ext cx="2621279"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02060"/>
                </a:solidFill>
                <a:latin typeface="Arial"/>
              </a:rPr>
              <a:t>Prevalência</a:t>
            </a:r>
          </a:p>
        </p:txBody>
      </p:sp>
      <p:sp>
        <p:nvSpPr>
          <p:cNvPr id="32" name="TextBox 31"/>
          <p:cNvSpPr txBox="1"/>
          <p:nvPr/>
        </p:nvSpPr>
        <p:spPr>
          <a:xfrm>
            <a:off x="8321040" y="2834639"/>
            <a:ext cx="2621279" cy="411480"/>
          </a:xfrm>
          <a:prstGeom prst="rect">
            <a:avLst/>
          </a:prstGeom>
          <a:noFill/>
        </p:spPr>
        <p:txBody>
          <a:bodyPr wrap="square" lIns="0" rIns="0" tIns="0" bIns="0" anchor="t">
            <a:noAutofit/>
          </a:bodyPr>
          <a:lstStyle/>
          <a:p>
            <a:pPr algn="l">
              <a:lnSpc>
                <a:spcPct val="100000"/>
              </a:lnSpc>
              <a:spcAft>
                <a:spcPts val="0"/>
              </a:spcAft>
              <a:buNone/>
            </a:pPr>
            <a:r>
              <a:rPr sz="2200" b="1" i="0">
                <a:solidFill>
                  <a:srgbClr val="1F2433"/>
                </a:solidFill>
                <a:latin typeface="Arial"/>
              </a:rPr>
              <a:t>9 itens</a:t>
            </a:r>
          </a:p>
        </p:txBody>
      </p:sp>
      <p:sp>
        <p:nvSpPr>
          <p:cNvPr id="33" name="TextBox 32"/>
          <p:cNvSpPr txBox="1"/>
          <p:nvPr/>
        </p:nvSpPr>
        <p:spPr>
          <a:xfrm>
            <a:off x="8321040" y="3264408"/>
            <a:ext cx="2621279" cy="27432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estudos das metanálises (k = 7)</a:t>
            </a:r>
          </a:p>
        </p:txBody>
      </p:sp>
      <p:sp>
        <p:nvSpPr>
          <p:cNvPr id="34" name="Rounded Rectangle 33"/>
          <p:cNvSpPr/>
          <p:nvPr/>
        </p:nvSpPr>
        <p:spPr>
          <a:xfrm>
            <a:off x="11399520" y="2331720"/>
            <a:ext cx="3078479" cy="1371600"/>
          </a:xfrm>
          <a:prstGeom prst="roundRect">
            <a:avLst>
              <a:gd name="adj" fmla="val 6000"/>
            </a:avLst>
          </a:prstGeom>
          <a:solidFill>
            <a:srgbClr val="F2F4F8"/>
          </a:solidFill>
          <a:ln>
            <a:noFill/>
          </a:ln>
          <a:effectLst/>
        </p:spPr>
        <p:txBody>
          <a:bodyPr rtlCol="0" anchor="ctr"/>
          <a:lstStyle/>
          <a:p/>
        </p:txBody>
      </p:sp>
      <p:sp>
        <p:nvSpPr>
          <p:cNvPr id="35" name="TextBox 34"/>
          <p:cNvSpPr txBox="1"/>
          <p:nvPr/>
        </p:nvSpPr>
        <p:spPr>
          <a:xfrm>
            <a:off x="11628120" y="2514600"/>
            <a:ext cx="2621279"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Transversal analítico</a:t>
            </a:r>
          </a:p>
        </p:txBody>
      </p:sp>
      <p:sp>
        <p:nvSpPr>
          <p:cNvPr id="36" name="TextBox 35"/>
          <p:cNvSpPr txBox="1"/>
          <p:nvPr/>
        </p:nvSpPr>
        <p:spPr>
          <a:xfrm>
            <a:off x="11628120" y="2834639"/>
            <a:ext cx="2621279" cy="411480"/>
          </a:xfrm>
          <a:prstGeom prst="rect">
            <a:avLst/>
          </a:prstGeom>
          <a:noFill/>
        </p:spPr>
        <p:txBody>
          <a:bodyPr wrap="square" lIns="0" rIns="0" tIns="0" bIns="0" anchor="t">
            <a:noAutofit/>
          </a:bodyPr>
          <a:lstStyle/>
          <a:p>
            <a:pPr algn="l">
              <a:lnSpc>
                <a:spcPct val="100000"/>
              </a:lnSpc>
              <a:spcAft>
                <a:spcPts val="0"/>
              </a:spcAft>
              <a:buNone/>
            </a:pPr>
            <a:r>
              <a:rPr sz="2200" b="1" i="0">
                <a:solidFill>
                  <a:srgbClr val="1F2433"/>
                </a:solidFill>
                <a:latin typeface="Arial"/>
              </a:rPr>
              <a:t>8 itens</a:t>
            </a:r>
          </a:p>
        </p:txBody>
      </p:sp>
      <p:sp>
        <p:nvSpPr>
          <p:cNvPr id="37" name="TextBox 36"/>
          <p:cNvSpPr txBox="1"/>
          <p:nvPr/>
        </p:nvSpPr>
        <p:spPr>
          <a:xfrm>
            <a:off x="11628120" y="3264408"/>
            <a:ext cx="2621279" cy="27432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comparativos e objetivos</a:t>
            </a:r>
          </a:p>
        </p:txBody>
      </p:sp>
      <p:sp>
        <p:nvSpPr>
          <p:cNvPr id="38" name="Rounded Rectangle 37"/>
          <p:cNvSpPr/>
          <p:nvPr/>
        </p:nvSpPr>
        <p:spPr>
          <a:xfrm>
            <a:off x="14706599" y="2331720"/>
            <a:ext cx="3078479" cy="1371600"/>
          </a:xfrm>
          <a:prstGeom prst="roundRect">
            <a:avLst>
              <a:gd name="adj" fmla="val 6000"/>
            </a:avLst>
          </a:prstGeom>
          <a:solidFill>
            <a:srgbClr val="F2F4F8"/>
          </a:solidFill>
          <a:ln>
            <a:noFill/>
          </a:ln>
          <a:effectLst/>
        </p:spPr>
        <p:txBody>
          <a:bodyPr rtlCol="0" anchor="ctr"/>
          <a:lstStyle/>
          <a:p/>
        </p:txBody>
      </p:sp>
      <p:sp>
        <p:nvSpPr>
          <p:cNvPr id="39" name="TextBox 38"/>
          <p:cNvSpPr txBox="1"/>
          <p:nvPr/>
        </p:nvSpPr>
        <p:spPr>
          <a:xfrm>
            <a:off x="14935199" y="2514600"/>
            <a:ext cx="2621279"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8A6D1F"/>
                </a:solidFill>
                <a:latin typeface="Arial"/>
              </a:rPr>
              <a:t>Coorte</a:t>
            </a:r>
          </a:p>
        </p:txBody>
      </p:sp>
      <p:sp>
        <p:nvSpPr>
          <p:cNvPr id="40" name="TextBox 39"/>
          <p:cNvSpPr txBox="1"/>
          <p:nvPr/>
        </p:nvSpPr>
        <p:spPr>
          <a:xfrm>
            <a:off x="14935199" y="2834639"/>
            <a:ext cx="2621279" cy="411480"/>
          </a:xfrm>
          <a:prstGeom prst="rect">
            <a:avLst/>
          </a:prstGeom>
          <a:noFill/>
        </p:spPr>
        <p:txBody>
          <a:bodyPr wrap="square" lIns="0" rIns="0" tIns="0" bIns="0" anchor="t">
            <a:noAutofit/>
          </a:bodyPr>
          <a:lstStyle/>
          <a:p>
            <a:pPr algn="l">
              <a:lnSpc>
                <a:spcPct val="100000"/>
              </a:lnSpc>
              <a:spcAft>
                <a:spcPts val="0"/>
              </a:spcAft>
              <a:buNone/>
            </a:pPr>
            <a:r>
              <a:rPr sz="2200" b="1" i="0">
                <a:solidFill>
                  <a:srgbClr val="1F2433"/>
                </a:solidFill>
                <a:latin typeface="Arial"/>
              </a:rPr>
              <a:t>11 itens</a:t>
            </a:r>
          </a:p>
        </p:txBody>
      </p:sp>
      <p:sp>
        <p:nvSpPr>
          <p:cNvPr id="41" name="TextBox 40"/>
          <p:cNvSpPr txBox="1"/>
          <p:nvPr/>
        </p:nvSpPr>
        <p:spPr>
          <a:xfrm>
            <a:off x="14935199" y="3264408"/>
            <a:ext cx="2621279" cy="27432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3 coortes prospectivas</a:t>
            </a:r>
          </a:p>
        </p:txBody>
      </p:sp>
      <p:sp>
        <p:nvSpPr>
          <p:cNvPr id="42" name="TextBox 41"/>
          <p:cNvSpPr txBox="1"/>
          <p:nvPr/>
        </p:nvSpPr>
        <p:spPr>
          <a:xfrm>
            <a:off x="8092440" y="3904487"/>
            <a:ext cx="9692639" cy="868680"/>
          </a:xfrm>
          <a:prstGeom prst="rect">
            <a:avLst/>
          </a:prstGeom>
          <a:noFill/>
        </p:spPr>
        <p:txBody>
          <a:bodyPr wrap="square" lIns="0" rIns="0" tIns="0" bIns="0" anchor="t">
            <a:noAutofit/>
          </a:bodyPr>
          <a:lstStyle/>
          <a:p>
            <a:pPr algn="l">
              <a:lnSpc>
                <a:spcPct val="100000"/>
              </a:lnSpc>
              <a:spcAft>
                <a:spcPts val="0"/>
              </a:spcAft>
              <a:buNone/>
            </a:pPr>
            <a:r>
              <a:rPr sz="1500" b="1" i="0">
                <a:solidFill>
                  <a:srgbClr val="002060"/>
                </a:solidFill>
                <a:latin typeface="Arial"/>
              </a:rPr>
              <a:t>Julgamento global: </a:t>
            </a:r>
            <a:r>
              <a:rPr sz="1500" b="0" i="0">
                <a:solidFill>
                  <a:srgbClr val="1F2433"/>
                </a:solidFill>
                <a:latin typeface="Arial"/>
              </a:rPr>
              <a:t>qualitativo, pelos domínios críticos (amostragem, tamanho amostral, validade da mensuração, taxa de resposta), não por corte percentual; “não” pesou mais que “incerto”. Todos os estudos foram mantidos e a classificação alimentou o GRADE.</a:t>
            </a:r>
          </a:p>
        </p:txBody>
      </p:sp>
      <p:sp>
        <p:nvSpPr>
          <p:cNvPr id="43" name="TextBox 42"/>
          <p:cNvSpPr txBox="1"/>
          <p:nvPr/>
        </p:nvSpPr>
        <p:spPr>
          <a:xfrm>
            <a:off x="11932920"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1</a:t>
            </a:r>
          </a:p>
        </p:txBody>
      </p:sp>
      <p:sp>
        <p:nvSpPr>
          <p:cNvPr id="44" name="TextBox 43"/>
          <p:cNvSpPr txBox="1"/>
          <p:nvPr/>
        </p:nvSpPr>
        <p:spPr>
          <a:xfrm>
            <a:off x="12518136"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2</a:t>
            </a:r>
          </a:p>
        </p:txBody>
      </p:sp>
      <p:sp>
        <p:nvSpPr>
          <p:cNvPr id="45" name="TextBox 44"/>
          <p:cNvSpPr txBox="1"/>
          <p:nvPr/>
        </p:nvSpPr>
        <p:spPr>
          <a:xfrm>
            <a:off x="13103352"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3</a:t>
            </a:r>
          </a:p>
        </p:txBody>
      </p:sp>
      <p:sp>
        <p:nvSpPr>
          <p:cNvPr id="46" name="TextBox 45"/>
          <p:cNvSpPr txBox="1"/>
          <p:nvPr/>
        </p:nvSpPr>
        <p:spPr>
          <a:xfrm>
            <a:off x="13688568"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4</a:t>
            </a:r>
          </a:p>
        </p:txBody>
      </p:sp>
      <p:sp>
        <p:nvSpPr>
          <p:cNvPr id="47" name="TextBox 46"/>
          <p:cNvSpPr txBox="1"/>
          <p:nvPr/>
        </p:nvSpPr>
        <p:spPr>
          <a:xfrm>
            <a:off x="14273784"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5</a:t>
            </a:r>
          </a:p>
        </p:txBody>
      </p:sp>
      <p:sp>
        <p:nvSpPr>
          <p:cNvPr id="48" name="TextBox 47"/>
          <p:cNvSpPr txBox="1"/>
          <p:nvPr/>
        </p:nvSpPr>
        <p:spPr>
          <a:xfrm>
            <a:off x="14859000"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6</a:t>
            </a:r>
          </a:p>
        </p:txBody>
      </p:sp>
      <p:sp>
        <p:nvSpPr>
          <p:cNvPr id="49" name="TextBox 48"/>
          <p:cNvSpPr txBox="1"/>
          <p:nvPr/>
        </p:nvSpPr>
        <p:spPr>
          <a:xfrm>
            <a:off x="15444216"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7</a:t>
            </a:r>
          </a:p>
        </p:txBody>
      </p:sp>
      <p:sp>
        <p:nvSpPr>
          <p:cNvPr id="50" name="TextBox 49"/>
          <p:cNvSpPr txBox="1"/>
          <p:nvPr/>
        </p:nvSpPr>
        <p:spPr>
          <a:xfrm>
            <a:off x="16029432"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8</a:t>
            </a:r>
          </a:p>
        </p:txBody>
      </p:sp>
      <p:sp>
        <p:nvSpPr>
          <p:cNvPr id="51" name="TextBox 50"/>
          <p:cNvSpPr txBox="1"/>
          <p:nvPr/>
        </p:nvSpPr>
        <p:spPr>
          <a:xfrm>
            <a:off x="16614648"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9</a:t>
            </a:r>
          </a:p>
        </p:txBody>
      </p:sp>
      <p:sp>
        <p:nvSpPr>
          <p:cNvPr id="52" name="TextBox 51"/>
          <p:cNvSpPr txBox="1"/>
          <p:nvPr/>
        </p:nvSpPr>
        <p:spPr>
          <a:xfrm>
            <a:off x="17199864"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Geral</a:t>
            </a:r>
          </a:p>
        </p:txBody>
      </p:sp>
      <p:sp>
        <p:nvSpPr>
          <p:cNvPr id="53" name="Faixa zebrada"/>
          <p:cNvSpPr/>
          <p:nvPr/>
        </p:nvSpPr>
        <p:spPr>
          <a:xfrm>
            <a:off x="8092440" y="5239512"/>
            <a:ext cx="9692639" cy="415398"/>
          </a:xfrm>
          <a:prstGeom prst="rect">
            <a:avLst/>
          </a:prstGeom>
          <a:solidFill>
            <a:srgbClr val="F2F4F8"/>
          </a:solidFill>
          <a:ln>
            <a:noFill/>
          </a:ln>
          <a:effectLst/>
        </p:spPr>
        <p:txBody>
          <a:bodyPr rtlCol="0" anchor="ctr"/>
          <a:lstStyle/>
          <a:p/>
        </p:txBody>
      </p:sp>
      <p:sp>
        <p:nvSpPr>
          <p:cNvPr id="54" name="TextBox 53"/>
          <p:cNvSpPr txBox="1"/>
          <p:nvPr/>
        </p:nvSpPr>
        <p:spPr>
          <a:xfrm>
            <a:off x="8183880" y="5239512"/>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İlçe et al., 2017</a:t>
            </a:r>
          </a:p>
        </p:txBody>
      </p:sp>
      <p:sp>
        <p:nvSpPr>
          <p:cNvPr id="55" name="Oval 54"/>
          <p:cNvSpPr/>
          <p:nvPr/>
        </p:nvSpPr>
        <p:spPr>
          <a:xfrm>
            <a:off x="12060936"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56" name="Oval 55"/>
          <p:cNvSpPr/>
          <p:nvPr/>
        </p:nvSpPr>
        <p:spPr>
          <a:xfrm>
            <a:off x="12646152" y="5282619"/>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57" name="Oval 56"/>
          <p:cNvSpPr/>
          <p:nvPr/>
        </p:nvSpPr>
        <p:spPr>
          <a:xfrm>
            <a:off x="13231368" y="5282619"/>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58" name="Oval 57"/>
          <p:cNvSpPr/>
          <p:nvPr/>
        </p:nvSpPr>
        <p:spPr>
          <a:xfrm>
            <a:off x="13816584"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59" name="Oval 58"/>
          <p:cNvSpPr/>
          <p:nvPr/>
        </p:nvSpPr>
        <p:spPr>
          <a:xfrm>
            <a:off x="14401800"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0" name="Oval 59"/>
          <p:cNvSpPr/>
          <p:nvPr/>
        </p:nvSpPr>
        <p:spPr>
          <a:xfrm>
            <a:off x="14987016" y="5282619"/>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1" name="Oval 60"/>
          <p:cNvSpPr/>
          <p:nvPr/>
        </p:nvSpPr>
        <p:spPr>
          <a:xfrm>
            <a:off x="15572232"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2" name="Oval 61"/>
          <p:cNvSpPr/>
          <p:nvPr/>
        </p:nvSpPr>
        <p:spPr>
          <a:xfrm>
            <a:off x="16157448"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3" name="Oval 62"/>
          <p:cNvSpPr/>
          <p:nvPr/>
        </p:nvSpPr>
        <p:spPr>
          <a:xfrm>
            <a:off x="16742664" y="5282619"/>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4" name="Oval 63"/>
          <p:cNvSpPr/>
          <p:nvPr/>
        </p:nvSpPr>
        <p:spPr>
          <a:xfrm>
            <a:off x="17327880" y="5282619"/>
            <a:ext cx="329184" cy="329184"/>
          </a:xfrm>
          <a:prstGeom prst="ellipse">
            <a:avLst/>
          </a:prstGeom>
          <a:solidFill>
            <a:srgbClr val="8B0000"/>
          </a:solidFill>
          <a:ln>
            <a:noFill/>
          </a:ln>
          <a:effectLst/>
        </p:spPr>
        <p:txBody>
          <a:bodyPr rtlCol="0" anchor="ctr" lIns="0" rIns="0" tIns="0" bIns="0"/>
          <a:lstStyle/>
          <a:p/>
        </p:txBody>
      </p:sp>
      <p:sp>
        <p:nvSpPr>
          <p:cNvPr id="65" name="TextBox 64"/>
          <p:cNvSpPr txBox="1"/>
          <p:nvPr/>
        </p:nvSpPr>
        <p:spPr>
          <a:xfrm>
            <a:off x="8183880" y="5654910"/>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Cinar; Sanlier, 2022</a:t>
            </a:r>
          </a:p>
        </p:txBody>
      </p:sp>
      <p:sp>
        <p:nvSpPr>
          <p:cNvPr id="66" name="Oval 65"/>
          <p:cNvSpPr/>
          <p:nvPr/>
        </p:nvSpPr>
        <p:spPr>
          <a:xfrm>
            <a:off x="12060936"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7" name="Oval 66"/>
          <p:cNvSpPr/>
          <p:nvPr/>
        </p:nvSpPr>
        <p:spPr>
          <a:xfrm>
            <a:off x="12646152" y="5698018"/>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8" name="Oval 67"/>
          <p:cNvSpPr/>
          <p:nvPr/>
        </p:nvSpPr>
        <p:spPr>
          <a:xfrm>
            <a:off x="13231368" y="5698018"/>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9" name="Oval 68"/>
          <p:cNvSpPr/>
          <p:nvPr/>
        </p:nvSpPr>
        <p:spPr>
          <a:xfrm>
            <a:off x="13816584"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0" name="Oval 69"/>
          <p:cNvSpPr/>
          <p:nvPr/>
        </p:nvSpPr>
        <p:spPr>
          <a:xfrm>
            <a:off x="14401800"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1" name="Oval 70"/>
          <p:cNvSpPr/>
          <p:nvPr/>
        </p:nvSpPr>
        <p:spPr>
          <a:xfrm>
            <a:off x="14987016"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2" name="Oval 71"/>
          <p:cNvSpPr/>
          <p:nvPr/>
        </p:nvSpPr>
        <p:spPr>
          <a:xfrm>
            <a:off x="15572232"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3" name="Oval 72"/>
          <p:cNvSpPr/>
          <p:nvPr/>
        </p:nvSpPr>
        <p:spPr>
          <a:xfrm>
            <a:off x="16157448"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4" name="Oval 73"/>
          <p:cNvSpPr/>
          <p:nvPr/>
        </p:nvSpPr>
        <p:spPr>
          <a:xfrm>
            <a:off x="16742664" y="5698018"/>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5" name="Oval 74"/>
          <p:cNvSpPr/>
          <p:nvPr/>
        </p:nvSpPr>
        <p:spPr>
          <a:xfrm>
            <a:off x="17327880" y="5698018"/>
            <a:ext cx="329184" cy="329184"/>
          </a:xfrm>
          <a:prstGeom prst="ellipse">
            <a:avLst/>
          </a:prstGeom>
          <a:solidFill>
            <a:srgbClr val="E08A1E"/>
          </a:solidFill>
          <a:ln>
            <a:noFill/>
          </a:ln>
          <a:effectLst/>
        </p:spPr>
        <p:txBody>
          <a:bodyPr rtlCol="0" anchor="ctr" lIns="0" rIns="0" tIns="0" bIns="0"/>
          <a:lstStyle/>
          <a:p/>
        </p:txBody>
      </p:sp>
      <p:sp>
        <p:nvSpPr>
          <p:cNvPr id="76" name="Faixa zebrada"/>
          <p:cNvSpPr/>
          <p:nvPr/>
        </p:nvSpPr>
        <p:spPr>
          <a:xfrm>
            <a:off x="8092440" y="6070309"/>
            <a:ext cx="9692639" cy="415398"/>
          </a:xfrm>
          <a:prstGeom prst="rect">
            <a:avLst/>
          </a:prstGeom>
          <a:solidFill>
            <a:srgbClr val="F2F4F8"/>
          </a:solidFill>
          <a:ln>
            <a:noFill/>
          </a:ln>
          <a:effectLst/>
        </p:spPr>
        <p:txBody>
          <a:bodyPr rtlCol="0" anchor="ctr"/>
          <a:lstStyle/>
          <a:p/>
        </p:txBody>
      </p:sp>
      <p:sp>
        <p:nvSpPr>
          <p:cNvPr id="77" name="TextBox 76"/>
          <p:cNvSpPr txBox="1"/>
          <p:nvPr/>
        </p:nvSpPr>
        <p:spPr>
          <a:xfrm>
            <a:off x="8183880" y="6070309"/>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Usta et al., 2019</a:t>
            </a:r>
          </a:p>
        </p:txBody>
      </p:sp>
      <p:sp>
        <p:nvSpPr>
          <p:cNvPr id="78" name="Oval 77"/>
          <p:cNvSpPr/>
          <p:nvPr/>
        </p:nvSpPr>
        <p:spPr>
          <a:xfrm>
            <a:off x="12060936"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9" name="Oval 78"/>
          <p:cNvSpPr/>
          <p:nvPr/>
        </p:nvSpPr>
        <p:spPr>
          <a:xfrm>
            <a:off x="12646152" y="6113417"/>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0" name="Oval 79"/>
          <p:cNvSpPr/>
          <p:nvPr/>
        </p:nvSpPr>
        <p:spPr>
          <a:xfrm>
            <a:off x="13231368" y="6113417"/>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1" name="Oval 80"/>
          <p:cNvSpPr/>
          <p:nvPr/>
        </p:nvSpPr>
        <p:spPr>
          <a:xfrm>
            <a:off x="13816584"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2" name="Oval 81"/>
          <p:cNvSpPr/>
          <p:nvPr/>
        </p:nvSpPr>
        <p:spPr>
          <a:xfrm>
            <a:off x="14401800"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3" name="Oval 82"/>
          <p:cNvSpPr/>
          <p:nvPr/>
        </p:nvSpPr>
        <p:spPr>
          <a:xfrm>
            <a:off x="14987016" y="6113417"/>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4" name="Oval 83"/>
          <p:cNvSpPr/>
          <p:nvPr/>
        </p:nvSpPr>
        <p:spPr>
          <a:xfrm>
            <a:off x="15572232"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5" name="Oval 84"/>
          <p:cNvSpPr/>
          <p:nvPr/>
        </p:nvSpPr>
        <p:spPr>
          <a:xfrm>
            <a:off x="16157448"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6" name="Oval 85"/>
          <p:cNvSpPr/>
          <p:nvPr/>
        </p:nvSpPr>
        <p:spPr>
          <a:xfrm>
            <a:off x="16742664" y="6113417"/>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7" name="Oval 86"/>
          <p:cNvSpPr/>
          <p:nvPr/>
        </p:nvSpPr>
        <p:spPr>
          <a:xfrm>
            <a:off x="17327880" y="6113417"/>
            <a:ext cx="329184" cy="329184"/>
          </a:xfrm>
          <a:prstGeom prst="ellipse">
            <a:avLst/>
          </a:prstGeom>
          <a:solidFill>
            <a:srgbClr val="8B0000"/>
          </a:solidFill>
          <a:ln>
            <a:noFill/>
          </a:ln>
          <a:effectLst/>
        </p:spPr>
        <p:txBody>
          <a:bodyPr rtlCol="0" anchor="ctr" lIns="0" rIns="0" tIns="0" bIns="0"/>
          <a:lstStyle/>
          <a:p/>
        </p:txBody>
      </p:sp>
      <p:sp>
        <p:nvSpPr>
          <p:cNvPr id="88" name="TextBox 87"/>
          <p:cNvSpPr txBox="1"/>
          <p:nvPr/>
        </p:nvSpPr>
        <p:spPr>
          <a:xfrm>
            <a:off x="8183880" y="6485708"/>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Mohd Fikri Rosely; Titi Rahmawati, 2019</a:t>
            </a:r>
          </a:p>
        </p:txBody>
      </p:sp>
      <p:sp>
        <p:nvSpPr>
          <p:cNvPr id="89" name="Oval 88"/>
          <p:cNvSpPr/>
          <p:nvPr/>
        </p:nvSpPr>
        <p:spPr>
          <a:xfrm>
            <a:off x="12060936"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0" name="Oval 89"/>
          <p:cNvSpPr/>
          <p:nvPr/>
        </p:nvSpPr>
        <p:spPr>
          <a:xfrm>
            <a:off x="12646152"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1" name="Oval 90"/>
          <p:cNvSpPr/>
          <p:nvPr/>
        </p:nvSpPr>
        <p:spPr>
          <a:xfrm>
            <a:off x="13231368"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2" name="Oval 91"/>
          <p:cNvSpPr/>
          <p:nvPr/>
        </p:nvSpPr>
        <p:spPr>
          <a:xfrm>
            <a:off x="13816584"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3" name="Oval 92"/>
          <p:cNvSpPr/>
          <p:nvPr/>
        </p:nvSpPr>
        <p:spPr>
          <a:xfrm>
            <a:off x="14401800"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4" name="Oval 93"/>
          <p:cNvSpPr/>
          <p:nvPr/>
        </p:nvSpPr>
        <p:spPr>
          <a:xfrm>
            <a:off x="14987016" y="6528816"/>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5" name="Oval 94"/>
          <p:cNvSpPr/>
          <p:nvPr/>
        </p:nvSpPr>
        <p:spPr>
          <a:xfrm>
            <a:off x="15572232"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6" name="Oval 95"/>
          <p:cNvSpPr/>
          <p:nvPr/>
        </p:nvSpPr>
        <p:spPr>
          <a:xfrm>
            <a:off x="16157448"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7" name="Oval 96"/>
          <p:cNvSpPr/>
          <p:nvPr/>
        </p:nvSpPr>
        <p:spPr>
          <a:xfrm>
            <a:off x="16742664" y="6528816"/>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8" name="Oval 97"/>
          <p:cNvSpPr/>
          <p:nvPr/>
        </p:nvSpPr>
        <p:spPr>
          <a:xfrm>
            <a:off x="17327880" y="6528816"/>
            <a:ext cx="329184" cy="329184"/>
          </a:xfrm>
          <a:prstGeom prst="ellipse">
            <a:avLst/>
          </a:prstGeom>
          <a:solidFill>
            <a:srgbClr val="E08A1E"/>
          </a:solidFill>
          <a:ln>
            <a:noFill/>
          </a:ln>
          <a:effectLst/>
        </p:spPr>
        <p:txBody>
          <a:bodyPr rtlCol="0" anchor="ctr" lIns="0" rIns="0" tIns="0" bIns="0"/>
          <a:lstStyle/>
          <a:p/>
        </p:txBody>
      </p:sp>
      <p:sp>
        <p:nvSpPr>
          <p:cNvPr id="99" name="Faixa zebrada"/>
          <p:cNvSpPr/>
          <p:nvPr/>
        </p:nvSpPr>
        <p:spPr>
          <a:xfrm>
            <a:off x="8092440" y="6901107"/>
            <a:ext cx="9692639" cy="415398"/>
          </a:xfrm>
          <a:prstGeom prst="rect">
            <a:avLst/>
          </a:prstGeom>
          <a:solidFill>
            <a:srgbClr val="F2F4F8"/>
          </a:solidFill>
          <a:ln>
            <a:noFill/>
          </a:ln>
          <a:effectLst/>
        </p:spPr>
        <p:txBody>
          <a:bodyPr rtlCol="0" anchor="ctr"/>
          <a:lstStyle/>
          <a:p/>
        </p:txBody>
      </p:sp>
      <p:sp>
        <p:nvSpPr>
          <p:cNvPr id="100" name="TextBox 99"/>
          <p:cNvSpPr txBox="1"/>
          <p:nvPr/>
        </p:nvSpPr>
        <p:spPr>
          <a:xfrm>
            <a:off x="8183880" y="6901107"/>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Van Giersbergen et al., 2019</a:t>
            </a:r>
          </a:p>
        </p:txBody>
      </p:sp>
      <p:sp>
        <p:nvSpPr>
          <p:cNvPr id="101" name="Oval 100"/>
          <p:cNvSpPr/>
          <p:nvPr/>
        </p:nvSpPr>
        <p:spPr>
          <a:xfrm>
            <a:off x="12060936"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2" name="Oval 101"/>
          <p:cNvSpPr/>
          <p:nvPr/>
        </p:nvSpPr>
        <p:spPr>
          <a:xfrm>
            <a:off x="12646152" y="6944214"/>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3" name="Oval 102"/>
          <p:cNvSpPr/>
          <p:nvPr/>
        </p:nvSpPr>
        <p:spPr>
          <a:xfrm>
            <a:off x="13231368" y="6944214"/>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4" name="Oval 103"/>
          <p:cNvSpPr/>
          <p:nvPr/>
        </p:nvSpPr>
        <p:spPr>
          <a:xfrm>
            <a:off x="13816584"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5" name="Oval 104"/>
          <p:cNvSpPr/>
          <p:nvPr/>
        </p:nvSpPr>
        <p:spPr>
          <a:xfrm>
            <a:off x="14401800"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6" name="Oval 105"/>
          <p:cNvSpPr/>
          <p:nvPr/>
        </p:nvSpPr>
        <p:spPr>
          <a:xfrm>
            <a:off x="14987016" y="6944214"/>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7" name="Oval 106"/>
          <p:cNvSpPr/>
          <p:nvPr/>
        </p:nvSpPr>
        <p:spPr>
          <a:xfrm>
            <a:off x="15572232"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8" name="Oval 107"/>
          <p:cNvSpPr/>
          <p:nvPr/>
        </p:nvSpPr>
        <p:spPr>
          <a:xfrm>
            <a:off x="16157448"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9" name="Oval 108"/>
          <p:cNvSpPr/>
          <p:nvPr/>
        </p:nvSpPr>
        <p:spPr>
          <a:xfrm>
            <a:off x="16742664" y="6944214"/>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0" name="Oval 109"/>
          <p:cNvSpPr/>
          <p:nvPr/>
        </p:nvSpPr>
        <p:spPr>
          <a:xfrm>
            <a:off x="17327880" y="6944214"/>
            <a:ext cx="329184" cy="329184"/>
          </a:xfrm>
          <a:prstGeom prst="ellipse">
            <a:avLst/>
          </a:prstGeom>
          <a:solidFill>
            <a:srgbClr val="8B0000"/>
          </a:solidFill>
          <a:ln>
            <a:noFill/>
          </a:ln>
          <a:effectLst/>
        </p:spPr>
        <p:txBody>
          <a:bodyPr rtlCol="0" anchor="ctr" lIns="0" rIns="0" tIns="0" bIns="0"/>
          <a:lstStyle/>
          <a:p/>
        </p:txBody>
      </p:sp>
      <p:sp>
        <p:nvSpPr>
          <p:cNvPr id="111" name="TextBox 110"/>
          <p:cNvSpPr txBox="1"/>
          <p:nvPr/>
        </p:nvSpPr>
        <p:spPr>
          <a:xfrm>
            <a:off x="8183880" y="7316506"/>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Bieniek et al., 2022</a:t>
            </a:r>
          </a:p>
        </p:txBody>
      </p:sp>
      <p:sp>
        <p:nvSpPr>
          <p:cNvPr id="112" name="Oval 111"/>
          <p:cNvSpPr/>
          <p:nvPr/>
        </p:nvSpPr>
        <p:spPr>
          <a:xfrm>
            <a:off x="12060936"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3" name="Oval 112"/>
          <p:cNvSpPr/>
          <p:nvPr/>
        </p:nvSpPr>
        <p:spPr>
          <a:xfrm>
            <a:off x="12646152" y="7359613"/>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4" name="Oval 113"/>
          <p:cNvSpPr/>
          <p:nvPr/>
        </p:nvSpPr>
        <p:spPr>
          <a:xfrm>
            <a:off x="13231368" y="7359613"/>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5" name="Oval 114"/>
          <p:cNvSpPr/>
          <p:nvPr/>
        </p:nvSpPr>
        <p:spPr>
          <a:xfrm>
            <a:off x="13816584"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6" name="Oval 115"/>
          <p:cNvSpPr/>
          <p:nvPr/>
        </p:nvSpPr>
        <p:spPr>
          <a:xfrm>
            <a:off x="14401800"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7" name="Oval 116"/>
          <p:cNvSpPr/>
          <p:nvPr/>
        </p:nvSpPr>
        <p:spPr>
          <a:xfrm>
            <a:off x="14987016"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8" name="Oval 117"/>
          <p:cNvSpPr/>
          <p:nvPr/>
        </p:nvSpPr>
        <p:spPr>
          <a:xfrm>
            <a:off x="15572232"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9" name="Oval 118"/>
          <p:cNvSpPr/>
          <p:nvPr/>
        </p:nvSpPr>
        <p:spPr>
          <a:xfrm>
            <a:off x="16157448"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0" name="Oval 119"/>
          <p:cNvSpPr/>
          <p:nvPr/>
        </p:nvSpPr>
        <p:spPr>
          <a:xfrm>
            <a:off x="16742664" y="7359613"/>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1" name="Oval 120"/>
          <p:cNvSpPr/>
          <p:nvPr/>
        </p:nvSpPr>
        <p:spPr>
          <a:xfrm>
            <a:off x="17327880" y="7359613"/>
            <a:ext cx="329184" cy="329184"/>
          </a:xfrm>
          <a:prstGeom prst="ellipse">
            <a:avLst/>
          </a:prstGeom>
          <a:solidFill>
            <a:srgbClr val="E08A1E"/>
          </a:solidFill>
          <a:ln>
            <a:noFill/>
          </a:ln>
          <a:effectLst/>
        </p:spPr>
        <p:txBody>
          <a:bodyPr rtlCol="0" anchor="ctr" lIns="0" rIns="0" tIns="0" bIns="0"/>
          <a:lstStyle/>
          <a:p/>
        </p:txBody>
      </p:sp>
      <p:sp>
        <p:nvSpPr>
          <p:cNvPr id="122" name="Faixa zebrada"/>
          <p:cNvSpPr/>
          <p:nvPr/>
        </p:nvSpPr>
        <p:spPr>
          <a:xfrm>
            <a:off x="8092440" y="7731905"/>
            <a:ext cx="9692639" cy="415398"/>
          </a:xfrm>
          <a:prstGeom prst="rect">
            <a:avLst/>
          </a:prstGeom>
          <a:solidFill>
            <a:srgbClr val="F2F4F8"/>
          </a:solidFill>
          <a:ln>
            <a:noFill/>
          </a:ln>
          <a:effectLst/>
        </p:spPr>
        <p:txBody>
          <a:bodyPr rtlCol="0" anchor="ctr"/>
          <a:lstStyle/>
          <a:p/>
        </p:txBody>
      </p:sp>
      <p:sp>
        <p:nvSpPr>
          <p:cNvPr id="123" name="TextBox 122"/>
          <p:cNvSpPr txBox="1"/>
          <p:nvPr/>
        </p:nvSpPr>
        <p:spPr>
          <a:xfrm>
            <a:off x="8183880" y="7731905"/>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Mohd Fikri Rosely, 2022</a:t>
            </a:r>
          </a:p>
        </p:txBody>
      </p:sp>
      <p:sp>
        <p:nvSpPr>
          <p:cNvPr id="124" name="Oval 123"/>
          <p:cNvSpPr/>
          <p:nvPr/>
        </p:nvSpPr>
        <p:spPr>
          <a:xfrm>
            <a:off x="12060936"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5" name="Oval 124"/>
          <p:cNvSpPr/>
          <p:nvPr/>
        </p:nvSpPr>
        <p:spPr>
          <a:xfrm>
            <a:off x="12646152"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6" name="Oval 125"/>
          <p:cNvSpPr/>
          <p:nvPr/>
        </p:nvSpPr>
        <p:spPr>
          <a:xfrm>
            <a:off x="13231368"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7" name="Oval 126"/>
          <p:cNvSpPr/>
          <p:nvPr/>
        </p:nvSpPr>
        <p:spPr>
          <a:xfrm>
            <a:off x="13816584"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8" name="Oval 127"/>
          <p:cNvSpPr/>
          <p:nvPr/>
        </p:nvSpPr>
        <p:spPr>
          <a:xfrm>
            <a:off x="14401800"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9" name="Oval 128"/>
          <p:cNvSpPr/>
          <p:nvPr/>
        </p:nvSpPr>
        <p:spPr>
          <a:xfrm>
            <a:off x="14987016"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30" name="Oval 129"/>
          <p:cNvSpPr/>
          <p:nvPr/>
        </p:nvSpPr>
        <p:spPr>
          <a:xfrm>
            <a:off x="15572232"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31" name="Oval 130"/>
          <p:cNvSpPr/>
          <p:nvPr/>
        </p:nvSpPr>
        <p:spPr>
          <a:xfrm>
            <a:off x="16157448"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32" name="Oval 131"/>
          <p:cNvSpPr/>
          <p:nvPr/>
        </p:nvSpPr>
        <p:spPr>
          <a:xfrm>
            <a:off x="16742664"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33" name="Oval 132"/>
          <p:cNvSpPr/>
          <p:nvPr/>
        </p:nvSpPr>
        <p:spPr>
          <a:xfrm>
            <a:off x="17327880" y="7775012"/>
            <a:ext cx="329184" cy="329184"/>
          </a:xfrm>
          <a:prstGeom prst="ellipse">
            <a:avLst/>
          </a:prstGeom>
          <a:solidFill>
            <a:srgbClr val="8B0000"/>
          </a:solidFill>
          <a:ln>
            <a:noFill/>
          </a:ln>
          <a:effectLst/>
        </p:spPr>
        <p:txBody>
          <a:bodyPr rtlCol="0" anchor="ctr" lIns="0" rIns="0" tIns="0" bIns="0"/>
          <a:lstStyle/>
          <a:p/>
        </p:txBody>
      </p:sp>
      <p:sp>
        <p:nvSpPr>
          <p:cNvPr id="134" name="TextBox 133"/>
          <p:cNvSpPr txBox="1"/>
          <p:nvPr/>
        </p:nvSpPr>
        <p:spPr>
          <a:xfrm>
            <a:off x="8092440" y="8257031"/>
            <a:ext cx="9692639" cy="749808"/>
          </a:xfrm>
          <a:prstGeom prst="rect">
            <a:avLst/>
          </a:prstGeom>
          <a:noFill/>
        </p:spPr>
        <p:txBody>
          <a:bodyPr wrap="square" lIns="0" rIns="0" tIns="0" bIns="0" anchor="t">
            <a:noAutofit/>
          </a:bodyPr>
          <a:lstStyle/>
          <a:p>
            <a:pPr algn="l">
              <a:lnSpc>
                <a:spcPct val="100000"/>
              </a:lnSpc>
              <a:spcAft>
                <a:spcPts val="200"/>
              </a:spcAft>
              <a:buNone/>
            </a:pPr>
            <a:r>
              <a:rPr sz="1400" b="1" i="0">
                <a:solidFill>
                  <a:srgbClr val="1F2433"/>
                </a:solidFill>
                <a:latin typeface="Arial"/>
              </a:rPr>
              <a:t>Figura E1. </a:t>
            </a:r>
            <a:r>
              <a:rPr sz="1400" b="1" i="0">
                <a:solidFill>
                  <a:srgbClr val="2E7D32"/>
                </a:solidFill>
                <a:latin typeface="Arial"/>
              </a:rPr>
              <a:t>+ sim  </a:t>
            </a:r>
            <a:r>
              <a:rPr sz="1400" b="1" i="0">
                <a:solidFill>
                  <a:srgbClr val="E08A1E"/>
                </a:solidFill>
                <a:latin typeface="Arial"/>
              </a:rPr>
              <a:t>? incerto  </a:t>
            </a:r>
            <a:r>
              <a:rPr sz="1400" b="1" i="0">
                <a:solidFill>
                  <a:srgbClr val="8B0000"/>
                </a:solidFill>
                <a:latin typeface="Arial"/>
              </a:rPr>
              <a:t>− não</a:t>
            </a:r>
            <a:r>
              <a:rPr sz="1400" b="1" i="0">
                <a:solidFill>
                  <a:srgbClr val="1F2433"/>
                </a:solidFill>
                <a:latin typeface="Arial"/>
              </a:rPr>
              <a:t>  ·  Geral: </a:t>
            </a:r>
            <a:r>
              <a:rPr sz="1400" b="1" i="0">
                <a:solidFill>
                  <a:srgbClr val="8B0000"/>
                </a:solidFill>
                <a:latin typeface="Arial"/>
              </a:rPr>
              <a:t>● alta  </a:t>
            </a:r>
            <a:r>
              <a:rPr sz="1400" b="1" i="0">
                <a:solidFill>
                  <a:srgbClr val="E08A1E"/>
                </a:solidFill>
                <a:latin typeface="Arial"/>
              </a:rPr>
              <a:t>● moderada</a:t>
            </a:r>
            <a:r>
              <a:rPr sz="1400" b="0" i="0">
                <a:solidFill>
                  <a:srgbClr val="1F2433"/>
                </a:solidFill>
                <a:latin typeface="Arial"/>
              </a:rPr>
              <a:t>  →  </a:t>
            </a:r>
            <a:r>
              <a:rPr sz="1400" b="1" i="0">
                <a:solidFill>
                  <a:srgbClr val="1F2433"/>
                </a:solidFill>
                <a:highlight>
                  <a:srgbClr val="FFEB99"/>
                </a:highlight>
                <a:latin typeface="Arial"/>
              </a:rPr>
              <a:t>nenhum com preocupação baixa.</a:t>
            </a:r>
          </a:p>
          <a:p>
            <a:pPr algn="l">
              <a:lnSpc>
                <a:spcPct val="100000"/>
              </a:lnSpc>
              <a:spcAft>
                <a:spcPts val="200"/>
              </a:spcAft>
              <a:buNone/>
            </a:pPr>
            <a:r>
              <a:rPr sz="1400" b="1" i="0">
                <a:solidFill>
                  <a:srgbClr val="002060"/>
                </a:solidFill>
                <a:latin typeface="Arial"/>
              </a:rPr>
              <a:t>Itens: </a:t>
            </a:r>
            <a:r>
              <a:rPr sz="1400" b="0" i="0">
                <a:solidFill>
                  <a:srgbClr val="5A6270"/>
                </a:solidFill>
                <a:latin typeface="Arial"/>
              </a:rPr>
              <a:t>1 marco amostral · 2 amostragem · 3 tamanho · 4 sujeitos/cenário · 5 cobertura · 6 validade · 7 padronização · 8 análise · 9 taxa de resposta</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APOIO · 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 6 · Metanálise de prevalência explicada: de 6–7 proporções a uma estimativa combinada</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45505"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Protocolo</a:t>
            </a:r>
          </a:p>
        </p:txBody>
      </p:sp>
      <p:sp>
        <p:nvSpPr>
          <p:cNvPr id="10" name="Oval 9"/>
          <p:cNvSpPr/>
          <p:nvPr/>
        </p:nvSpPr>
        <p:spPr>
          <a:xfrm>
            <a:off x="4596819"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Busca</a:t>
            </a:r>
          </a:p>
        </p:txBody>
      </p:sp>
      <p:sp>
        <p:nvSpPr>
          <p:cNvPr id="12" name="Oval 11"/>
          <p:cNvSpPr/>
          <p:nvPr/>
        </p:nvSpPr>
        <p:spPr>
          <a:xfrm>
            <a:off x="6948133"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Seleção</a:t>
            </a:r>
          </a:p>
        </p:txBody>
      </p:sp>
      <p:sp>
        <p:nvSpPr>
          <p:cNvPr id="14" name="Oval 13"/>
          <p:cNvSpPr/>
          <p:nvPr/>
        </p:nvSpPr>
        <p:spPr>
          <a:xfrm>
            <a:off x="9299447"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Extração</a:t>
            </a:r>
          </a:p>
        </p:txBody>
      </p:sp>
      <p:sp>
        <p:nvSpPr>
          <p:cNvPr id="16" name="Oval 15"/>
          <p:cNvSpPr/>
          <p:nvPr/>
        </p:nvSpPr>
        <p:spPr>
          <a:xfrm>
            <a:off x="11650762"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Risco de viés</a:t>
            </a:r>
          </a:p>
        </p:txBody>
      </p:sp>
      <p:sp>
        <p:nvSpPr>
          <p:cNvPr id="18" name="Oval 17"/>
          <p:cNvSpPr/>
          <p:nvPr/>
        </p:nvSpPr>
        <p:spPr>
          <a:xfrm>
            <a:off x="13965500"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Síntese</a:t>
            </a:r>
          </a:p>
        </p:txBody>
      </p:sp>
      <p:sp>
        <p:nvSpPr>
          <p:cNvPr id="20" name="Oval 19"/>
          <p:cNvSpPr/>
          <p:nvPr/>
        </p:nvSpPr>
        <p:spPr>
          <a:xfrm>
            <a:off x="16353390"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Certeza (GRADE)</a:t>
            </a:r>
          </a:p>
        </p:txBody>
      </p:sp>
      <p:sp>
        <p:nvSpPr>
          <p:cNvPr id="22" name="Rounded Rectangle 21"/>
          <p:cNvSpPr/>
          <p:nvPr/>
        </p:nvSpPr>
        <p:spPr>
          <a:xfrm>
            <a:off x="1143000" y="1783080"/>
            <a:ext cx="3108960" cy="4251960"/>
          </a:xfrm>
          <a:prstGeom prst="roundRect">
            <a:avLst>
              <a:gd name="adj" fmla="val 6000"/>
            </a:avLst>
          </a:prstGeom>
          <a:solidFill>
            <a:srgbClr val="F2F4F8"/>
          </a:solidFill>
          <a:ln>
            <a:noFill/>
          </a:ln>
          <a:effectLst/>
        </p:spPr>
        <p:txBody>
          <a:bodyPr rtlCol="0" anchor="ctr"/>
          <a:lstStyle/>
          <a:p/>
        </p:txBody>
      </p:sp>
      <p:sp>
        <p:nvSpPr>
          <p:cNvPr id="23" name="Oval 22"/>
          <p:cNvSpPr/>
          <p:nvPr/>
        </p:nvSpPr>
        <p:spPr>
          <a:xfrm>
            <a:off x="1463040"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1</a:t>
            </a:r>
          </a:p>
        </p:txBody>
      </p:sp>
      <p:sp>
        <p:nvSpPr>
          <p:cNvPr id="24" name="TextBox 23"/>
          <p:cNvSpPr txBox="1"/>
          <p:nvPr/>
        </p:nvSpPr>
        <p:spPr>
          <a:xfrm>
            <a:off x="2148840"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Proporção de cada estudo</a:t>
            </a:r>
          </a:p>
        </p:txBody>
      </p:sp>
      <p:sp>
        <p:nvSpPr>
          <p:cNvPr id="25" name="Rounded Rectangle 24"/>
          <p:cNvSpPr/>
          <p:nvPr/>
        </p:nvSpPr>
        <p:spPr>
          <a:xfrm>
            <a:off x="1371600"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26" name="TextBox 25"/>
          <p:cNvSpPr txBox="1"/>
          <p:nvPr/>
        </p:nvSpPr>
        <p:spPr>
          <a:xfrm>
            <a:off x="1463040"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p = eventos ÷ n</a:t>
            </a:r>
          </a:p>
        </p:txBody>
      </p:sp>
      <p:sp>
        <p:nvSpPr>
          <p:cNvPr id="27" name="TextBox 26"/>
          <p:cNvSpPr txBox="1"/>
          <p:nvPr/>
        </p:nvSpPr>
        <p:spPr>
          <a:xfrm>
            <a:off x="1371600"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Ex.: </a:t>
            </a:r>
            <a:r>
              <a:rPr sz="1600" b="1" i="0">
                <a:solidFill>
                  <a:srgbClr val="1F2433"/>
                </a:solidFill>
                <a:latin typeface="Arial"/>
              </a:rPr>
              <a:t>33/81 = 40,7%</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0" i="0">
                <a:solidFill>
                  <a:srgbClr val="1F2433"/>
                </a:solidFill>
                <a:latin typeface="Arial"/>
              </a:rPr>
              <a:t>IC95% de cada estudo pelo </a:t>
            </a:r>
            <a:r>
              <a:rPr sz="1600" b="1" i="0">
                <a:solidFill>
                  <a:srgbClr val="1F2433"/>
                </a:solidFill>
                <a:latin typeface="Arial"/>
              </a:rPr>
              <a:t>método de Wilson</a:t>
            </a:r>
            <a:r>
              <a:rPr sz="1600" b="0" i="0">
                <a:solidFill>
                  <a:srgbClr val="1F2433"/>
                </a:solidFill>
                <a:latin typeface="Arial"/>
              </a:rPr>
              <a:t>.</a:t>
            </a:r>
          </a:p>
        </p:txBody>
      </p:sp>
      <p:cxnSp>
        <p:nvCxnSpPr>
          <p:cNvPr id="28" name="Connector 27"/>
          <p:cNvCxnSpPr/>
          <p:nvPr/>
        </p:nvCxnSpPr>
        <p:spPr>
          <a:xfrm>
            <a:off x="4279392" y="3840480"/>
            <a:ext cx="219455" cy="0"/>
          </a:xfrm>
          <a:prstGeom prst="line">
            <a:avLst/>
          </a:prstGeom>
          <a:ln w="31750">
            <a:solidFill>
              <a:srgbClr val="002060"/>
            </a:solidFill>
            <a:tailEnd type="triangle" w="med" len="med"/>
          </a:ln>
        </p:spPr>
      </p:cxnSp>
      <p:sp>
        <p:nvSpPr>
          <p:cNvPr id="29" name="Rounded Rectangle 28"/>
          <p:cNvSpPr/>
          <p:nvPr/>
        </p:nvSpPr>
        <p:spPr>
          <a:xfrm>
            <a:off x="4526279" y="1783080"/>
            <a:ext cx="3108960" cy="4251960"/>
          </a:xfrm>
          <a:prstGeom prst="roundRect">
            <a:avLst>
              <a:gd name="adj" fmla="val 6000"/>
            </a:avLst>
          </a:prstGeom>
          <a:solidFill>
            <a:srgbClr val="F2F4F8"/>
          </a:solidFill>
          <a:ln>
            <a:noFill/>
          </a:ln>
          <a:effectLst/>
        </p:spPr>
        <p:txBody>
          <a:bodyPr rtlCol="0" anchor="ctr"/>
          <a:lstStyle/>
          <a:p/>
        </p:txBody>
      </p:sp>
      <p:sp>
        <p:nvSpPr>
          <p:cNvPr id="30" name="Oval 29"/>
          <p:cNvSpPr/>
          <p:nvPr/>
        </p:nvSpPr>
        <p:spPr>
          <a:xfrm>
            <a:off x="4846319"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2</a:t>
            </a:r>
          </a:p>
        </p:txBody>
      </p:sp>
      <p:sp>
        <p:nvSpPr>
          <p:cNvPr id="31" name="TextBox 30"/>
          <p:cNvSpPr txBox="1"/>
          <p:nvPr/>
        </p:nvSpPr>
        <p:spPr>
          <a:xfrm>
            <a:off x="5532119"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Transformação logito</a:t>
            </a:r>
          </a:p>
        </p:txBody>
      </p:sp>
      <p:sp>
        <p:nvSpPr>
          <p:cNvPr id="32" name="Rounded Rectangle 31"/>
          <p:cNvSpPr/>
          <p:nvPr/>
        </p:nvSpPr>
        <p:spPr>
          <a:xfrm>
            <a:off x="4754879"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33" name="TextBox 32"/>
          <p:cNvSpPr txBox="1"/>
          <p:nvPr/>
        </p:nvSpPr>
        <p:spPr>
          <a:xfrm>
            <a:off x="4846319"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ln[ p ÷ (1 − p) ]</a:t>
            </a:r>
          </a:p>
        </p:txBody>
      </p:sp>
      <p:sp>
        <p:nvSpPr>
          <p:cNvPr id="34" name="TextBox 33"/>
          <p:cNvSpPr txBox="1"/>
          <p:nvPr/>
        </p:nvSpPr>
        <p:spPr>
          <a:xfrm>
            <a:off x="4754879"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Leva a proporção (0 a 1) para a escala </a:t>
            </a:r>
            <a:r>
              <a:rPr sz="1600" b="1" i="0">
                <a:solidFill>
                  <a:srgbClr val="1F2433"/>
                </a:solidFill>
                <a:latin typeface="Arial"/>
              </a:rPr>
              <a:t>−∞ a +∞</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0" i="0">
                <a:solidFill>
                  <a:srgbClr val="1F2433"/>
                </a:solidFill>
                <a:latin typeface="Arial"/>
              </a:rPr>
              <a:t>Aproxima da normal e mantém estimativa e IC entre 0 e 100%.</a:t>
            </a:r>
          </a:p>
          <a:p>
            <a:pPr algn="l" marL="274320" indent="-274320">
              <a:lnSpc>
                <a:spcPct val="100000"/>
              </a:lnSpc>
              <a:spcAft>
                <a:spcPts val="400"/>
              </a:spcAft>
              <a:buClr>
                <a:srgbClr val="002060"/>
              </a:buClr>
              <a:buFont typeface="Arial"/>
              <a:buChar char="•"/>
            </a:pPr>
            <a:r>
              <a:rPr sz="1600" b="0" i="0">
                <a:solidFill>
                  <a:srgbClr val="1F2433"/>
                </a:solidFill>
                <a:latin typeface="Arial"/>
              </a:rPr>
              <a:t>Sem 0% ou 100% → sem correção de continuidade.</a:t>
            </a:r>
          </a:p>
        </p:txBody>
      </p:sp>
      <p:cxnSp>
        <p:nvCxnSpPr>
          <p:cNvPr id="35" name="Connector 34"/>
          <p:cNvCxnSpPr/>
          <p:nvPr/>
        </p:nvCxnSpPr>
        <p:spPr>
          <a:xfrm>
            <a:off x="7662671" y="3840480"/>
            <a:ext cx="219456" cy="0"/>
          </a:xfrm>
          <a:prstGeom prst="line">
            <a:avLst/>
          </a:prstGeom>
          <a:ln w="31750">
            <a:solidFill>
              <a:srgbClr val="002060"/>
            </a:solidFill>
            <a:tailEnd type="triangle" w="med" len="med"/>
          </a:ln>
        </p:spPr>
      </p:cxnSp>
      <p:sp>
        <p:nvSpPr>
          <p:cNvPr id="36" name="Rounded Rectangle 35"/>
          <p:cNvSpPr/>
          <p:nvPr/>
        </p:nvSpPr>
        <p:spPr>
          <a:xfrm>
            <a:off x="7909559" y="1783080"/>
            <a:ext cx="3108960" cy="4251960"/>
          </a:xfrm>
          <a:prstGeom prst="roundRect">
            <a:avLst>
              <a:gd name="adj" fmla="val 6000"/>
            </a:avLst>
          </a:prstGeom>
          <a:solidFill>
            <a:srgbClr val="F2F4F8"/>
          </a:solidFill>
          <a:ln>
            <a:noFill/>
          </a:ln>
          <a:effectLst/>
        </p:spPr>
        <p:txBody>
          <a:bodyPr rtlCol="0" anchor="ctr"/>
          <a:lstStyle/>
          <a:p/>
        </p:txBody>
      </p:sp>
      <p:sp>
        <p:nvSpPr>
          <p:cNvPr id="37" name="Oval 36"/>
          <p:cNvSpPr/>
          <p:nvPr/>
        </p:nvSpPr>
        <p:spPr>
          <a:xfrm>
            <a:off x="8229599"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3</a:t>
            </a:r>
          </a:p>
        </p:txBody>
      </p:sp>
      <p:sp>
        <p:nvSpPr>
          <p:cNvPr id="38" name="TextBox 37"/>
          <p:cNvSpPr txBox="1"/>
          <p:nvPr/>
        </p:nvSpPr>
        <p:spPr>
          <a:xfrm>
            <a:off x="8915399"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Modelo de efeitos aleatórios</a:t>
            </a:r>
          </a:p>
        </p:txBody>
      </p:sp>
      <p:sp>
        <p:nvSpPr>
          <p:cNvPr id="39" name="Rounded Rectangle 38"/>
          <p:cNvSpPr/>
          <p:nvPr/>
        </p:nvSpPr>
        <p:spPr>
          <a:xfrm>
            <a:off x="8138159"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40" name="TextBox 39"/>
          <p:cNvSpPr txBox="1"/>
          <p:nvPr/>
        </p:nvSpPr>
        <p:spPr>
          <a:xfrm>
            <a:off x="8229599"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τ² por Paule-Mandel</a:t>
            </a:r>
          </a:p>
        </p:txBody>
      </p:sp>
      <p:sp>
        <p:nvSpPr>
          <p:cNvPr id="41" name="TextBox 40"/>
          <p:cNvSpPr txBox="1"/>
          <p:nvPr/>
        </p:nvSpPr>
        <p:spPr>
          <a:xfrm>
            <a:off x="8138159"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A prevalência verdadeira </a:t>
            </a:r>
            <a:r>
              <a:rPr sz="1600" b="1" i="0">
                <a:solidFill>
                  <a:srgbClr val="1F2433"/>
                </a:solidFill>
                <a:latin typeface="Arial"/>
              </a:rPr>
              <a:t>varia entre estudos</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1" i="0">
                <a:solidFill>
                  <a:srgbClr val="1F2433"/>
                </a:solidFill>
                <a:latin typeface="Arial"/>
              </a:rPr>
              <a:t>τ² = variância entre estudos; </a:t>
            </a:r>
            <a:r>
              <a:rPr sz="1600" b="0" i="0">
                <a:solidFill>
                  <a:srgbClr val="1F2433"/>
                </a:solidFill>
                <a:latin typeface="Arial"/>
              </a:rPr>
              <a:t>peso = 1 ÷ (variância + τ²).</a:t>
            </a:r>
          </a:p>
          <a:p>
            <a:pPr algn="l" marL="274320" indent="-274320">
              <a:lnSpc>
                <a:spcPct val="100000"/>
              </a:lnSpc>
              <a:spcAft>
                <a:spcPts val="400"/>
              </a:spcAft>
              <a:buClr>
                <a:srgbClr val="002060"/>
              </a:buClr>
              <a:buFont typeface="Arial"/>
              <a:buChar char="•"/>
            </a:pPr>
            <a:r>
              <a:rPr sz="1600" b="0" i="0">
                <a:solidFill>
                  <a:srgbClr val="1F2433"/>
                </a:solidFill>
                <a:latin typeface="Arial"/>
              </a:rPr>
              <a:t>Subestima τ² menos que DerSimonian-Laird com poucos estudos.</a:t>
            </a:r>
          </a:p>
        </p:txBody>
      </p:sp>
      <p:cxnSp>
        <p:nvCxnSpPr>
          <p:cNvPr id="42" name="Connector 41"/>
          <p:cNvCxnSpPr/>
          <p:nvPr/>
        </p:nvCxnSpPr>
        <p:spPr>
          <a:xfrm>
            <a:off x="11045951" y="3840480"/>
            <a:ext cx="219457" cy="0"/>
          </a:xfrm>
          <a:prstGeom prst="line">
            <a:avLst/>
          </a:prstGeom>
          <a:ln w="31750">
            <a:solidFill>
              <a:srgbClr val="002060"/>
            </a:solidFill>
            <a:tailEnd type="triangle" w="med" len="med"/>
          </a:ln>
        </p:spPr>
      </p:cxnSp>
      <p:sp>
        <p:nvSpPr>
          <p:cNvPr id="43" name="Rounded Rectangle 42"/>
          <p:cNvSpPr/>
          <p:nvPr/>
        </p:nvSpPr>
        <p:spPr>
          <a:xfrm>
            <a:off x="11292840" y="1783080"/>
            <a:ext cx="3108960" cy="4251960"/>
          </a:xfrm>
          <a:prstGeom prst="roundRect">
            <a:avLst>
              <a:gd name="adj" fmla="val 6000"/>
            </a:avLst>
          </a:prstGeom>
          <a:solidFill>
            <a:srgbClr val="F2F4F8"/>
          </a:solidFill>
          <a:ln>
            <a:noFill/>
          </a:ln>
          <a:effectLst/>
        </p:spPr>
        <p:txBody>
          <a:bodyPr rtlCol="0" anchor="ctr"/>
          <a:lstStyle/>
          <a:p/>
        </p:txBody>
      </p:sp>
      <p:sp>
        <p:nvSpPr>
          <p:cNvPr id="44" name="Oval 43"/>
          <p:cNvSpPr/>
          <p:nvPr/>
        </p:nvSpPr>
        <p:spPr>
          <a:xfrm>
            <a:off x="11612880"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4</a:t>
            </a:r>
          </a:p>
        </p:txBody>
      </p:sp>
      <p:sp>
        <p:nvSpPr>
          <p:cNvPr id="45" name="TextBox 44"/>
          <p:cNvSpPr txBox="1"/>
          <p:nvPr/>
        </p:nvSpPr>
        <p:spPr>
          <a:xfrm>
            <a:off x="12298680"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Ajuste de Hartung-Knapp</a:t>
            </a:r>
          </a:p>
        </p:txBody>
      </p:sp>
      <p:sp>
        <p:nvSpPr>
          <p:cNvPr id="46" name="Rounded Rectangle 45"/>
          <p:cNvSpPr/>
          <p:nvPr/>
        </p:nvSpPr>
        <p:spPr>
          <a:xfrm>
            <a:off x="11521440"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47" name="TextBox 46"/>
          <p:cNvSpPr txBox="1"/>
          <p:nvPr/>
        </p:nvSpPr>
        <p:spPr>
          <a:xfrm>
            <a:off x="11612880"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IC pela distribuição t</a:t>
            </a:r>
          </a:p>
        </p:txBody>
      </p:sp>
      <p:sp>
        <p:nvSpPr>
          <p:cNvPr id="48" name="TextBox 47"/>
          <p:cNvSpPr txBox="1"/>
          <p:nvPr/>
        </p:nvSpPr>
        <p:spPr>
          <a:xfrm>
            <a:off x="11521440"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Usa t com </a:t>
            </a:r>
            <a:r>
              <a:rPr sz="1600" b="1" i="0">
                <a:solidFill>
                  <a:srgbClr val="1F2433"/>
                </a:solidFill>
                <a:latin typeface="Arial"/>
              </a:rPr>
              <a:t>k − 1 graus de liberdade</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0" i="0">
                <a:solidFill>
                  <a:srgbClr val="1F2433"/>
                </a:solidFill>
                <a:latin typeface="Arial"/>
              </a:rPr>
              <a:t>IC mais honesto (em geral mais largo) com poucos estudos e alta heterogeneidade (IntHout; Ioannidis; Borm, 2014).</a:t>
            </a:r>
          </a:p>
        </p:txBody>
      </p:sp>
      <p:cxnSp>
        <p:nvCxnSpPr>
          <p:cNvPr id="49" name="Connector 48"/>
          <p:cNvCxnSpPr/>
          <p:nvPr/>
        </p:nvCxnSpPr>
        <p:spPr>
          <a:xfrm>
            <a:off x="14429231" y="3840480"/>
            <a:ext cx="219456" cy="0"/>
          </a:xfrm>
          <a:prstGeom prst="line">
            <a:avLst/>
          </a:prstGeom>
          <a:ln w="31750">
            <a:solidFill>
              <a:srgbClr val="002060"/>
            </a:solidFill>
            <a:tailEnd type="triangle" w="med" len="med"/>
          </a:ln>
        </p:spPr>
      </p:cxnSp>
      <p:sp>
        <p:nvSpPr>
          <p:cNvPr id="50" name="Rounded Rectangle 49"/>
          <p:cNvSpPr/>
          <p:nvPr/>
        </p:nvSpPr>
        <p:spPr>
          <a:xfrm>
            <a:off x="14676119" y="1783080"/>
            <a:ext cx="3108960" cy="4251960"/>
          </a:xfrm>
          <a:prstGeom prst="roundRect">
            <a:avLst>
              <a:gd name="adj" fmla="val 6000"/>
            </a:avLst>
          </a:prstGeom>
          <a:solidFill>
            <a:srgbClr val="F2F4F8"/>
          </a:solidFill>
          <a:ln>
            <a:noFill/>
          </a:ln>
          <a:effectLst/>
        </p:spPr>
        <p:txBody>
          <a:bodyPr rtlCol="0" anchor="ctr"/>
          <a:lstStyle/>
          <a:p/>
        </p:txBody>
      </p:sp>
      <p:sp>
        <p:nvSpPr>
          <p:cNvPr id="51" name="Oval 50"/>
          <p:cNvSpPr/>
          <p:nvPr/>
        </p:nvSpPr>
        <p:spPr>
          <a:xfrm>
            <a:off x="14996159"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5</a:t>
            </a:r>
          </a:p>
        </p:txBody>
      </p:sp>
      <p:sp>
        <p:nvSpPr>
          <p:cNvPr id="52" name="TextBox 51"/>
          <p:cNvSpPr txBox="1"/>
          <p:nvPr/>
        </p:nvSpPr>
        <p:spPr>
          <a:xfrm>
            <a:off x="15681959"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Voltar para % e interpretar</a:t>
            </a:r>
          </a:p>
        </p:txBody>
      </p:sp>
      <p:sp>
        <p:nvSpPr>
          <p:cNvPr id="53" name="Rounded Rectangle 52"/>
          <p:cNvSpPr/>
          <p:nvPr/>
        </p:nvSpPr>
        <p:spPr>
          <a:xfrm>
            <a:off x="14904719"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54" name="TextBox 53"/>
          <p:cNvSpPr txBox="1"/>
          <p:nvPr/>
        </p:nvSpPr>
        <p:spPr>
          <a:xfrm>
            <a:off x="14996159"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I² + predição</a:t>
            </a:r>
          </a:p>
        </p:txBody>
      </p:sp>
      <p:sp>
        <p:nvSpPr>
          <p:cNvPr id="55" name="TextBox 54"/>
          <p:cNvSpPr txBox="1"/>
          <p:nvPr/>
        </p:nvSpPr>
        <p:spPr>
          <a:xfrm>
            <a:off x="14904719"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Retrotransformação para porcentagem.</a:t>
            </a:r>
          </a:p>
          <a:p>
            <a:pPr algn="l" marL="274320" indent="-274320">
              <a:lnSpc>
                <a:spcPct val="100000"/>
              </a:lnSpc>
              <a:spcAft>
                <a:spcPts val="400"/>
              </a:spcAft>
              <a:buClr>
                <a:srgbClr val="002060"/>
              </a:buClr>
              <a:buFont typeface="Arial"/>
              <a:buChar char="•"/>
            </a:pPr>
            <a:r>
              <a:rPr sz="1600" b="0" i="0">
                <a:solidFill>
                  <a:srgbClr val="1F2433"/>
                </a:solidFill>
                <a:latin typeface="Arial"/>
              </a:rPr>
              <a:t>I² = % da variação </a:t>
            </a:r>
            <a:r>
              <a:rPr sz="1600" b="1" i="0">
                <a:solidFill>
                  <a:srgbClr val="1F2433"/>
                </a:solidFill>
                <a:latin typeface="Arial"/>
              </a:rPr>
              <a:t>devida à heterogeneidade</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0" i="0">
                <a:solidFill>
                  <a:srgbClr val="1F2433"/>
                </a:solidFill>
                <a:latin typeface="Arial"/>
              </a:rPr>
              <a:t>Intervalo de predição: </a:t>
            </a:r>
            <a:r>
              <a:rPr sz="1600" b="1" i="0">
                <a:solidFill>
                  <a:srgbClr val="1F2433"/>
                </a:solidFill>
                <a:highlight>
                  <a:srgbClr val="FFEB99"/>
                </a:highlight>
                <a:latin typeface="Arial"/>
              </a:rPr>
              <a:t>faixa esperada para um novo estudo</a:t>
            </a:r>
            <a:r>
              <a:rPr sz="1600" b="0" i="0">
                <a:solidFill>
                  <a:srgbClr val="1F2433"/>
                </a:solidFill>
                <a:latin typeface="Arial"/>
              </a:rPr>
              <a:t>; instável com k &lt; 10.</a:t>
            </a:r>
          </a:p>
        </p:txBody>
      </p:sp>
      <p:sp>
        <p:nvSpPr>
          <p:cNvPr id="56" name="TextBox 55"/>
          <p:cNvSpPr txBox="1"/>
          <p:nvPr/>
        </p:nvSpPr>
        <p:spPr>
          <a:xfrm>
            <a:off x="1143000" y="6236208"/>
            <a:ext cx="16642080" cy="365760"/>
          </a:xfrm>
          <a:prstGeom prst="rect">
            <a:avLst/>
          </a:prstGeom>
          <a:noFill/>
        </p:spPr>
        <p:txBody>
          <a:bodyPr wrap="square" lIns="0" rIns="0" tIns="0" bIns="0" anchor="t">
            <a:noAutofit/>
          </a:bodyPr>
          <a:lstStyle/>
          <a:p>
            <a:pPr algn="l">
              <a:lnSpc>
                <a:spcPct val="100000"/>
              </a:lnSpc>
              <a:spcAft>
                <a:spcPts val="0"/>
              </a:spcAft>
              <a:buNone/>
            </a:pPr>
            <a:r>
              <a:rPr sz="1700" b="1" i="0">
                <a:solidFill>
                  <a:srgbClr val="002060"/>
                </a:solidFill>
                <a:latin typeface="Arial"/>
              </a:rPr>
              <a:t>Verificando a robustez </a:t>
            </a:r>
            <a:r>
              <a:rPr sz="1700" b="0" i="0">
                <a:solidFill>
                  <a:srgbClr val="5A6270"/>
                </a:solidFill>
                <a:latin typeface="Arial"/>
              </a:rPr>
              <a:t>(sensibilidade, influência e subgrupo)</a:t>
            </a:r>
          </a:p>
        </p:txBody>
      </p:sp>
      <p:sp>
        <p:nvSpPr>
          <p:cNvPr id="57" name="Rounded Rectangle 56"/>
          <p:cNvSpPr/>
          <p:nvPr/>
        </p:nvSpPr>
        <p:spPr>
          <a:xfrm>
            <a:off x="1143000" y="6647688"/>
            <a:ext cx="2621280" cy="1170431"/>
          </a:xfrm>
          <a:prstGeom prst="roundRect">
            <a:avLst>
              <a:gd name="adj" fmla="val 6000"/>
            </a:avLst>
          </a:prstGeom>
          <a:solidFill>
            <a:srgbClr val="E3F3F4"/>
          </a:solidFill>
          <a:ln>
            <a:noFill/>
          </a:ln>
          <a:effectLst/>
        </p:spPr>
        <p:txBody>
          <a:bodyPr rtlCol="0" anchor="ctr"/>
          <a:lstStyle/>
          <a:p/>
        </p:txBody>
      </p:sp>
      <p:sp>
        <p:nvSpPr>
          <p:cNvPr id="58" name="TextBox 57"/>
          <p:cNvSpPr txBox="1"/>
          <p:nvPr/>
        </p:nvSpPr>
        <p:spPr>
          <a:xfrm>
            <a:off x="137160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Freeman-Tukey</a:t>
            </a:r>
          </a:p>
        </p:txBody>
      </p:sp>
      <p:sp>
        <p:nvSpPr>
          <p:cNvPr id="59" name="TextBox 58"/>
          <p:cNvSpPr txBox="1"/>
          <p:nvPr/>
        </p:nvSpPr>
        <p:spPr>
          <a:xfrm>
            <a:off x="137160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duplo-arcoseno (DerSimonian-Laird)</a:t>
            </a:r>
          </a:p>
        </p:txBody>
      </p:sp>
      <p:sp>
        <p:nvSpPr>
          <p:cNvPr id="60" name="Rounded Rectangle 59"/>
          <p:cNvSpPr/>
          <p:nvPr/>
        </p:nvSpPr>
        <p:spPr>
          <a:xfrm>
            <a:off x="3947160" y="6647688"/>
            <a:ext cx="2621280" cy="1170431"/>
          </a:xfrm>
          <a:prstGeom prst="roundRect">
            <a:avLst>
              <a:gd name="adj" fmla="val 6000"/>
            </a:avLst>
          </a:prstGeom>
          <a:solidFill>
            <a:srgbClr val="E3F3F4"/>
          </a:solidFill>
          <a:ln>
            <a:noFill/>
          </a:ln>
          <a:effectLst/>
        </p:spPr>
        <p:txBody>
          <a:bodyPr rtlCol="0" anchor="ctr"/>
          <a:lstStyle/>
          <a:p/>
        </p:txBody>
      </p:sp>
      <p:sp>
        <p:nvSpPr>
          <p:cNvPr id="61" name="TextBox 60"/>
          <p:cNvSpPr txBox="1"/>
          <p:nvPr/>
        </p:nvSpPr>
        <p:spPr>
          <a:xfrm>
            <a:off x="417576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GLMM logístico</a:t>
            </a:r>
          </a:p>
        </p:txBody>
      </p:sp>
      <p:sp>
        <p:nvSpPr>
          <p:cNvPr id="62" name="TextBox 61"/>
          <p:cNvSpPr txBox="1"/>
          <p:nvPr/>
        </p:nvSpPr>
        <p:spPr>
          <a:xfrm>
            <a:off x="417576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intercepto aleatório por estudo</a:t>
            </a:r>
          </a:p>
        </p:txBody>
      </p:sp>
      <p:sp>
        <p:nvSpPr>
          <p:cNvPr id="63" name="Rounded Rectangle 62"/>
          <p:cNvSpPr/>
          <p:nvPr/>
        </p:nvSpPr>
        <p:spPr>
          <a:xfrm>
            <a:off x="6751320" y="6647688"/>
            <a:ext cx="2621280" cy="1170431"/>
          </a:xfrm>
          <a:prstGeom prst="roundRect">
            <a:avLst>
              <a:gd name="adj" fmla="val 6000"/>
            </a:avLst>
          </a:prstGeom>
          <a:solidFill>
            <a:srgbClr val="E3F3F4"/>
          </a:solidFill>
          <a:ln>
            <a:noFill/>
          </a:ln>
          <a:effectLst/>
        </p:spPr>
        <p:txBody>
          <a:bodyPr rtlCol="0" anchor="ctr"/>
          <a:lstStyle/>
          <a:p/>
        </p:txBody>
      </p:sp>
      <p:sp>
        <p:nvSpPr>
          <p:cNvPr id="64" name="TextBox 63"/>
          <p:cNvSpPr txBox="1"/>
          <p:nvPr/>
        </p:nvSpPr>
        <p:spPr>
          <a:xfrm>
            <a:off x="697992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Leave-one-out</a:t>
            </a:r>
          </a:p>
        </p:txBody>
      </p:sp>
      <p:sp>
        <p:nvSpPr>
          <p:cNvPr id="65" name="TextBox 64"/>
          <p:cNvSpPr txBox="1"/>
          <p:nvPr/>
        </p:nvSpPr>
        <p:spPr>
          <a:xfrm>
            <a:off x="697992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retira 1 estudo por vez</a:t>
            </a:r>
          </a:p>
        </p:txBody>
      </p:sp>
      <p:sp>
        <p:nvSpPr>
          <p:cNvPr id="66" name="Rounded Rectangle 65"/>
          <p:cNvSpPr/>
          <p:nvPr/>
        </p:nvSpPr>
        <p:spPr>
          <a:xfrm>
            <a:off x="9555480" y="6647688"/>
            <a:ext cx="2621280" cy="1170431"/>
          </a:xfrm>
          <a:prstGeom prst="roundRect">
            <a:avLst>
              <a:gd name="adj" fmla="val 6000"/>
            </a:avLst>
          </a:prstGeom>
          <a:solidFill>
            <a:srgbClr val="E3F3F4"/>
          </a:solidFill>
          <a:ln>
            <a:noFill/>
          </a:ln>
          <a:effectLst/>
        </p:spPr>
        <p:txBody>
          <a:bodyPr rtlCol="0" anchor="ctr"/>
          <a:lstStyle/>
          <a:p/>
        </p:txBody>
      </p:sp>
      <p:sp>
        <p:nvSpPr>
          <p:cNvPr id="67" name="TextBox 66"/>
          <p:cNvSpPr txBox="1"/>
          <p:nvPr/>
        </p:nvSpPr>
        <p:spPr>
          <a:xfrm>
            <a:off x="978408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Gráfico de Baujat</a:t>
            </a:r>
          </a:p>
        </p:txBody>
      </p:sp>
      <p:sp>
        <p:nvSpPr>
          <p:cNvPr id="68" name="TextBox 67"/>
          <p:cNvSpPr txBox="1"/>
          <p:nvPr/>
        </p:nvSpPr>
        <p:spPr>
          <a:xfrm>
            <a:off x="978408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quem puxa a heterogeneidade</a:t>
            </a:r>
          </a:p>
        </p:txBody>
      </p:sp>
      <p:sp>
        <p:nvSpPr>
          <p:cNvPr id="69" name="Rounded Rectangle 68"/>
          <p:cNvSpPr/>
          <p:nvPr/>
        </p:nvSpPr>
        <p:spPr>
          <a:xfrm>
            <a:off x="12359640" y="6647688"/>
            <a:ext cx="2621280" cy="1170431"/>
          </a:xfrm>
          <a:prstGeom prst="roundRect">
            <a:avLst>
              <a:gd name="adj" fmla="val 6000"/>
            </a:avLst>
          </a:prstGeom>
          <a:solidFill>
            <a:srgbClr val="E3F3F4"/>
          </a:solidFill>
          <a:ln>
            <a:noFill/>
          </a:ln>
          <a:effectLst/>
        </p:spPr>
        <p:txBody>
          <a:bodyPr rtlCol="0" anchor="ctr"/>
          <a:lstStyle/>
          <a:p/>
        </p:txBody>
      </p:sp>
      <p:sp>
        <p:nvSpPr>
          <p:cNvPr id="70" name="TextBox 69"/>
          <p:cNvSpPr txBox="1"/>
          <p:nvPr/>
        </p:nvSpPr>
        <p:spPr>
          <a:xfrm>
            <a:off x="1258824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Subgrupo por país</a:t>
            </a:r>
          </a:p>
        </p:txBody>
      </p:sp>
      <p:sp>
        <p:nvSpPr>
          <p:cNvPr id="71" name="TextBox 70"/>
          <p:cNvSpPr txBox="1"/>
          <p:nvPr/>
        </p:nvSpPr>
        <p:spPr>
          <a:xfrm>
            <a:off x="1258824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exploratório; teste Q</a:t>
            </a:r>
          </a:p>
        </p:txBody>
      </p:sp>
      <p:sp>
        <p:nvSpPr>
          <p:cNvPr id="72" name="Rounded Rectangle 71"/>
          <p:cNvSpPr/>
          <p:nvPr/>
        </p:nvSpPr>
        <p:spPr>
          <a:xfrm>
            <a:off x="15163800" y="6647688"/>
            <a:ext cx="2621280" cy="1170431"/>
          </a:xfrm>
          <a:prstGeom prst="roundRect">
            <a:avLst>
              <a:gd name="adj" fmla="val 6000"/>
            </a:avLst>
          </a:prstGeom>
          <a:solidFill>
            <a:srgbClr val="E3F3F4"/>
          </a:solidFill>
          <a:ln>
            <a:noFill/>
          </a:ln>
          <a:effectLst/>
        </p:spPr>
        <p:txBody>
          <a:bodyPr rtlCol="0" anchor="ctr"/>
          <a:lstStyle/>
          <a:p/>
        </p:txBody>
      </p:sp>
      <p:sp>
        <p:nvSpPr>
          <p:cNvPr id="73" name="TextBox 72"/>
          <p:cNvSpPr txBox="1"/>
          <p:nvPr/>
        </p:nvSpPr>
        <p:spPr>
          <a:xfrm>
            <a:off x="1539240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Sensibilidade extra</a:t>
            </a:r>
          </a:p>
        </p:txBody>
      </p:sp>
      <p:sp>
        <p:nvSpPr>
          <p:cNvPr id="74" name="TextBox 73"/>
          <p:cNvSpPr txBox="1"/>
          <p:nvPr/>
        </p:nvSpPr>
        <p:spPr>
          <a:xfrm>
            <a:off x="1539240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sem resumo; definições específicas</a:t>
            </a:r>
          </a:p>
        </p:txBody>
      </p:sp>
      <p:sp>
        <p:nvSpPr>
          <p:cNvPr id="75" name="Rounded Rectangle 74"/>
          <p:cNvSpPr/>
          <p:nvPr/>
        </p:nvSpPr>
        <p:spPr>
          <a:xfrm>
            <a:off x="1143000" y="8092440"/>
            <a:ext cx="16642080" cy="914400"/>
          </a:xfrm>
          <a:prstGeom prst="roundRect">
            <a:avLst>
              <a:gd name="adj" fmla="val 6000"/>
            </a:avLst>
          </a:prstGeom>
          <a:solidFill>
            <a:srgbClr val="FBF5E3"/>
          </a:solidFill>
          <a:ln>
            <a:noFill/>
          </a:ln>
          <a:effectLst/>
        </p:spPr>
        <p:txBody>
          <a:bodyPr rtlCol="0" anchor="ctr"/>
          <a:lstStyle/>
          <a:p/>
        </p:txBody>
      </p:sp>
      <p:pic>
        <p:nvPicPr>
          <p:cNvPr id="76" name="icone question" descr="question_navy.png"/>
          <p:cNvPicPr>
            <a:picLocks noChangeAspect="1"/>
          </p:cNvPicPr>
          <p:nvPr/>
        </p:nvPicPr>
        <p:blipFill>
          <a:blip r:embed="rId4"/>
          <a:stretch>
            <a:fillRect/>
          </a:stretch>
        </p:blipFill>
        <p:spPr>
          <a:xfrm>
            <a:off x="1463040" y="8275319"/>
            <a:ext cx="548640" cy="548640"/>
          </a:xfrm>
          <a:prstGeom prst="rect">
            <a:avLst/>
          </a:prstGeom>
        </p:spPr>
      </p:pic>
      <p:sp>
        <p:nvSpPr>
          <p:cNvPr id="77" name="TextBox 76"/>
          <p:cNvSpPr txBox="1"/>
          <p:nvPr/>
        </p:nvSpPr>
        <p:spPr>
          <a:xfrm>
            <a:off x="2240280" y="8229600"/>
            <a:ext cx="15224759" cy="640080"/>
          </a:xfrm>
          <a:prstGeom prst="rect">
            <a:avLst/>
          </a:prstGeom>
          <a:noFill/>
        </p:spPr>
        <p:txBody>
          <a:bodyPr wrap="square" lIns="0" rIns="0" tIns="0" bIns="0" anchor="ctr">
            <a:noAutofit/>
          </a:bodyPr>
          <a:lstStyle/>
          <a:p>
            <a:pPr algn="l">
              <a:lnSpc>
                <a:spcPct val="100000"/>
              </a:lnSpc>
              <a:spcAft>
                <a:spcPts val="0"/>
              </a:spcAft>
              <a:buNone/>
            </a:pPr>
            <a:r>
              <a:rPr sz="1500" b="1" i="0">
                <a:solidFill>
                  <a:srgbClr val="002060"/>
                </a:solidFill>
                <a:latin typeface="Arial"/>
              </a:rPr>
              <a:t>Sem teste de Egger nem funil por erro-padrão: </a:t>
            </a:r>
            <a:r>
              <a:rPr sz="1500" b="0" i="0">
                <a:solidFill>
                  <a:srgbClr val="1F2433"/>
                </a:solidFill>
                <a:latin typeface="Arial"/>
              </a:rPr>
              <a:t>em proporções o erro-padrão depende da própria proporção (assimetria espúria) e os testes exigem ≥ 10 estudos; viés de relato apreciado qualitativamente. </a:t>
            </a:r>
            <a:r>
              <a:rPr sz="1500" b="1" i="0">
                <a:solidFill>
                  <a:srgbClr val="1F2433"/>
                </a:solidFill>
                <a:latin typeface="Arial"/>
              </a:rPr>
              <a:t>Sem metarregressão </a:t>
            </a:r>
            <a:r>
              <a:rPr sz="1500" b="0" i="0">
                <a:solidFill>
                  <a:srgbClr val="1F2433"/>
                </a:solidFill>
                <a:latin typeface="Arial"/>
              </a:rPr>
              <a:t>(poucos estudos por covariável). </a:t>
            </a:r>
            <a:r>
              <a:rPr sz="1500" b="1" i="0">
                <a:solidFill>
                  <a:srgbClr val="1F2433"/>
                </a:solidFill>
                <a:latin typeface="Arial"/>
              </a:rPr>
              <a:t>RR </a:t>
            </a:r>
            <a:r>
              <a:rPr sz="1500" b="0" i="0">
                <a:solidFill>
                  <a:srgbClr val="1F2433"/>
                </a:solidFill>
                <a:latin typeface="Arial"/>
              </a:rPr>
              <a:t>na escala log (Wald).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3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3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3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3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350"/>
                                        <p:tgtEl>
                                          <p:spTgt spid="27"/>
                                        </p:tgtEl>
                                      </p:cBhvr>
                                    </p:animEffect>
                                  </p:childTnLst>
                                </p:cTn>
                              </p:par>
                            </p:childTnLst>
                          </p:cTn>
                        </p:par>
                        <p:par>
                          <p:cTn id="23" fill="hold">
                            <p:stCondLst>
                              <p:cond delay="350"/>
                            </p:stCondLst>
                            <p:childTnLst>
                              <p:par>
                                <p:cTn id="24" presetID="10" presetClass="entr" presetSubtype="0" fill="hold" grpId="0" nodeType="after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35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350"/>
                                        <p:tgtEl>
                                          <p:spTgt spid="2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35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350"/>
                                        <p:tgtEl>
                                          <p:spTgt spid="3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35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350"/>
                                        <p:tgtEl>
                                          <p:spTgt spid="3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350"/>
                                        <p:tgtEl>
                                          <p:spTgt spid="34"/>
                                        </p:tgtEl>
                                      </p:cBhvr>
                                    </p:animEffect>
                                  </p:childTnLst>
                                </p:cTn>
                              </p:par>
                            </p:childTnLst>
                          </p:cTn>
                        </p:par>
                        <p:par>
                          <p:cTn id="45" fill="hold">
                            <p:stCondLst>
                              <p:cond delay="700"/>
                            </p:stCondLst>
                            <p:childTnLst>
                              <p:par>
                                <p:cTn id="46" presetID="10" presetClass="entr" presetSubtype="0"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35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35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35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35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350"/>
                                        <p:tgtEl>
                                          <p:spTgt spid="3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350"/>
                                        <p:tgtEl>
                                          <p:spTgt spid="4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350"/>
                                        <p:tgtEl>
                                          <p:spTgt spid="41"/>
                                        </p:tgtEl>
                                      </p:cBhvr>
                                    </p:animEffect>
                                  </p:childTnLst>
                                </p:cTn>
                              </p:par>
                            </p:childTnLst>
                          </p:cTn>
                        </p:par>
                        <p:par>
                          <p:cTn id="67" fill="hold">
                            <p:stCondLst>
                              <p:cond delay="1050"/>
                            </p:stCondLst>
                            <p:childTnLst>
                              <p:par>
                                <p:cTn id="68" presetID="10" presetClass="entr" presetSubtype="0" fill="hold" grpId="0" nodeType="after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350"/>
                                        <p:tgtEl>
                                          <p:spTgt spid="4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350"/>
                                        <p:tgtEl>
                                          <p:spTgt spid="4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350"/>
                                        <p:tgtEl>
                                          <p:spTgt spid="4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350"/>
                                        <p:tgtEl>
                                          <p:spTgt spid="4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350"/>
                                        <p:tgtEl>
                                          <p:spTgt spid="4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350"/>
                                        <p:tgtEl>
                                          <p:spTgt spid="4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350"/>
                                        <p:tgtEl>
                                          <p:spTgt spid="48"/>
                                        </p:tgtEl>
                                      </p:cBhvr>
                                    </p:animEffect>
                                  </p:childTnLst>
                                </p:cTn>
                              </p:par>
                            </p:childTnLst>
                          </p:cTn>
                        </p:par>
                        <p:par>
                          <p:cTn id="89" fill="hold">
                            <p:stCondLst>
                              <p:cond delay="1400"/>
                            </p:stCondLst>
                            <p:childTnLst>
                              <p:par>
                                <p:cTn id="90" presetID="10" presetClass="entr" presetSubtype="0" fill="hold" grpId="0" nodeType="after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350"/>
                                        <p:tgtEl>
                                          <p:spTgt spid="4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350"/>
                                        <p:tgtEl>
                                          <p:spTgt spid="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350"/>
                                        <p:tgtEl>
                                          <p:spTgt spid="5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fade">
                                      <p:cBhvr>
                                        <p:cTn id="101" dur="350"/>
                                        <p:tgtEl>
                                          <p:spTgt spid="5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3"/>
                                        </p:tgtEl>
                                        <p:attrNameLst>
                                          <p:attrName>style.visibility</p:attrName>
                                        </p:attrNameLst>
                                      </p:cBhvr>
                                      <p:to>
                                        <p:strVal val="visible"/>
                                      </p:to>
                                    </p:set>
                                    <p:animEffect transition="in" filter="fade">
                                      <p:cBhvr>
                                        <p:cTn id="104" dur="350"/>
                                        <p:tgtEl>
                                          <p:spTgt spid="5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4"/>
                                        </p:tgtEl>
                                        <p:attrNameLst>
                                          <p:attrName>style.visibility</p:attrName>
                                        </p:attrNameLst>
                                      </p:cBhvr>
                                      <p:to>
                                        <p:strVal val="visible"/>
                                      </p:to>
                                    </p:set>
                                    <p:animEffect transition="in" filter="fade">
                                      <p:cBhvr>
                                        <p:cTn id="107" dur="350"/>
                                        <p:tgtEl>
                                          <p:spTgt spid="5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fade">
                                      <p:cBhvr>
                                        <p:cTn id="110" dur="350"/>
                                        <p:tgtEl>
                                          <p:spTgt spid="55"/>
                                        </p:tgtEl>
                                      </p:cBhvr>
                                    </p:animEffect>
                                  </p:childTnLst>
                                </p:cTn>
                              </p:par>
                            </p:childTnLst>
                          </p:cTn>
                        </p:par>
                        <p:par>
                          <p:cTn id="111" fill="hold">
                            <p:stCondLst>
                              <p:cond delay="1750"/>
                            </p:stCondLst>
                            <p:childTnLst>
                              <p:par>
                                <p:cTn id="112" presetID="10" presetClass="entr" presetSubtype="0" fill="hold" grpId="0" nodeType="after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fade">
                                      <p:cBhvr>
                                        <p:cTn id="114" dur="350"/>
                                        <p:tgtEl>
                                          <p:spTgt spid="5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7"/>
                                        </p:tgtEl>
                                        <p:attrNameLst>
                                          <p:attrName>style.visibility</p:attrName>
                                        </p:attrNameLst>
                                      </p:cBhvr>
                                      <p:to>
                                        <p:strVal val="visible"/>
                                      </p:to>
                                    </p:set>
                                    <p:animEffect transition="in" filter="fade">
                                      <p:cBhvr>
                                        <p:cTn id="117" dur="350"/>
                                        <p:tgtEl>
                                          <p:spTgt spid="5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8"/>
                                        </p:tgtEl>
                                        <p:attrNameLst>
                                          <p:attrName>style.visibility</p:attrName>
                                        </p:attrNameLst>
                                      </p:cBhvr>
                                      <p:to>
                                        <p:strVal val="visible"/>
                                      </p:to>
                                    </p:set>
                                    <p:animEffect transition="in" filter="fade">
                                      <p:cBhvr>
                                        <p:cTn id="120" dur="350"/>
                                        <p:tgtEl>
                                          <p:spTgt spid="5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9"/>
                                        </p:tgtEl>
                                        <p:attrNameLst>
                                          <p:attrName>style.visibility</p:attrName>
                                        </p:attrNameLst>
                                      </p:cBhvr>
                                      <p:to>
                                        <p:strVal val="visible"/>
                                      </p:to>
                                    </p:set>
                                    <p:animEffect transition="in" filter="fade">
                                      <p:cBhvr>
                                        <p:cTn id="123" dur="350"/>
                                        <p:tgtEl>
                                          <p:spTgt spid="5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0"/>
                                        </p:tgtEl>
                                        <p:attrNameLst>
                                          <p:attrName>style.visibility</p:attrName>
                                        </p:attrNameLst>
                                      </p:cBhvr>
                                      <p:to>
                                        <p:strVal val="visible"/>
                                      </p:to>
                                    </p:set>
                                    <p:animEffect transition="in" filter="fade">
                                      <p:cBhvr>
                                        <p:cTn id="126" dur="350"/>
                                        <p:tgtEl>
                                          <p:spTgt spid="6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1"/>
                                        </p:tgtEl>
                                        <p:attrNameLst>
                                          <p:attrName>style.visibility</p:attrName>
                                        </p:attrNameLst>
                                      </p:cBhvr>
                                      <p:to>
                                        <p:strVal val="visible"/>
                                      </p:to>
                                    </p:set>
                                    <p:animEffect transition="in" filter="fade">
                                      <p:cBhvr>
                                        <p:cTn id="129" dur="350"/>
                                        <p:tgtEl>
                                          <p:spTgt spid="61"/>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2"/>
                                        </p:tgtEl>
                                        <p:attrNameLst>
                                          <p:attrName>style.visibility</p:attrName>
                                        </p:attrNameLst>
                                      </p:cBhvr>
                                      <p:to>
                                        <p:strVal val="visible"/>
                                      </p:to>
                                    </p:set>
                                    <p:animEffect transition="in" filter="fade">
                                      <p:cBhvr>
                                        <p:cTn id="132" dur="350"/>
                                        <p:tgtEl>
                                          <p:spTgt spid="62"/>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63"/>
                                        </p:tgtEl>
                                        <p:attrNameLst>
                                          <p:attrName>style.visibility</p:attrName>
                                        </p:attrNameLst>
                                      </p:cBhvr>
                                      <p:to>
                                        <p:strVal val="visible"/>
                                      </p:to>
                                    </p:set>
                                    <p:animEffect transition="in" filter="fade">
                                      <p:cBhvr>
                                        <p:cTn id="135" dur="350"/>
                                        <p:tgtEl>
                                          <p:spTgt spid="63"/>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4"/>
                                        </p:tgtEl>
                                        <p:attrNameLst>
                                          <p:attrName>style.visibility</p:attrName>
                                        </p:attrNameLst>
                                      </p:cBhvr>
                                      <p:to>
                                        <p:strVal val="visible"/>
                                      </p:to>
                                    </p:set>
                                    <p:animEffect transition="in" filter="fade">
                                      <p:cBhvr>
                                        <p:cTn id="138" dur="350"/>
                                        <p:tgtEl>
                                          <p:spTgt spid="64"/>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65"/>
                                        </p:tgtEl>
                                        <p:attrNameLst>
                                          <p:attrName>style.visibility</p:attrName>
                                        </p:attrNameLst>
                                      </p:cBhvr>
                                      <p:to>
                                        <p:strVal val="visible"/>
                                      </p:to>
                                    </p:set>
                                    <p:animEffect transition="in" filter="fade">
                                      <p:cBhvr>
                                        <p:cTn id="141" dur="350"/>
                                        <p:tgtEl>
                                          <p:spTgt spid="65"/>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66"/>
                                        </p:tgtEl>
                                        <p:attrNameLst>
                                          <p:attrName>style.visibility</p:attrName>
                                        </p:attrNameLst>
                                      </p:cBhvr>
                                      <p:to>
                                        <p:strVal val="visible"/>
                                      </p:to>
                                    </p:set>
                                    <p:animEffect transition="in" filter="fade">
                                      <p:cBhvr>
                                        <p:cTn id="144" dur="350"/>
                                        <p:tgtEl>
                                          <p:spTgt spid="66"/>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67"/>
                                        </p:tgtEl>
                                        <p:attrNameLst>
                                          <p:attrName>style.visibility</p:attrName>
                                        </p:attrNameLst>
                                      </p:cBhvr>
                                      <p:to>
                                        <p:strVal val="visible"/>
                                      </p:to>
                                    </p:set>
                                    <p:animEffect transition="in" filter="fade">
                                      <p:cBhvr>
                                        <p:cTn id="147" dur="350"/>
                                        <p:tgtEl>
                                          <p:spTgt spid="67"/>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68"/>
                                        </p:tgtEl>
                                        <p:attrNameLst>
                                          <p:attrName>style.visibility</p:attrName>
                                        </p:attrNameLst>
                                      </p:cBhvr>
                                      <p:to>
                                        <p:strVal val="visible"/>
                                      </p:to>
                                    </p:set>
                                    <p:animEffect transition="in" filter="fade">
                                      <p:cBhvr>
                                        <p:cTn id="150" dur="350"/>
                                        <p:tgtEl>
                                          <p:spTgt spid="68"/>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9"/>
                                        </p:tgtEl>
                                        <p:attrNameLst>
                                          <p:attrName>style.visibility</p:attrName>
                                        </p:attrNameLst>
                                      </p:cBhvr>
                                      <p:to>
                                        <p:strVal val="visible"/>
                                      </p:to>
                                    </p:set>
                                    <p:animEffect transition="in" filter="fade">
                                      <p:cBhvr>
                                        <p:cTn id="153" dur="350"/>
                                        <p:tgtEl>
                                          <p:spTgt spid="69"/>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70"/>
                                        </p:tgtEl>
                                        <p:attrNameLst>
                                          <p:attrName>style.visibility</p:attrName>
                                        </p:attrNameLst>
                                      </p:cBhvr>
                                      <p:to>
                                        <p:strVal val="visible"/>
                                      </p:to>
                                    </p:set>
                                    <p:animEffect transition="in" filter="fade">
                                      <p:cBhvr>
                                        <p:cTn id="156" dur="350"/>
                                        <p:tgtEl>
                                          <p:spTgt spid="70"/>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71"/>
                                        </p:tgtEl>
                                        <p:attrNameLst>
                                          <p:attrName>style.visibility</p:attrName>
                                        </p:attrNameLst>
                                      </p:cBhvr>
                                      <p:to>
                                        <p:strVal val="visible"/>
                                      </p:to>
                                    </p:set>
                                    <p:animEffect transition="in" filter="fade">
                                      <p:cBhvr>
                                        <p:cTn id="159" dur="350"/>
                                        <p:tgtEl>
                                          <p:spTgt spid="71"/>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72"/>
                                        </p:tgtEl>
                                        <p:attrNameLst>
                                          <p:attrName>style.visibility</p:attrName>
                                        </p:attrNameLst>
                                      </p:cBhvr>
                                      <p:to>
                                        <p:strVal val="visible"/>
                                      </p:to>
                                    </p:set>
                                    <p:animEffect transition="in" filter="fade">
                                      <p:cBhvr>
                                        <p:cTn id="162" dur="350"/>
                                        <p:tgtEl>
                                          <p:spTgt spid="72"/>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73"/>
                                        </p:tgtEl>
                                        <p:attrNameLst>
                                          <p:attrName>style.visibility</p:attrName>
                                        </p:attrNameLst>
                                      </p:cBhvr>
                                      <p:to>
                                        <p:strVal val="visible"/>
                                      </p:to>
                                    </p:set>
                                    <p:animEffect transition="in" filter="fade">
                                      <p:cBhvr>
                                        <p:cTn id="165" dur="350"/>
                                        <p:tgtEl>
                                          <p:spTgt spid="73"/>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74"/>
                                        </p:tgtEl>
                                        <p:attrNameLst>
                                          <p:attrName>style.visibility</p:attrName>
                                        </p:attrNameLst>
                                      </p:cBhvr>
                                      <p:to>
                                        <p:strVal val="visible"/>
                                      </p:to>
                                    </p:set>
                                    <p:animEffect transition="in" filter="fade">
                                      <p:cBhvr>
                                        <p:cTn id="168" dur="350"/>
                                        <p:tgtEl>
                                          <p:spTgt spid="74"/>
                                        </p:tgtEl>
                                      </p:cBhvr>
                                    </p:animEffect>
                                  </p:childTnLst>
                                </p:cTn>
                              </p:par>
                            </p:childTnLst>
                          </p:cTn>
                        </p:par>
                        <p:par>
                          <p:cTn id="169" fill="hold">
                            <p:stCondLst>
                              <p:cond delay="2100"/>
                            </p:stCondLst>
                            <p:childTnLst>
                              <p:par>
                                <p:cTn id="170" presetID="10" presetClass="entr" presetSubtype="0" fill="hold" grpId="0" nodeType="afterEffect">
                                  <p:stCondLst>
                                    <p:cond delay="0"/>
                                  </p:stCondLst>
                                  <p:childTnLst>
                                    <p:set>
                                      <p:cBhvr>
                                        <p:cTn id="171" dur="1" fill="hold">
                                          <p:stCondLst>
                                            <p:cond delay="0"/>
                                          </p:stCondLst>
                                        </p:cTn>
                                        <p:tgtEl>
                                          <p:spTgt spid="75"/>
                                        </p:tgtEl>
                                        <p:attrNameLst>
                                          <p:attrName>style.visibility</p:attrName>
                                        </p:attrNameLst>
                                      </p:cBhvr>
                                      <p:to>
                                        <p:strVal val="visible"/>
                                      </p:to>
                                    </p:set>
                                    <p:animEffect transition="in" filter="fade">
                                      <p:cBhvr>
                                        <p:cTn id="172" dur="350"/>
                                        <p:tgtEl>
                                          <p:spTgt spid="75"/>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76"/>
                                        </p:tgtEl>
                                        <p:attrNameLst>
                                          <p:attrName>style.visibility</p:attrName>
                                        </p:attrNameLst>
                                      </p:cBhvr>
                                      <p:to>
                                        <p:strVal val="visible"/>
                                      </p:to>
                                    </p:set>
                                    <p:animEffect transition="in" filter="fade">
                                      <p:cBhvr>
                                        <p:cTn id="175" dur="350"/>
                                        <p:tgtEl>
                                          <p:spTgt spid="76"/>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77"/>
                                        </p:tgtEl>
                                        <p:attrNameLst>
                                          <p:attrName>style.visibility</p:attrName>
                                        </p:attrNameLst>
                                      </p:cBhvr>
                                      <p:to>
                                        <p:strVal val="visible"/>
                                      </p:to>
                                    </p:set>
                                    <p:animEffect transition="in" filter="fade">
                                      <p:cBhvr>
                                        <p:cTn id="178" dur="3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1" grpId="0" animBg="1"/>
      <p:bldP spid="43" grpId="0" animBg="1"/>
      <p:bldP spid="44" grpId="0" animBg="1"/>
      <p:bldP spid="45" grpId="0" animBg="1"/>
      <p:bldP spid="46" grpId="0" animBg="1"/>
      <p:bldP spid="47" grpId="0" animBg="1"/>
      <p:bldP spid="48"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7"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APOIO · 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 7 · Certeza da evidência: GRADE adaptado a desfechos de prevalência</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45505"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Protocolo</a:t>
            </a:r>
          </a:p>
        </p:txBody>
      </p:sp>
      <p:sp>
        <p:nvSpPr>
          <p:cNvPr id="10" name="Oval 9"/>
          <p:cNvSpPr/>
          <p:nvPr/>
        </p:nvSpPr>
        <p:spPr>
          <a:xfrm>
            <a:off x="4596819"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Busca</a:t>
            </a:r>
          </a:p>
        </p:txBody>
      </p:sp>
      <p:sp>
        <p:nvSpPr>
          <p:cNvPr id="12" name="Oval 11"/>
          <p:cNvSpPr/>
          <p:nvPr/>
        </p:nvSpPr>
        <p:spPr>
          <a:xfrm>
            <a:off x="6948133"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Seleção</a:t>
            </a:r>
          </a:p>
        </p:txBody>
      </p:sp>
      <p:sp>
        <p:nvSpPr>
          <p:cNvPr id="14" name="Oval 13"/>
          <p:cNvSpPr/>
          <p:nvPr/>
        </p:nvSpPr>
        <p:spPr>
          <a:xfrm>
            <a:off x="9299447"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Extração</a:t>
            </a:r>
          </a:p>
        </p:txBody>
      </p:sp>
      <p:sp>
        <p:nvSpPr>
          <p:cNvPr id="16" name="Oval 15"/>
          <p:cNvSpPr/>
          <p:nvPr/>
        </p:nvSpPr>
        <p:spPr>
          <a:xfrm>
            <a:off x="11650762"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Risco de viés</a:t>
            </a:r>
          </a:p>
        </p:txBody>
      </p:sp>
      <p:sp>
        <p:nvSpPr>
          <p:cNvPr id="18" name="Oval 17"/>
          <p:cNvSpPr/>
          <p:nvPr/>
        </p:nvSpPr>
        <p:spPr>
          <a:xfrm>
            <a:off x="14002076"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Síntese</a:t>
            </a:r>
          </a:p>
        </p:txBody>
      </p:sp>
      <p:sp>
        <p:nvSpPr>
          <p:cNvPr id="20" name="Oval 19"/>
          <p:cNvSpPr/>
          <p:nvPr/>
        </p:nvSpPr>
        <p:spPr>
          <a:xfrm>
            <a:off x="16316814"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Certeza (GRADE)</a:t>
            </a:r>
          </a:p>
        </p:txBody>
      </p:sp>
      <p:sp>
        <p:nvSpPr>
          <p:cNvPr id="22" name="Rounded Rectangle 21"/>
          <p:cNvSpPr/>
          <p:nvPr/>
        </p:nvSpPr>
        <p:spPr>
          <a:xfrm>
            <a:off x="1143000" y="1783080"/>
            <a:ext cx="3108960" cy="3154680"/>
          </a:xfrm>
          <a:prstGeom prst="roundRect">
            <a:avLst>
              <a:gd name="adj" fmla="val 6000"/>
            </a:avLst>
          </a:prstGeom>
          <a:solidFill>
            <a:srgbClr val="F2F4F8"/>
          </a:solidFill>
          <a:ln>
            <a:noFill/>
          </a:ln>
          <a:effectLst/>
        </p:spPr>
        <p:txBody>
          <a:bodyPr rtlCol="0" anchor="ctr"/>
          <a:lstStyle/>
          <a:p/>
        </p:txBody>
      </p:sp>
      <p:sp>
        <p:nvSpPr>
          <p:cNvPr id="23" name="Oval 22"/>
          <p:cNvSpPr/>
          <p:nvPr/>
        </p:nvSpPr>
        <p:spPr>
          <a:xfrm>
            <a:off x="1417320" y="2057400"/>
            <a:ext cx="685800" cy="685800"/>
          </a:xfrm>
          <a:prstGeom prst="ellipse">
            <a:avLst/>
          </a:prstGeom>
          <a:solidFill>
            <a:srgbClr val="002060"/>
          </a:solidFill>
          <a:ln>
            <a:noFill/>
          </a:ln>
          <a:effectLst/>
        </p:spPr>
        <p:txBody>
          <a:bodyPr rtlCol="0" anchor="ctr" lIns="0" rIns="0" tIns="0" bIns="0"/>
          <a:lstStyle/>
          <a:p/>
        </p:txBody>
      </p:sp>
      <p:pic>
        <p:nvPicPr>
          <p:cNvPr id="24" name="icone balance" descr="balance_white.png"/>
          <p:cNvPicPr>
            <a:picLocks noChangeAspect="1"/>
          </p:cNvPicPr>
          <p:nvPr/>
        </p:nvPicPr>
        <p:blipFill>
          <a:blip r:embed="rId4"/>
          <a:stretch>
            <a:fillRect/>
          </a:stretch>
        </p:blipFill>
        <p:spPr>
          <a:xfrm>
            <a:off x="1588770" y="2228850"/>
            <a:ext cx="342900" cy="342900"/>
          </a:xfrm>
          <a:prstGeom prst="rect">
            <a:avLst/>
          </a:prstGeom>
        </p:spPr>
      </p:pic>
      <p:sp>
        <p:nvSpPr>
          <p:cNvPr id="25" name="TextBox 24"/>
          <p:cNvSpPr txBox="1"/>
          <p:nvPr/>
        </p:nvSpPr>
        <p:spPr>
          <a:xfrm>
            <a:off x="2331720" y="2057400"/>
            <a:ext cx="1645920"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Risco de viés</a:t>
            </a:r>
          </a:p>
        </p:txBody>
      </p:sp>
      <p:sp>
        <p:nvSpPr>
          <p:cNvPr id="26" name="TextBox 25"/>
          <p:cNvSpPr txBox="1"/>
          <p:nvPr/>
        </p:nvSpPr>
        <p:spPr>
          <a:xfrm>
            <a:off x="1417320"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Do JBI: amostragem não probabilística, taxa de resposta não relatada, autorrelato; nos objetivos, sem ajuste para confundidores.</a:t>
            </a:r>
          </a:p>
        </p:txBody>
      </p:sp>
      <p:sp>
        <p:nvSpPr>
          <p:cNvPr id="27" name="Rounded Rectangle 26"/>
          <p:cNvSpPr/>
          <p:nvPr/>
        </p:nvSpPr>
        <p:spPr>
          <a:xfrm>
            <a:off x="4526279" y="1783080"/>
            <a:ext cx="3108960" cy="3154680"/>
          </a:xfrm>
          <a:prstGeom prst="roundRect">
            <a:avLst>
              <a:gd name="adj" fmla="val 6000"/>
            </a:avLst>
          </a:prstGeom>
          <a:solidFill>
            <a:srgbClr val="F2F4F8"/>
          </a:solidFill>
          <a:ln>
            <a:noFill/>
          </a:ln>
          <a:effectLst/>
        </p:spPr>
        <p:txBody>
          <a:bodyPr rtlCol="0" anchor="ctr"/>
          <a:lstStyle/>
          <a:p/>
        </p:txBody>
      </p:sp>
      <p:sp>
        <p:nvSpPr>
          <p:cNvPr id="28" name="Oval 27"/>
          <p:cNvSpPr/>
          <p:nvPr/>
        </p:nvSpPr>
        <p:spPr>
          <a:xfrm>
            <a:off x="4800599" y="2057400"/>
            <a:ext cx="685800" cy="685800"/>
          </a:xfrm>
          <a:prstGeom prst="ellipse">
            <a:avLst/>
          </a:prstGeom>
          <a:solidFill>
            <a:srgbClr val="002060"/>
          </a:solidFill>
          <a:ln>
            <a:noFill/>
          </a:ln>
          <a:effectLst/>
        </p:spPr>
        <p:txBody>
          <a:bodyPr rtlCol="0" anchor="ctr" lIns="0" rIns="0" tIns="0" bIns="0"/>
          <a:lstStyle/>
          <a:p/>
        </p:txBody>
      </p:sp>
      <p:pic>
        <p:nvPicPr>
          <p:cNvPr id="29" name="icone spiral" descr="spiral_white.png"/>
          <p:cNvPicPr>
            <a:picLocks noChangeAspect="1"/>
          </p:cNvPicPr>
          <p:nvPr/>
        </p:nvPicPr>
        <p:blipFill>
          <a:blip r:embed="rId5"/>
          <a:stretch>
            <a:fillRect/>
          </a:stretch>
        </p:blipFill>
        <p:spPr>
          <a:xfrm>
            <a:off x="4972049" y="2228850"/>
            <a:ext cx="342900" cy="342900"/>
          </a:xfrm>
          <a:prstGeom prst="rect">
            <a:avLst/>
          </a:prstGeom>
        </p:spPr>
      </p:pic>
      <p:sp>
        <p:nvSpPr>
          <p:cNvPr id="30" name="TextBox 29"/>
          <p:cNvSpPr txBox="1"/>
          <p:nvPr/>
        </p:nvSpPr>
        <p:spPr>
          <a:xfrm>
            <a:off x="5714999" y="2057400"/>
            <a:ext cx="1645919"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Inconsistência</a:t>
            </a:r>
          </a:p>
        </p:txBody>
      </p:sp>
      <p:sp>
        <p:nvSpPr>
          <p:cNvPr id="31" name="TextBox 30"/>
          <p:cNvSpPr txBox="1"/>
          <p:nvPr/>
        </p:nvSpPr>
        <p:spPr>
          <a:xfrm>
            <a:off x="4800599"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I² acima de 90%, prevalências de 19% a 56% e intervalo de predição amplo → muito grave na prevalência.</a:t>
            </a:r>
          </a:p>
        </p:txBody>
      </p:sp>
      <p:sp>
        <p:nvSpPr>
          <p:cNvPr id="32" name="Rounded Rectangle 31"/>
          <p:cNvSpPr/>
          <p:nvPr/>
        </p:nvSpPr>
        <p:spPr>
          <a:xfrm>
            <a:off x="7909559" y="1783080"/>
            <a:ext cx="3108960" cy="3154680"/>
          </a:xfrm>
          <a:prstGeom prst="roundRect">
            <a:avLst>
              <a:gd name="adj" fmla="val 6000"/>
            </a:avLst>
          </a:prstGeom>
          <a:solidFill>
            <a:srgbClr val="F2F4F8"/>
          </a:solidFill>
          <a:ln>
            <a:noFill/>
          </a:ln>
          <a:effectLst/>
        </p:spPr>
        <p:txBody>
          <a:bodyPr rtlCol="0" anchor="ctr"/>
          <a:lstStyle/>
          <a:p/>
        </p:txBody>
      </p:sp>
      <p:sp>
        <p:nvSpPr>
          <p:cNvPr id="33" name="Oval 32"/>
          <p:cNvSpPr/>
          <p:nvPr/>
        </p:nvSpPr>
        <p:spPr>
          <a:xfrm>
            <a:off x="8183879" y="2057400"/>
            <a:ext cx="685800" cy="685800"/>
          </a:xfrm>
          <a:prstGeom prst="ellipse">
            <a:avLst/>
          </a:prstGeom>
          <a:solidFill>
            <a:srgbClr val="002060"/>
          </a:solidFill>
          <a:ln>
            <a:noFill/>
          </a:ln>
          <a:effectLst/>
        </p:spPr>
        <p:txBody>
          <a:bodyPr rtlCol="0" anchor="ctr" lIns="0" rIns="0" tIns="0" bIns="0"/>
          <a:lstStyle/>
          <a:p/>
        </p:txBody>
      </p:sp>
      <p:pic>
        <p:nvPicPr>
          <p:cNvPr id="34" name="icone compass" descr="compass_white.png"/>
          <p:cNvPicPr>
            <a:picLocks noChangeAspect="1"/>
          </p:cNvPicPr>
          <p:nvPr/>
        </p:nvPicPr>
        <p:blipFill>
          <a:blip r:embed="rId6"/>
          <a:stretch>
            <a:fillRect/>
          </a:stretch>
        </p:blipFill>
        <p:spPr>
          <a:xfrm>
            <a:off x="8355329" y="2228850"/>
            <a:ext cx="342900" cy="342900"/>
          </a:xfrm>
          <a:prstGeom prst="rect">
            <a:avLst/>
          </a:prstGeom>
        </p:spPr>
      </p:pic>
      <p:sp>
        <p:nvSpPr>
          <p:cNvPr id="35" name="TextBox 34"/>
          <p:cNvSpPr txBox="1"/>
          <p:nvPr/>
        </p:nvSpPr>
        <p:spPr>
          <a:xfrm>
            <a:off x="9098280" y="2057400"/>
            <a:ext cx="1645919"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Evidência indireta</a:t>
            </a:r>
          </a:p>
        </p:txBody>
      </p:sp>
      <p:sp>
        <p:nvSpPr>
          <p:cNvPr id="36" name="TextBox 35"/>
          <p:cNvSpPr txBox="1"/>
          <p:nvPr/>
        </p:nvSpPr>
        <p:spPr>
          <a:xfrm>
            <a:off x="8183879"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Não rebaixada na prevalência (o sintoma é o próprio desfecho); rebaixada nos desfechos objetivos (coexposições, desfechos substitutos).</a:t>
            </a:r>
          </a:p>
        </p:txBody>
      </p:sp>
      <p:sp>
        <p:nvSpPr>
          <p:cNvPr id="37" name="Rounded Rectangle 36"/>
          <p:cNvSpPr/>
          <p:nvPr/>
        </p:nvSpPr>
        <p:spPr>
          <a:xfrm>
            <a:off x="11292840" y="1783080"/>
            <a:ext cx="3108960" cy="3154680"/>
          </a:xfrm>
          <a:prstGeom prst="roundRect">
            <a:avLst>
              <a:gd name="adj" fmla="val 6000"/>
            </a:avLst>
          </a:prstGeom>
          <a:solidFill>
            <a:srgbClr val="F2F4F8"/>
          </a:solidFill>
          <a:ln>
            <a:noFill/>
          </a:ln>
          <a:effectLst/>
        </p:spPr>
        <p:txBody>
          <a:bodyPr rtlCol="0" anchor="ctr"/>
          <a:lstStyle/>
          <a:p/>
        </p:txBody>
      </p:sp>
      <p:sp>
        <p:nvSpPr>
          <p:cNvPr id="38" name="Oval 37"/>
          <p:cNvSpPr/>
          <p:nvPr/>
        </p:nvSpPr>
        <p:spPr>
          <a:xfrm>
            <a:off x="11567160" y="2057400"/>
            <a:ext cx="685800" cy="685800"/>
          </a:xfrm>
          <a:prstGeom prst="ellipse">
            <a:avLst/>
          </a:prstGeom>
          <a:solidFill>
            <a:srgbClr val="002060"/>
          </a:solidFill>
          <a:ln>
            <a:noFill/>
          </a:ln>
          <a:effectLst/>
        </p:spPr>
        <p:txBody>
          <a:bodyPr rtlCol="0" anchor="ctr" lIns="0" rIns="0" tIns="0" bIns="0"/>
          <a:lstStyle/>
          <a:p/>
        </p:txBody>
      </p:sp>
      <p:pic>
        <p:nvPicPr>
          <p:cNvPr id="39" name="icone target" descr="target_white.png"/>
          <p:cNvPicPr>
            <a:picLocks noChangeAspect="1"/>
          </p:cNvPicPr>
          <p:nvPr/>
        </p:nvPicPr>
        <p:blipFill>
          <a:blip r:embed="rId7"/>
          <a:stretch>
            <a:fillRect/>
          </a:stretch>
        </p:blipFill>
        <p:spPr>
          <a:xfrm>
            <a:off x="11738610" y="2228850"/>
            <a:ext cx="342900" cy="342900"/>
          </a:xfrm>
          <a:prstGeom prst="rect">
            <a:avLst/>
          </a:prstGeom>
        </p:spPr>
      </p:pic>
      <p:sp>
        <p:nvSpPr>
          <p:cNvPr id="40" name="TextBox 39"/>
          <p:cNvSpPr txBox="1"/>
          <p:nvPr/>
        </p:nvSpPr>
        <p:spPr>
          <a:xfrm>
            <a:off x="12481560" y="2057400"/>
            <a:ext cx="1645919"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Imprecisão</a:t>
            </a:r>
          </a:p>
        </p:txBody>
      </p:sp>
      <p:sp>
        <p:nvSpPr>
          <p:cNvPr id="41" name="TextBox 40"/>
          <p:cNvSpPr txBox="1"/>
          <p:nvPr/>
        </p:nvSpPr>
        <p:spPr>
          <a:xfrm>
            <a:off x="11567160"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IC95% amplo ou ausente no estudo original (ex.: 21,9 a 56,5); poucos eventos nos desfechos objetivos.</a:t>
            </a:r>
          </a:p>
        </p:txBody>
      </p:sp>
      <p:sp>
        <p:nvSpPr>
          <p:cNvPr id="42" name="Rounded Rectangle 41"/>
          <p:cNvSpPr/>
          <p:nvPr/>
        </p:nvSpPr>
        <p:spPr>
          <a:xfrm>
            <a:off x="14676119" y="1783080"/>
            <a:ext cx="3108960" cy="3154680"/>
          </a:xfrm>
          <a:prstGeom prst="roundRect">
            <a:avLst>
              <a:gd name="adj" fmla="val 6000"/>
            </a:avLst>
          </a:prstGeom>
          <a:solidFill>
            <a:srgbClr val="F2F4F8"/>
          </a:solidFill>
          <a:ln>
            <a:noFill/>
          </a:ln>
          <a:effectLst/>
        </p:spPr>
        <p:txBody>
          <a:bodyPr rtlCol="0" anchor="ctr"/>
          <a:lstStyle/>
          <a:p/>
        </p:txBody>
      </p:sp>
      <p:sp>
        <p:nvSpPr>
          <p:cNvPr id="43" name="Oval 42"/>
          <p:cNvSpPr/>
          <p:nvPr/>
        </p:nvSpPr>
        <p:spPr>
          <a:xfrm>
            <a:off x="14950439" y="2057400"/>
            <a:ext cx="685800" cy="685800"/>
          </a:xfrm>
          <a:prstGeom prst="ellipse">
            <a:avLst/>
          </a:prstGeom>
          <a:solidFill>
            <a:srgbClr val="002060"/>
          </a:solidFill>
          <a:ln>
            <a:noFill/>
          </a:ln>
          <a:effectLst/>
        </p:spPr>
        <p:txBody>
          <a:bodyPr rtlCol="0" anchor="ctr" lIns="0" rIns="0" tIns="0" bIns="0"/>
          <a:lstStyle/>
          <a:p/>
        </p:txBody>
      </p:sp>
      <p:pic>
        <p:nvPicPr>
          <p:cNvPr id="44" name="icone search" descr="search_white.png"/>
          <p:cNvPicPr>
            <a:picLocks noChangeAspect="1"/>
          </p:cNvPicPr>
          <p:nvPr/>
        </p:nvPicPr>
        <p:blipFill>
          <a:blip r:embed="rId8"/>
          <a:stretch>
            <a:fillRect/>
          </a:stretch>
        </p:blipFill>
        <p:spPr>
          <a:xfrm>
            <a:off x="15121889" y="2228850"/>
            <a:ext cx="342900" cy="342900"/>
          </a:xfrm>
          <a:prstGeom prst="rect">
            <a:avLst/>
          </a:prstGeom>
        </p:spPr>
      </p:pic>
      <p:sp>
        <p:nvSpPr>
          <p:cNvPr id="45" name="TextBox 44"/>
          <p:cNvSpPr txBox="1"/>
          <p:nvPr/>
        </p:nvSpPr>
        <p:spPr>
          <a:xfrm>
            <a:off x="15864839" y="2057400"/>
            <a:ext cx="1645919"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Viés de publicação</a:t>
            </a:r>
          </a:p>
        </p:txBody>
      </p:sp>
      <p:sp>
        <p:nvSpPr>
          <p:cNvPr id="46" name="TextBox 45"/>
          <p:cNvSpPr txBox="1"/>
          <p:nvPr/>
        </p:nvSpPr>
        <p:spPr>
          <a:xfrm>
            <a:off x="14950439"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Busca ampla, mas poucos estudos, em geral pequenos, e 6 não recuperados → viés não excluível; sem base para rebaixar.</a:t>
            </a:r>
          </a:p>
        </p:txBody>
      </p:sp>
      <p:sp>
        <p:nvSpPr>
          <p:cNvPr id="47" name="Rounded Rectangle 46"/>
          <p:cNvSpPr/>
          <p:nvPr/>
        </p:nvSpPr>
        <p:spPr>
          <a:xfrm>
            <a:off x="1143000" y="5212080"/>
            <a:ext cx="9692640" cy="3794759"/>
          </a:xfrm>
          <a:prstGeom prst="roundRect">
            <a:avLst>
              <a:gd name="adj" fmla="val 6000"/>
            </a:avLst>
          </a:prstGeom>
          <a:solidFill>
            <a:srgbClr val="E6EBF5"/>
          </a:solidFill>
          <a:ln>
            <a:noFill/>
          </a:ln>
          <a:effectLst/>
        </p:spPr>
        <p:txBody>
          <a:bodyPr rtlCol="0" anchor="ctr"/>
          <a:lstStyle/>
          <a:p/>
        </p:txBody>
      </p:sp>
      <p:sp>
        <p:nvSpPr>
          <p:cNvPr id="48" name="TextBox 47"/>
          <p:cNvSpPr txBox="1"/>
          <p:nvPr/>
        </p:nvSpPr>
        <p:spPr>
          <a:xfrm>
            <a:off x="1463040" y="5486400"/>
            <a:ext cx="9052560" cy="3200399"/>
          </a:xfrm>
          <a:prstGeom prst="rect">
            <a:avLst/>
          </a:prstGeom>
          <a:noFill/>
        </p:spPr>
        <p:txBody>
          <a:bodyPr wrap="square" lIns="0" rIns="0" tIns="0" bIns="0" anchor="t">
            <a:noAutofit/>
          </a:bodyPr>
          <a:lstStyle/>
          <a:p>
            <a:pPr algn="l">
              <a:lnSpc>
                <a:spcPct val="100000"/>
              </a:lnSpc>
              <a:spcAft>
                <a:spcPts val="600"/>
              </a:spcAft>
              <a:buNone/>
            </a:pPr>
            <a:r>
              <a:rPr sz="1800" b="1" i="0">
                <a:solidFill>
                  <a:srgbClr val="002060"/>
                </a:solidFill>
                <a:latin typeface="Arial"/>
              </a:rPr>
              <a:t>Como a certeza foi graduada</a:t>
            </a:r>
          </a:p>
          <a:p>
            <a:pPr algn="l" marL="274320" indent="-274320">
              <a:lnSpc>
                <a:spcPct val="100000"/>
              </a:lnSpc>
              <a:spcAft>
                <a:spcPts val="1200"/>
              </a:spcAft>
              <a:buClr>
                <a:srgbClr val="002060"/>
              </a:buClr>
              <a:buFont typeface="Arial"/>
              <a:buChar char="•"/>
            </a:pPr>
            <a:r>
              <a:rPr sz="1600" b="1" i="0">
                <a:solidFill>
                  <a:srgbClr val="1F2433"/>
                </a:solidFill>
                <a:latin typeface="Arial"/>
              </a:rPr>
              <a:t>Ponto de partida: certeza BAIXA </a:t>
            </a:r>
            <a:r>
              <a:rPr sz="1600" b="0" i="0">
                <a:solidFill>
                  <a:srgbClr val="1F2433"/>
                </a:solidFill>
                <a:latin typeface="Arial"/>
              </a:rPr>
              <a:t>para evidência observacional (decisão dos autores; parte da literatura sugere iniciar em alta para prevalência).</a:t>
            </a:r>
          </a:p>
          <a:p>
            <a:pPr algn="l" marL="274320" indent="-274320">
              <a:lnSpc>
                <a:spcPct val="100000"/>
              </a:lnSpc>
              <a:spcAft>
                <a:spcPts val="1200"/>
              </a:spcAft>
              <a:buClr>
                <a:srgbClr val="002060"/>
              </a:buClr>
              <a:buFont typeface="Arial"/>
              <a:buChar char="•"/>
            </a:pPr>
            <a:r>
              <a:rPr sz="1600" b="1" i="0">
                <a:solidFill>
                  <a:srgbClr val="1F2433"/>
                </a:solidFill>
                <a:latin typeface="Arial"/>
              </a:rPr>
              <a:t>Regra: </a:t>
            </a:r>
            <a:r>
              <a:rPr sz="1600" b="1" i="0">
                <a:solidFill>
                  <a:srgbClr val="1F2433"/>
                </a:solidFill>
                <a:highlight>
                  <a:srgbClr val="FFEB99"/>
                </a:highlight>
                <a:latin typeface="Arial"/>
              </a:rPr>
              <a:t>um domínio grave já leva a MUITO BAIXA</a:t>
            </a:r>
            <a:r>
              <a:rPr sz="1600" b="0" i="0">
                <a:solidFill>
                  <a:srgbClr val="1F2433"/>
                </a:solidFill>
                <a:latin typeface="Arial"/>
              </a:rPr>
              <a:t>; a certeza final não muda com o ponto de partida alternativo.</a:t>
            </a:r>
          </a:p>
          <a:p>
            <a:pPr algn="l" marL="274320" indent="-274320">
              <a:lnSpc>
                <a:spcPct val="100000"/>
              </a:lnSpc>
              <a:spcAft>
                <a:spcPts val="1200"/>
              </a:spcAft>
              <a:buClr>
                <a:srgbClr val="002060"/>
              </a:buClr>
              <a:buFont typeface="Arial"/>
              <a:buChar char="•"/>
            </a:pPr>
            <a:r>
              <a:rPr sz="1600" b="1" i="0">
                <a:solidFill>
                  <a:srgbClr val="1F2433"/>
                </a:solidFill>
                <a:latin typeface="Arial"/>
              </a:rPr>
              <a:t>Sem dupla contagem: </a:t>
            </a:r>
            <a:r>
              <a:rPr sz="1600" b="0" i="0">
                <a:solidFill>
                  <a:srgbClr val="1F2433"/>
                </a:solidFill>
                <a:latin typeface="Arial"/>
              </a:rPr>
              <a:t>intervalo de predição em inconsistência; IC95% em imprecisão.</a:t>
            </a:r>
          </a:p>
          <a:p>
            <a:pPr algn="l" marL="274320" indent="-274320">
              <a:lnSpc>
                <a:spcPct val="100000"/>
              </a:lnSpc>
              <a:spcAft>
                <a:spcPts val="1200"/>
              </a:spcAft>
              <a:buClr>
                <a:srgbClr val="002060"/>
              </a:buClr>
              <a:buFont typeface="Arial"/>
              <a:buChar char="•"/>
            </a:pPr>
            <a:r>
              <a:rPr sz="1600" b="1" i="0">
                <a:solidFill>
                  <a:srgbClr val="1F2433"/>
                </a:solidFill>
                <a:latin typeface="Arial"/>
              </a:rPr>
              <a:t>Desfechos de estudo único: </a:t>
            </a:r>
            <a:r>
              <a:rPr sz="1600" b="0" i="0">
                <a:solidFill>
                  <a:srgbClr val="1F2433"/>
                </a:solidFill>
                <a:latin typeface="Arial"/>
              </a:rPr>
              <a:t>inconsistência não aplicável; viés de publicação não avaliável.</a:t>
            </a:r>
          </a:p>
          <a:p>
            <a:pPr algn="l">
              <a:lnSpc>
                <a:spcPct val="100000"/>
              </a:lnSpc>
              <a:spcBef>
                <a:spcPts val="400"/>
              </a:spcBef>
              <a:spcAft>
                <a:spcPts val="1200"/>
              </a:spcAft>
              <a:buNone/>
            </a:pPr>
            <a:r>
              <a:rPr sz="1600" b="1" i="0">
                <a:solidFill>
                  <a:srgbClr val="002060"/>
                </a:solidFill>
                <a:latin typeface="Arial"/>
              </a:rPr>
              <a:t>●●●● alta   ●●●○ moderada   ●●○○ baixa   ●○○○ muito baixa</a:t>
            </a:r>
          </a:p>
        </p:txBody>
      </p:sp>
      <p:sp>
        <p:nvSpPr>
          <p:cNvPr id="49" name="Rounded Rectangle 48"/>
          <p:cNvSpPr/>
          <p:nvPr/>
        </p:nvSpPr>
        <p:spPr>
          <a:xfrm>
            <a:off x="11109960" y="5212080"/>
            <a:ext cx="6675120" cy="3794759"/>
          </a:xfrm>
          <a:prstGeom prst="roundRect">
            <a:avLst>
              <a:gd name="adj" fmla="val 6000"/>
            </a:avLst>
          </a:prstGeom>
          <a:solidFill>
            <a:srgbClr val="FBF5E3"/>
          </a:solidFill>
          <a:ln>
            <a:noFill/>
          </a:ln>
          <a:effectLst/>
        </p:spPr>
        <p:txBody>
          <a:bodyPr rtlCol="0" anchor="ctr"/>
          <a:lstStyle/>
          <a:p/>
        </p:txBody>
      </p:sp>
      <p:sp>
        <p:nvSpPr>
          <p:cNvPr id="50" name="TextBox 49"/>
          <p:cNvSpPr txBox="1"/>
          <p:nvPr/>
        </p:nvSpPr>
        <p:spPr>
          <a:xfrm>
            <a:off x="11430000" y="5486400"/>
            <a:ext cx="6035040" cy="3200399"/>
          </a:xfrm>
          <a:prstGeom prst="rect">
            <a:avLst/>
          </a:prstGeom>
          <a:noFill/>
        </p:spPr>
        <p:txBody>
          <a:bodyPr wrap="square" lIns="0" rIns="0" tIns="0" bIns="0" anchor="t">
            <a:noAutofit/>
          </a:bodyPr>
          <a:lstStyle/>
          <a:p>
            <a:pPr algn="l">
              <a:lnSpc>
                <a:spcPct val="100000"/>
              </a:lnSpc>
              <a:spcAft>
                <a:spcPts val="600"/>
              </a:spcAft>
              <a:buNone/>
            </a:pPr>
            <a:r>
              <a:rPr sz="1800" b="1" i="0">
                <a:solidFill>
                  <a:srgbClr val="002060"/>
                </a:solidFill>
                <a:latin typeface="Arial"/>
              </a:rPr>
              <a:t>Decisões posteriores ao registro</a:t>
            </a:r>
          </a:p>
          <a:p>
            <a:pPr algn="l" marL="274320" indent="-274320">
              <a:lnSpc>
                <a:spcPct val="100000"/>
              </a:lnSpc>
              <a:spcAft>
                <a:spcPts val="1200"/>
              </a:spcAft>
              <a:buClr>
                <a:srgbClr val="C8A951"/>
              </a:buClr>
              <a:buFont typeface="Arial"/>
              <a:buChar char="•"/>
            </a:pPr>
            <a:r>
              <a:rPr sz="1600" b="0" i="0">
                <a:solidFill>
                  <a:srgbClr val="1F2433"/>
                </a:solidFill>
                <a:latin typeface="Arial"/>
              </a:rPr>
              <a:t>Ocular principal; respiratório exploratório (definição variável);</a:t>
            </a:r>
          </a:p>
          <a:p>
            <a:pPr algn="l" marL="274320" indent="-274320">
              <a:lnSpc>
                <a:spcPct val="100000"/>
              </a:lnSpc>
              <a:spcAft>
                <a:spcPts val="1200"/>
              </a:spcAft>
              <a:buClr>
                <a:srgbClr val="C8A951"/>
              </a:buClr>
              <a:buFont typeface="Arial"/>
              <a:buChar char="•"/>
            </a:pPr>
            <a:r>
              <a:rPr sz="1600" b="0" i="0">
                <a:solidFill>
                  <a:srgbClr val="1F2433"/>
                </a:solidFill>
                <a:latin typeface="Arial"/>
              </a:rPr>
              <a:t>Modelo principal: logito, efeitos aleatórios e Hartung-Knapp;</a:t>
            </a:r>
          </a:p>
          <a:p>
            <a:pPr algn="l" marL="274320" indent="-274320">
              <a:lnSpc>
                <a:spcPct val="100000"/>
              </a:lnSpc>
              <a:spcAft>
                <a:spcPts val="1200"/>
              </a:spcAft>
              <a:buClr>
                <a:srgbClr val="C8A951"/>
              </a:buClr>
              <a:buFont typeface="Arial"/>
              <a:buChar char="•"/>
            </a:pPr>
            <a:r>
              <a:rPr sz="1600" b="0" i="0">
                <a:solidFill>
                  <a:srgbClr val="1F2433"/>
                </a:solidFill>
                <a:latin typeface="Arial"/>
              </a:rPr>
              <a:t>1 publicação por desfecho no cluster com sobreposição; análises por país e de influência exploratórias;</a:t>
            </a:r>
          </a:p>
          <a:p>
            <a:pPr algn="l" marL="274320" indent="-274320">
              <a:lnSpc>
                <a:spcPct val="100000"/>
              </a:lnSpc>
              <a:spcAft>
                <a:spcPts val="1200"/>
              </a:spcAft>
              <a:buClr>
                <a:srgbClr val="C8A951"/>
              </a:buClr>
              <a:buFont typeface="Arial"/>
              <a:buChar char="•"/>
            </a:pPr>
            <a:r>
              <a:rPr sz="1600" b="0" i="0">
                <a:solidFill>
                  <a:srgbClr val="1F2433"/>
                </a:solidFill>
                <a:latin typeface="Arial"/>
              </a:rPr>
              <a:t>Resumos de congresso incluídos (preocupação alta);</a:t>
            </a:r>
          </a:p>
          <a:p>
            <a:pPr algn="l" marL="274320" indent="-274320">
              <a:lnSpc>
                <a:spcPct val="100000"/>
              </a:lnSpc>
              <a:spcAft>
                <a:spcPts val="1200"/>
              </a:spcAft>
              <a:buClr>
                <a:srgbClr val="C8A951"/>
              </a:buClr>
              <a:buFont typeface="Arial"/>
              <a:buChar char="•"/>
            </a:pPr>
            <a:r>
              <a:rPr sz="1600" b="0" i="0">
                <a:solidFill>
                  <a:srgbClr val="1F2433"/>
                </a:solidFill>
                <a:latin typeface="Arial"/>
              </a:rPr>
              <a:t>Na análise: regra do sintoma-índice e sensibilidade por definição, independentes dos resultados.</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APOIO · 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Desfecho exploratório · Sintoma respiratório ou de vias aéreas, e robustez das estimativas</a:t>
            </a:r>
          </a:p>
        </p:txBody>
      </p:sp>
      <p:pic>
        <p:nvPicPr>
          <p:cNvPr id="7" name="Figura 3 forest plot respiratório" descr="fig3_forest_resp_slide.png"/>
          <p:cNvPicPr>
            <a:picLocks noChangeAspect="1"/>
          </p:cNvPicPr>
          <p:nvPr/>
        </p:nvPicPr>
        <p:blipFill>
          <a:blip r:embed="rId4"/>
          <a:stretch>
            <a:fillRect/>
          </a:stretch>
        </p:blipFill>
        <p:spPr>
          <a:xfrm>
            <a:off x="1143000" y="1783080"/>
            <a:ext cx="9326880" cy="5255971"/>
          </a:xfrm>
          <a:prstGeom prst="rect">
            <a:avLst/>
          </a:prstGeom>
        </p:spPr>
      </p:pic>
      <p:sp>
        <p:nvSpPr>
          <p:cNvPr id="8" name="TextBox 7"/>
          <p:cNvSpPr txBox="1"/>
          <p:nvPr/>
        </p:nvSpPr>
        <p:spPr>
          <a:xfrm>
            <a:off x="1143000" y="7112203"/>
            <a:ext cx="9326880" cy="457200"/>
          </a:xfrm>
          <a:prstGeom prst="rect">
            <a:avLst/>
          </a:prstGeom>
          <a:noFill/>
        </p:spPr>
        <p:txBody>
          <a:bodyPr wrap="square" lIns="0" rIns="0" tIns="0" bIns="0" anchor="t">
            <a:noAutofit/>
          </a:bodyPr>
          <a:lstStyle/>
          <a:p>
            <a:pPr algn="l">
              <a:lnSpc>
                <a:spcPct val="100000"/>
              </a:lnSpc>
              <a:spcAft>
                <a:spcPts val="0"/>
              </a:spcAft>
              <a:buNone/>
            </a:pPr>
            <a:r>
              <a:rPr sz="1400" b="1" i="0">
                <a:solidFill>
                  <a:srgbClr val="5A6270"/>
                </a:solidFill>
                <a:latin typeface="Arial"/>
              </a:rPr>
              <a:t>Figura 3. </a:t>
            </a:r>
            <a:r>
              <a:rPr sz="1400" b="0" i="0">
                <a:solidFill>
                  <a:srgbClr val="5A6270"/>
                </a:solidFill>
                <a:latin typeface="Arial"/>
              </a:rPr>
              <a:t>Sete amostras independentes (n = 1.428). Definições variam: tosse, ardência de garganta, irritação ou qualquer sintoma de vias aéreas superiores, escala por sistema.</a:t>
            </a:r>
          </a:p>
        </p:txBody>
      </p:sp>
      <p:sp>
        <p:nvSpPr>
          <p:cNvPr id="9" name="Rounded Rectangle 8"/>
          <p:cNvSpPr/>
          <p:nvPr/>
        </p:nvSpPr>
        <p:spPr>
          <a:xfrm>
            <a:off x="1143000" y="7863840"/>
            <a:ext cx="9326880" cy="1874520"/>
          </a:xfrm>
          <a:prstGeom prst="roundRect">
            <a:avLst>
              <a:gd name="adj" fmla="val 6000"/>
            </a:avLst>
          </a:prstGeom>
          <a:solidFill>
            <a:srgbClr val="E6EBF5"/>
          </a:solidFill>
          <a:ln>
            <a:noFill/>
          </a:ln>
          <a:effectLst/>
        </p:spPr>
        <p:txBody>
          <a:bodyPr rtlCol="0" anchor="ctr"/>
          <a:lstStyle/>
          <a:p/>
        </p:txBody>
      </p:sp>
      <p:sp>
        <p:nvSpPr>
          <p:cNvPr id="10" name="TextBox 9"/>
          <p:cNvSpPr txBox="1"/>
          <p:nvPr/>
        </p:nvSpPr>
        <p:spPr>
          <a:xfrm>
            <a:off x="1463040" y="8138159"/>
            <a:ext cx="8686800" cy="1280160"/>
          </a:xfrm>
          <a:prstGeom prst="rect">
            <a:avLst/>
          </a:prstGeom>
          <a:noFill/>
        </p:spPr>
        <p:txBody>
          <a:bodyPr wrap="square" lIns="0" rIns="0" tIns="0" bIns="0" anchor="t">
            <a:noAutofit/>
          </a:bodyPr>
          <a:lstStyle/>
          <a:p>
            <a:pPr algn="l">
              <a:lnSpc>
                <a:spcPct val="100000"/>
              </a:lnSpc>
              <a:spcAft>
                <a:spcPts val="500"/>
              </a:spcAft>
              <a:buNone/>
            </a:pPr>
            <a:r>
              <a:rPr sz="1700" b="1" i="0">
                <a:solidFill>
                  <a:srgbClr val="002060"/>
                </a:solidFill>
                <a:latin typeface="Arial"/>
              </a:rPr>
              <a:t>Subgrupo por país (sintoma ocular; exploratório)</a:t>
            </a:r>
          </a:p>
          <a:p>
            <a:pPr algn="l">
              <a:lnSpc>
                <a:spcPct val="100000"/>
              </a:lnSpc>
              <a:spcAft>
                <a:spcPts val="400"/>
              </a:spcAft>
              <a:buNone/>
            </a:pPr>
            <a:r>
              <a:rPr sz="1500" b="1" i="0">
                <a:solidFill>
                  <a:srgbClr val="8B0000"/>
                </a:solidFill>
                <a:latin typeface="Arial"/>
              </a:rPr>
              <a:t>Turquia 50,5% </a:t>
            </a:r>
            <a:r>
              <a:rPr sz="1500" b="0" i="0">
                <a:solidFill>
                  <a:srgbClr val="1F2433"/>
                </a:solidFill>
                <a:latin typeface="Arial"/>
              </a:rPr>
              <a:t>(k = 3; I² = 57%)  ·  </a:t>
            </a:r>
            <a:r>
              <a:rPr sz="1500" b="1" i="0">
                <a:solidFill>
                  <a:srgbClr val="8B0000"/>
                </a:solidFill>
                <a:latin typeface="Arial"/>
              </a:rPr>
              <a:t>Malásia 19,8% </a:t>
            </a:r>
            <a:r>
              <a:rPr sz="1500" b="0" i="0">
                <a:solidFill>
                  <a:srgbClr val="1F2433"/>
                </a:solidFill>
                <a:latin typeface="Arial"/>
              </a:rPr>
              <a:t>(k = 2; I² = 0%)  ·  </a:t>
            </a:r>
            <a:r>
              <a:rPr sz="1500" b="1" i="0">
                <a:solidFill>
                  <a:srgbClr val="1F2433"/>
                </a:solidFill>
                <a:latin typeface="Arial"/>
              </a:rPr>
              <a:t>Brasil 43,2% </a:t>
            </a:r>
            <a:r>
              <a:rPr sz="1500" b="0" i="0">
                <a:solidFill>
                  <a:srgbClr val="1F2433"/>
                </a:solidFill>
                <a:latin typeface="Arial"/>
              </a:rPr>
              <a:t>(k = 1)</a:t>
            </a:r>
          </a:p>
          <a:p>
            <a:pPr algn="l">
              <a:lnSpc>
                <a:spcPct val="100000"/>
              </a:lnSpc>
              <a:spcAft>
                <a:spcPts val="400"/>
              </a:spcAft>
              <a:buNone/>
            </a:pPr>
            <a:r>
              <a:rPr sz="1500" b="1" i="0">
                <a:solidFill>
                  <a:srgbClr val="1F2433"/>
                </a:solidFill>
                <a:latin typeface="Arial"/>
              </a:rPr>
              <a:t>Teste entre subgrupos p &lt; 0,001, mas: </a:t>
            </a:r>
            <a:r>
              <a:rPr sz="1500" b="0" i="0">
                <a:solidFill>
                  <a:srgbClr val="1F2433"/>
                </a:solidFill>
                <a:latin typeface="Arial"/>
              </a:rPr>
              <a:t>poucos estudos por país e um resumo de congresso na Malásia → gera hipótese, não prova moderação causal.</a:t>
            </a:r>
          </a:p>
        </p:txBody>
      </p:sp>
      <p:sp>
        <p:nvSpPr>
          <p:cNvPr id="11" name="Rounded Rectangle 10"/>
          <p:cNvSpPr/>
          <p:nvPr/>
        </p:nvSpPr>
        <p:spPr>
          <a:xfrm>
            <a:off x="10744200" y="1783080"/>
            <a:ext cx="7040879" cy="2148840"/>
          </a:xfrm>
          <a:prstGeom prst="roundRect">
            <a:avLst>
              <a:gd name="adj" fmla="val 6000"/>
            </a:avLst>
          </a:prstGeom>
          <a:solidFill>
            <a:srgbClr val="F9E9E9"/>
          </a:solidFill>
          <a:ln>
            <a:noFill/>
          </a:ln>
          <a:effectLst/>
        </p:spPr>
        <p:txBody>
          <a:bodyPr rtlCol="0" anchor="ctr"/>
          <a:lstStyle/>
          <a:p/>
        </p:txBody>
      </p:sp>
      <p:sp>
        <p:nvSpPr>
          <p:cNvPr id="12" name="TextBox 11"/>
          <p:cNvSpPr txBox="1"/>
          <p:nvPr/>
        </p:nvSpPr>
        <p:spPr>
          <a:xfrm>
            <a:off x="11064240" y="1965960"/>
            <a:ext cx="6400799" cy="822960"/>
          </a:xfrm>
          <a:prstGeom prst="rect">
            <a:avLst/>
          </a:prstGeom>
          <a:noFill/>
        </p:spPr>
        <p:txBody>
          <a:bodyPr wrap="square" lIns="0" rIns="0" tIns="0" bIns="0" anchor="t">
            <a:noAutofit/>
          </a:bodyPr>
          <a:lstStyle/>
          <a:p>
            <a:pPr algn="l">
              <a:lnSpc>
                <a:spcPct val="100000"/>
              </a:lnSpc>
              <a:spcAft>
                <a:spcPts val="0"/>
              </a:spcAft>
              <a:buNone/>
            </a:pPr>
            <a:r>
              <a:rPr sz="5000" b="1" i="0">
                <a:solidFill>
                  <a:srgbClr val="8B0000"/>
                </a:solidFill>
                <a:latin typeface="Arial"/>
              </a:rPr>
              <a:t>41,7%</a:t>
            </a:r>
          </a:p>
        </p:txBody>
      </p:sp>
      <p:sp>
        <p:nvSpPr>
          <p:cNvPr id="13" name="TextBox 12"/>
          <p:cNvSpPr txBox="1"/>
          <p:nvPr/>
        </p:nvSpPr>
        <p:spPr>
          <a:xfrm>
            <a:off x="11064240" y="2770632"/>
            <a:ext cx="6400799" cy="347472"/>
          </a:xfrm>
          <a:prstGeom prst="rect">
            <a:avLst/>
          </a:prstGeom>
          <a:noFill/>
        </p:spPr>
        <p:txBody>
          <a:bodyPr wrap="square" lIns="0" rIns="0" tIns="0" bIns="0" anchor="t">
            <a:noAutofit/>
          </a:bodyPr>
          <a:lstStyle/>
          <a:p>
            <a:pPr algn="l">
              <a:lnSpc>
                <a:spcPct val="100000"/>
              </a:lnSpc>
              <a:spcAft>
                <a:spcPts val="0"/>
              </a:spcAft>
              <a:buNone/>
            </a:pPr>
            <a:r>
              <a:rPr sz="1600" b="0" i="0">
                <a:solidFill>
                  <a:srgbClr val="5A6270"/>
                </a:solidFill>
                <a:latin typeface="Arial"/>
              </a:rPr>
              <a:t>prevalência combinada de sintoma respiratório</a:t>
            </a:r>
          </a:p>
        </p:txBody>
      </p:sp>
      <p:sp>
        <p:nvSpPr>
          <p:cNvPr id="14" name="TextBox 13"/>
          <p:cNvSpPr txBox="1"/>
          <p:nvPr/>
        </p:nvSpPr>
        <p:spPr>
          <a:xfrm>
            <a:off x="11064240" y="3154680"/>
            <a:ext cx="6400799" cy="548640"/>
          </a:xfrm>
          <a:prstGeom prst="rect">
            <a:avLst/>
          </a:prstGeom>
          <a:noFill/>
        </p:spPr>
        <p:txBody>
          <a:bodyPr wrap="square" lIns="0" rIns="0" tIns="0" bIns="0" anchor="t">
            <a:noAutofit/>
          </a:bodyPr>
          <a:lstStyle/>
          <a:p>
            <a:pPr algn="l">
              <a:lnSpc>
                <a:spcPct val="100000"/>
              </a:lnSpc>
              <a:spcAft>
                <a:spcPts val="200"/>
              </a:spcAft>
              <a:buNone/>
            </a:pPr>
            <a:r>
              <a:rPr sz="1500" b="1" i="0">
                <a:solidFill>
                  <a:srgbClr val="1F2433"/>
                </a:solidFill>
                <a:latin typeface="Arial"/>
              </a:rPr>
              <a:t>IC95% </a:t>
            </a:r>
            <a:r>
              <a:rPr sz="1500" b="0" i="0">
                <a:solidFill>
                  <a:srgbClr val="1F2433"/>
                </a:solidFill>
                <a:latin typeface="Arial"/>
              </a:rPr>
              <a:t>30,4–53,9  ·  </a:t>
            </a:r>
            <a:r>
              <a:rPr sz="1500" b="1" i="0">
                <a:solidFill>
                  <a:srgbClr val="1F2433"/>
                </a:solidFill>
                <a:latin typeface="Arial"/>
              </a:rPr>
              <a:t>Intervalo de predição </a:t>
            </a:r>
            <a:r>
              <a:rPr sz="1500" b="0" i="0">
                <a:solidFill>
                  <a:srgbClr val="1F2433"/>
                </a:solidFill>
                <a:latin typeface="Arial"/>
              </a:rPr>
              <a:t>15–74%</a:t>
            </a:r>
          </a:p>
          <a:p>
            <a:pPr algn="l">
              <a:lnSpc>
                <a:spcPct val="100000"/>
              </a:lnSpc>
              <a:spcAft>
                <a:spcPts val="200"/>
              </a:spcAft>
              <a:buNone/>
            </a:pPr>
            <a:r>
              <a:rPr sz="1500" b="1" i="0">
                <a:solidFill>
                  <a:srgbClr val="1F2433"/>
                </a:solidFill>
                <a:latin typeface="Arial"/>
              </a:rPr>
              <a:t>I² = 91% · k = 7 · n = 1.428</a:t>
            </a:r>
          </a:p>
        </p:txBody>
      </p:sp>
      <p:sp>
        <p:nvSpPr>
          <p:cNvPr id="15" name="TextBox 14"/>
          <p:cNvSpPr txBox="1"/>
          <p:nvPr/>
        </p:nvSpPr>
        <p:spPr>
          <a:xfrm>
            <a:off x="10744200" y="4160520"/>
            <a:ext cx="7040879" cy="365760"/>
          </a:xfrm>
          <a:prstGeom prst="rect">
            <a:avLst/>
          </a:prstGeom>
          <a:noFill/>
        </p:spPr>
        <p:txBody>
          <a:bodyPr wrap="square" lIns="0" rIns="0" tIns="0" bIns="0" anchor="t">
            <a:noAutofit/>
          </a:bodyPr>
          <a:lstStyle/>
          <a:p>
            <a:pPr algn="l">
              <a:lnSpc>
                <a:spcPct val="100000"/>
              </a:lnSpc>
              <a:spcAft>
                <a:spcPts val="0"/>
              </a:spcAft>
              <a:buNone/>
            </a:pPr>
            <a:r>
              <a:rPr sz="1600" b="1" i="0">
                <a:solidFill>
                  <a:srgbClr val="002060"/>
                </a:solidFill>
                <a:latin typeface="Arial"/>
              </a:rPr>
              <a:t>Robustez: estável entre modelos e estudos</a:t>
            </a:r>
          </a:p>
        </p:txBody>
      </p:sp>
      <p:graphicFrame>
        <p:nvGraphicFramePr>
          <p:cNvPr id="16" name="Table 15"/>
          <p:cNvGraphicFramePr>
            <a:graphicFrameLocks noGrp="1"/>
          </p:cNvGraphicFramePr>
          <p:nvPr/>
        </p:nvGraphicFramePr>
        <p:xfrm>
          <a:off x="10744200" y="4572000"/>
          <a:ext cx="7040879" cy="2816352"/>
        </p:xfrm>
        <a:graphic>
          <a:graphicData uri="http://schemas.openxmlformats.org/drawingml/2006/table">
            <a:tbl>
              <a:tblPr firstRow="0" bandRow="0"/>
              <a:tblGrid>
                <a:gridCol w="4023359"/>
                <a:gridCol w="1417320"/>
                <a:gridCol w="1600200"/>
              </a:tblGrid>
              <a:tr h="402336">
                <a:tc>
                  <a:txBody>
                    <a:bodyPr wrap="square">
                      <a:noAutofit/>
                    </a:bodyPr>
                    <a:lstStyle/>
                    <a:p>
                      <a:pPr algn="l">
                        <a:lnSpc>
                          <a:spcPct val="100000"/>
                        </a:lnSpc>
                        <a:spcAft>
                          <a:spcPts val="0"/>
                        </a:spcAft>
                        <a:buNone/>
                      </a:pPr>
                      <a:r>
                        <a:rPr sz="1400" b="1" i="0">
                          <a:solidFill>
                            <a:srgbClr val="FFFFFF"/>
                          </a:solidFill>
                          <a:latin typeface="Arial"/>
                        </a:rPr>
                        <a:t>Análise</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Ocular</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Respiratório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r>
              <a:tr h="402336">
                <a:tc>
                  <a:txBody>
                    <a:bodyPr wrap="square">
                      <a:noAutofit/>
                    </a:bodyPr>
                    <a:lstStyle/>
                    <a:p>
                      <a:pPr algn="l">
                        <a:lnSpc>
                          <a:spcPct val="100000"/>
                        </a:lnSpc>
                        <a:spcAft>
                          <a:spcPts val="0"/>
                        </a:spcAft>
                        <a:buNone/>
                      </a:pPr>
                      <a:r>
                        <a:rPr sz="1400" b="1" i="0">
                          <a:solidFill>
                            <a:srgbClr val="1F2433"/>
                          </a:solidFill>
                          <a:latin typeface="Arial"/>
                        </a:rPr>
                        <a:t>Logito + Hartung-Knapp (principal)</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1" i="0">
                          <a:solidFill>
                            <a:srgbClr val="1F2433"/>
                          </a:solidFill>
                          <a:latin typeface="Arial"/>
                        </a:rPr>
                        <a:t>37,6%</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1" i="0">
                          <a:solidFill>
                            <a:srgbClr val="1F2433"/>
                          </a:solidFill>
                          <a:latin typeface="Arial"/>
                        </a:rPr>
                        <a:t>41,7%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Freeman-Tukey (DerSimonian-Laird)</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38,1%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41,7%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r h="402336">
                <a:tc>
                  <a:txBody>
                    <a:bodyPr wrap="square">
                      <a:noAutofit/>
                    </a:bodyPr>
                    <a:lstStyle/>
                    <a:p>
                      <a:pPr algn="l">
                        <a:lnSpc>
                          <a:spcPct val="100000"/>
                        </a:lnSpc>
                        <a:spcAft>
                          <a:spcPts val="0"/>
                        </a:spcAft>
                        <a:buNone/>
                      </a:pPr>
                      <a:r>
                        <a:rPr sz="1400" b="0" i="0">
                          <a:solidFill>
                            <a:srgbClr val="1F2433"/>
                          </a:solidFill>
                          <a:latin typeface="Arial"/>
                        </a:rPr>
                        <a:t>GLMM logístico (intercepto aleatório)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37,5%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42,0%</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Leave-one-out (faixa)</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34,3–42,1%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38,9–45,5%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r h="402336">
                <a:tc>
                  <a:txBody>
                    <a:bodyPr wrap="square">
                      <a:noAutofit/>
                    </a:bodyPr>
                    <a:lstStyle/>
                    <a:p>
                      <a:pPr algn="l">
                        <a:lnSpc>
                          <a:spcPct val="100000"/>
                        </a:lnSpc>
                        <a:spcAft>
                          <a:spcPts val="0"/>
                        </a:spcAft>
                        <a:buNone/>
                      </a:pPr>
                      <a:r>
                        <a:rPr sz="1400" b="0" i="0">
                          <a:solidFill>
                            <a:srgbClr val="1F2433"/>
                          </a:solidFill>
                          <a:latin typeface="Arial"/>
                        </a:rPr>
                        <a:t>Sem o resumo de congresso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42,1%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42,4%</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Só definições específicas</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36,5% (I² 94%)</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35,8% (I² 61%)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bl>
          </a:graphicData>
        </a:graphic>
      </p:graphicFrame>
      <p:sp>
        <p:nvSpPr>
          <p:cNvPr id="17" name="Rounded Rectangle 16"/>
          <p:cNvSpPr/>
          <p:nvPr/>
        </p:nvSpPr>
        <p:spPr>
          <a:xfrm>
            <a:off x="10744200" y="7863840"/>
            <a:ext cx="7040879" cy="1874520"/>
          </a:xfrm>
          <a:prstGeom prst="roundRect">
            <a:avLst>
              <a:gd name="adj" fmla="val 6000"/>
            </a:avLst>
          </a:prstGeom>
          <a:solidFill>
            <a:srgbClr val="FBF5E3"/>
          </a:solidFill>
          <a:ln>
            <a:noFill/>
          </a:ln>
          <a:effectLst/>
        </p:spPr>
        <p:txBody>
          <a:bodyPr rtlCol="0" anchor="ctr"/>
          <a:lstStyle/>
          <a:p/>
        </p:txBody>
      </p:sp>
      <p:sp>
        <p:nvSpPr>
          <p:cNvPr id="18" name="TextBox 17"/>
          <p:cNvSpPr txBox="1"/>
          <p:nvPr/>
        </p:nvSpPr>
        <p:spPr>
          <a:xfrm>
            <a:off x="11064240" y="8138159"/>
            <a:ext cx="6400799" cy="1280160"/>
          </a:xfrm>
          <a:prstGeom prst="rect">
            <a:avLst/>
          </a:prstGeom>
          <a:noFill/>
        </p:spPr>
        <p:txBody>
          <a:bodyPr wrap="square" lIns="0" rIns="0" tIns="0" bIns="0" anchor="t">
            <a:noAutofit/>
          </a:bodyPr>
          <a:lstStyle/>
          <a:p>
            <a:pPr algn="l">
              <a:lnSpc>
                <a:spcPct val="100000"/>
              </a:lnSpc>
              <a:spcAft>
                <a:spcPts val="500"/>
              </a:spcAft>
              <a:buNone/>
            </a:pPr>
            <a:r>
              <a:rPr sz="1700" b="1" i="0">
                <a:solidFill>
                  <a:srgbClr val="002060"/>
                </a:solidFill>
                <a:latin typeface="Arial"/>
              </a:rPr>
              <a:t>O que a sensibilidade ensina</a:t>
            </a:r>
          </a:p>
          <a:p>
            <a:pPr algn="l" marL="274320" indent="-274320">
              <a:lnSpc>
                <a:spcPct val="100000"/>
              </a:lnSpc>
              <a:spcAft>
                <a:spcPts val="400"/>
              </a:spcAft>
              <a:buClr>
                <a:srgbClr val="C8A951"/>
              </a:buClr>
              <a:buFont typeface="Arial"/>
              <a:buChar char="•"/>
            </a:pPr>
            <a:r>
              <a:rPr sz="1500" b="0" i="0">
                <a:solidFill>
                  <a:srgbClr val="1F2433"/>
                </a:solidFill>
                <a:latin typeface="Arial"/>
              </a:rPr>
              <a:t>Definições específicas: </a:t>
            </a:r>
            <a:r>
              <a:rPr sz="1500" b="1" i="0">
                <a:solidFill>
                  <a:srgbClr val="1F2433"/>
                </a:solidFill>
                <a:highlight>
                  <a:srgbClr val="FFEB99"/>
                </a:highlight>
                <a:latin typeface="Arial"/>
              </a:rPr>
              <a:t>I² respiratório 91% → 61%</a:t>
            </a:r>
            <a:r>
              <a:rPr sz="1500" b="0" i="0">
                <a:solidFill>
                  <a:srgbClr val="1F2433"/>
                </a:solidFill>
                <a:latin typeface="Arial"/>
              </a:rPr>
              <a:t> (a definição explica parte da heterogeneidade).</a:t>
            </a:r>
          </a:p>
          <a:p>
            <a:pPr algn="l" marL="274320" indent="-274320">
              <a:lnSpc>
                <a:spcPct val="100000"/>
              </a:lnSpc>
              <a:spcAft>
                <a:spcPts val="400"/>
              </a:spcAft>
              <a:buClr>
                <a:srgbClr val="C8A951"/>
              </a:buClr>
              <a:buFont typeface="Arial"/>
              <a:buChar char="•"/>
            </a:pPr>
            <a:r>
              <a:rPr sz="1500" b="0" i="0">
                <a:solidFill>
                  <a:srgbClr val="1F2433"/>
                </a:solidFill>
                <a:latin typeface="Arial"/>
              </a:rPr>
              <a:t>Ocular: I² segue alto sem o resumo (89%) ou sem Bieniek (94%): </a:t>
            </a:r>
            <a:r>
              <a:rPr sz="1500" b="1" i="0">
                <a:solidFill>
                  <a:srgbClr val="1F2433"/>
                </a:solidFill>
                <a:latin typeface="Arial"/>
              </a:rPr>
              <a:t>não depende de um único estudo.</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APOIO · 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Desfechos objetivos e biomarcadores: sinais além do incômodo agudo (1 estudo por desfecho)</a:t>
            </a:r>
          </a:p>
        </p:txBody>
      </p:sp>
      <p:sp>
        <p:nvSpPr>
          <p:cNvPr id="7" name="Rounded Rectangle 6"/>
          <p:cNvSpPr/>
          <p:nvPr/>
        </p:nvSpPr>
        <p:spPr>
          <a:xfrm>
            <a:off x="1143000" y="1783080"/>
            <a:ext cx="8183879" cy="2743200"/>
          </a:xfrm>
          <a:prstGeom prst="roundRect">
            <a:avLst>
              <a:gd name="adj" fmla="val 6000"/>
            </a:avLst>
          </a:prstGeom>
          <a:solidFill>
            <a:srgbClr val="F2F4F8"/>
          </a:solidFill>
          <a:ln>
            <a:noFill/>
          </a:ln>
          <a:effectLst/>
        </p:spPr>
        <p:txBody>
          <a:bodyPr rtlCol="0" anchor="ctr"/>
          <a:lstStyle/>
          <a:p/>
        </p:txBody>
      </p:sp>
      <p:sp>
        <p:nvSpPr>
          <p:cNvPr id="8" name="Oval 7"/>
          <p:cNvSpPr/>
          <p:nvPr/>
        </p:nvSpPr>
        <p:spPr>
          <a:xfrm>
            <a:off x="1463040" y="2103120"/>
            <a:ext cx="731520" cy="731520"/>
          </a:xfrm>
          <a:prstGeom prst="ellipse">
            <a:avLst/>
          </a:prstGeom>
          <a:solidFill>
            <a:srgbClr val="002060"/>
          </a:solidFill>
          <a:ln>
            <a:noFill/>
          </a:ln>
          <a:effectLst/>
        </p:spPr>
        <p:txBody>
          <a:bodyPr rtlCol="0" anchor="ctr" lIns="0" rIns="0" tIns="0" bIns="0"/>
          <a:lstStyle/>
          <a:p/>
        </p:txBody>
      </p:sp>
      <p:pic>
        <p:nvPicPr>
          <p:cNvPr id="9" name="icone lungs" descr="lungs_white.png"/>
          <p:cNvPicPr>
            <a:picLocks noChangeAspect="1"/>
          </p:cNvPicPr>
          <p:nvPr/>
        </p:nvPicPr>
        <p:blipFill>
          <a:blip r:embed="rId4"/>
          <a:stretch>
            <a:fillRect/>
          </a:stretch>
        </p:blipFill>
        <p:spPr>
          <a:xfrm>
            <a:off x="1645920" y="2285999"/>
            <a:ext cx="365760" cy="365760"/>
          </a:xfrm>
          <a:prstGeom prst="rect">
            <a:avLst/>
          </a:prstGeom>
        </p:spPr>
      </p:pic>
      <p:sp>
        <p:nvSpPr>
          <p:cNvPr id="10" name="TextBox 9"/>
          <p:cNvSpPr txBox="1"/>
          <p:nvPr/>
        </p:nvSpPr>
        <p:spPr>
          <a:xfrm>
            <a:off x="2423160" y="2029967"/>
            <a:ext cx="6583680"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Função pulmonar (espirometria)</a:t>
            </a:r>
          </a:p>
        </p:txBody>
      </p:sp>
      <p:sp>
        <p:nvSpPr>
          <p:cNvPr id="11" name="TextBox 10"/>
          <p:cNvSpPr txBox="1"/>
          <p:nvPr/>
        </p:nvSpPr>
        <p:spPr>
          <a:xfrm>
            <a:off x="2423160" y="2468879"/>
            <a:ext cx="6583680" cy="36576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Ibrahim et al., 2025 · Sudão · 92 expostos vs 92 não expostos pareados</a:t>
            </a:r>
          </a:p>
        </p:txBody>
      </p:sp>
      <p:sp>
        <p:nvSpPr>
          <p:cNvPr id="12" name="TextBox 11"/>
          <p:cNvSpPr txBox="1"/>
          <p:nvPr/>
        </p:nvSpPr>
        <p:spPr>
          <a:xfrm>
            <a:off x="1463040" y="3017520"/>
            <a:ext cx="7543800" cy="1188719"/>
          </a:xfrm>
          <a:prstGeom prst="rect">
            <a:avLst/>
          </a:prstGeom>
          <a:noFill/>
        </p:spPr>
        <p:txBody>
          <a:bodyPr wrap="square" lIns="0" rIns="0" tIns="0" bIns="0" anchor="t">
            <a:noAutofit/>
          </a:bodyPr>
          <a:lstStyle/>
          <a:p>
            <a:pPr algn="l" marL="274320" indent="-274320">
              <a:lnSpc>
                <a:spcPct val="100000"/>
              </a:lnSpc>
              <a:spcAft>
                <a:spcPts val="500"/>
              </a:spcAft>
              <a:buClr>
                <a:srgbClr val="002060"/>
              </a:buClr>
              <a:buFont typeface="Arial"/>
              <a:buChar char="•"/>
            </a:pPr>
            <a:r>
              <a:rPr sz="1700" b="0" i="0">
                <a:solidFill>
                  <a:srgbClr val="1F2433"/>
                </a:solidFill>
                <a:latin typeface="Arial"/>
              </a:rPr>
              <a:t>VEF1 </a:t>
            </a:r>
            <a:r>
              <a:rPr sz="1700" b="1" i="0">
                <a:solidFill>
                  <a:srgbClr val="1F2433"/>
                </a:solidFill>
                <a:latin typeface="Arial"/>
              </a:rPr>
              <a:t>2,78 vs 3,14 L</a:t>
            </a:r>
            <a:r>
              <a:rPr sz="1700" b="0" i="0">
                <a:solidFill>
                  <a:srgbClr val="1F2433"/>
                </a:solidFill>
                <a:latin typeface="Arial"/>
              </a:rPr>
              <a:t> · CVF </a:t>
            </a:r>
            <a:r>
              <a:rPr sz="1700" b="1" i="0">
                <a:solidFill>
                  <a:srgbClr val="1F2433"/>
                </a:solidFill>
                <a:latin typeface="Arial"/>
              </a:rPr>
              <a:t>3,02 vs 3,45 L</a:t>
            </a:r>
            <a:r>
              <a:rPr sz="1700" b="0" i="0">
                <a:solidFill>
                  <a:srgbClr val="1F2433"/>
                </a:solidFill>
                <a:latin typeface="Arial"/>
              </a:rPr>
              <a:t> · PFE </a:t>
            </a:r>
            <a:r>
              <a:rPr sz="1700" b="1" i="0">
                <a:solidFill>
                  <a:srgbClr val="1F2433"/>
                </a:solidFill>
                <a:latin typeface="Arial"/>
              </a:rPr>
              <a:t>327,5 vs 483,5 L/min</a:t>
            </a:r>
          </a:p>
          <a:p>
            <a:pPr algn="l" marL="274320" indent="-274320">
              <a:lnSpc>
                <a:spcPct val="100000"/>
              </a:lnSpc>
              <a:spcAft>
                <a:spcPts val="500"/>
              </a:spcAft>
              <a:buClr>
                <a:srgbClr val="002060"/>
              </a:buClr>
              <a:buFont typeface="Arial"/>
              <a:buChar char="•"/>
            </a:pPr>
            <a:r>
              <a:rPr sz="1700" b="0" i="0">
                <a:solidFill>
                  <a:srgbClr val="1F2433"/>
                </a:solidFill>
                <a:latin typeface="Arial"/>
              </a:rPr>
              <a:t>p = 0,001; gradiente: mais tempo em centro cirúrgico → valores menores.</a:t>
            </a:r>
          </a:p>
          <a:p>
            <a:pPr algn="l" marL="274320" indent="-274320">
              <a:lnSpc>
                <a:spcPct val="100000"/>
              </a:lnSpc>
              <a:spcAft>
                <a:spcPts val="500"/>
              </a:spcAft>
              <a:buClr>
                <a:srgbClr val="002060"/>
              </a:buClr>
              <a:buFont typeface="Arial"/>
              <a:buChar char="•"/>
            </a:pPr>
            <a:r>
              <a:rPr sz="1700" b="1" i="0">
                <a:solidFill>
                  <a:srgbClr val="8B0000"/>
                </a:solidFill>
                <a:latin typeface="Arial"/>
              </a:rPr>
              <a:t>Cautela: </a:t>
            </a:r>
            <a:r>
              <a:rPr sz="1700" b="0" i="0">
                <a:solidFill>
                  <a:srgbClr val="1F2433"/>
                </a:solidFill>
                <a:latin typeface="Arial"/>
              </a:rPr>
              <a:t>VEF1/CVF ≈ 91% nos dois grupos; PFE depende do esforço.</a:t>
            </a:r>
          </a:p>
        </p:txBody>
      </p:sp>
      <p:sp>
        <p:nvSpPr>
          <p:cNvPr id="13" name="Rounded Rectangle 12"/>
          <p:cNvSpPr/>
          <p:nvPr/>
        </p:nvSpPr>
        <p:spPr>
          <a:xfrm>
            <a:off x="9601200" y="1783080"/>
            <a:ext cx="8183879" cy="2743200"/>
          </a:xfrm>
          <a:prstGeom prst="roundRect">
            <a:avLst>
              <a:gd name="adj" fmla="val 6000"/>
            </a:avLst>
          </a:prstGeom>
          <a:solidFill>
            <a:srgbClr val="F2F4F8"/>
          </a:solidFill>
          <a:ln>
            <a:noFill/>
          </a:ln>
          <a:effectLst/>
        </p:spPr>
        <p:txBody>
          <a:bodyPr rtlCol="0" anchor="ctr"/>
          <a:lstStyle/>
          <a:p/>
        </p:txBody>
      </p:sp>
      <p:sp>
        <p:nvSpPr>
          <p:cNvPr id="14" name="Oval 13"/>
          <p:cNvSpPr/>
          <p:nvPr/>
        </p:nvSpPr>
        <p:spPr>
          <a:xfrm>
            <a:off x="9921240" y="2103120"/>
            <a:ext cx="731520" cy="731520"/>
          </a:xfrm>
          <a:prstGeom prst="ellipse">
            <a:avLst/>
          </a:prstGeom>
          <a:solidFill>
            <a:srgbClr val="002060"/>
          </a:solidFill>
          <a:ln>
            <a:noFill/>
          </a:ln>
          <a:effectLst/>
        </p:spPr>
        <p:txBody>
          <a:bodyPr rtlCol="0" anchor="ctr" lIns="0" rIns="0" tIns="0" bIns="0"/>
          <a:lstStyle/>
          <a:p/>
        </p:txBody>
      </p:sp>
      <p:pic>
        <p:nvPicPr>
          <p:cNvPr id="15" name="icone vial" descr="vial_white.png"/>
          <p:cNvPicPr>
            <a:picLocks noChangeAspect="1"/>
          </p:cNvPicPr>
          <p:nvPr/>
        </p:nvPicPr>
        <p:blipFill>
          <a:blip r:embed="rId5"/>
          <a:stretch>
            <a:fillRect/>
          </a:stretch>
        </p:blipFill>
        <p:spPr>
          <a:xfrm>
            <a:off x="10104120" y="2285999"/>
            <a:ext cx="365760" cy="365760"/>
          </a:xfrm>
          <a:prstGeom prst="rect">
            <a:avLst/>
          </a:prstGeom>
        </p:spPr>
      </p:pic>
      <p:sp>
        <p:nvSpPr>
          <p:cNvPr id="16" name="TextBox 15"/>
          <p:cNvSpPr txBox="1"/>
          <p:nvPr/>
        </p:nvSpPr>
        <p:spPr>
          <a:xfrm>
            <a:off x="10881360" y="2029967"/>
            <a:ext cx="6583680"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Biomarcadores urinários</a:t>
            </a:r>
          </a:p>
        </p:txBody>
      </p:sp>
      <p:sp>
        <p:nvSpPr>
          <p:cNvPr id="17" name="TextBox 16"/>
          <p:cNvSpPr txBox="1"/>
          <p:nvPr/>
        </p:nvSpPr>
        <p:spPr>
          <a:xfrm>
            <a:off x="10881360" y="2468879"/>
            <a:ext cx="6583680" cy="36576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Canicoba, 2025 · Brasil · 52 vs 49 (metabólitos); 52 vs 52 (oxidativo)</a:t>
            </a:r>
          </a:p>
        </p:txBody>
      </p:sp>
      <p:sp>
        <p:nvSpPr>
          <p:cNvPr id="18" name="TextBox 17"/>
          <p:cNvSpPr txBox="1"/>
          <p:nvPr/>
        </p:nvSpPr>
        <p:spPr>
          <a:xfrm>
            <a:off x="9921240" y="3017520"/>
            <a:ext cx="7543800" cy="1188719"/>
          </a:xfrm>
          <a:prstGeom prst="rect">
            <a:avLst/>
          </a:prstGeom>
          <a:noFill/>
        </p:spPr>
        <p:txBody>
          <a:bodyPr wrap="square" lIns="0" rIns="0" tIns="0" bIns="0" anchor="t">
            <a:noAutofit/>
          </a:bodyPr>
          <a:lstStyle/>
          <a:p>
            <a:pPr algn="l" marL="274320" indent="-274320">
              <a:lnSpc>
                <a:spcPct val="100000"/>
              </a:lnSpc>
              <a:spcAft>
                <a:spcPts val="500"/>
              </a:spcAft>
              <a:buClr>
                <a:srgbClr val="002060"/>
              </a:buClr>
              <a:buFont typeface="Arial"/>
              <a:buChar char="•"/>
            </a:pPr>
            <a:r>
              <a:rPr sz="1700" b="0" i="0">
                <a:solidFill>
                  <a:srgbClr val="1F2433"/>
                </a:solidFill>
                <a:latin typeface="Arial"/>
              </a:rPr>
              <a:t>Ác. t,t-mucônico (benzeno): </a:t>
            </a:r>
            <a:r>
              <a:rPr sz="1700" b="1" i="0">
                <a:solidFill>
                  <a:srgbClr val="1F2433"/>
                </a:solidFill>
                <a:latin typeface="Arial"/>
              </a:rPr>
              <a:t>202,9 vs 46,1 µg/L</a:t>
            </a:r>
          </a:p>
          <a:p>
            <a:pPr algn="l" marL="274320" indent="-274320">
              <a:lnSpc>
                <a:spcPct val="100000"/>
              </a:lnSpc>
              <a:spcAft>
                <a:spcPts val="500"/>
              </a:spcAft>
              <a:buClr>
                <a:srgbClr val="002060"/>
              </a:buClr>
              <a:buFont typeface="Arial"/>
              <a:buChar char="•"/>
            </a:pPr>
            <a:r>
              <a:rPr sz="1700" b="0" i="0">
                <a:solidFill>
                  <a:srgbClr val="1F2433"/>
                </a:solidFill>
                <a:latin typeface="Arial"/>
              </a:rPr>
              <a:t>Ác. metil-hipúrico (xileno): </a:t>
            </a:r>
            <a:r>
              <a:rPr sz="1700" b="1" i="0">
                <a:solidFill>
                  <a:srgbClr val="1F2433"/>
                </a:solidFill>
                <a:latin typeface="Arial"/>
              </a:rPr>
              <a:t>468,2 vs 184,4 µg/L</a:t>
            </a:r>
          </a:p>
          <a:p>
            <a:pPr algn="l" marL="274320" indent="-274320">
              <a:lnSpc>
                <a:spcPct val="100000"/>
              </a:lnSpc>
              <a:spcAft>
                <a:spcPts val="500"/>
              </a:spcAft>
              <a:buClr>
                <a:srgbClr val="002060"/>
              </a:buClr>
              <a:buFont typeface="Arial"/>
              <a:buChar char="•"/>
            </a:pPr>
            <a:r>
              <a:rPr sz="1700" b="0" i="0">
                <a:solidFill>
                  <a:srgbClr val="1F2433"/>
                </a:solidFill>
                <a:latin typeface="Arial"/>
              </a:rPr>
              <a:t>Malondialdeído: </a:t>
            </a:r>
            <a:r>
              <a:rPr sz="1700" b="1" i="0">
                <a:solidFill>
                  <a:srgbClr val="1F2433"/>
                </a:solidFill>
                <a:latin typeface="Arial"/>
              </a:rPr>
              <a:t>9,33 vs 3,22 nmol/mg</a:t>
            </a:r>
            <a:r>
              <a:rPr sz="1700" b="0" i="0">
                <a:solidFill>
                  <a:srgbClr val="1F2433"/>
                </a:solidFill>
                <a:latin typeface="Arial"/>
              </a:rPr>
              <a:t>; todos p &lt; 0,001</a:t>
            </a:r>
          </a:p>
          <a:p>
            <a:pPr algn="l" marL="274320" indent="-274320">
              <a:lnSpc>
                <a:spcPct val="100000"/>
              </a:lnSpc>
              <a:spcAft>
                <a:spcPts val="500"/>
              </a:spcAft>
              <a:buClr>
                <a:srgbClr val="002060"/>
              </a:buClr>
              <a:buFont typeface="Arial"/>
              <a:buChar char="•"/>
            </a:pPr>
            <a:r>
              <a:rPr sz="1700" b="1" i="0">
                <a:solidFill>
                  <a:srgbClr val="8B0000"/>
                </a:solidFill>
                <a:latin typeface="Arial"/>
              </a:rPr>
              <a:t>Cautela: </a:t>
            </a:r>
            <a:r>
              <a:rPr sz="1700" b="0" i="0">
                <a:solidFill>
                  <a:srgbClr val="1F2433"/>
                </a:solidFill>
                <a:latin typeface="Arial"/>
              </a:rPr>
              <a:t>sem IC95%; t,t-mucônico inespecífico (dieta, tabagismo).</a:t>
            </a:r>
          </a:p>
        </p:txBody>
      </p:sp>
      <p:sp>
        <p:nvSpPr>
          <p:cNvPr id="19" name="Rounded Rectangle 18"/>
          <p:cNvSpPr/>
          <p:nvPr/>
        </p:nvSpPr>
        <p:spPr>
          <a:xfrm>
            <a:off x="1143000" y="4800600"/>
            <a:ext cx="8183879" cy="2743200"/>
          </a:xfrm>
          <a:prstGeom prst="roundRect">
            <a:avLst>
              <a:gd name="adj" fmla="val 6000"/>
            </a:avLst>
          </a:prstGeom>
          <a:solidFill>
            <a:srgbClr val="F2F4F8"/>
          </a:solidFill>
          <a:ln>
            <a:noFill/>
          </a:ln>
          <a:effectLst/>
        </p:spPr>
        <p:txBody>
          <a:bodyPr rtlCol="0" anchor="ctr"/>
          <a:lstStyle/>
          <a:p/>
        </p:txBody>
      </p:sp>
      <p:sp>
        <p:nvSpPr>
          <p:cNvPr id="20" name="Oval 19"/>
          <p:cNvSpPr/>
          <p:nvPr/>
        </p:nvSpPr>
        <p:spPr>
          <a:xfrm>
            <a:off x="1463040" y="5120640"/>
            <a:ext cx="731520" cy="731520"/>
          </a:xfrm>
          <a:prstGeom prst="ellipse">
            <a:avLst/>
          </a:prstGeom>
          <a:solidFill>
            <a:srgbClr val="002060"/>
          </a:solidFill>
          <a:ln>
            <a:noFill/>
          </a:ln>
          <a:effectLst/>
        </p:spPr>
        <p:txBody>
          <a:bodyPr rtlCol="0" anchor="ctr" lIns="0" rIns="0" tIns="0" bIns="0"/>
          <a:lstStyle/>
          <a:p/>
        </p:txBody>
      </p:sp>
      <p:pic>
        <p:nvPicPr>
          <p:cNvPr id="21" name="icone biotech" descr="biotech_white.png"/>
          <p:cNvPicPr>
            <a:picLocks noChangeAspect="1"/>
          </p:cNvPicPr>
          <p:nvPr/>
        </p:nvPicPr>
        <p:blipFill>
          <a:blip r:embed="rId6"/>
          <a:stretch>
            <a:fillRect/>
          </a:stretch>
        </p:blipFill>
        <p:spPr>
          <a:xfrm>
            <a:off x="1591056" y="5248656"/>
            <a:ext cx="475488" cy="475488"/>
          </a:xfrm>
          <a:prstGeom prst="rect">
            <a:avLst/>
          </a:prstGeom>
        </p:spPr>
      </p:pic>
      <p:sp>
        <p:nvSpPr>
          <p:cNvPr id="22" name="TextBox 21"/>
          <p:cNvSpPr txBox="1"/>
          <p:nvPr/>
        </p:nvSpPr>
        <p:spPr>
          <a:xfrm>
            <a:off x="2423160" y="5047488"/>
            <a:ext cx="6583680"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Mucosa nasal (biópsia)</a:t>
            </a:r>
          </a:p>
        </p:txBody>
      </p:sp>
      <p:sp>
        <p:nvSpPr>
          <p:cNvPr id="23" name="TextBox 22"/>
          <p:cNvSpPr txBox="1"/>
          <p:nvPr/>
        </p:nvSpPr>
        <p:spPr>
          <a:xfrm>
            <a:off x="2423160" y="5486400"/>
            <a:ext cx="6583680" cy="36576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Navarro et al., 2016 · México · coorte de 4 anos · 23 vs 20 residentes</a:t>
            </a:r>
          </a:p>
        </p:txBody>
      </p:sp>
      <p:sp>
        <p:nvSpPr>
          <p:cNvPr id="24" name="TextBox 23"/>
          <p:cNvSpPr txBox="1"/>
          <p:nvPr/>
        </p:nvSpPr>
        <p:spPr>
          <a:xfrm>
            <a:off x="1463040" y="6035040"/>
            <a:ext cx="7543800" cy="1188719"/>
          </a:xfrm>
          <a:prstGeom prst="rect">
            <a:avLst/>
          </a:prstGeom>
          <a:noFill/>
        </p:spPr>
        <p:txBody>
          <a:bodyPr wrap="square" lIns="0" rIns="0" tIns="0" bIns="0" anchor="t">
            <a:noAutofit/>
          </a:bodyPr>
          <a:lstStyle/>
          <a:p>
            <a:pPr algn="l" marL="274320" indent="-274320">
              <a:lnSpc>
                <a:spcPct val="100000"/>
              </a:lnSpc>
              <a:spcAft>
                <a:spcPts val="500"/>
              </a:spcAft>
              <a:buClr>
                <a:srgbClr val="002060"/>
              </a:buClr>
              <a:buFont typeface="Arial"/>
              <a:buChar char="•"/>
            </a:pPr>
            <a:r>
              <a:rPr sz="1700" b="0" i="0">
                <a:solidFill>
                  <a:srgbClr val="1F2433"/>
                </a:solidFill>
                <a:latin typeface="Arial"/>
              </a:rPr>
              <a:t>Metaplasia ou hiperplasia: </a:t>
            </a:r>
            <a:r>
              <a:rPr sz="1700" b="1" i="0">
                <a:solidFill>
                  <a:srgbClr val="1F2433"/>
                </a:solidFill>
                <a:latin typeface="Arial"/>
              </a:rPr>
              <a:t>70% (16/23) vs 5% (1/20)</a:t>
            </a:r>
          </a:p>
          <a:p>
            <a:pPr algn="l" marL="274320" indent="-274320">
              <a:lnSpc>
                <a:spcPct val="100000"/>
              </a:lnSpc>
              <a:spcAft>
                <a:spcPts val="500"/>
              </a:spcAft>
              <a:buClr>
                <a:srgbClr val="002060"/>
              </a:buClr>
              <a:buFont typeface="Arial"/>
              <a:buChar char="•"/>
            </a:pPr>
            <a:r>
              <a:rPr sz="1700" b="1" i="0">
                <a:solidFill>
                  <a:srgbClr val="8B0000"/>
                </a:solidFill>
                <a:latin typeface="Arial"/>
              </a:rPr>
              <a:t>RR 13,9 (IC95% 2,0–95,8)</a:t>
            </a:r>
            <a:r>
              <a:rPr sz="1700" b="0" i="0">
                <a:solidFill>
                  <a:srgbClr val="1F2433"/>
                </a:solidFill>
                <a:latin typeface="Arial"/>
              </a:rPr>
              <a:t>: 1 evento no grupo não exposto → IC amplo</a:t>
            </a:r>
          </a:p>
          <a:p>
            <a:pPr algn="l" marL="274320" indent="-274320">
              <a:lnSpc>
                <a:spcPct val="100000"/>
              </a:lnSpc>
              <a:spcAft>
                <a:spcPts val="500"/>
              </a:spcAft>
              <a:buClr>
                <a:srgbClr val="002060"/>
              </a:buClr>
              <a:buFont typeface="Arial"/>
              <a:buChar char="•"/>
            </a:pPr>
            <a:r>
              <a:rPr sz="1700" b="1" i="0">
                <a:solidFill>
                  <a:srgbClr val="8B0000"/>
                </a:solidFill>
                <a:latin typeface="Arial"/>
              </a:rPr>
              <a:t>Cautela: </a:t>
            </a:r>
            <a:r>
              <a:rPr sz="1700" b="0" i="0">
                <a:solidFill>
                  <a:srgbClr val="1F2433"/>
                </a:solidFill>
                <a:latin typeface="Arial"/>
              </a:rPr>
              <a:t>resposta inespecífica a irritantes; exposição por proxy.</a:t>
            </a:r>
          </a:p>
        </p:txBody>
      </p:sp>
      <p:sp>
        <p:nvSpPr>
          <p:cNvPr id="25" name="Rounded Rectangle 24"/>
          <p:cNvSpPr/>
          <p:nvPr/>
        </p:nvSpPr>
        <p:spPr>
          <a:xfrm>
            <a:off x="9601200" y="4800600"/>
            <a:ext cx="8183879" cy="2743200"/>
          </a:xfrm>
          <a:prstGeom prst="roundRect">
            <a:avLst>
              <a:gd name="adj" fmla="val 6000"/>
            </a:avLst>
          </a:prstGeom>
          <a:solidFill>
            <a:srgbClr val="F2F4F8"/>
          </a:solidFill>
          <a:ln>
            <a:noFill/>
          </a:ln>
          <a:effectLst/>
        </p:spPr>
        <p:txBody>
          <a:bodyPr rtlCol="0" anchor="ctr"/>
          <a:lstStyle/>
          <a:p/>
        </p:txBody>
      </p:sp>
      <p:sp>
        <p:nvSpPr>
          <p:cNvPr id="26" name="Oval 25"/>
          <p:cNvSpPr/>
          <p:nvPr/>
        </p:nvSpPr>
        <p:spPr>
          <a:xfrm>
            <a:off x="9921240" y="5120640"/>
            <a:ext cx="731520" cy="731520"/>
          </a:xfrm>
          <a:prstGeom prst="ellipse">
            <a:avLst/>
          </a:prstGeom>
          <a:solidFill>
            <a:srgbClr val="002060"/>
          </a:solidFill>
          <a:ln>
            <a:noFill/>
          </a:ln>
          <a:effectLst/>
        </p:spPr>
        <p:txBody>
          <a:bodyPr rtlCol="0" anchor="ctr" lIns="0" rIns="0" tIns="0" bIns="0"/>
          <a:lstStyle/>
          <a:p/>
        </p:txBody>
      </p:sp>
      <p:pic>
        <p:nvPicPr>
          <p:cNvPr id="27" name="icone virus" descr="virus_white.png"/>
          <p:cNvPicPr>
            <a:picLocks noChangeAspect="1"/>
          </p:cNvPicPr>
          <p:nvPr/>
        </p:nvPicPr>
        <p:blipFill>
          <a:blip r:embed="rId7"/>
          <a:stretch>
            <a:fillRect/>
          </a:stretch>
        </p:blipFill>
        <p:spPr>
          <a:xfrm>
            <a:off x="10104120" y="5303520"/>
            <a:ext cx="365760" cy="365760"/>
          </a:xfrm>
          <a:prstGeom prst="rect">
            <a:avLst/>
          </a:prstGeom>
        </p:spPr>
      </p:pic>
      <p:sp>
        <p:nvSpPr>
          <p:cNvPr id="28" name="TextBox 27"/>
          <p:cNvSpPr txBox="1"/>
          <p:nvPr/>
        </p:nvSpPr>
        <p:spPr>
          <a:xfrm>
            <a:off x="10881360" y="5047488"/>
            <a:ext cx="6583680"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HPV-DNA na mucosa nasal</a:t>
            </a:r>
          </a:p>
        </p:txBody>
      </p:sp>
      <p:sp>
        <p:nvSpPr>
          <p:cNvPr id="29" name="TextBox 28"/>
          <p:cNvSpPr txBox="1"/>
          <p:nvPr/>
        </p:nvSpPr>
        <p:spPr>
          <a:xfrm>
            <a:off x="10881360" y="5486400"/>
            <a:ext cx="6583680" cy="36576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Hu et al., 2021 · China · 469 com eletrocirurgia vs 231 sem</a:t>
            </a:r>
          </a:p>
        </p:txBody>
      </p:sp>
      <p:sp>
        <p:nvSpPr>
          <p:cNvPr id="30" name="TextBox 29"/>
          <p:cNvSpPr txBox="1"/>
          <p:nvPr/>
        </p:nvSpPr>
        <p:spPr>
          <a:xfrm>
            <a:off x="9921240" y="6035040"/>
            <a:ext cx="7543800" cy="1188719"/>
          </a:xfrm>
          <a:prstGeom prst="rect">
            <a:avLst/>
          </a:prstGeom>
          <a:noFill/>
        </p:spPr>
        <p:txBody>
          <a:bodyPr wrap="square" lIns="0" rIns="0" tIns="0" bIns="0" anchor="t">
            <a:noAutofit/>
          </a:bodyPr>
          <a:lstStyle/>
          <a:p>
            <a:pPr algn="l" marL="274320" indent="-274320">
              <a:lnSpc>
                <a:spcPct val="100000"/>
              </a:lnSpc>
              <a:spcAft>
                <a:spcPts val="500"/>
              </a:spcAft>
              <a:buClr>
                <a:srgbClr val="002060"/>
              </a:buClr>
              <a:buFont typeface="Arial"/>
              <a:buChar char="•"/>
            </a:pPr>
            <a:r>
              <a:rPr sz="1700" b="1" i="0">
                <a:solidFill>
                  <a:srgbClr val="1F2433"/>
                </a:solidFill>
                <a:latin typeface="Arial"/>
              </a:rPr>
              <a:t>8,96% vs 1,73%</a:t>
            </a:r>
            <a:r>
              <a:rPr sz="1700" b="0" i="0">
                <a:solidFill>
                  <a:srgbClr val="1F2433"/>
                </a:solidFill>
                <a:latin typeface="Arial"/>
              </a:rPr>
              <a:t> (42/469 com eletrocirurgia vs 4/231 sem)</a:t>
            </a:r>
          </a:p>
          <a:p>
            <a:pPr algn="l" marL="274320" indent="-274320">
              <a:lnSpc>
                <a:spcPct val="100000"/>
              </a:lnSpc>
              <a:spcAft>
                <a:spcPts val="500"/>
              </a:spcAft>
              <a:buClr>
                <a:srgbClr val="002060"/>
              </a:buClr>
              <a:buFont typeface="Arial"/>
              <a:buChar char="•"/>
            </a:pPr>
            <a:r>
              <a:rPr sz="1700" b="1" i="0">
                <a:solidFill>
                  <a:srgbClr val="8B0000"/>
                </a:solidFill>
                <a:latin typeface="Arial"/>
              </a:rPr>
              <a:t>RR 5,2 (IC95% 1,9–14,2)</a:t>
            </a:r>
            <a:r>
              <a:rPr sz="1700" b="0" i="0">
                <a:solidFill>
                  <a:srgbClr val="1F2433"/>
                </a:solidFill>
                <a:latin typeface="Arial"/>
              </a:rPr>
              <a:t> · maior com mais tempo de eletrocirurgia</a:t>
            </a:r>
          </a:p>
          <a:p>
            <a:pPr algn="l" marL="274320" indent="-274320">
              <a:lnSpc>
                <a:spcPct val="100000"/>
              </a:lnSpc>
              <a:spcAft>
                <a:spcPts val="500"/>
              </a:spcAft>
              <a:buClr>
                <a:srgbClr val="002060"/>
              </a:buClr>
              <a:buFont typeface="Arial"/>
              <a:buChar char="•"/>
            </a:pPr>
            <a:r>
              <a:rPr sz="1700" b="1" i="0">
                <a:solidFill>
                  <a:srgbClr val="8B0000"/>
                </a:solidFill>
                <a:latin typeface="Arial"/>
              </a:rPr>
              <a:t>Cautela: </a:t>
            </a:r>
            <a:r>
              <a:rPr sz="1700" b="0" i="0">
                <a:solidFill>
                  <a:srgbClr val="1F2433"/>
                </a:solidFill>
                <a:latin typeface="Arial"/>
              </a:rPr>
              <a:t>DNA ≠ infecção ou doença; achado da N95 (0/196) sem ajuste.</a:t>
            </a:r>
          </a:p>
        </p:txBody>
      </p:sp>
      <p:sp>
        <p:nvSpPr>
          <p:cNvPr id="31" name="Rounded Rectangle 30"/>
          <p:cNvSpPr/>
          <p:nvPr/>
        </p:nvSpPr>
        <p:spPr>
          <a:xfrm>
            <a:off x="1143000" y="7818120"/>
            <a:ext cx="16642080" cy="1920239"/>
          </a:xfrm>
          <a:prstGeom prst="roundRect">
            <a:avLst>
              <a:gd name="adj" fmla="val 6000"/>
            </a:avLst>
          </a:prstGeom>
          <a:solidFill>
            <a:srgbClr val="002060"/>
          </a:solidFill>
          <a:ln>
            <a:noFill/>
          </a:ln>
          <a:effectLst/>
        </p:spPr>
        <p:txBody>
          <a:bodyPr rtlCol="0" anchor="ctr"/>
          <a:lstStyle/>
          <a:p/>
        </p:txBody>
      </p:sp>
      <p:sp>
        <p:nvSpPr>
          <p:cNvPr id="32" name="TextBox 31"/>
          <p:cNvSpPr txBox="1"/>
          <p:nvPr/>
        </p:nvSpPr>
        <p:spPr>
          <a:xfrm>
            <a:off x="1463040" y="8138160"/>
            <a:ext cx="5059679"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C8A951"/>
                </a:solidFill>
                <a:latin typeface="Arial"/>
              </a:rPr>
              <a:t>●○○○  Certeza MUITO BAIXA</a:t>
            </a:r>
          </a:p>
        </p:txBody>
      </p:sp>
      <p:sp>
        <p:nvSpPr>
          <p:cNvPr id="33" name="TextBox 32"/>
          <p:cNvSpPr txBox="1"/>
          <p:nvPr/>
        </p:nvSpPr>
        <p:spPr>
          <a:xfrm>
            <a:off x="1463040" y="8641080"/>
            <a:ext cx="5059679" cy="777239"/>
          </a:xfrm>
          <a:prstGeom prst="rect">
            <a:avLst/>
          </a:prstGeom>
          <a:noFill/>
        </p:spPr>
        <p:txBody>
          <a:bodyPr wrap="square" lIns="0" rIns="0" tIns="0" bIns="0" anchor="t">
            <a:noAutofit/>
          </a:bodyPr>
          <a:lstStyle/>
          <a:p>
            <a:pPr algn="l">
              <a:lnSpc>
                <a:spcPct val="100000"/>
              </a:lnSpc>
              <a:spcAft>
                <a:spcPts val="0"/>
              </a:spcAft>
              <a:buNone/>
            </a:pPr>
            <a:r>
              <a:rPr sz="1600" b="0" i="0">
                <a:solidFill>
                  <a:srgbClr val="FFFFFF"/>
                </a:solidFill>
                <a:latin typeface="Arial"/>
              </a:rPr>
              <a:t>em todos os desfechos (GRADE); comparações não combinadas (desenhos e desfechos heterogêneos).</a:t>
            </a:r>
          </a:p>
        </p:txBody>
      </p:sp>
      <p:sp>
        <p:nvSpPr>
          <p:cNvPr id="34" name="TextBox 33"/>
          <p:cNvSpPr txBox="1"/>
          <p:nvPr/>
        </p:nvSpPr>
        <p:spPr>
          <a:xfrm>
            <a:off x="6934199" y="8138160"/>
            <a:ext cx="5059679"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C8A951"/>
                </a:solidFill>
                <a:latin typeface="Arial"/>
              </a:rPr>
              <a:t>0 estudos elegíveis: câncer ou DPOC</a:t>
            </a:r>
          </a:p>
        </p:txBody>
      </p:sp>
      <p:sp>
        <p:nvSpPr>
          <p:cNvPr id="35" name="TextBox 34"/>
          <p:cNvSpPr txBox="1"/>
          <p:nvPr/>
        </p:nvSpPr>
        <p:spPr>
          <a:xfrm>
            <a:off x="6934199" y="8641080"/>
            <a:ext cx="5059679" cy="777239"/>
          </a:xfrm>
          <a:prstGeom prst="rect">
            <a:avLst/>
          </a:prstGeom>
          <a:noFill/>
        </p:spPr>
        <p:txBody>
          <a:bodyPr wrap="square" lIns="0" rIns="0" tIns="0" bIns="0" anchor="t">
            <a:noAutofit/>
          </a:bodyPr>
          <a:lstStyle/>
          <a:p>
            <a:pPr algn="l">
              <a:lnSpc>
                <a:spcPct val="100000"/>
              </a:lnSpc>
              <a:spcAft>
                <a:spcPts val="0"/>
              </a:spcAft>
              <a:buNone/>
            </a:pPr>
            <a:r>
              <a:rPr sz="1600" b="0" i="0">
                <a:solidFill>
                  <a:srgbClr val="FFFFFF"/>
                </a:solidFill>
                <a:latin typeface="Arial"/>
              </a:rPr>
              <a:t>vazio de evidência:</a:t>
            </a:r>
          </a:p>
          <a:p>
            <a:pPr algn="l">
              <a:lnSpc>
                <a:spcPct val="100000"/>
              </a:lnSpc>
              <a:spcAft>
                <a:spcPts val="0"/>
              </a:spcAft>
              <a:buNone/>
            </a:pPr>
            <a:r>
              <a:rPr sz="1600" b="0" i="0">
                <a:solidFill>
                  <a:srgbClr val="FFFFFF"/>
                </a:solidFill>
                <a:latin typeface="Arial"/>
              </a:rPr>
              <a:t>ausência de estudos ≠ ausência de risco.</a:t>
            </a:r>
          </a:p>
        </p:txBody>
      </p:sp>
      <p:sp>
        <p:nvSpPr>
          <p:cNvPr id="36" name="TextBox 35"/>
          <p:cNvSpPr txBox="1"/>
          <p:nvPr/>
        </p:nvSpPr>
        <p:spPr>
          <a:xfrm>
            <a:off x="12405359" y="8138160"/>
            <a:ext cx="5059679"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C8A951"/>
                </a:solidFill>
                <a:latin typeface="Arial"/>
              </a:rPr>
              <a:t>Direção consistente, mas…</a:t>
            </a:r>
          </a:p>
        </p:txBody>
      </p:sp>
      <p:sp>
        <p:nvSpPr>
          <p:cNvPr id="37" name="TextBox 36"/>
          <p:cNvSpPr txBox="1"/>
          <p:nvPr/>
        </p:nvSpPr>
        <p:spPr>
          <a:xfrm>
            <a:off x="12405359" y="8641080"/>
            <a:ext cx="5059679" cy="777239"/>
          </a:xfrm>
          <a:prstGeom prst="rect">
            <a:avLst/>
          </a:prstGeom>
          <a:noFill/>
        </p:spPr>
        <p:txBody>
          <a:bodyPr wrap="square" lIns="0" rIns="0" tIns="0" bIns="0" anchor="t">
            <a:noAutofit/>
          </a:bodyPr>
          <a:lstStyle/>
          <a:p>
            <a:pPr algn="l">
              <a:lnSpc>
                <a:spcPct val="100000"/>
              </a:lnSpc>
              <a:spcAft>
                <a:spcPts val="0"/>
              </a:spcAft>
              <a:buNone/>
            </a:pPr>
            <a:r>
              <a:rPr sz="1600" b="0" i="0">
                <a:solidFill>
                  <a:srgbClr val="FFFFFF"/>
                </a:solidFill>
                <a:latin typeface="Arial"/>
              </a:rPr>
              <a:t>coexposições (gases anestésicos, radiação), 1 estudo por desfecho e IC amplos: marcadores, não doença crônica atribuível.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50"/>
                                        <p:tgtEl>
                                          <p:spTgt spid="12"/>
                                        </p:tgtEl>
                                      </p:cBhvr>
                                    </p:animEffect>
                                  </p:childTnLst>
                                </p:cTn>
                              </p:par>
                            </p:childTnLst>
                          </p:cTn>
                        </p:par>
                        <p:par>
                          <p:cTn id="23" fill="hold">
                            <p:stCondLst>
                              <p:cond delay="350"/>
                            </p:stCondLst>
                            <p:childTnLst>
                              <p:par>
                                <p:cTn id="24" presetID="10" presetClass="entr" presetSubtype="0"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5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5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5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50"/>
                                        <p:tgtEl>
                                          <p:spTgt spid="18"/>
                                        </p:tgtEl>
                                      </p:cBhvr>
                                    </p:animEffect>
                                  </p:childTnLst>
                                </p:cTn>
                              </p:par>
                            </p:childTnLst>
                          </p:cTn>
                        </p:par>
                        <p:par>
                          <p:cTn id="42" fill="hold">
                            <p:stCondLst>
                              <p:cond delay="700"/>
                            </p:stCondLst>
                            <p:childTnLst>
                              <p:par>
                                <p:cTn id="43" presetID="10" presetClass="entr" presetSubtype="0" fill="hold" grpId="0"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35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35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35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35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35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350"/>
                                        <p:tgtEl>
                                          <p:spTgt spid="24"/>
                                        </p:tgtEl>
                                      </p:cBhvr>
                                    </p:animEffect>
                                  </p:childTnLst>
                                </p:cTn>
                              </p:par>
                            </p:childTnLst>
                          </p:cTn>
                        </p:par>
                        <p:par>
                          <p:cTn id="61" fill="hold">
                            <p:stCondLst>
                              <p:cond delay="1050"/>
                            </p:stCondLst>
                            <p:childTnLst>
                              <p:par>
                                <p:cTn id="62" presetID="10" presetClass="entr" presetSubtype="0" fill="hold" grpId="0"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5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5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35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35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35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350"/>
                                        <p:tgtEl>
                                          <p:spTgt spid="30"/>
                                        </p:tgtEl>
                                      </p:cBhvr>
                                    </p:animEffect>
                                  </p:childTnLst>
                                </p:cTn>
                              </p:par>
                            </p:childTnLst>
                          </p:cTn>
                        </p:par>
                        <p:par>
                          <p:cTn id="80" fill="hold">
                            <p:stCondLst>
                              <p:cond delay="1400"/>
                            </p:stCondLst>
                            <p:childTnLst>
                              <p:par>
                                <p:cTn id="81" presetID="10" presetClass="entr" presetSubtype="0" fill="hold" grpId="0" nodeType="after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35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350"/>
                                        <p:tgtEl>
                                          <p:spTgt spid="3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350"/>
                                        <p:tgtEl>
                                          <p:spTgt spid="3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35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350"/>
                                        <p:tgtEl>
                                          <p:spTgt spid="3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35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3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APOIO · DISCUSSÃO</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Pontos fortes e limitações</a:t>
            </a:r>
          </a:p>
        </p:txBody>
      </p:sp>
      <p:sp>
        <p:nvSpPr>
          <p:cNvPr id="7" name="Rounded Rectangle 6"/>
          <p:cNvSpPr/>
          <p:nvPr/>
        </p:nvSpPr>
        <p:spPr>
          <a:xfrm>
            <a:off x="1143000" y="1783080"/>
            <a:ext cx="6766560" cy="6217920"/>
          </a:xfrm>
          <a:prstGeom prst="roundRect">
            <a:avLst>
              <a:gd name="adj" fmla="val 6000"/>
            </a:avLst>
          </a:prstGeom>
          <a:solidFill>
            <a:srgbClr val="E7F3E8"/>
          </a:solidFill>
          <a:ln>
            <a:noFill/>
          </a:ln>
          <a:effectLst/>
        </p:spPr>
        <p:txBody>
          <a:bodyPr rtlCol="0" anchor="ctr"/>
          <a:lstStyle/>
          <a:p/>
        </p:txBody>
      </p:sp>
      <p:sp>
        <p:nvSpPr>
          <p:cNvPr id="8" name="Oval 7"/>
          <p:cNvSpPr/>
          <p:nvPr/>
        </p:nvSpPr>
        <p:spPr>
          <a:xfrm>
            <a:off x="1463040" y="2103120"/>
            <a:ext cx="731520" cy="731520"/>
          </a:xfrm>
          <a:prstGeom prst="ellipse">
            <a:avLst/>
          </a:prstGeom>
          <a:solidFill>
            <a:srgbClr val="2E7D32"/>
          </a:solidFill>
          <a:ln>
            <a:noFill/>
          </a:ln>
          <a:effectLst/>
        </p:spPr>
        <p:txBody>
          <a:bodyPr rtlCol="0" anchor="ctr" lIns="0" rIns="0" tIns="0" bIns="0"/>
          <a:lstStyle/>
          <a:p/>
        </p:txBody>
      </p:sp>
      <p:pic>
        <p:nvPicPr>
          <p:cNvPr id="9" name="icone thumbsup" descr="thumbsup_white.png"/>
          <p:cNvPicPr>
            <a:picLocks noChangeAspect="1"/>
          </p:cNvPicPr>
          <p:nvPr/>
        </p:nvPicPr>
        <p:blipFill>
          <a:blip r:embed="rId4"/>
          <a:stretch>
            <a:fillRect/>
          </a:stretch>
        </p:blipFill>
        <p:spPr>
          <a:xfrm>
            <a:off x="1645920" y="2285999"/>
            <a:ext cx="365760" cy="365760"/>
          </a:xfrm>
          <a:prstGeom prst="rect">
            <a:avLst/>
          </a:prstGeom>
        </p:spPr>
      </p:pic>
      <p:sp>
        <p:nvSpPr>
          <p:cNvPr id="10" name="TextBox 9"/>
          <p:cNvSpPr txBox="1"/>
          <p:nvPr/>
        </p:nvSpPr>
        <p:spPr>
          <a:xfrm>
            <a:off x="2423160" y="2103120"/>
            <a:ext cx="5166360" cy="73152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Pontos fortes</a:t>
            </a:r>
          </a:p>
        </p:txBody>
      </p:sp>
      <p:sp>
        <p:nvSpPr>
          <p:cNvPr id="11" name="TextBox 10"/>
          <p:cNvSpPr txBox="1"/>
          <p:nvPr/>
        </p:nvSpPr>
        <p:spPr>
          <a:xfrm>
            <a:off x="1463040" y="3017520"/>
            <a:ext cx="6126480" cy="4663440"/>
          </a:xfrm>
          <a:prstGeom prst="rect">
            <a:avLst/>
          </a:prstGeom>
          <a:noFill/>
        </p:spPr>
        <p:txBody>
          <a:bodyPr wrap="square" lIns="0" rIns="0" tIns="0" bIns="0" anchor="t">
            <a:noAutofit/>
          </a:bodyPr>
          <a:lstStyle/>
          <a:p>
            <a:pPr algn="l" marL="274320" indent="-274320">
              <a:lnSpc>
                <a:spcPct val="100000"/>
              </a:lnSpc>
              <a:spcAft>
                <a:spcPts val="1800"/>
              </a:spcAft>
              <a:buFont typeface="Arial"/>
              <a:buChar char="•"/>
            </a:pPr>
            <a:r>
              <a:rPr sz="1800" b="1" i="0">
                <a:solidFill>
                  <a:srgbClr val="1F2433"/>
                </a:solidFill>
                <a:latin typeface="Arial"/>
              </a:rPr>
              <a:t>Busca abrangente: </a:t>
            </a:r>
            <a:r>
              <a:rPr sz="1800" b="0" i="0">
                <a:solidFill>
                  <a:srgbClr val="1F2433"/>
                </a:solidFill>
                <a:latin typeface="Arial"/>
              </a:rPr>
              <a:t>7 bases, literatura cinzenta e citação, sem filtro de idioma na busca.</a:t>
            </a:r>
          </a:p>
          <a:p>
            <a:pPr algn="l" marL="274320" indent="-274320">
              <a:lnSpc>
                <a:spcPct val="100000"/>
              </a:lnSpc>
              <a:spcAft>
                <a:spcPts val="1800"/>
              </a:spcAft>
              <a:buFont typeface="Arial"/>
              <a:buChar char="•"/>
            </a:pPr>
            <a:r>
              <a:rPr sz="1800" b="1" i="0">
                <a:solidFill>
                  <a:srgbClr val="1F2433"/>
                </a:solidFill>
                <a:latin typeface="Arial"/>
              </a:rPr>
              <a:t>Protocolo registrado </a:t>
            </a:r>
            <a:r>
              <a:rPr sz="1800" b="0" i="0">
                <a:solidFill>
                  <a:srgbClr val="1F2433"/>
                </a:solidFill>
                <a:latin typeface="Arial"/>
              </a:rPr>
              <a:t>(PROSPERO) e relato PRISMA 2020 (27 itens).</a:t>
            </a:r>
          </a:p>
          <a:p>
            <a:pPr algn="l" marL="274320" indent="-274320">
              <a:lnSpc>
                <a:spcPct val="100000"/>
              </a:lnSpc>
              <a:spcAft>
                <a:spcPts val="1800"/>
              </a:spcAft>
              <a:buFont typeface="Arial"/>
              <a:buChar char="•"/>
            </a:pPr>
            <a:r>
              <a:rPr sz="1800" b="1" i="0">
                <a:solidFill>
                  <a:srgbClr val="1F2433"/>
                </a:solidFill>
                <a:latin typeface="Arial"/>
              </a:rPr>
              <a:t>Risco de viés padronizado </a:t>
            </a:r>
            <a:r>
              <a:rPr sz="1800" b="0" i="0">
                <a:solidFill>
                  <a:srgbClr val="1F2433"/>
                </a:solidFill>
                <a:latin typeface="Arial"/>
              </a:rPr>
              <a:t>com ferramentas JBI.</a:t>
            </a:r>
          </a:p>
          <a:p>
            <a:pPr algn="l" marL="274320" indent="-274320">
              <a:lnSpc>
                <a:spcPct val="100000"/>
              </a:lnSpc>
              <a:spcAft>
                <a:spcPts val="1800"/>
              </a:spcAft>
              <a:buFont typeface="Arial"/>
              <a:buChar char="•"/>
            </a:pPr>
            <a:r>
              <a:rPr sz="1800" b="1" i="0">
                <a:solidFill>
                  <a:srgbClr val="1F2433"/>
                </a:solidFill>
                <a:latin typeface="Arial"/>
              </a:rPr>
              <a:t>Síntese robusta: </a:t>
            </a:r>
            <a:r>
              <a:rPr sz="1800" b="0" i="0">
                <a:solidFill>
                  <a:srgbClr val="1F2433"/>
                </a:solidFill>
                <a:latin typeface="Arial"/>
              </a:rPr>
              <a:t>intervalo de predição, 3 modelos concordantes, leave-one-out, Baujat.</a:t>
            </a:r>
          </a:p>
          <a:p>
            <a:pPr algn="l" marL="274320" indent="-274320">
              <a:lnSpc>
                <a:spcPct val="100000"/>
              </a:lnSpc>
              <a:spcAft>
                <a:spcPts val="1800"/>
              </a:spcAft>
              <a:buFont typeface="Arial"/>
              <a:buChar char="•"/>
            </a:pPr>
            <a:r>
              <a:rPr sz="1800" b="1" i="0">
                <a:solidFill>
                  <a:srgbClr val="1F2433"/>
                </a:solidFill>
                <a:latin typeface="Arial"/>
              </a:rPr>
              <a:t>Certeza por desfecho </a:t>
            </a:r>
            <a:r>
              <a:rPr sz="1800" b="0" i="0">
                <a:solidFill>
                  <a:srgbClr val="1F2433"/>
                </a:solidFill>
                <a:latin typeface="Arial"/>
              </a:rPr>
              <a:t>(GRADE), justificada por domínio.</a:t>
            </a:r>
          </a:p>
          <a:p>
            <a:pPr algn="l" marL="274320" indent="-274320">
              <a:lnSpc>
                <a:spcPct val="100000"/>
              </a:lnSpc>
              <a:spcAft>
                <a:spcPts val="1800"/>
              </a:spcAft>
              <a:buFont typeface="Arial"/>
              <a:buChar char="•"/>
            </a:pPr>
            <a:r>
              <a:rPr sz="1800" b="1" i="0">
                <a:solidFill>
                  <a:srgbClr val="1F2433"/>
                </a:solidFill>
                <a:latin typeface="Arial"/>
              </a:rPr>
              <a:t>Sobreposição amostral e uso de IA </a:t>
            </a:r>
            <a:r>
              <a:rPr sz="1800" b="0" i="0">
                <a:solidFill>
                  <a:srgbClr val="1F2433"/>
                </a:solidFill>
                <a:latin typeface="Arial"/>
              </a:rPr>
              <a:t>declarados.</a:t>
            </a:r>
          </a:p>
          <a:p>
            <a:pPr algn="l" marL="274320" indent="-274320">
              <a:lnSpc>
                <a:spcPct val="100000"/>
              </a:lnSpc>
              <a:spcAft>
                <a:spcPts val="1800"/>
              </a:spcAft>
              <a:buFont typeface="Arial"/>
              <a:buChar char="•"/>
            </a:pPr>
            <a:r>
              <a:rPr sz="1800" b="1" i="0">
                <a:solidFill>
                  <a:srgbClr val="1F2433"/>
                </a:solidFill>
                <a:latin typeface="Arial"/>
              </a:rPr>
              <a:t>Reprodutível: </a:t>
            </a:r>
            <a:r>
              <a:rPr sz="1800" b="0" i="0">
                <a:solidFill>
                  <a:srgbClr val="1F2433"/>
                </a:solidFill>
                <a:latin typeface="Arial"/>
              </a:rPr>
              <a:t>código, planilhas e figuras no OSF.</a:t>
            </a:r>
          </a:p>
        </p:txBody>
      </p:sp>
      <p:sp>
        <p:nvSpPr>
          <p:cNvPr id="12" name="Rounded Rectangle 11"/>
          <p:cNvSpPr/>
          <p:nvPr/>
        </p:nvSpPr>
        <p:spPr>
          <a:xfrm>
            <a:off x="8183880" y="1783080"/>
            <a:ext cx="9601199" cy="6217920"/>
          </a:xfrm>
          <a:prstGeom prst="roundRect">
            <a:avLst>
              <a:gd name="adj" fmla="val 6000"/>
            </a:avLst>
          </a:prstGeom>
          <a:solidFill>
            <a:srgbClr val="F9E9E9"/>
          </a:solidFill>
          <a:ln>
            <a:noFill/>
          </a:ln>
          <a:effectLst/>
        </p:spPr>
        <p:txBody>
          <a:bodyPr rtlCol="0" anchor="ctr"/>
          <a:lstStyle/>
          <a:p/>
        </p:txBody>
      </p:sp>
      <p:sp>
        <p:nvSpPr>
          <p:cNvPr id="13" name="Oval 12"/>
          <p:cNvSpPr/>
          <p:nvPr/>
        </p:nvSpPr>
        <p:spPr>
          <a:xfrm>
            <a:off x="8503920" y="2103120"/>
            <a:ext cx="731520" cy="731520"/>
          </a:xfrm>
          <a:prstGeom prst="ellipse">
            <a:avLst/>
          </a:prstGeom>
          <a:solidFill>
            <a:srgbClr val="8B0000"/>
          </a:solidFill>
          <a:ln>
            <a:noFill/>
          </a:ln>
          <a:effectLst/>
        </p:spPr>
        <p:txBody>
          <a:bodyPr rtlCol="0" anchor="ctr" lIns="0" rIns="0" tIns="0" bIns="0"/>
          <a:lstStyle/>
          <a:p/>
        </p:txBody>
      </p:sp>
      <p:pic>
        <p:nvPicPr>
          <p:cNvPr id="14" name="icone warning" descr="warning_white.png"/>
          <p:cNvPicPr>
            <a:picLocks noChangeAspect="1"/>
          </p:cNvPicPr>
          <p:nvPr/>
        </p:nvPicPr>
        <p:blipFill>
          <a:blip r:embed="rId5"/>
          <a:stretch>
            <a:fillRect/>
          </a:stretch>
        </p:blipFill>
        <p:spPr>
          <a:xfrm>
            <a:off x="8686800" y="2285999"/>
            <a:ext cx="365760" cy="365760"/>
          </a:xfrm>
          <a:prstGeom prst="rect">
            <a:avLst/>
          </a:prstGeom>
        </p:spPr>
      </p:pic>
      <p:sp>
        <p:nvSpPr>
          <p:cNvPr id="15" name="TextBox 14"/>
          <p:cNvSpPr txBox="1"/>
          <p:nvPr/>
        </p:nvSpPr>
        <p:spPr>
          <a:xfrm>
            <a:off x="9464040" y="2103120"/>
            <a:ext cx="8000999" cy="73152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Limitações (declaradas no manuscrito)</a:t>
            </a:r>
          </a:p>
        </p:txBody>
      </p:sp>
      <p:sp>
        <p:nvSpPr>
          <p:cNvPr id="16" name="TextBox 15"/>
          <p:cNvSpPr txBox="1"/>
          <p:nvPr/>
        </p:nvSpPr>
        <p:spPr>
          <a:xfrm>
            <a:off x="8503920" y="3017520"/>
            <a:ext cx="8961119" cy="4663440"/>
          </a:xfrm>
          <a:prstGeom prst="rect">
            <a:avLst/>
          </a:prstGeom>
          <a:noFill/>
        </p:spPr>
        <p:txBody>
          <a:bodyPr wrap="square" lIns="0" rIns="0" tIns="0" bIns="0" anchor="t">
            <a:noAutofit/>
          </a:bodyPr>
          <a:lstStyle/>
          <a:p>
            <a:pPr algn="l" marL="274320" indent="-274320">
              <a:lnSpc>
                <a:spcPct val="100000"/>
              </a:lnSpc>
              <a:spcAft>
                <a:spcPts val="1400"/>
              </a:spcAft>
              <a:buFont typeface="Arial"/>
              <a:buChar char="•"/>
            </a:pPr>
            <a:r>
              <a:rPr sz="1800" b="1" i="0">
                <a:solidFill>
                  <a:srgbClr val="1F2433"/>
                </a:solidFill>
                <a:latin typeface="Arial"/>
              </a:rPr>
              <a:t>Transversais, exposição por proxy e autorrelato; </a:t>
            </a:r>
            <a:r>
              <a:rPr sz="1800" b="0" i="0">
                <a:solidFill>
                  <a:srgbClr val="1F2433"/>
                </a:solidFill>
                <a:latin typeface="Arial"/>
              </a:rPr>
              <a:t>viés de atribuição (o respondente sabe que o tema é fumaça).</a:t>
            </a:r>
          </a:p>
          <a:p>
            <a:pPr algn="l" marL="274320" indent="-274320">
              <a:lnSpc>
                <a:spcPct val="100000"/>
              </a:lnSpc>
              <a:spcAft>
                <a:spcPts val="1400"/>
              </a:spcAft>
              <a:buFont typeface="Arial"/>
              <a:buChar char="•"/>
            </a:pPr>
            <a:r>
              <a:rPr sz="1800" b="1" i="0">
                <a:solidFill>
                  <a:srgbClr val="1F2433"/>
                </a:solidFill>
                <a:latin typeface="Arial"/>
              </a:rPr>
              <a:t>Sem grupo não exposto nos agrupamentos </a:t>
            </a:r>
            <a:r>
              <a:rPr sz="1800" b="0" i="0">
                <a:solidFill>
                  <a:srgbClr val="1F2433"/>
                </a:solidFill>
                <a:latin typeface="Arial"/>
              </a:rPr>
              <a:t>→ não se estima o excesso atribuível.</a:t>
            </a:r>
          </a:p>
          <a:p>
            <a:pPr algn="l" marL="274320" indent="-274320">
              <a:lnSpc>
                <a:spcPct val="100000"/>
              </a:lnSpc>
              <a:spcAft>
                <a:spcPts val="1400"/>
              </a:spcAft>
              <a:buFont typeface="Arial"/>
              <a:buChar char="•"/>
            </a:pPr>
            <a:r>
              <a:rPr sz="1800" b="1" i="0">
                <a:solidFill>
                  <a:srgbClr val="1F2433"/>
                </a:solidFill>
                <a:latin typeface="Arial"/>
              </a:rPr>
              <a:t>Efeito do trabalhador sadio: </a:t>
            </a:r>
            <a:r>
              <a:rPr sz="1800" b="0" i="0">
                <a:solidFill>
                  <a:srgbClr val="1F2433"/>
                </a:solidFill>
                <a:latin typeface="Arial"/>
              </a:rPr>
              <a:t>quem adoece sai do centro cirúrgico → subestima.</a:t>
            </a:r>
          </a:p>
          <a:p>
            <a:pPr algn="l" marL="274320" indent="-274320">
              <a:lnSpc>
                <a:spcPct val="100000"/>
              </a:lnSpc>
              <a:spcAft>
                <a:spcPts val="1400"/>
              </a:spcAft>
              <a:buFont typeface="Arial"/>
              <a:buChar char="•"/>
            </a:pPr>
            <a:r>
              <a:rPr sz="1800" b="1" i="0">
                <a:solidFill>
                  <a:srgbClr val="1F2433"/>
                </a:solidFill>
                <a:latin typeface="Arial"/>
              </a:rPr>
              <a:t>Heterogeneidade alta; </a:t>
            </a:r>
            <a:r>
              <a:rPr sz="1800" b="0" i="0">
                <a:solidFill>
                  <a:srgbClr val="1F2433"/>
                </a:solidFill>
                <a:latin typeface="Arial"/>
              </a:rPr>
              <a:t>subgrupo exploratório; maior inquérito fora do ocular.</a:t>
            </a:r>
          </a:p>
          <a:p>
            <a:pPr algn="l" marL="274320" indent="-274320">
              <a:lnSpc>
                <a:spcPct val="100000"/>
              </a:lnSpc>
              <a:spcAft>
                <a:spcPts val="1400"/>
              </a:spcAft>
              <a:buFont typeface="Arial"/>
              <a:buChar char="•"/>
            </a:pPr>
            <a:r>
              <a:rPr sz="1800" b="1" i="0">
                <a:solidFill>
                  <a:srgbClr val="1F2433"/>
                </a:solidFill>
                <a:latin typeface="Arial"/>
              </a:rPr>
              <a:t>Sobreposição amostral </a:t>
            </a:r>
            <a:r>
              <a:rPr sz="1800" b="0" i="0">
                <a:solidFill>
                  <a:srgbClr val="1F2433"/>
                </a:solidFill>
                <a:latin typeface="Arial"/>
              </a:rPr>
              <a:t>tratada; 1 resumo de congresso na síntese.</a:t>
            </a:r>
          </a:p>
          <a:p>
            <a:pPr algn="l" marL="274320" indent="-274320">
              <a:lnSpc>
                <a:spcPct val="100000"/>
              </a:lnSpc>
              <a:spcAft>
                <a:spcPts val="1400"/>
              </a:spcAft>
              <a:buFont typeface="Arial"/>
              <a:buChar char="•"/>
            </a:pPr>
            <a:r>
              <a:rPr sz="1800" b="1" i="0">
                <a:solidFill>
                  <a:srgbClr val="1F2433"/>
                </a:solidFill>
                <a:latin typeface="Arial"/>
              </a:rPr>
              <a:t>Revisor único </a:t>
            </a:r>
            <a:r>
              <a:rPr sz="1800" b="0" i="0">
                <a:solidFill>
                  <a:srgbClr val="1F2433"/>
                </a:solidFill>
                <a:latin typeface="Arial"/>
              </a:rPr>
              <a:t>na triagem, extração, JBI e GRADE; 6 relatórios não recuperados.</a:t>
            </a:r>
          </a:p>
          <a:p>
            <a:pPr algn="l" marL="274320" indent="-274320">
              <a:lnSpc>
                <a:spcPct val="100000"/>
              </a:lnSpc>
              <a:spcAft>
                <a:spcPts val="1400"/>
              </a:spcAft>
              <a:buFont typeface="Arial"/>
              <a:buChar char="•"/>
            </a:pPr>
            <a:r>
              <a:rPr sz="1800" b="1" i="0">
                <a:solidFill>
                  <a:srgbClr val="1F2433"/>
                </a:solidFill>
                <a:latin typeface="Arial"/>
              </a:rPr>
              <a:t>Instrumentos sem validação relatada; </a:t>
            </a:r>
            <a:r>
              <a:rPr sz="1800" b="0" i="0">
                <a:solidFill>
                  <a:srgbClr val="1F2433"/>
                </a:solidFill>
                <a:latin typeface="Arial"/>
              </a:rPr>
              <a:t>recordatório e resposta pouco informados.</a:t>
            </a:r>
          </a:p>
          <a:p>
            <a:pPr algn="l" marL="274320" indent="-274320">
              <a:lnSpc>
                <a:spcPct val="100000"/>
              </a:lnSpc>
              <a:spcAft>
                <a:spcPts val="1400"/>
              </a:spcAft>
              <a:buFont typeface="Arial"/>
              <a:buChar char="•"/>
            </a:pPr>
            <a:r>
              <a:rPr sz="1800" b="1" i="0">
                <a:solidFill>
                  <a:srgbClr val="1F2433"/>
                </a:solidFill>
                <a:latin typeface="Arial"/>
              </a:rPr>
              <a:t>Elegibilidade só em português, inglês e espanhol; </a:t>
            </a:r>
            <a:r>
              <a:rPr sz="1800" b="0" i="0">
                <a:solidFill>
                  <a:srgbClr val="1F2433"/>
                </a:solidFill>
                <a:latin typeface="Arial"/>
              </a:rPr>
              <a:t>periódicos pouco indexados.</a:t>
            </a:r>
          </a:p>
          <a:p>
            <a:pPr algn="l" marL="274320" indent="-274320">
              <a:lnSpc>
                <a:spcPct val="100000"/>
              </a:lnSpc>
              <a:spcAft>
                <a:spcPts val="1400"/>
              </a:spcAft>
              <a:buFont typeface="Arial"/>
              <a:buChar char="•"/>
            </a:pPr>
            <a:r>
              <a:rPr sz="1800" b="1" i="0">
                <a:solidFill>
                  <a:srgbClr val="8B0000"/>
                </a:solidFill>
                <a:latin typeface="Arial"/>
              </a:rPr>
              <a:t>A metanálise estima prevalência em expostos, não risco causal.</a:t>
            </a:r>
          </a:p>
        </p:txBody>
      </p:sp>
      <p:sp>
        <p:nvSpPr>
          <p:cNvPr id="17" name="Rounded Rectangle 16"/>
          <p:cNvSpPr/>
          <p:nvPr/>
        </p:nvSpPr>
        <p:spPr>
          <a:xfrm>
            <a:off x="1143000" y="8275320"/>
            <a:ext cx="16642080" cy="1463040"/>
          </a:xfrm>
          <a:prstGeom prst="roundRect">
            <a:avLst>
              <a:gd name="adj" fmla="val 6000"/>
            </a:avLst>
          </a:prstGeom>
          <a:solidFill>
            <a:srgbClr val="002060"/>
          </a:solidFill>
          <a:ln>
            <a:noFill/>
          </a:ln>
          <a:effectLst/>
        </p:spPr>
        <p:txBody>
          <a:bodyPr rtlCol="0" anchor="ctr"/>
          <a:lstStyle/>
          <a:p/>
        </p:txBody>
      </p:sp>
      <p:pic>
        <p:nvPicPr>
          <p:cNvPr id="18" name="icone balance" descr="balance_gold.png"/>
          <p:cNvPicPr>
            <a:picLocks noChangeAspect="1"/>
          </p:cNvPicPr>
          <p:nvPr/>
        </p:nvPicPr>
        <p:blipFill>
          <a:blip r:embed="rId6"/>
          <a:stretch>
            <a:fillRect/>
          </a:stretch>
        </p:blipFill>
        <p:spPr>
          <a:xfrm>
            <a:off x="1508760" y="8686800"/>
            <a:ext cx="640080" cy="640080"/>
          </a:xfrm>
          <a:prstGeom prst="rect">
            <a:avLst/>
          </a:prstGeom>
        </p:spPr>
      </p:pic>
      <p:sp>
        <p:nvSpPr>
          <p:cNvPr id="19" name="TextBox 18"/>
          <p:cNvSpPr txBox="1"/>
          <p:nvPr/>
        </p:nvSpPr>
        <p:spPr>
          <a:xfrm>
            <a:off x="2423160" y="8458200"/>
            <a:ext cx="15041880" cy="1097280"/>
          </a:xfrm>
          <a:prstGeom prst="rect">
            <a:avLst/>
          </a:prstGeom>
          <a:noFill/>
        </p:spPr>
        <p:txBody>
          <a:bodyPr wrap="square" lIns="0" rIns="0" tIns="0" bIns="0" anchor="ctr">
            <a:noAutofit/>
          </a:bodyPr>
          <a:lstStyle/>
          <a:p>
            <a:pPr algn="l">
              <a:lnSpc>
                <a:spcPct val="100000"/>
              </a:lnSpc>
              <a:spcAft>
                <a:spcPts val="0"/>
              </a:spcAft>
              <a:buNone/>
            </a:pPr>
            <a:r>
              <a:rPr sz="1800" b="1" i="0">
                <a:solidFill>
                  <a:srgbClr val="C8A951"/>
                </a:solidFill>
                <a:latin typeface="Arial"/>
              </a:rPr>
              <a:t>Limitações declaradas e testadas por sensibilidade quando possível: </a:t>
            </a:r>
            <a:r>
              <a:rPr sz="1800" b="0" i="0">
                <a:solidFill>
                  <a:srgbClr val="FFFFFF"/>
                </a:solidFill>
                <a:latin typeface="Arial"/>
              </a:rPr>
              <a:t>não invalidam a síntese; delimitam o que a evidência permite afirmar.</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81</TotalTime>
  <Words>57</Words>
  <Application>Microsoft Office PowerPoint</Application>
  <PresentationFormat>Personalizar</PresentationFormat>
  <Paragraphs>18</Paragraphs>
  <Slides>11</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11</vt:i4>
      </vt:variant>
    </vt:vector>
  </HeadingPairs>
  <TitlesOfParts>
    <vt:vector size="14" baseType="lpstr">
      <vt:lpstr>Arial</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Ana Carolina da Cruz Alves</dc:creator>
  <cp:lastModifiedBy>Flávia Alves</cp:lastModifiedBy>
  <cp:revision>4</cp:revision>
  <dcterms:created xsi:type="dcterms:W3CDTF">2006-08-16T00:00:00Z</dcterms:created>
  <dcterms:modified xsi:type="dcterms:W3CDTF">2026-10-02T15:48:53Z</dcterms:modified>
  <dc:identifier>DAGzoUEXYuM</dc:identifier>
</cp:coreProperties>
</file>